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notesMasters/notesMaster1.xml" Type="http://schemas.openxmlformats.org/officeDocument/2006/relationships/notesMaster"/><Relationship Id="rId41" Target="theme/theme2.xml" Type="http://schemas.openxmlformats.org/officeDocument/2006/relationships/theme"/><Relationship Id="rId42" Target="notesSlides/notesSlide1.xml" Type="http://schemas.openxmlformats.org/officeDocument/2006/relationships/notesSlide"/><Relationship Id="rId46" Target="notesSlides/notesSlide2.xml" Type="http://schemas.openxmlformats.org/officeDocument/2006/relationships/notesSlide"/><Relationship Id="rId48" Target="notesSlides/notesSlide3.xml" Type="http://schemas.openxmlformats.org/officeDocument/2006/relationships/notesSlide"/><Relationship Id="rId49" Target="notesSlides/notesSlide4.xml" Type="http://schemas.openxmlformats.org/officeDocument/2006/relationships/notesSlide"/><Relationship Id="rId5" Target="tableStyles.xml" Type="http://schemas.openxmlformats.org/officeDocument/2006/relationships/tableStyles"/><Relationship Id="rId50" Target="notesSlides/notesSlide5.xml" Type="http://schemas.openxmlformats.org/officeDocument/2006/relationships/notesSlide"/><Relationship Id="rId51" Target="notesSlides/notesSlide6.xml" Type="http://schemas.openxmlformats.org/officeDocument/2006/relationships/notesSlide"/><Relationship Id="rId52" Target="notesSlides/notesSlide7.xml" Type="http://schemas.openxmlformats.org/officeDocument/2006/relationships/notesSlide"/><Relationship Id="rId53" Target="notesSlides/notesSlide8.xml" Type="http://schemas.openxmlformats.org/officeDocument/2006/relationships/notesSlide"/><Relationship Id="rId54" Target="notesSlides/notesSlide9.xml" Type="http://schemas.openxmlformats.org/officeDocument/2006/relationships/notesSlide"/><Relationship Id="rId55" Target="notesSlides/notesSlide10.xml" Type="http://schemas.openxmlformats.org/officeDocument/2006/relationships/notesSlide"/><Relationship Id="rId56" Target="notesSlides/notesSlide11.xml" Type="http://schemas.openxmlformats.org/officeDocument/2006/relationships/notesSlide"/><Relationship Id="rId57" Target="notesSlides/notesSlide12.xml" Type="http://schemas.openxmlformats.org/officeDocument/2006/relationships/notesSlide"/><Relationship Id="rId58" Target="notesSlides/notesSlide13.xml" Type="http://schemas.openxmlformats.org/officeDocument/2006/relationships/notesSlide"/><Relationship Id="rId59" Target="notesSlides/notesSlide14.xml" Type="http://schemas.openxmlformats.org/officeDocument/2006/relationships/notesSlide"/><Relationship Id="rId6" Target="slides/slide1.xml" Type="http://schemas.openxmlformats.org/officeDocument/2006/relationships/slide"/><Relationship Id="rId60" Target="notesSlides/notesSlide15.xml" Type="http://schemas.openxmlformats.org/officeDocument/2006/relationships/notesSlide"/><Relationship Id="rId61" Target="notesSlides/notesSlide16.xml" Type="http://schemas.openxmlformats.org/officeDocument/2006/relationships/notesSlide"/><Relationship Id="rId62" Target="notesSlides/notesSlide17.xml" Type="http://schemas.openxmlformats.org/officeDocument/2006/relationships/notesSlide"/><Relationship Id="rId63" Target="notesSlides/notesSlide18.xml" Type="http://schemas.openxmlformats.org/officeDocument/2006/relationships/notesSlide"/><Relationship Id="rId64" Target="notesSlides/notesSlide19.xml" Type="http://schemas.openxmlformats.org/officeDocument/2006/relationships/notesSlide"/><Relationship Id="rId65" Target="notesSlides/notesSlide20.xml" Type="http://schemas.openxmlformats.org/officeDocument/2006/relationships/notesSlide"/><Relationship Id="rId66" Target="notesSlides/notesSlide21.xml" Type="http://schemas.openxmlformats.org/officeDocument/2006/relationships/notesSlide"/><Relationship Id="rId67" Target="notesSlides/notesSlide22.xml" Type="http://schemas.openxmlformats.org/officeDocument/2006/relationships/notesSlide"/><Relationship Id="rId68" Target="notesSlides/notesSlide23.xml" Type="http://schemas.openxmlformats.org/officeDocument/2006/relationships/notesSlide"/><Relationship Id="rId69" Target="notesSlides/notesSlide24.xml" Type="http://schemas.openxmlformats.org/officeDocument/2006/relationships/notesSlide"/><Relationship Id="rId7" Target="slides/slide2.xml" Type="http://schemas.openxmlformats.org/officeDocument/2006/relationships/slide"/><Relationship Id="rId70" Target="notesSlides/notesSlide25.xml" Type="http://schemas.openxmlformats.org/officeDocument/2006/relationships/notesSlide"/><Relationship Id="rId71" Target="notesSlides/notesSlide26.xml" Type="http://schemas.openxmlformats.org/officeDocument/2006/relationships/notesSlide"/><Relationship Id="rId72" Target="notesSlides/notesSlide27.xml" Type="http://schemas.openxmlformats.org/officeDocument/2006/relationships/notesSlide"/><Relationship Id="rId73" Target="notesSlides/notesSlide28.xml" Type="http://schemas.openxmlformats.org/officeDocument/2006/relationships/notesSlide"/><Relationship Id="rId74" Target="notesSlides/notesSlide29.xml" Type="http://schemas.openxmlformats.org/officeDocument/2006/relationships/notesSlide"/><Relationship Id="rId75" Target="notesSlides/notesSlide30.xml" Type="http://schemas.openxmlformats.org/officeDocument/2006/relationships/notesSlide"/><Relationship Id="rId76" Target="notesSlides/notesSlide31.xml" Type="http://schemas.openxmlformats.org/officeDocument/2006/relationships/notesSlide"/><Relationship Id="rId77" Target="notesSlides/notesSlide32.xml" Type="http://schemas.openxmlformats.org/officeDocument/2006/relationships/notesSlide"/><Relationship Id="rId78" Target="notesSlides/notesSlide33.xml" Type="http://schemas.openxmlformats.org/officeDocument/2006/relationships/notesSlide"/><Relationship Id="rId79" Target="notesSlides/notesSlide34.xml" Type="http://schemas.openxmlformats.org/officeDocument/2006/relationships/note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Hello, we are Team Monarch, Harshita Kumar and Eeshan Gupta from VIT Vellore. Our project is VrikkaTwin. Vrikka means kidney in Sanskrit. It is a digital twin that protects the kidneys of people with high blood pressure or weak kidneys during Indian heatwaves and sick days. Everything you will see runs on synthetic data and fictional patients, as the challenge rules require.</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Meet Riya. She is fictional, 68, and lives in Nagpur. She takes a blood pressure pill and a water pill. Her knee hurts, so she buys Combiflam. In May the city touches 45 degrees and she catches a fever. Each choice is normal. Together they can injure her kidneys in two or three days. Her next kidney test is months away, so nobody notices.</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Let us first look at how big this problem is and why it happens.</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not a rare problem. 315 million Indians have high blood pressure. 138 million have chronic kidney disease, second only to China. In 2024, India recorded 67,637 suspected heatstroke cases and 374 deaths between March and July. And a British study of nearly half a million people found that the combination of a blood pressure pill, a water pill and a painkiller raised kidney injury by 82 percent in the first month. The ILO projects that heat will cost India 5.8 percent of working hours by 2030.</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Why does it happen? Three things meet. First, water loss from sweat, fever, vomiting or diarrhoea. Second, the kidney keeps filtering using two tiny valves. Painkillers block the inlet valve, blood pressure pills of the ACE-inhibitor or ARB type block the outlet valve, and water pills remove even more water. Third, older people and people with weak kidneys have less reserve. The result is acute kidney injury within one to three days. It is usually mild and recovers, but repeated injuries are linked to faster kidney decline.</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Today, tools exist for minutes and for years. Heat alarms warn about overheating within the hour. Chronic kidney tests look months or years ahead. But the dangerous window of one to three days is empty. Kidney tests happen every few months. Heat alerts are the same for everyone. Painkillers are over the counter. And UK experts say blanket sick-day rules have weak evidence, but individual assessment of high-risk patients is reasonable. That individual assessment is exactly what a digital twin can do.</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If nothing changes, the injury is found late or never. In one Indian diabetic kidney cohort, having an intercurrent kidney injury was associated with an extra 1.83 millilitres per minute per year of kidney function loss. That is an association, not proof of cause. Our slow clock shows what this could mean for Riya as a projection: median kidney function in ten years drops from 43 to 38 after one injury, and rises to 54 with a kidney-protective SGLT2 inhibitor. The ranges are wide, and we show them honestly. The key point: prevention is cheap. The missing piece is knowing who to act on today.</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Now, our solution.</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key idea is simple. A watch cannot measure the kidney. It measures exposure: heat, weight loss, heart rate, fever. Labs measure the organ, but only every few months. The twin bridges the two and decides when the lab should look and which medicine the doctor should review. It runs two clocks: a fast clock for the next 72 hours, and a slow clock for the next ten years.</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What makes this a real twin? Three properties. It is personalised: each patient has their own hidden state. It is continuously synchronised: an Unscented Kalman Filter updates every morning from weight and heart rate and resets when a lab result arrives. And it is simulatable: the doctor can try a decision on the virtual patient first. On the right is our 'how well does the twin know this patient' panel. The twin predicts Riya's morning weight before seeing it, with a mean error of 0.21 kilograms, about the noise of a home scale.</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VrikkaTwin has four users: the doctor, the patient and family, the ASHA worker, and the lab. It also works at three tiers. Tier zero needs no wearable at all: an ASHA visit or a phone check-in, free weather data and clinic labs. Tier one adds a basic band and a scale, about 1,500 rupees. The twin rations the expensive step: it decides who needs a 189-rupee creatinine test today.</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Let us look inside.</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fusion the challenge asks for. The static stream is a simulated health record: demographics, past diagnoses, lab results, medicines with Indian brand names, and a real genetic marker, CYP2C9, which slows how some people clear ibuprofen. The dynamic stream is simulated wearable data: heart rate, HRV, steps, sleep, morning weight, plus real hourly weather from 2024 to 2026 and daily check-ins. The twin fuses both, every day.</a:t>
            </a:r>
          </a:p>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Here is the architecture. Data enters through a trust layer that checks integrity, consent and roles, and writes every action to a tamper-evident audit log. The twin engine turns weather and activity into sweat, body water, kidney filtration and creatinine, and a personal Unscented Kalman Filter keeps each twin in sync. The decision layer combines the twin with a calibrated LightGBM model, an alert policy, the slow clock, what-if levers, guardrails and red flags. Everything is served to role-based apps and can be exported as FHIR R4.</a:t>
            </a:r>
          </a:p>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mechanism has five steps. Weather and activity give a sweat rate using the international heat-strain standard, ISO 7933, multiplied by the person's learned sweat rate. Losses go into two water deficits: total water, which the scale sees, and extracellular water, which the kidney feels. The kidney's autoregulation curve, together with the three drugs and their wear-off times, gives filtration. Creatinine follows a mass-conserving model and is read at 8 a.m. like a lab. Two hundred simulated futures give the 72-hour risk. Every morning the loop closes: the twin compares its prediction with the real reading and corrects itself.</a:t>
            </a:r>
          </a:p>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Here is a day with VrikkaTwin. At 7 a.m., the morning weight, heart rate and check-in arrive, or an ASHA worker enters them. At 8, the twin updates. At 9, it computes the 72-hour risk, checking red flags first. The doctor sees a sorted list with reasons and tomorrow's kidney weather, tries changes on the twin, and with one click orders a home kidney test. When the lab result arrives, the twin resets.</a:t>
            </a:r>
          </a:p>
          <a:p>
            <a:r>
              <a:rPr lang="en-US"/>
              <a:t>16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Now let us see the working prototype, screen by screen.</a:t>
            </a:r>
          </a:p>
          <a:p>
            <a:r>
              <a:rPr lang="en-US"/>
              <a:t>17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doctor's triage page. At the top is Tomorrow's Kidney Weather: the forecast for each city and how many patients are expected to be green, amber or red. For example, Delhi at 45.6 degrees has 24 red patients out of 867. Below is the list of suggested home kidney tests, highest risk first, with the main reason in plain words. Levels always have an icon and a word, not just a colour.</a:t>
            </a:r>
          </a:p>
          <a:p>
            <a:r>
              <a:rPr lang="en-US"/>
              <a:t>18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heart of the twin: the what-if panel. On Riya's red day, the twin estimates a 48 percent risk if nothing changes. Swapping the ibuprofen painkiller for paracetamol brings it to 25.5 percent. Adding ORS brings it to 1.5 percent. Pausing her BP pill and water pill takes it below 1 percent, but that comes last, because the evidence for pauses is weak and the clinician decides. The same tablets in a genetic poor metaboliser give 55.5 percent. Guardrails block unsafe suggestions, and the doctor can print a visit summary in the patient's language.</a:t>
            </a:r>
          </a:p>
          <a:p>
            <a:r>
              <a:rPr lang="en-US"/>
              <a:t>19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slow clock projects kidney function for ten years. It fits a Bayesian slope to the patient's own labs and compares three scenarios: continue as is, one mild kidney injury this season, or starting an SGLT2 inhibitor, using the EMPA-KIDNEY trial effect. We always show a range and call it a projection, because the evidence is not precise enough for a single number.</a:t>
            </a:r>
          </a:p>
          <a:p>
            <a:r>
              <a:rPr lang="en-US"/>
              <a:t>20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the patient and family, everything is in their language: English, Hindi, Kannada or Telugu, with a listen button that plays a pre-recorded alert, so it works even with low literacy. The patient sees a traffic light, today's action and sick-day guidance. Check-ins understand Indian brand names. And the patient decides who can see their data.</a:t>
            </a:r>
          </a:p>
          <a:p>
            <a:r>
              <a:rPr lang="en-US"/>
              <a:t>21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villages without wearables, the ASHA worker uses a Tier-zero form, in Telugu by default. Red flags always run before any model. If someone is confused, faints, has a seizure or a temperature of 40 degrees, the app shows an emergency screen: call 108 or 112, cool the person, give nothing by mouth if they are not fully awake. No kidney score is shown, because this is an emergency, not a prediction. This follows India's national heat-illness action plan.</a:t>
            </a:r>
          </a:p>
          <a:p>
            <a:r>
              <a:rPr lang="en-US"/>
              <a:t>22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Privacy is not a badge here; it works. Consent is an ABDM-style signed artefact checked on every read. When Riya revokes the doctor's access, the next read is refused and logged. Six roles see only the fields they need. Every action goes into an HMAC hash chain with signed checkpoints, so even a forger who recomputes the chain is caught, as the tamper demo shows. Records export as FHIR R4, and we map our controls to the DPDP Act.</a:t>
            </a:r>
          </a:p>
          <a:p>
            <a:r>
              <a:rPr lang="en-US"/>
              <a:t>23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Time Machine replays Riya's heatwave on real 2024 Nagpur weather. Her twin turns red on 28 May, 23 hours before the simulated injury. Her fever started only the day before, so this is the earliest warning possible. A simple heat-index rule fired on all 12 days, which is too often to act on, while her well-hydrated neighbour stays green in the same heat. That is the difference between a heat alarm and a personal twin.</a:t>
            </a:r>
          </a:p>
          <a:p>
            <a:r>
              <a:rPr lang="en-US"/>
              <a:t>24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Now the evidence: how we built the data, and our honest results.</a:t>
            </a:r>
          </a:p>
          <a:p>
            <a:r>
              <a:rPr lang="en-US"/>
              <a:t>25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could not find any open dataset that links heat, wearables and medicines to daily creatinine for people at home, so, as the rules allow, we built a synthetic cohort: 10,000 training patients and two held-out test seasons of 5,000 each, on real weather from seven Indian cities. Every one of 164 parameters has a source and a label. Crucially, the truth simulator is deliberately different from our twin, so we are not grading our own homework. We then checked every component we could against real open data, and we rejected datasets that failed our checks.</a:t>
            </a:r>
          </a:p>
          <a:p>
            <a:r>
              <a:rPr lang="en-US"/>
              <a:t>26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Here are the results on 2025 patients the model never saw, in the deliberately mismatched world. Today's rules, a heat-index rule, a points rule and the last lab result, score between 0.52 and 0.66 AUROC. Our hybrid model scores 0.75. 54 percent of injuries got an amber or red warning, with a strict alert budget of half a red alert per 100 patient-days, about 19 alerts per injury caught. When the world matches the twin, AUROC reaches 0.90. We are also honest: a plain LightGBM without the twin scores slightly higher on this metric. The next slide explains why we still lead with the twin.</a:t>
            </a:r>
          </a:p>
          <a:p>
            <a:r>
              <a:rPr lang="en-US"/>
              <a:t>27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pre-registered our targets before training, so here is the honest scorecard. Our labelling matches the official MIMIC code 99.3 percent. Healthy real people got zero false red alerts. The triple-whammy effect sits in the calibrated range. The slow clock ranks real patients as well as baseline kidney function, not better. We missed the 24-hour lead-time target by one hour, because warnings come the day after a fever starts. The creatinine filter lost to carry-forward on ICU data, heavy outdoor workers' short-term rises are under-modelled, and a plain model scores higher on accuracy alone. We still lead with the twin because a plain classifier cannot simulate a decision, explain it, personalise it, or tell you when to test.</a:t>
            </a:r>
          </a:p>
          <a:p>
            <a:r>
              <a:rPr lang="en-US"/>
              <a:t>28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What makes us different? We work in the empty 72-hour window. We give decisions, not just scores. Our genetic marker actually changes the model. Our science is honest: a mismatched simulator, pre-registered metrics and failures shown. Privacy works in the demo. And it is built for India: four languages, audio, Indian brand names, ASHA tier zero and red flags first.</a:t>
            </a:r>
          </a:p>
          <a:p>
            <a:r>
              <a:rPr lang="en-US"/>
              <a:t>29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Finally, impact and next steps.</a:t>
            </a:r>
          </a:p>
          <a:p>
            <a:r>
              <a:rPr lang="en-US"/>
              <a:t>30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How could this help Happiest Health? Its specialty clinics could use the triage list. Its diagnostics arm with home collection could receive the twin's 'test today' tasks. Its digital healthcare unit could add VrikkaTwin as a kidney safety module next to virtual consults. And its corporate wellness work could run a heat-season programme for field workers. It matches the summit theme: proactive, not reactive.</a:t>
            </a:r>
          </a:p>
          <a:p>
            <a:r>
              <a:rPr lang="en-US"/>
              <a:t>31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state our limits openly. Everything is validated on synthetic patients, because real outpatient labels do not exist openly. Creatinine lags behind filtration, and older people with low muscle mass can hide an injury. Our next step is a prospective pilot with a clinic and consented patients, real device pairing, ABDM sandbox consent, and review by a nephrologist, a pharmacist and native speakers.</a:t>
            </a:r>
          </a:p>
          <a:p>
            <a:r>
              <a:rPr lang="en-US"/>
              <a:t>32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stack is Python: pythermalcomfort for heat strain, filterpy for the Kalman filter, LightGBM for the risk model, Streamlit for the app, FastAPI for the API and cryptography for the trust layer. 218 tests pass. The code is MIT licensed and available on GitHub.</a:t>
            </a:r>
          </a:p>
          <a:p>
            <a:r>
              <a:rPr lang="en-US"/>
              <a:t>33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close: VrikkaTwin protects the kidneys of people on blood pressure pills, painkillers or with weak kidneys during Indian heatwaves and sick days. It tells the doctor which pill to review and when to test. Thank you. We are happy to take your questions.</a:t>
            </a:r>
          </a:p>
          <a:p>
            <a:r>
              <a:rPr lang="en-US"/>
              <a:t>34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 Id="rId4" Target="../media/image7.png" Type="http://schemas.openxmlformats.org/officeDocument/2006/relationships/image"/><Relationship Id="rId5" Target="../media/image2.png" Type="http://schemas.openxmlformats.org/officeDocument/2006/relationships/image"/><Relationship Id="rId6" Target="../media/image8.png" Type="http://schemas.openxmlformats.org/officeDocument/2006/relationships/image"/><Relationship Id="rId7" Target="../media/image9.png" Type="http://schemas.openxmlformats.org/officeDocument/2006/relationships/image"/><Relationship Id="rId8" Target="../media/image10.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11.png" Type="http://schemas.openxmlformats.org/officeDocument/2006/relationships/image"/><Relationship Id="rId5" Target="../media/image2.png" Type="http://schemas.openxmlformats.org/officeDocument/2006/relationships/image"/><Relationship Id="rId6" Target="../media/image12.png" Type="http://schemas.openxmlformats.org/officeDocument/2006/relationships/image"/><Relationship Id="rId7" Target="../media/image1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1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media/image12.pn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 Id="rId4" Target="../media/image7.pn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 Id="rId4" Target="../media/image19.pn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 Id="rId7" Target="../media/image1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 Id="rId4" Target="../media/image25.png" Type="http://schemas.openxmlformats.org/officeDocument/2006/relationships/image"/><Relationship Id="rId5" Target="../media/image1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jpeg" Type="http://schemas.openxmlformats.org/officeDocument/2006/relationships/image"/><Relationship Id="rId4" Target="../media/image12.png" Type="http://schemas.openxmlformats.org/officeDocument/2006/relationships/image"/><Relationship Id="rId5" Target="../media/image2.png" Type="http://schemas.openxmlformats.org/officeDocument/2006/relationships/image"/><Relationship Id="rId6" Target="../media/image13.png" Type="http://schemas.openxmlformats.org/officeDocument/2006/relationships/image"/><Relationship Id="rId7" Target="../media/image18.png" Type="http://schemas.openxmlformats.org/officeDocument/2006/relationships/image"/><Relationship Id="rId8" Target="../media/image16.png" Type="http://schemas.openxmlformats.org/officeDocument/2006/relationships/image"/><Relationship Id="rId9" Target="../media/image2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jpeg" Type="http://schemas.openxmlformats.org/officeDocument/2006/relationships/image"/><Relationship Id="rId4" Target="../media/image26.png" Type="http://schemas.openxmlformats.org/officeDocument/2006/relationships/image"/><Relationship Id="rId5" Target="../media/image20.png" Type="http://schemas.openxmlformats.org/officeDocument/2006/relationships/image"/><Relationship Id="rId6" Target="../media/image9.png" Type="http://schemas.openxmlformats.org/officeDocument/2006/relationships/image"/><Relationship Id="rId7" Target="../media/image19.png" Type="http://schemas.openxmlformats.org/officeDocument/2006/relationships/image"/><Relationship Id="rId8" Target="../media/image21.png" Type="http://schemas.openxmlformats.org/officeDocument/2006/relationships/image"/><Relationship Id="rId9" Target="../media/image1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jpe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jpeg" Type="http://schemas.openxmlformats.org/officeDocument/2006/relationships/image"/><Relationship Id="rId4" Target="../media/image29.png" Type="http://schemas.openxmlformats.org/officeDocument/2006/relationships/image"/><Relationship Id="rId5" Target="../media/image30.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jpeg" Type="http://schemas.openxmlformats.org/officeDocument/2006/relationships/image"/><Relationship Id="rId4" Target="../media/image31.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jpeg" Type="http://schemas.openxmlformats.org/officeDocument/2006/relationships/image"/><Relationship Id="rId4" Target="../media/image32.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1.jpeg" Type="http://schemas.openxmlformats.org/officeDocument/2006/relationships/image"/><Relationship Id="rId4" Target="../media/image33.png" Type="http://schemas.openxmlformats.org/officeDocument/2006/relationships/image"/><Relationship Id="rId5" Target="../media/image34.png" Type="http://schemas.openxmlformats.org/officeDocument/2006/relationships/image"/><Relationship Id="rId6" Target="../media/image35.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1.jpeg" Type="http://schemas.openxmlformats.org/officeDocument/2006/relationships/image"/><Relationship Id="rId4" Target="../media/image36.png" Type="http://schemas.openxmlformats.org/officeDocument/2006/relationships/image"/><Relationship Id="rId5" Target="../media/image37.png" Type="http://schemas.openxmlformats.org/officeDocument/2006/relationships/image"/><Relationship Id="rId6" Target="../media/image38.png" Type="http://schemas.openxmlformats.org/officeDocument/2006/relationships/image"/><Relationship Id="rId7" Target="../media/image39.png" Type="http://schemas.openxmlformats.org/officeDocument/2006/relationships/image"/><Relationship Id="rId8" Target="../media/image40.png" Type="http://schemas.openxmlformats.org/officeDocument/2006/relationships/image"/><Relationship Id="rId9" Target="../media/image25.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1.jpeg" Type="http://schemas.openxmlformats.org/officeDocument/2006/relationships/image"/><Relationship Id="rId4" Target="../media/image41.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1.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1.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1.jpeg" Type="http://schemas.openxmlformats.org/officeDocument/2006/relationships/image"/><Relationship Id="rId4" Target="../media/image42.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1.jpeg" Type="http://schemas.openxmlformats.org/officeDocument/2006/relationships/image"/><Relationship Id="rId4" Target="../media/image43.png" Type="http://schemas.openxmlformats.org/officeDocument/2006/relationships/image"/><Relationship Id="rId5" Target="../media/image44.png" Type="http://schemas.openxmlformats.org/officeDocument/2006/relationships/image"/><Relationship Id="rId6" Target="../media/image45.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 Id="rId3" Target="../media/image1.jpeg" Type="http://schemas.openxmlformats.org/officeDocument/2006/relationships/image"/><Relationship Id="rId4" Target="../media/image15.png" Type="http://schemas.openxmlformats.org/officeDocument/2006/relationships/image"/><Relationship Id="rId5" Target="../media/image21.png" Type="http://schemas.openxmlformats.org/officeDocument/2006/relationships/image"/><Relationship Id="rId6" Target="../media/image46.png" Type="http://schemas.openxmlformats.org/officeDocument/2006/relationships/image"/><Relationship Id="rId7" Target="../media/image43.png" Type="http://schemas.openxmlformats.org/officeDocument/2006/relationships/image"/><Relationship Id="rId8" Target="../media/image40.png" Type="http://schemas.openxmlformats.org/officeDocument/2006/relationships/image"/><Relationship Id="rId9" Target="../media/image47.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 Id="rId3" Target="../media/image1.jpe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 Id="rId3" Target="../media/image1.jpeg" Type="http://schemas.openxmlformats.org/officeDocument/2006/relationships/image"/><Relationship Id="rId4" Target="../media/image48.png" Type="http://schemas.openxmlformats.org/officeDocument/2006/relationships/image"/><Relationship Id="rId5" Target="../media/image18.png" Type="http://schemas.openxmlformats.org/officeDocument/2006/relationships/image"/><Relationship Id="rId6" Target="../media/image49.png" Type="http://schemas.openxmlformats.org/officeDocument/2006/relationships/image"/><Relationship Id="rId7" Target="../media/image39.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2.xml" Type="http://schemas.openxmlformats.org/officeDocument/2006/relationships/notesSlide"/><Relationship Id="rId3" Target="../media/image1.jpe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3.xml" Type="http://schemas.openxmlformats.org/officeDocument/2006/relationships/notesSlide"/><Relationship Id="rId3" Target="../media/image1.jpe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4.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B4F5C"/>
        </a:solidFill>
      </p:bgPr>
    </p:bg>
    <p:spTree>
      <p:nvGrpSpPr>
        <p:cNvPr id="1" name=""/>
        <p:cNvGrpSpPr/>
        <p:nvPr/>
      </p:nvGrpSpPr>
      <p:grpSpPr>
        <a:xfrm>
          <a:off x="0" y="0"/>
          <a:ext cx="0" cy="0"/>
          <a:chOff x="0" y="0"/>
          <a:chExt cx="0" cy="0"/>
        </a:xfrm>
      </p:grpSpPr>
      <p:grpSp>
        <p:nvGrpSpPr>
          <p:cNvPr name="Group 2" id="2"/>
          <p:cNvGrpSpPr/>
          <p:nvPr/>
        </p:nvGrpSpPr>
        <p:grpSpPr>
          <a:xfrm rot="0">
            <a:off x="822960" y="-2182299"/>
            <a:ext cx="11247120" cy="5718565"/>
            <a:chOff x="0" y="0"/>
            <a:chExt cx="14996160" cy="7624754"/>
          </a:xfrm>
        </p:grpSpPr>
        <p:sp>
          <p:nvSpPr>
            <p:cNvPr name="Freeform 3" id="3"/>
            <p:cNvSpPr/>
            <p:nvPr/>
          </p:nvSpPr>
          <p:spPr>
            <a:xfrm flipH="false" flipV="false" rot="0">
              <a:off x="0" y="0"/>
              <a:ext cx="14996161" cy="7624754"/>
            </a:xfrm>
            <a:custGeom>
              <a:avLst/>
              <a:gdLst/>
              <a:ahLst/>
              <a:cxnLst/>
              <a:rect r="r" b="b" t="t" l="l"/>
              <a:pathLst>
                <a:path h="7624754" w="14996161">
                  <a:moveTo>
                    <a:pt x="0" y="0"/>
                  </a:moveTo>
                  <a:lnTo>
                    <a:pt x="14996161" y="0"/>
                  </a:lnTo>
                  <a:lnTo>
                    <a:pt x="14996161" y="7624754"/>
                  </a:lnTo>
                  <a:lnTo>
                    <a:pt x="0" y="7624754"/>
                  </a:lnTo>
                  <a:close/>
                </a:path>
              </a:pathLst>
            </a:custGeom>
            <a:blipFill>
              <a:blip r:embed="rId3">
                <a:alphaModFix amt="0"/>
              </a:blip>
              <a:stretch>
                <a:fillRect l="0" t="-15536" r="0" b="38891"/>
              </a:stretch>
            </a:blipFill>
          </p:spPr>
        </p:sp>
        <p:sp>
          <p:nvSpPr>
            <p:cNvPr name="TextBox 4" id="4"/>
            <p:cNvSpPr txBox="true"/>
            <p:nvPr/>
          </p:nvSpPr>
          <p:spPr>
            <a:xfrm>
              <a:off x="0" y="0"/>
              <a:ext cx="14996160" cy="7624754"/>
            </a:xfrm>
            <a:prstGeom prst="rect">
              <a:avLst/>
            </a:prstGeom>
          </p:spPr>
          <p:txBody>
            <a:bodyPr anchor="b" rtlCol="false" tIns="0" lIns="0" bIns="0" rIns="0"/>
            <a:lstStyle/>
            <a:p>
              <a:pPr algn="l">
                <a:lnSpc>
                  <a:spcPts val="9359"/>
                </a:lnSpc>
              </a:pPr>
              <a:r>
                <a:rPr lang="en-US" sz="7799" b="1">
                  <a:solidFill>
                    <a:srgbClr val="FFFFFF"/>
                  </a:solidFill>
                  <a:latin typeface="Cambria"/>
                  <a:ea typeface="Cambria"/>
                  <a:cs typeface="Cambria"/>
                  <a:sym typeface="Cambria"/>
                </a:rPr>
                <a:t>VrikkaTwin</a:t>
              </a:r>
            </a:p>
          </p:txBody>
        </p:sp>
      </p:grpSp>
      <p:grpSp>
        <p:nvGrpSpPr>
          <p:cNvPr name="Group 5" id="5"/>
          <p:cNvGrpSpPr/>
          <p:nvPr/>
        </p:nvGrpSpPr>
        <p:grpSpPr>
          <a:xfrm rot="0">
            <a:off x="13055305" y="2761514"/>
            <a:ext cx="4408170" cy="4408170"/>
            <a:chOff x="0" y="0"/>
            <a:chExt cx="5877560" cy="5877560"/>
          </a:xfrm>
        </p:grpSpPr>
        <p:sp>
          <p:nvSpPr>
            <p:cNvPr name="Freeform 6" id="6"/>
            <p:cNvSpPr/>
            <p:nvPr/>
          </p:nvSpPr>
          <p:spPr>
            <a:xfrm flipH="false" flipV="false" rot="0">
              <a:off x="0" y="0"/>
              <a:ext cx="5877560" cy="5877560"/>
            </a:xfrm>
            <a:custGeom>
              <a:avLst/>
              <a:gdLst/>
              <a:ahLst/>
              <a:cxnLst/>
              <a:rect r="r" b="b" t="t" l="l"/>
              <a:pathLst>
                <a:path h="5877560" w="5877560">
                  <a:moveTo>
                    <a:pt x="0" y="2938780"/>
                  </a:moveTo>
                  <a:cubicBezTo>
                    <a:pt x="0" y="1315720"/>
                    <a:pt x="1315720" y="0"/>
                    <a:pt x="2938780" y="0"/>
                  </a:cubicBezTo>
                  <a:cubicBezTo>
                    <a:pt x="4561840" y="0"/>
                    <a:pt x="5877560" y="1315720"/>
                    <a:pt x="5877560" y="2938780"/>
                  </a:cubicBezTo>
                  <a:cubicBezTo>
                    <a:pt x="5877560" y="4561840"/>
                    <a:pt x="4561840" y="5877560"/>
                    <a:pt x="2938780" y="5877560"/>
                  </a:cubicBezTo>
                  <a:cubicBezTo>
                    <a:pt x="1315720" y="5877560"/>
                    <a:pt x="0" y="4561840"/>
                    <a:pt x="0" y="2938780"/>
                  </a:cubicBezTo>
                  <a:close/>
                </a:path>
              </a:pathLst>
            </a:custGeom>
            <a:solidFill>
              <a:srgbClr val="0E7C86"/>
            </a:solidFill>
            <a:ln w="19050" cap="sq">
              <a:solidFill>
                <a:srgbClr val="0E7C86"/>
              </a:solidFill>
              <a:prstDash val="solid"/>
              <a:miter/>
            </a:ln>
          </p:spPr>
        </p:sp>
      </p:grpSp>
      <p:grpSp>
        <p:nvGrpSpPr>
          <p:cNvPr name="Group 7" id="7"/>
          <p:cNvGrpSpPr/>
          <p:nvPr/>
        </p:nvGrpSpPr>
        <p:grpSpPr>
          <a:xfrm rot="0">
            <a:off x="14333220" y="3868319"/>
            <a:ext cx="1920240" cy="2194560"/>
            <a:chOff x="0" y="0"/>
            <a:chExt cx="2560320" cy="2926080"/>
          </a:xfrm>
        </p:grpSpPr>
        <p:sp>
          <p:nvSpPr>
            <p:cNvPr name="Freeform 8" id="8" descr="preencoded.png"/>
            <p:cNvSpPr/>
            <p:nvPr/>
          </p:nvSpPr>
          <p:spPr>
            <a:xfrm flipH="false" flipV="false" rot="0">
              <a:off x="0" y="0"/>
              <a:ext cx="2560320" cy="2926080"/>
            </a:xfrm>
            <a:custGeom>
              <a:avLst/>
              <a:gdLst/>
              <a:ahLst/>
              <a:cxnLst/>
              <a:rect r="r" b="b" t="t" l="l"/>
              <a:pathLst>
                <a:path h="2926080" w="2560320">
                  <a:moveTo>
                    <a:pt x="0" y="0"/>
                  </a:moveTo>
                  <a:lnTo>
                    <a:pt x="2560320" y="0"/>
                  </a:lnTo>
                  <a:lnTo>
                    <a:pt x="2560320" y="2926080"/>
                  </a:lnTo>
                  <a:lnTo>
                    <a:pt x="0" y="2926080"/>
                  </a:lnTo>
                  <a:lnTo>
                    <a:pt x="0" y="0"/>
                  </a:lnTo>
                  <a:close/>
                </a:path>
              </a:pathLst>
            </a:custGeom>
            <a:blipFill>
              <a:blip r:embed="rId4"/>
              <a:stretch>
                <a:fillRect l="-7142" t="0" r="-7142" b="0"/>
              </a:stretch>
            </a:blipFill>
          </p:spPr>
        </p:sp>
      </p:grpSp>
      <p:sp>
        <p:nvSpPr>
          <p:cNvPr name="Freeform 9" id="9"/>
          <p:cNvSpPr/>
          <p:nvPr/>
        </p:nvSpPr>
        <p:spPr>
          <a:xfrm flipH="false" flipV="false" rot="0">
            <a:off x="13666413" y="436490"/>
            <a:ext cx="4003970" cy="1401390"/>
          </a:xfrm>
          <a:custGeom>
            <a:avLst/>
            <a:gdLst/>
            <a:ahLst/>
            <a:cxnLst/>
            <a:rect r="r" b="b" t="t" l="l"/>
            <a:pathLst>
              <a:path h="1401390" w="4003970">
                <a:moveTo>
                  <a:pt x="0" y="0"/>
                </a:moveTo>
                <a:lnTo>
                  <a:pt x="4003971" y="0"/>
                </a:lnTo>
                <a:lnTo>
                  <a:pt x="4003971" y="1401389"/>
                </a:lnTo>
                <a:lnTo>
                  <a:pt x="0" y="1401389"/>
                </a:lnTo>
                <a:lnTo>
                  <a:pt x="0" y="0"/>
                </a:lnTo>
                <a:close/>
              </a:path>
            </a:pathLst>
          </a:custGeom>
          <a:blipFill>
            <a:blip r:embed="rId5"/>
            <a:stretch>
              <a:fillRect l="0" t="0" r="0" b="0"/>
            </a:stretch>
          </a:blipFill>
        </p:spPr>
      </p:sp>
      <p:sp>
        <p:nvSpPr>
          <p:cNvPr name="Freeform 10" id="10"/>
          <p:cNvSpPr/>
          <p:nvPr/>
        </p:nvSpPr>
        <p:spPr>
          <a:xfrm flipH="false" flipV="false" rot="0">
            <a:off x="822960" y="8604814"/>
            <a:ext cx="2591412" cy="1306973"/>
          </a:xfrm>
          <a:custGeom>
            <a:avLst/>
            <a:gdLst/>
            <a:ahLst/>
            <a:cxnLst/>
            <a:rect r="r" b="b" t="t" l="l"/>
            <a:pathLst>
              <a:path h="1306973" w="2591412">
                <a:moveTo>
                  <a:pt x="0" y="0"/>
                </a:moveTo>
                <a:lnTo>
                  <a:pt x="2591412" y="0"/>
                </a:lnTo>
                <a:lnTo>
                  <a:pt x="2591412" y="1306972"/>
                </a:lnTo>
                <a:lnTo>
                  <a:pt x="0" y="1306972"/>
                </a:lnTo>
                <a:lnTo>
                  <a:pt x="0" y="0"/>
                </a:lnTo>
                <a:close/>
              </a:path>
            </a:pathLst>
          </a:custGeom>
          <a:blipFill>
            <a:blip r:embed="rId6"/>
            <a:stretch>
              <a:fillRect l="0" t="0" r="0" b="0"/>
            </a:stretch>
          </a:blipFill>
        </p:spPr>
      </p:sp>
      <p:sp>
        <p:nvSpPr>
          <p:cNvPr name="Freeform 11" id="11"/>
          <p:cNvSpPr/>
          <p:nvPr/>
        </p:nvSpPr>
        <p:spPr>
          <a:xfrm flipH="false" flipV="false" rot="0">
            <a:off x="4103592" y="8604814"/>
            <a:ext cx="3008503" cy="1306973"/>
          </a:xfrm>
          <a:custGeom>
            <a:avLst/>
            <a:gdLst/>
            <a:ahLst/>
            <a:cxnLst/>
            <a:rect r="r" b="b" t="t" l="l"/>
            <a:pathLst>
              <a:path h="1306973" w="3008503">
                <a:moveTo>
                  <a:pt x="0" y="0"/>
                </a:moveTo>
                <a:lnTo>
                  <a:pt x="3008503" y="0"/>
                </a:lnTo>
                <a:lnTo>
                  <a:pt x="3008503" y="1306972"/>
                </a:lnTo>
                <a:lnTo>
                  <a:pt x="0" y="1306972"/>
                </a:lnTo>
                <a:lnTo>
                  <a:pt x="0" y="0"/>
                </a:lnTo>
                <a:close/>
              </a:path>
            </a:pathLst>
          </a:custGeom>
          <a:blipFill>
            <a:blip r:embed="rId7"/>
            <a:stretch>
              <a:fillRect l="0" t="0" r="0" b="0"/>
            </a:stretch>
          </a:blipFill>
        </p:spPr>
      </p:sp>
      <p:sp>
        <p:nvSpPr>
          <p:cNvPr name="Freeform 12" id="12"/>
          <p:cNvSpPr/>
          <p:nvPr/>
        </p:nvSpPr>
        <p:spPr>
          <a:xfrm flipH="false" flipV="false" rot="0">
            <a:off x="7797895" y="8604814"/>
            <a:ext cx="2223487" cy="1283270"/>
          </a:xfrm>
          <a:custGeom>
            <a:avLst/>
            <a:gdLst/>
            <a:ahLst/>
            <a:cxnLst/>
            <a:rect r="r" b="b" t="t" l="l"/>
            <a:pathLst>
              <a:path h="1283270" w="2223487">
                <a:moveTo>
                  <a:pt x="0" y="0"/>
                </a:moveTo>
                <a:lnTo>
                  <a:pt x="2223488" y="0"/>
                </a:lnTo>
                <a:lnTo>
                  <a:pt x="2223488" y="1283269"/>
                </a:lnTo>
                <a:lnTo>
                  <a:pt x="0" y="1283269"/>
                </a:lnTo>
                <a:lnTo>
                  <a:pt x="0" y="0"/>
                </a:lnTo>
                <a:close/>
              </a:path>
            </a:pathLst>
          </a:custGeom>
          <a:blipFill>
            <a:blip r:embed="rId8"/>
            <a:stretch>
              <a:fillRect l="0" t="0" r="0" b="0"/>
            </a:stretch>
          </a:blipFill>
        </p:spPr>
      </p:sp>
      <p:sp>
        <p:nvSpPr>
          <p:cNvPr name="TextBox 13" id="13"/>
          <p:cNvSpPr txBox="true"/>
          <p:nvPr/>
        </p:nvSpPr>
        <p:spPr>
          <a:xfrm rot="0">
            <a:off x="822960" y="3656266"/>
            <a:ext cx="11247120" cy="628650"/>
          </a:xfrm>
          <a:prstGeom prst="rect">
            <a:avLst/>
          </a:prstGeom>
        </p:spPr>
        <p:txBody>
          <a:bodyPr anchor="t" rtlCol="false" tIns="0" lIns="0" bIns="0" rIns="0">
            <a:spAutoFit/>
          </a:bodyPr>
          <a:lstStyle/>
          <a:p>
            <a:pPr algn="l">
              <a:lnSpc>
                <a:spcPts val="4319"/>
              </a:lnSpc>
            </a:pPr>
            <a:r>
              <a:rPr lang="en-US" sz="3599">
                <a:solidFill>
                  <a:srgbClr val="BFE3E5"/>
                </a:solidFill>
                <a:latin typeface="Calibri"/>
                <a:ea typeface="Calibri"/>
                <a:cs typeface="Calibri"/>
                <a:sym typeface="Calibri"/>
              </a:rPr>
              <a:t>A kidney digital twin for heatwaves and sick days</a:t>
            </a:r>
          </a:p>
        </p:txBody>
      </p:sp>
      <p:sp>
        <p:nvSpPr>
          <p:cNvPr name="TextBox 14" id="14"/>
          <p:cNvSpPr txBox="true"/>
          <p:nvPr/>
        </p:nvSpPr>
        <p:spPr>
          <a:xfrm rot="0">
            <a:off x="822960" y="4684966"/>
            <a:ext cx="11247120" cy="1400175"/>
          </a:xfrm>
          <a:prstGeom prst="rect">
            <a:avLst/>
          </a:prstGeom>
        </p:spPr>
        <p:txBody>
          <a:bodyPr anchor="t" rtlCol="false" tIns="0" lIns="0" bIns="0" rIns="0">
            <a:spAutoFit/>
          </a:bodyPr>
          <a:lstStyle/>
          <a:p>
            <a:pPr algn="l">
              <a:lnSpc>
                <a:spcPts val="3599"/>
              </a:lnSpc>
            </a:pPr>
            <a:r>
              <a:rPr lang="en-US" sz="2999">
                <a:solidFill>
                  <a:srgbClr val="FFFFFF"/>
                </a:solidFill>
                <a:latin typeface="Calibri"/>
                <a:ea typeface="Calibri"/>
                <a:cs typeface="Calibri"/>
                <a:sym typeface="Calibri"/>
              </a:rPr>
              <a:t>Team Monarch </a:t>
            </a:r>
          </a:p>
          <a:p>
            <a:pPr algn="l">
              <a:lnSpc>
                <a:spcPts val="3599"/>
              </a:lnSpc>
            </a:pPr>
            <a:r>
              <a:rPr lang="en-US" sz="2999">
                <a:solidFill>
                  <a:srgbClr val="FFFFFF"/>
                </a:solidFill>
                <a:latin typeface="Calibri"/>
                <a:ea typeface="Calibri"/>
                <a:cs typeface="Calibri"/>
                <a:sym typeface="Calibri"/>
              </a:rPr>
              <a:t>Harshita Kumar &amp; Eeshan Gupta</a:t>
            </a:r>
          </a:p>
          <a:p>
            <a:pPr algn="l">
              <a:lnSpc>
                <a:spcPts val="3599"/>
              </a:lnSpc>
            </a:pPr>
            <a:r>
              <a:rPr lang="en-US" sz="2999">
                <a:solidFill>
                  <a:srgbClr val="FFFFFF"/>
                </a:solidFill>
                <a:latin typeface="Calibri"/>
                <a:ea typeface="Calibri"/>
                <a:cs typeface="Calibri"/>
                <a:sym typeface="Calibri"/>
              </a:rPr>
              <a:t>Vellore Institute of Technology (VIT), Vellore</a:t>
            </a:r>
          </a:p>
        </p:txBody>
      </p:sp>
      <p:sp>
        <p:nvSpPr>
          <p:cNvPr name="TextBox 15" id="15"/>
          <p:cNvSpPr txBox="true"/>
          <p:nvPr/>
        </p:nvSpPr>
        <p:spPr>
          <a:xfrm rot="0">
            <a:off x="822960" y="6428041"/>
            <a:ext cx="11247120" cy="466725"/>
          </a:xfrm>
          <a:prstGeom prst="rect">
            <a:avLst/>
          </a:prstGeom>
        </p:spPr>
        <p:txBody>
          <a:bodyPr anchor="t" rtlCol="false" tIns="0" lIns="0" bIns="0" rIns="0">
            <a:spAutoFit/>
          </a:bodyPr>
          <a:lstStyle/>
          <a:p>
            <a:pPr algn="l">
              <a:lnSpc>
                <a:spcPts val="3239"/>
              </a:lnSpc>
            </a:pPr>
            <a:r>
              <a:rPr lang="en-US" sz="2699" i="1">
                <a:solidFill>
                  <a:srgbClr val="BFE3E5"/>
                </a:solidFill>
                <a:latin typeface="Calibri"/>
                <a:ea typeface="Calibri"/>
                <a:cs typeface="Calibri"/>
                <a:sym typeface="Calibri"/>
              </a:rPr>
              <a:t>Happiest Health Digital Twin Challenge 2026 · "Vrikka" is Sanskrit for kidney</a:t>
            </a:r>
          </a:p>
        </p:txBody>
      </p:sp>
      <p:sp>
        <p:nvSpPr>
          <p:cNvPr name="TextBox 16" id="16"/>
          <p:cNvSpPr txBox="true"/>
          <p:nvPr/>
        </p:nvSpPr>
        <p:spPr>
          <a:xfrm rot="0">
            <a:off x="12550140" y="7626668"/>
            <a:ext cx="5486400" cy="1285875"/>
          </a:xfrm>
          <a:prstGeom prst="rect">
            <a:avLst/>
          </a:prstGeom>
        </p:spPr>
        <p:txBody>
          <a:bodyPr anchor="t" rtlCol="false" tIns="0" lIns="0" bIns="0" rIns="0">
            <a:spAutoFit/>
          </a:bodyPr>
          <a:lstStyle/>
          <a:p>
            <a:pPr algn="ctr">
              <a:lnSpc>
                <a:spcPts val="3299"/>
              </a:lnSpc>
            </a:pPr>
            <a:r>
              <a:rPr lang="en-US" sz="2749" i="1">
                <a:solidFill>
                  <a:srgbClr val="FFFFFF"/>
                </a:solidFill>
                <a:latin typeface="Calibri"/>
                <a:ea typeface="Calibri"/>
                <a:cs typeface="Calibri"/>
                <a:sym typeface="Calibri"/>
              </a:rPr>
              <a:t>Wearables measure the heat.</a:t>
            </a:r>
          </a:p>
          <a:p>
            <a:pPr algn="ctr">
              <a:lnSpc>
                <a:spcPts val="3299"/>
              </a:lnSpc>
            </a:pPr>
            <a:r>
              <a:rPr lang="en-US" sz="2749" i="1">
                <a:solidFill>
                  <a:srgbClr val="FFFFFF"/>
                </a:solidFill>
                <a:latin typeface="Calibri"/>
                <a:ea typeface="Calibri"/>
                <a:cs typeface="Calibri"/>
                <a:sym typeface="Calibri"/>
              </a:rPr>
              <a:t>Labs measure the kidney.</a:t>
            </a:r>
          </a:p>
          <a:p>
            <a:pPr algn="ctr">
              <a:lnSpc>
                <a:spcPts val="3299"/>
              </a:lnSpc>
            </a:pPr>
            <a:r>
              <a:rPr lang="en-US" sz="2749" i="1">
                <a:solidFill>
                  <a:srgbClr val="FFFFFF"/>
                </a:solidFill>
                <a:latin typeface="Calibri"/>
                <a:ea typeface="Calibri"/>
                <a:cs typeface="Calibri"/>
                <a:sym typeface="Calibri"/>
              </a:rPr>
              <a:t>VrikkaTwin decides when to look.</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45820" y="-768015"/>
            <a:ext cx="16596360" cy="3593431"/>
            <a:chOff x="0" y="0"/>
            <a:chExt cx="22128480" cy="4791241"/>
          </a:xfrm>
        </p:grpSpPr>
        <p:sp>
          <p:nvSpPr>
            <p:cNvPr name="Freeform 3" id="3"/>
            <p:cNvSpPr/>
            <p:nvPr/>
          </p:nvSpPr>
          <p:spPr>
            <a:xfrm flipH="false" flipV="false" rot="0">
              <a:off x="0" y="0"/>
              <a:ext cx="22128480" cy="4791241"/>
            </a:xfrm>
            <a:custGeom>
              <a:avLst/>
              <a:gdLst/>
              <a:ahLst/>
              <a:cxnLst/>
              <a:rect r="r" b="b" t="t" l="l"/>
              <a:pathLst>
                <a:path h="4791241" w="22128480">
                  <a:moveTo>
                    <a:pt x="0" y="0"/>
                  </a:moveTo>
                  <a:lnTo>
                    <a:pt x="22128480" y="0"/>
                  </a:lnTo>
                  <a:lnTo>
                    <a:pt x="22128480" y="4791241"/>
                  </a:lnTo>
                  <a:lnTo>
                    <a:pt x="0" y="4791241"/>
                  </a:lnTo>
                  <a:close/>
                </a:path>
              </a:pathLst>
            </a:custGeom>
            <a:blipFill>
              <a:blip r:embed="rId3">
                <a:alphaModFix amt="0"/>
              </a:blip>
              <a:stretch>
                <a:fillRect l="0" t="-73770" r="0" b="-6214"/>
              </a:stretch>
            </a:blipFill>
          </p:spPr>
        </p:sp>
        <p:sp>
          <p:nvSpPr>
            <p:cNvPr name="TextBox 4" id="4"/>
            <p:cNvSpPr txBox="true"/>
            <p:nvPr/>
          </p:nvSpPr>
          <p:spPr>
            <a:xfrm>
              <a:off x="0" y="-9525"/>
              <a:ext cx="22128480" cy="4800766"/>
            </a:xfrm>
            <a:prstGeom prst="rect">
              <a:avLst/>
            </a:prstGeom>
          </p:spPr>
          <p:txBody>
            <a:bodyPr anchor="ctr" rtlCol="false" tIns="0" lIns="0" bIns="0" rIns="0"/>
            <a:lstStyle/>
            <a:p>
              <a:pPr algn="l">
                <a:lnSpc>
                  <a:spcPts val="5879"/>
                </a:lnSpc>
              </a:pPr>
              <a:r>
                <a:rPr lang="en-US" sz="4899" b="1">
                  <a:solidFill>
                    <a:srgbClr val="0B4F5C"/>
                  </a:solidFill>
                  <a:latin typeface="Cambria"/>
                  <a:ea typeface="Cambria"/>
                  <a:cs typeface="Cambria"/>
                  <a:sym typeface="Cambria"/>
                </a:rPr>
                <a:t>Meet Riya: one hot week, three ordinary choices</a:t>
              </a:r>
            </a:p>
          </p:txBody>
        </p:sp>
      </p:grpSp>
      <p:grpSp>
        <p:nvGrpSpPr>
          <p:cNvPr name="Group 5" id="5"/>
          <p:cNvGrpSpPr/>
          <p:nvPr/>
        </p:nvGrpSpPr>
        <p:grpSpPr>
          <a:xfrm rot="0">
            <a:off x="813435" y="1767840"/>
            <a:ext cx="7700010" cy="6877050"/>
            <a:chOff x="0" y="0"/>
            <a:chExt cx="10266680" cy="9169400"/>
          </a:xfrm>
        </p:grpSpPr>
        <p:sp>
          <p:nvSpPr>
            <p:cNvPr name="Freeform 6" id="6"/>
            <p:cNvSpPr/>
            <p:nvPr/>
          </p:nvSpPr>
          <p:spPr>
            <a:xfrm flipH="false" flipV="false" rot="0">
              <a:off x="0" y="0"/>
              <a:ext cx="10266680" cy="9169400"/>
            </a:xfrm>
            <a:custGeom>
              <a:avLst/>
              <a:gdLst/>
              <a:ahLst/>
              <a:cxnLst/>
              <a:rect r="r" b="b" t="t" l="l"/>
              <a:pathLst>
                <a:path h="9169400" w="10266680">
                  <a:moveTo>
                    <a:pt x="0" y="146685"/>
                  </a:moveTo>
                  <a:cubicBezTo>
                    <a:pt x="0" y="65659"/>
                    <a:pt x="65659" y="0"/>
                    <a:pt x="146685" y="0"/>
                  </a:cubicBezTo>
                  <a:lnTo>
                    <a:pt x="10119995" y="0"/>
                  </a:lnTo>
                  <a:cubicBezTo>
                    <a:pt x="10201021" y="0"/>
                    <a:pt x="10266680" y="65659"/>
                    <a:pt x="10266680" y="146685"/>
                  </a:cubicBezTo>
                  <a:lnTo>
                    <a:pt x="10266680" y="9022715"/>
                  </a:lnTo>
                  <a:cubicBezTo>
                    <a:pt x="10266680" y="9103741"/>
                    <a:pt x="10201021" y="9169400"/>
                    <a:pt x="10119995" y="9169400"/>
                  </a:cubicBezTo>
                  <a:lnTo>
                    <a:pt x="146685" y="9169400"/>
                  </a:lnTo>
                  <a:cubicBezTo>
                    <a:pt x="65659" y="9169400"/>
                    <a:pt x="0" y="9103741"/>
                    <a:pt x="0" y="9022715"/>
                  </a:cubicBezTo>
                  <a:close/>
                </a:path>
              </a:pathLst>
            </a:custGeom>
            <a:solidFill>
              <a:srgbClr val="EEF5F5"/>
            </a:solidFill>
            <a:ln w="19050" cap="sq">
              <a:solidFill>
                <a:srgbClr val="EEF5F5"/>
              </a:solidFill>
              <a:prstDash val="solid"/>
              <a:miter/>
            </a:ln>
          </p:spPr>
        </p:sp>
      </p:grpSp>
      <p:grpSp>
        <p:nvGrpSpPr>
          <p:cNvPr name="Group 7" id="7"/>
          <p:cNvGrpSpPr/>
          <p:nvPr/>
        </p:nvGrpSpPr>
        <p:grpSpPr>
          <a:xfrm rot="0">
            <a:off x="1293495" y="2179320"/>
            <a:ext cx="1390650" cy="1390650"/>
            <a:chOff x="0" y="0"/>
            <a:chExt cx="1854200" cy="1854200"/>
          </a:xfrm>
        </p:grpSpPr>
        <p:sp>
          <p:nvSpPr>
            <p:cNvPr name="Freeform 8" id="8"/>
            <p:cNvSpPr/>
            <p:nvPr/>
          </p:nvSpPr>
          <p:spPr>
            <a:xfrm flipH="false" flipV="false" rot="0">
              <a:off x="0" y="0"/>
              <a:ext cx="1854200" cy="1854200"/>
            </a:xfrm>
            <a:custGeom>
              <a:avLst/>
              <a:gdLst/>
              <a:ahLst/>
              <a:cxnLst/>
              <a:rect r="r" b="b" t="t" l="l"/>
              <a:pathLst>
                <a:path h="1854200" w="1854200">
                  <a:moveTo>
                    <a:pt x="0" y="927100"/>
                  </a:moveTo>
                  <a:cubicBezTo>
                    <a:pt x="0" y="415036"/>
                    <a:pt x="415036" y="0"/>
                    <a:pt x="927100" y="0"/>
                  </a:cubicBezTo>
                  <a:cubicBezTo>
                    <a:pt x="1439164" y="0"/>
                    <a:pt x="1854200" y="415036"/>
                    <a:pt x="1854200" y="927100"/>
                  </a:cubicBezTo>
                  <a:cubicBezTo>
                    <a:pt x="1854200" y="1439164"/>
                    <a:pt x="1439164" y="1854200"/>
                    <a:pt x="927100" y="1854200"/>
                  </a:cubicBezTo>
                  <a:cubicBezTo>
                    <a:pt x="415036" y="1854200"/>
                    <a:pt x="0" y="1439164"/>
                    <a:pt x="0" y="927100"/>
                  </a:cubicBezTo>
                  <a:close/>
                </a:path>
              </a:pathLst>
            </a:custGeom>
            <a:solidFill>
              <a:srgbClr val="0E7C86"/>
            </a:solidFill>
            <a:ln w="19050" cap="sq">
              <a:solidFill>
                <a:srgbClr val="0E7C86"/>
              </a:solidFill>
              <a:prstDash val="solid"/>
              <a:miter/>
            </a:ln>
          </p:spPr>
        </p:sp>
      </p:grpSp>
      <p:grpSp>
        <p:nvGrpSpPr>
          <p:cNvPr name="Group 9" id="9"/>
          <p:cNvGrpSpPr/>
          <p:nvPr/>
        </p:nvGrpSpPr>
        <p:grpSpPr>
          <a:xfrm rot="0">
            <a:off x="1645920" y="2531745"/>
            <a:ext cx="685800" cy="685800"/>
            <a:chOff x="0" y="0"/>
            <a:chExt cx="914400" cy="914400"/>
          </a:xfrm>
        </p:grpSpPr>
        <p:sp>
          <p:nvSpPr>
            <p:cNvPr name="Freeform 10" id="10" descr="preencoded.png"/>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4"/>
              <a:stretch>
                <a:fillRect l="0" t="0" r="0" b="0"/>
              </a:stretch>
            </a:blipFill>
          </p:spPr>
        </p:sp>
      </p:grpSp>
      <p:sp>
        <p:nvSpPr>
          <p:cNvPr name="TextBox 11" id="11"/>
          <p:cNvSpPr txBox="true"/>
          <p:nvPr/>
        </p:nvSpPr>
        <p:spPr>
          <a:xfrm rot="0">
            <a:off x="2948940" y="2289048"/>
            <a:ext cx="5349240" cy="523875"/>
          </a:xfrm>
          <a:prstGeom prst="rect">
            <a:avLst/>
          </a:prstGeom>
        </p:spPr>
        <p:txBody>
          <a:bodyPr anchor="t" rtlCol="false" tIns="0" lIns="0" bIns="0" rIns="0">
            <a:spAutoFit/>
          </a:bodyPr>
          <a:lstStyle/>
          <a:p>
            <a:pPr algn="l">
              <a:lnSpc>
                <a:spcPts val="4079"/>
              </a:lnSpc>
            </a:pPr>
            <a:r>
              <a:rPr lang="en-US" sz="3399" b="1">
                <a:solidFill>
                  <a:srgbClr val="0B4F5C"/>
                </a:solidFill>
                <a:latin typeface="Cambria"/>
                <a:ea typeface="Cambria"/>
                <a:cs typeface="Cambria"/>
                <a:sym typeface="Cambria"/>
              </a:rPr>
              <a:t>Riya (fictional), 68, Nagpur</a:t>
            </a:r>
          </a:p>
        </p:txBody>
      </p:sp>
      <p:sp>
        <p:nvSpPr>
          <p:cNvPr name="TextBox 12" id="12"/>
          <p:cNvSpPr txBox="true"/>
          <p:nvPr/>
        </p:nvSpPr>
        <p:spPr>
          <a:xfrm rot="0">
            <a:off x="2948940" y="2886075"/>
            <a:ext cx="5349240" cy="762000"/>
          </a:xfrm>
          <a:prstGeom prst="rect">
            <a:avLst/>
          </a:prstGeom>
        </p:spPr>
        <p:txBody>
          <a:bodyPr anchor="t" rtlCol="false" tIns="0" lIns="0" bIns="0" rIns="0">
            <a:spAutoFit/>
          </a:bodyPr>
          <a:lstStyle/>
          <a:p>
            <a:pPr algn="l">
              <a:lnSpc>
                <a:spcPts val="2819"/>
              </a:lnSpc>
            </a:pPr>
            <a:r>
              <a:rPr lang="en-US" sz="2349">
                <a:solidFill>
                  <a:srgbClr val="5B6C75"/>
                </a:solidFill>
                <a:latin typeface="Calibri"/>
                <a:ea typeface="Calibri"/>
                <a:cs typeface="Calibri"/>
                <a:sym typeface="Calibri"/>
              </a:rPr>
              <a:t>Lives at home · high blood pressure · early kidney decline</a:t>
            </a:r>
          </a:p>
        </p:txBody>
      </p:sp>
      <p:sp>
        <p:nvSpPr>
          <p:cNvPr name="TextBox 13" id="13"/>
          <p:cNvSpPr txBox="true"/>
          <p:nvPr/>
        </p:nvSpPr>
        <p:spPr>
          <a:xfrm rot="0">
            <a:off x="1371600" y="4116705"/>
            <a:ext cx="6720840" cy="2581275"/>
          </a:xfrm>
          <a:prstGeom prst="rect">
            <a:avLst/>
          </a:prstGeom>
        </p:spPr>
        <p:txBody>
          <a:bodyPr anchor="t" rtlCol="false" tIns="0" lIns="0" bIns="0" rIns="0">
            <a:spAutoFit/>
          </a:bodyPr>
          <a:lstStyle/>
          <a:p>
            <a:pPr algn="l" marL="506728" indent="-253364" lvl="1">
              <a:lnSpc>
                <a:spcPts val="3359"/>
              </a:lnSpc>
              <a:buFont typeface="Arial"/>
              <a:buChar char="•"/>
            </a:pPr>
            <a:r>
              <a:rPr lang="en-US" b="1" sz="2799">
                <a:solidFill>
                  <a:srgbClr val="1B2B34"/>
                </a:solidFill>
                <a:latin typeface="Calibri"/>
                <a:ea typeface="Calibri"/>
                <a:cs typeface="Calibri"/>
                <a:sym typeface="Calibri"/>
              </a:rPr>
              <a:t>Takes a BP pill </a:t>
            </a:r>
            <a:r>
              <a:rPr lang="en-US" sz="2799">
                <a:solidFill>
                  <a:srgbClr val="1B2B34"/>
                </a:solidFill>
                <a:latin typeface="Calibri"/>
                <a:ea typeface="Calibri"/>
                <a:cs typeface="Calibri"/>
                <a:sym typeface="Calibri"/>
              </a:rPr>
              <a:t>(ARB) and a water pill (diuretic) every day</a:t>
            </a:r>
          </a:p>
          <a:p>
            <a:pPr algn="l" marL="506728" indent="-253364" lvl="1">
              <a:lnSpc>
                <a:spcPts val="3359"/>
              </a:lnSpc>
              <a:buFont typeface="Arial"/>
              <a:buChar char="•"/>
            </a:pPr>
            <a:r>
              <a:rPr lang="en-US" b="1" sz="2799">
                <a:solidFill>
                  <a:srgbClr val="1B2B34"/>
                </a:solidFill>
                <a:latin typeface="Calibri"/>
                <a:ea typeface="Calibri"/>
                <a:cs typeface="Calibri"/>
                <a:sym typeface="Calibri"/>
              </a:rPr>
              <a:t>Knee pain: </a:t>
            </a:r>
            <a:r>
              <a:rPr lang="en-US" sz="2799">
                <a:solidFill>
                  <a:srgbClr val="1B2B34"/>
                </a:solidFill>
                <a:latin typeface="Calibri"/>
                <a:ea typeface="Calibri"/>
                <a:cs typeface="Calibri"/>
                <a:sym typeface="Calibri"/>
              </a:rPr>
              <a:t>buys an ibuprofen painkiller (e.g. Combiflam) over the counter</a:t>
            </a:r>
          </a:p>
          <a:p>
            <a:pPr algn="l" marL="506728" indent="-253364" lvl="1">
              <a:lnSpc>
                <a:spcPts val="3359"/>
              </a:lnSpc>
              <a:buFont typeface="Arial"/>
              <a:buChar char="•"/>
            </a:pPr>
            <a:r>
              <a:rPr lang="en-US" b="1" sz="2799">
                <a:solidFill>
                  <a:srgbClr val="1B2B34"/>
                </a:solidFill>
                <a:latin typeface="Calibri"/>
                <a:ea typeface="Calibri"/>
                <a:cs typeface="Calibri"/>
                <a:sym typeface="Calibri"/>
              </a:rPr>
              <a:t>May 2024: </a:t>
            </a:r>
            <a:r>
              <a:rPr lang="en-US" sz="2799">
                <a:solidFill>
                  <a:srgbClr val="1B2B34"/>
                </a:solidFill>
                <a:latin typeface="Calibri"/>
                <a:ea typeface="Calibri"/>
                <a:cs typeface="Calibri"/>
                <a:sym typeface="Calibri"/>
              </a:rPr>
              <a:t>Nagpur touches 45 °C, then she catches a fever</a:t>
            </a:r>
          </a:p>
        </p:txBody>
      </p:sp>
      <p:sp>
        <p:nvSpPr>
          <p:cNvPr name="TextBox 14" id="14"/>
          <p:cNvSpPr txBox="true"/>
          <p:nvPr/>
        </p:nvSpPr>
        <p:spPr>
          <a:xfrm rot="0">
            <a:off x="1371600" y="7143750"/>
            <a:ext cx="6720840" cy="857250"/>
          </a:xfrm>
          <a:prstGeom prst="rect">
            <a:avLst/>
          </a:prstGeom>
        </p:spPr>
        <p:txBody>
          <a:bodyPr anchor="t" rtlCol="false" tIns="0" lIns="0" bIns="0" rIns="0">
            <a:spAutoFit/>
          </a:bodyPr>
          <a:lstStyle/>
          <a:p>
            <a:pPr algn="l">
              <a:lnSpc>
                <a:spcPts val="3179"/>
              </a:lnSpc>
            </a:pPr>
            <a:r>
              <a:rPr lang="en-US" sz="2649" i="1">
                <a:solidFill>
                  <a:srgbClr val="D9472B"/>
                </a:solidFill>
                <a:latin typeface="Calibri"/>
                <a:ea typeface="Calibri"/>
                <a:cs typeface="Calibri"/>
                <a:sym typeface="Calibri"/>
              </a:rPr>
              <a:t>Every choice is normal. Together, they can injure her kidneys within days, and nobody is watching.</a:t>
            </a:r>
          </a:p>
        </p:txBody>
      </p:sp>
      <p:grpSp>
        <p:nvGrpSpPr>
          <p:cNvPr name="Group 15" id="15"/>
          <p:cNvGrpSpPr/>
          <p:nvPr/>
        </p:nvGrpSpPr>
        <p:grpSpPr>
          <a:xfrm rot="0">
            <a:off x="9591675" y="2047875"/>
            <a:ext cx="1116330" cy="1116330"/>
            <a:chOff x="0" y="0"/>
            <a:chExt cx="1488440" cy="1488440"/>
          </a:xfrm>
        </p:grpSpPr>
        <p:sp>
          <p:nvSpPr>
            <p:cNvPr name="Freeform 16" id="16"/>
            <p:cNvSpPr/>
            <p:nvPr/>
          </p:nvSpPr>
          <p:spPr>
            <a:xfrm flipH="false" flipV="false" rot="0">
              <a:off x="0" y="0"/>
              <a:ext cx="1488440" cy="1488440"/>
            </a:xfrm>
            <a:custGeom>
              <a:avLst/>
              <a:gdLst/>
              <a:ahLst/>
              <a:cxnLst/>
              <a:rect r="r" b="b" t="t" l="l"/>
              <a:pathLst>
                <a:path h="1488440" w="1488440">
                  <a:moveTo>
                    <a:pt x="0" y="744220"/>
                  </a:moveTo>
                  <a:cubicBezTo>
                    <a:pt x="0" y="333248"/>
                    <a:pt x="333248" y="0"/>
                    <a:pt x="744220" y="0"/>
                  </a:cubicBezTo>
                  <a:cubicBezTo>
                    <a:pt x="1155192" y="0"/>
                    <a:pt x="1488440" y="333248"/>
                    <a:pt x="1488440" y="744220"/>
                  </a:cubicBezTo>
                  <a:cubicBezTo>
                    <a:pt x="1488440" y="1155192"/>
                    <a:pt x="1155192" y="1488440"/>
                    <a:pt x="744220" y="1488440"/>
                  </a:cubicBezTo>
                  <a:cubicBezTo>
                    <a:pt x="333248" y="1488440"/>
                    <a:pt x="0" y="1155192"/>
                    <a:pt x="0" y="744220"/>
                  </a:cubicBezTo>
                  <a:close/>
                </a:path>
              </a:pathLst>
            </a:custGeom>
            <a:solidFill>
              <a:srgbClr val="0E7C86"/>
            </a:solidFill>
            <a:ln w="19050" cap="sq">
              <a:solidFill>
                <a:srgbClr val="0E7C86"/>
              </a:solidFill>
              <a:prstDash val="solid"/>
              <a:miter/>
            </a:ln>
          </p:spPr>
        </p:sp>
      </p:grpSp>
      <p:grpSp>
        <p:nvGrpSpPr>
          <p:cNvPr name="Group 17" id="17"/>
          <p:cNvGrpSpPr/>
          <p:nvPr/>
        </p:nvGrpSpPr>
        <p:grpSpPr>
          <a:xfrm rot="0">
            <a:off x="9875520" y="2331720"/>
            <a:ext cx="548640" cy="548640"/>
            <a:chOff x="0" y="0"/>
            <a:chExt cx="731520" cy="731520"/>
          </a:xfrm>
        </p:grpSpPr>
        <p:sp>
          <p:nvSpPr>
            <p:cNvPr name="Freeform 18" id="18" descr="preencode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5"/>
              <a:stretch>
                <a:fillRect l="0" t="0" r="0" b="0"/>
              </a:stretch>
            </a:blipFill>
          </p:spPr>
        </p:sp>
      </p:grpSp>
      <p:sp>
        <p:nvSpPr>
          <p:cNvPr name="TextBox 19" id="19"/>
          <p:cNvSpPr txBox="true"/>
          <p:nvPr/>
        </p:nvSpPr>
        <p:spPr>
          <a:xfrm rot="0">
            <a:off x="10972800" y="2018157"/>
            <a:ext cx="6309360" cy="485775"/>
          </a:xfrm>
          <a:prstGeom prst="rect">
            <a:avLst/>
          </a:prstGeom>
        </p:spPr>
        <p:txBody>
          <a:bodyPr anchor="t" rtlCol="false" tIns="0" lIns="0" bIns="0" rIns="0">
            <a:spAutoFit/>
          </a:bodyPr>
          <a:lstStyle/>
          <a:p>
            <a:pPr algn="l">
              <a:lnSpc>
                <a:spcPts val="3359"/>
              </a:lnSpc>
            </a:pPr>
            <a:r>
              <a:rPr lang="en-US" sz="2799" b="1">
                <a:solidFill>
                  <a:srgbClr val="0B4F5C"/>
                </a:solidFill>
                <a:latin typeface="Calibri"/>
                <a:ea typeface="Calibri"/>
                <a:cs typeface="Calibri"/>
                <a:sym typeface="Calibri"/>
              </a:rPr>
              <a:t>Day 1-6</a:t>
            </a:r>
          </a:p>
        </p:txBody>
      </p:sp>
      <p:sp>
        <p:nvSpPr>
          <p:cNvPr name="TextBox 20" id="20"/>
          <p:cNvSpPr txBox="true"/>
          <p:nvPr/>
        </p:nvSpPr>
        <p:spPr>
          <a:xfrm rot="0">
            <a:off x="10972800" y="2558415"/>
            <a:ext cx="6309360" cy="419100"/>
          </a:xfrm>
          <a:prstGeom prst="rect">
            <a:avLst/>
          </a:prstGeom>
        </p:spPr>
        <p:txBody>
          <a:bodyPr anchor="t" rtlCol="false" tIns="0" lIns="0" bIns="0" rIns="0">
            <a:spAutoFit/>
          </a:bodyPr>
          <a:lstStyle/>
          <a:p>
            <a:pPr algn="l">
              <a:lnSpc>
                <a:spcPts val="2999"/>
              </a:lnSpc>
            </a:pPr>
            <a:r>
              <a:rPr lang="en-US" sz="2499">
                <a:solidFill>
                  <a:srgbClr val="1B2B34"/>
                </a:solidFill>
                <a:latin typeface="Calibri"/>
                <a:ea typeface="Calibri"/>
                <a:cs typeface="Calibri"/>
                <a:sym typeface="Calibri"/>
              </a:rPr>
              <a:t>Heat: she sweats, drinks too little</a:t>
            </a:r>
          </a:p>
        </p:txBody>
      </p:sp>
      <p:grpSp>
        <p:nvGrpSpPr>
          <p:cNvPr name="Group 21" id="21"/>
          <p:cNvGrpSpPr/>
          <p:nvPr/>
        </p:nvGrpSpPr>
        <p:grpSpPr>
          <a:xfrm rot="0">
            <a:off x="9591675" y="3721227"/>
            <a:ext cx="1116330" cy="1116330"/>
            <a:chOff x="0" y="0"/>
            <a:chExt cx="1488440" cy="1488440"/>
          </a:xfrm>
        </p:grpSpPr>
        <p:sp>
          <p:nvSpPr>
            <p:cNvPr name="Freeform 22" id="22"/>
            <p:cNvSpPr/>
            <p:nvPr/>
          </p:nvSpPr>
          <p:spPr>
            <a:xfrm flipH="false" flipV="false" rot="0">
              <a:off x="0" y="0"/>
              <a:ext cx="1488440" cy="1488440"/>
            </a:xfrm>
            <a:custGeom>
              <a:avLst/>
              <a:gdLst/>
              <a:ahLst/>
              <a:cxnLst/>
              <a:rect r="r" b="b" t="t" l="l"/>
              <a:pathLst>
                <a:path h="1488440" w="1488440">
                  <a:moveTo>
                    <a:pt x="0" y="744220"/>
                  </a:moveTo>
                  <a:cubicBezTo>
                    <a:pt x="0" y="333248"/>
                    <a:pt x="333248" y="0"/>
                    <a:pt x="744220" y="0"/>
                  </a:cubicBezTo>
                  <a:cubicBezTo>
                    <a:pt x="1155192" y="0"/>
                    <a:pt x="1488440" y="333248"/>
                    <a:pt x="1488440" y="744220"/>
                  </a:cubicBezTo>
                  <a:cubicBezTo>
                    <a:pt x="1488440" y="1155192"/>
                    <a:pt x="1155192" y="1488440"/>
                    <a:pt x="744220" y="1488440"/>
                  </a:cubicBezTo>
                  <a:cubicBezTo>
                    <a:pt x="333248" y="1488440"/>
                    <a:pt x="0" y="1155192"/>
                    <a:pt x="0" y="744220"/>
                  </a:cubicBezTo>
                  <a:close/>
                </a:path>
              </a:pathLst>
            </a:custGeom>
            <a:solidFill>
              <a:srgbClr val="0E7C86"/>
            </a:solidFill>
            <a:ln w="19050" cap="sq">
              <a:solidFill>
                <a:srgbClr val="0E7C86"/>
              </a:solidFill>
              <a:prstDash val="solid"/>
              <a:miter/>
            </a:ln>
          </p:spPr>
        </p:sp>
      </p:grpSp>
      <p:grpSp>
        <p:nvGrpSpPr>
          <p:cNvPr name="Group 23" id="23"/>
          <p:cNvGrpSpPr/>
          <p:nvPr/>
        </p:nvGrpSpPr>
        <p:grpSpPr>
          <a:xfrm rot="0">
            <a:off x="9875520" y="4005072"/>
            <a:ext cx="548640" cy="548640"/>
            <a:chOff x="0" y="0"/>
            <a:chExt cx="731520" cy="731520"/>
          </a:xfrm>
        </p:grpSpPr>
        <p:sp>
          <p:nvSpPr>
            <p:cNvPr name="Freeform 24" id="24" descr="preencode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6"/>
              <a:stretch>
                <a:fillRect l="0" t="0" r="0" b="0"/>
              </a:stretch>
            </a:blipFill>
          </p:spPr>
        </p:sp>
      </p:grpSp>
      <p:sp>
        <p:nvSpPr>
          <p:cNvPr name="TextBox 25" id="25"/>
          <p:cNvSpPr txBox="true"/>
          <p:nvPr/>
        </p:nvSpPr>
        <p:spPr>
          <a:xfrm rot="0">
            <a:off x="10972800" y="3691509"/>
            <a:ext cx="6309360" cy="485775"/>
          </a:xfrm>
          <a:prstGeom prst="rect">
            <a:avLst/>
          </a:prstGeom>
        </p:spPr>
        <p:txBody>
          <a:bodyPr anchor="t" rtlCol="false" tIns="0" lIns="0" bIns="0" rIns="0">
            <a:spAutoFit/>
          </a:bodyPr>
          <a:lstStyle/>
          <a:p>
            <a:pPr algn="l">
              <a:lnSpc>
                <a:spcPts val="3359"/>
              </a:lnSpc>
            </a:pPr>
            <a:r>
              <a:rPr lang="en-US" sz="2799" b="1">
                <a:solidFill>
                  <a:srgbClr val="0B4F5C"/>
                </a:solidFill>
                <a:latin typeface="Calibri"/>
                <a:ea typeface="Calibri"/>
                <a:cs typeface="Calibri"/>
                <a:sym typeface="Calibri"/>
              </a:rPr>
              <a:t>Day 7</a:t>
            </a:r>
          </a:p>
        </p:txBody>
      </p:sp>
      <p:sp>
        <p:nvSpPr>
          <p:cNvPr name="TextBox 26" id="26"/>
          <p:cNvSpPr txBox="true"/>
          <p:nvPr/>
        </p:nvSpPr>
        <p:spPr>
          <a:xfrm rot="0">
            <a:off x="10972800" y="4231767"/>
            <a:ext cx="6309360" cy="419100"/>
          </a:xfrm>
          <a:prstGeom prst="rect">
            <a:avLst/>
          </a:prstGeom>
        </p:spPr>
        <p:txBody>
          <a:bodyPr anchor="t" rtlCol="false" tIns="0" lIns="0" bIns="0" rIns="0">
            <a:spAutoFit/>
          </a:bodyPr>
          <a:lstStyle/>
          <a:p>
            <a:pPr algn="l">
              <a:lnSpc>
                <a:spcPts val="2999"/>
              </a:lnSpc>
            </a:pPr>
            <a:r>
              <a:rPr lang="en-US" sz="2499">
                <a:solidFill>
                  <a:srgbClr val="1B2B34"/>
                </a:solidFill>
                <a:latin typeface="Calibri"/>
                <a:ea typeface="Calibri"/>
                <a:cs typeface="Calibri"/>
                <a:sym typeface="Calibri"/>
              </a:rPr>
              <a:t>Fever starts; painkiller 3× a day</a:t>
            </a:r>
          </a:p>
        </p:txBody>
      </p:sp>
      <p:grpSp>
        <p:nvGrpSpPr>
          <p:cNvPr name="Group 27" id="27"/>
          <p:cNvGrpSpPr/>
          <p:nvPr/>
        </p:nvGrpSpPr>
        <p:grpSpPr>
          <a:xfrm rot="0">
            <a:off x="9591675" y="5394579"/>
            <a:ext cx="1116330" cy="1116330"/>
            <a:chOff x="0" y="0"/>
            <a:chExt cx="1488440" cy="1488440"/>
          </a:xfrm>
        </p:grpSpPr>
        <p:sp>
          <p:nvSpPr>
            <p:cNvPr name="Freeform 28" id="28"/>
            <p:cNvSpPr/>
            <p:nvPr/>
          </p:nvSpPr>
          <p:spPr>
            <a:xfrm flipH="false" flipV="false" rot="0">
              <a:off x="0" y="0"/>
              <a:ext cx="1488440" cy="1488440"/>
            </a:xfrm>
            <a:custGeom>
              <a:avLst/>
              <a:gdLst/>
              <a:ahLst/>
              <a:cxnLst/>
              <a:rect r="r" b="b" t="t" l="l"/>
              <a:pathLst>
                <a:path h="1488440" w="1488440">
                  <a:moveTo>
                    <a:pt x="0" y="744220"/>
                  </a:moveTo>
                  <a:cubicBezTo>
                    <a:pt x="0" y="333248"/>
                    <a:pt x="333248" y="0"/>
                    <a:pt x="744220" y="0"/>
                  </a:cubicBezTo>
                  <a:cubicBezTo>
                    <a:pt x="1155192" y="0"/>
                    <a:pt x="1488440" y="333248"/>
                    <a:pt x="1488440" y="744220"/>
                  </a:cubicBezTo>
                  <a:cubicBezTo>
                    <a:pt x="1488440" y="1155192"/>
                    <a:pt x="1155192" y="1488440"/>
                    <a:pt x="744220" y="1488440"/>
                  </a:cubicBezTo>
                  <a:cubicBezTo>
                    <a:pt x="333248" y="1488440"/>
                    <a:pt x="0" y="1155192"/>
                    <a:pt x="0" y="744220"/>
                  </a:cubicBezTo>
                  <a:close/>
                </a:path>
              </a:pathLst>
            </a:custGeom>
            <a:solidFill>
              <a:srgbClr val="0E7C86"/>
            </a:solidFill>
            <a:ln w="19050" cap="sq">
              <a:solidFill>
                <a:srgbClr val="0E7C86"/>
              </a:solidFill>
              <a:prstDash val="solid"/>
              <a:miter/>
            </a:ln>
          </p:spPr>
        </p:sp>
      </p:grpSp>
      <p:grpSp>
        <p:nvGrpSpPr>
          <p:cNvPr name="Group 29" id="29"/>
          <p:cNvGrpSpPr/>
          <p:nvPr/>
        </p:nvGrpSpPr>
        <p:grpSpPr>
          <a:xfrm rot="0">
            <a:off x="9875520" y="5678424"/>
            <a:ext cx="548640" cy="548640"/>
            <a:chOff x="0" y="0"/>
            <a:chExt cx="731520" cy="731520"/>
          </a:xfrm>
        </p:grpSpPr>
        <p:sp>
          <p:nvSpPr>
            <p:cNvPr name="Freeform 30" id="30" descr="preencode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7"/>
              <a:stretch>
                <a:fillRect l="0" t="0" r="0" b="0"/>
              </a:stretch>
            </a:blipFill>
          </p:spPr>
        </p:sp>
      </p:grpSp>
      <p:sp>
        <p:nvSpPr>
          <p:cNvPr name="TextBox 31" id="31"/>
          <p:cNvSpPr txBox="true"/>
          <p:nvPr/>
        </p:nvSpPr>
        <p:spPr>
          <a:xfrm rot="0">
            <a:off x="10972800" y="5364861"/>
            <a:ext cx="6309360" cy="485775"/>
          </a:xfrm>
          <a:prstGeom prst="rect">
            <a:avLst/>
          </a:prstGeom>
        </p:spPr>
        <p:txBody>
          <a:bodyPr anchor="t" rtlCol="false" tIns="0" lIns="0" bIns="0" rIns="0">
            <a:spAutoFit/>
          </a:bodyPr>
          <a:lstStyle/>
          <a:p>
            <a:pPr algn="l">
              <a:lnSpc>
                <a:spcPts val="3359"/>
              </a:lnSpc>
            </a:pPr>
            <a:r>
              <a:rPr lang="en-US" sz="2799" b="1">
                <a:solidFill>
                  <a:srgbClr val="0B4F5C"/>
                </a:solidFill>
                <a:latin typeface="Calibri"/>
                <a:ea typeface="Calibri"/>
                <a:cs typeface="Calibri"/>
                <a:sym typeface="Calibri"/>
              </a:rPr>
              <a:t>Day 8</a:t>
            </a:r>
          </a:p>
        </p:txBody>
      </p:sp>
      <p:sp>
        <p:nvSpPr>
          <p:cNvPr name="TextBox 32" id="32"/>
          <p:cNvSpPr txBox="true"/>
          <p:nvPr/>
        </p:nvSpPr>
        <p:spPr>
          <a:xfrm rot="0">
            <a:off x="10972800" y="5905119"/>
            <a:ext cx="6309360" cy="419100"/>
          </a:xfrm>
          <a:prstGeom prst="rect">
            <a:avLst/>
          </a:prstGeom>
        </p:spPr>
        <p:txBody>
          <a:bodyPr anchor="t" rtlCol="false" tIns="0" lIns="0" bIns="0" rIns="0">
            <a:spAutoFit/>
          </a:bodyPr>
          <a:lstStyle/>
          <a:p>
            <a:pPr algn="l">
              <a:lnSpc>
                <a:spcPts val="2999"/>
              </a:lnSpc>
            </a:pPr>
            <a:r>
              <a:rPr lang="en-US" sz="2499">
                <a:solidFill>
                  <a:srgbClr val="1B2B34"/>
                </a:solidFill>
                <a:latin typeface="Calibri"/>
                <a:ea typeface="Calibri"/>
                <a:cs typeface="Calibri"/>
                <a:sym typeface="Calibri"/>
              </a:rPr>
              <a:t>Kidney filtration quietly falls</a:t>
            </a:r>
          </a:p>
        </p:txBody>
      </p:sp>
      <p:grpSp>
        <p:nvGrpSpPr>
          <p:cNvPr name="Group 33" id="33"/>
          <p:cNvGrpSpPr/>
          <p:nvPr/>
        </p:nvGrpSpPr>
        <p:grpSpPr>
          <a:xfrm rot="0">
            <a:off x="9591675" y="7067931"/>
            <a:ext cx="1116330" cy="1116330"/>
            <a:chOff x="0" y="0"/>
            <a:chExt cx="1488440" cy="1488440"/>
          </a:xfrm>
        </p:grpSpPr>
        <p:sp>
          <p:nvSpPr>
            <p:cNvPr name="Freeform 34" id="34"/>
            <p:cNvSpPr/>
            <p:nvPr/>
          </p:nvSpPr>
          <p:spPr>
            <a:xfrm flipH="false" flipV="false" rot="0">
              <a:off x="0" y="0"/>
              <a:ext cx="1488440" cy="1488440"/>
            </a:xfrm>
            <a:custGeom>
              <a:avLst/>
              <a:gdLst/>
              <a:ahLst/>
              <a:cxnLst/>
              <a:rect r="r" b="b" t="t" l="l"/>
              <a:pathLst>
                <a:path h="1488440" w="1488440">
                  <a:moveTo>
                    <a:pt x="0" y="744220"/>
                  </a:moveTo>
                  <a:cubicBezTo>
                    <a:pt x="0" y="333248"/>
                    <a:pt x="333248" y="0"/>
                    <a:pt x="744220" y="0"/>
                  </a:cubicBezTo>
                  <a:cubicBezTo>
                    <a:pt x="1155192" y="0"/>
                    <a:pt x="1488440" y="333248"/>
                    <a:pt x="1488440" y="744220"/>
                  </a:cubicBezTo>
                  <a:cubicBezTo>
                    <a:pt x="1488440" y="1155192"/>
                    <a:pt x="1155192" y="1488440"/>
                    <a:pt x="744220" y="1488440"/>
                  </a:cubicBezTo>
                  <a:cubicBezTo>
                    <a:pt x="333248" y="1488440"/>
                    <a:pt x="0" y="1155192"/>
                    <a:pt x="0" y="744220"/>
                  </a:cubicBezTo>
                  <a:close/>
                </a:path>
              </a:pathLst>
            </a:custGeom>
            <a:solidFill>
              <a:srgbClr val="D9472B"/>
            </a:solidFill>
            <a:ln w="19050" cap="sq">
              <a:solidFill>
                <a:srgbClr val="D9472B"/>
              </a:solidFill>
              <a:prstDash val="solid"/>
              <a:miter/>
            </a:ln>
          </p:spPr>
        </p:sp>
      </p:grpSp>
      <p:grpSp>
        <p:nvGrpSpPr>
          <p:cNvPr name="Group 35" id="35"/>
          <p:cNvGrpSpPr/>
          <p:nvPr/>
        </p:nvGrpSpPr>
        <p:grpSpPr>
          <a:xfrm rot="0">
            <a:off x="9875520" y="7351776"/>
            <a:ext cx="548640" cy="548640"/>
            <a:chOff x="0" y="0"/>
            <a:chExt cx="731520" cy="731520"/>
          </a:xfrm>
        </p:grpSpPr>
        <p:sp>
          <p:nvSpPr>
            <p:cNvPr name="Freeform 36" id="36" descr="preencode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8"/>
              <a:stretch>
                <a:fillRect l="0" t="0" r="0" b="0"/>
              </a:stretch>
            </a:blipFill>
          </p:spPr>
        </p:sp>
      </p:grpSp>
      <p:sp>
        <p:nvSpPr>
          <p:cNvPr name="TextBox 37" id="37"/>
          <p:cNvSpPr txBox="true"/>
          <p:nvPr/>
        </p:nvSpPr>
        <p:spPr>
          <a:xfrm rot="0">
            <a:off x="10972800" y="7038213"/>
            <a:ext cx="6309360" cy="485775"/>
          </a:xfrm>
          <a:prstGeom prst="rect">
            <a:avLst/>
          </a:prstGeom>
        </p:spPr>
        <p:txBody>
          <a:bodyPr anchor="t" rtlCol="false" tIns="0" lIns="0" bIns="0" rIns="0">
            <a:spAutoFit/>
          </a:bodyPr>
          <a:lstStyle/>
          <a:p>
            <a:pPr algn="l">
              <a:lnSpc>
                <a:spcPts val="3359"/>
              </a:lnSpc>
            </a:pPr>
            <a:r>
              <a:rPr lang="en-US" sz="2799" b="1">
                <a:solidFill>
                  <a:srgbClr val="0B4F5C"/>
                </a:solidFill>
                <a:latin typeface="Calibri"/>
                <a:ea typeface="Calibri"/>
                <a:cs typeface="Calibri"/>
                <a:sym typeface="Calibri"/>
              </a:rPr>
              <a:t>Day 9</a:t>
            </a:r>
          </a:p>
        </p:txBody>
      </p:sp>
      <p:sp>
        <p:nvSpPr>
          <p:cNvPr name="TextBox 38" id="38"/>
          <p:cNvSpPr txBox="true"/>
          <p:nvPr/>
        </p:nvSpPr>
        <p:spPr>
          <a:xfrm rot="0">
            <a:off x="10972800" y="7578471"/>
            <a:ext cx="6309360" cy="419100"/>
          </a:xfrm>
          <a:prstGeom prst="rect">
            <a:avLst/>
          </a:prstGeom>
        </p:spPr>
        <p:txBody>
          <a:bodyPr anchor="t" rtlCol="false" tIns="0" lIns="0" bIns="0" rIns="0">
            <a:spAutoFit/>
          </a:bodyPr>
          <a:lstStyle/>
          <a:p>
            <a:pPr algn="l">
              <a:lnSpc>
                <a:spcPts val="2999"/>
              </a:lnSpc>
            </a:pPr>
            <a:r>
              <a:rPr lang="en-US" sz="2499">
                <a:solidFill>
                  <a:srgbClr val="1B2B34"/>
                </a:solidFill>
                <a:latin typeface="Calibri"/>
                <a:ea typeface="Calibri"/>
                <a:cs typeface="Calibri"/>
                <a:sym typeface="Calibri"/>
              </a:rPr>
              <a:t>Acute kidney injury (creatinine up)</a:t>
            </a:r>
          </a:p>
        </p:txBody>
      </p:sp>
      <p:sp>
        <p:nvSpPr>
          <p:cNvPr name="TextBox 39" id="39"/>
          <p:cNvSpPr txBox="true"/>
          <p:nvPr/>
        </p:nvSpPr>
        <p:spPr>
          <a:xfrm rot="0">
            <a:off x="16962120" y="9540240"/>
            <a:ext cx="640080" cy="342900"/>
          </a:xfrm>
          <a:prstGeom prst="rect">
            <a:avLst/>
          </a:prstGeom>
        </p:spPr>
        <p:txBody>
          <a:bodyPr anchor="t" rtlCol="false" tIns="0" lIns="0" bIns="0" rIns="0">
            <a:spAutoFit/>
          </a:bodyPr>
          <a:lstStyle/>
          <a:p>
            <a:pPr algn="r">
              <a:lnSpc>
                <a:spcPts val="2459"/>
              </a:lnSpc>
            </a:pPr>
            <a:r>
              <a:rPr lang="en-US" sz="2049">
                <a:solidFill>
                  <a:srgbClr val="5B6C75"/>
                </a:solidFill>
                <a:latin typeface="Calibri"/>
                <a:ea typeface="Calibri"/>
                <a:cs typeface="Calibri"/>
                <a:sym typeface="Calibri"/>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B4F5C"/>
        </a:solidFill>
      </p:bgPr>
    </p:bg>
    <p:spTree>
      <p:nvGrpSpPr>
        <p:cNvPr id="1" name=""/>
        <p:cNvGrpSpPr/>
        <p:nvPr/>
      </p:nvGrpSpPr>
      <p:grpSpPr>
        <a:xfrm>
          <a:off x="0" y="0"/>
          <a:ext cx="0" cy="0"/>
          <a:chOff x="0" y="0"/>
          <a:chExt cx="0" cy="0"/>
        </a:xfrm>
      </p:grpSpPr>
      <p:grpSp>
        <p:nvGrpSpPr>
          <p:cNvPr name="Group 2" id="2"/>
          <p:cNvGrpSpPr/>
          <p:nvPr/>
        </p:nvGrpSpPr>
        <p:grpSpPr>
          <a:xfrm rot="0">
            <a:off x="822960" y="-329375"/>
            <a:ext cx="14401800" cy="4762325"/>
            <a:chOff x="0" y="0"/>
            <a:chExt cx="19202400" cy="6349767"/>
          </a:xfrm>
        </p:grpSpPr>
        <p:sp>
          <p:nvSpPr>
            <p:cNvPr name="Freeform 3" id="3"/>
            <p:cNvSpPr/>
            <p:nvPr/>
          </p:nvSpPr>
          <p:spPr>
            <a:xfrm flipH="false" flipV="false" rot="0">
              <a:off x="0" y="0"/>
              <a:ext cx="19202400" cy="6349767"/>
            </a:xfrm>
            <a:custGeom>
              <a:avLst/>
              <a:gdLst/>
              <a:ahLst/>
              <a:cxnLst/>
              <a:rect r="r" b="b" t="t" l="l"/>
              <a:pathLst>
                <a:path h="6349767" w="19202400">
                  <a:moveTo>
                    <a:pt x="0" y="0"/>
                  </a:moveTo>
                  <a:lnTo>
                    <a:pt x="19202400" y="0"/>
                  </a:lnTo>
                  <a:lnTo>
                    <a:pt x="19202400" y="6349767"/>
                  </a:lnTo>
                  <a:lnTo>
                    <a:pt x="0" y="6349767"/>
                  </a:lnTo>
                  <a:close/>
                </a:path>
              </a:pathLst>
            </a:custGeom>
            <a:blipFill>
              <a:blip r:embed="rId3">
                <a:alphaModFix amt="0"/>
              </a:blip>
              <a:stretch>
                <a:fillRect l="0" t="-40204" r="0" b="22354"/>
              </a:stretch>
            </a:blipFill>
          </p:spPr>
        </p:sp>
        <p:sp>
          <p:nvSpPr>
            <p:cNvPr name="TextBox 4" id="4"/>
            <p:cNvSpPr txBox="true"/>
            <p:nvPr/>
          </p:nvSpPr>
          <p:spPr>
            <a:xfrm>
              <a:off x="0" y="-9525"/>
              <a:ext cx="19202400" cy="6359292"/>
            </a:xfrm>
            <a:prstGeom prst="rect">
              <a:avLst/>
            </a:prstGeom>
          </p:spPr>
          <p:txBody>
            <a:bodyPr anchor="b" rtlCol="false" tIns="0" lIns="0" bIns="0" rIns="0"/>
            <a:lstStyle/>
            <a:p>
              <a:pPr algn="l">
                <a:lnSpc>
                  <a:spcPts val="7799"/>
                </a:lnSpc>
              </a:pPr>
              <a:r>
                <a:rPr lang="en-US" sz="6499" b="1">
                  <a:solidFill>
                    <a:srgbClr val="FFFFFF"/>
                  </a:solidFill>
                  <a:latin typeface="Cambria"/>
                  <a:ea typeface="Cambria"/>
                  <a:cs typeface="Cambria"/>
                  <a:sym typeface="Cambria"/>
                </a:rPr>
                <a:t>The problem</a:t>
              </a:r>
            </a:p>
          </p:txBody>
        </p:sp>
      </p:grpSp>
      <p:sp>
        <p:nvSpPr>
          <p:cNvPr name="TextBox 5" id="5"/>
          <p:cNvSpPr txBox="true"/>
          <p:nvPr/>
        </p:nvSpPr>
        <p:spPr>
          <a:xfrm rot="0">
            <a:off x="822960" y="4552950"/>
            <a:ext cx="14401800" cy="1114425"/>
          </a:xfrm>
          <a:prstGeom prst="rect">
            <a:avLst/>
          </a:prstGeom>
        </p:spPr>
        <p:txBody>
          <a:bodyPr anchor="t" rtlCol="false" tIns="0" lIns="0" bIns="0" rIns="0">
            <a:spAutoFit/>
          </a:bodyPr>
          <a:lstStyle/>
          <a:p>
            <a:pPr algn="l">
              <a:lnSpc>
                <a:spcPts val="4199"/>
              </a:lnSpc>
            </a:pPr>
            <a:r>
              <a:rPr lang="en-US" sz="3499">
                <a:solidFill>
                  <a:srgbClr val="BFE3E5"/>
                </a:solidFill>
                <a:latin typeface="Calibri"/>
                <a:ea typeface="Calibri"/>
                <a:cs typeface="Calibri"/>
                <a:sym typeface="Calibri"/>
              </a:rPr>
              <a:t>Why heat, sickness and common pills hurt Indian kidneys, and why nobody sees it coming</a:t>
            </a:r>
          </a:p>
        </p:txBody>
      </p:sp>
      <p:sp>
        <p:nvSpPr>
          <p:cNvPr name="TextBox 6" id="6"/>
          <p:cNvSpPr txBox="true"/>
          <p:nvPr/>
        </p:nvSpPr>
        <p:spPr>
          <a:xfrm rot="0">
            <a:off x="16962120" y="9540240"/>
            <a:ext cx="640080" cy="361950"/>
          </a:xfrm>
          <a:prstGeom prst="rect">
            <a:avLst/>
          </a:prstGeom>
        </p:spPr>
        <p:txBody>
          <a:bodyPr anchor="t" rtlCol="false" tIns="0" lIns="0" bIns="0" rIns="0">
            <a:spAutoFit/>
          </a:bodyPr>
          <a:lstStyle/>
          <a:p>
            <a:pPr algn="r">
              <a:lnSpc>
                <a:spcPts val="2579"/>
              </a:lnSpc>
            </a:pPr>
            <a:r>
              <a:rPr lang="en-US" sz="2149">
                <a:solidFill>
                  <a:srgbClr val="BFE3E5"/>
                </a:solidFill>
                <a:latin typeface="Calibri"/>
                <a:ea typeface="Calibri"/>
                <a:cs typeface="Calibri"/>
                <a:sym typeface="Calibri"/>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45820" y="-688306"/>
            <a:ext cx="16596360" cy="3593431"/>
            <a:chOff x="0" y="0"/>
            <a:chExt cx="22128480" cy="4791241"/>
          </a:xfrm>
        </p:grpSpPr>
        <p:sp>
          <p:nvSpPr>
            <p:cNvPr name="Freeform 3" id="3"/>
            <p:cNvSpPr/>
            <p:nvPr/>
          </p:nvSpPr>
          <p:spPr>
            <a:xfrm flipH="false" flipV="false" rot="0">
              <a:off x="0" y="0"/>
              <a:ext cx="22128480" cy="4791241"/>
            </a:xfrm>
            <a:custGeom>
              <a:avLst/>
              <a:gdLst/>
              <a:ahLst/>
              <a:cxnLst/>
              <a:rect r="r" b="b" t="t" l="l"/>
              <a:pathLst>
                <a:path h="4791241" w="22128480">
                  <a:moveTo>
                    <a:pt x="0" y="0"/>
                  </a:moveTo>
                  <a:lnTo>
                    <a:pt x="22128480" y="0"/>
                  </a:lnTo>
                  <a:lnTo>
                    <a:pt x="22128480" y="4791241"/>
                  </a:lnTo>
                  <a:lnTo>
                    <a:pt x="0" y="4791241"/>
                  </a:lnTo>
                  <a:close/>
                </a:path>
              </a:pathLst>
            </a:custGeom>
            <a:blipFill>
              <a:blip r:embed="rId3">
                <a:alphaModFix amt="0"/>
              </a:blip>
              <a:stretch>
                <a:fillRect l="0" t="-73770" r="0" b="-6214"/>
              </a:stretch>
            </a:blipFill>
          </p:spPr>
        </p:sp>
        <p:sp>
          <p:nvSpPr>
            <p:cNvPr name="TextBox 4" id="4"/>
            <p:cNvSpPr txBox="true"/>
            <p:nvPr/>
          </p:nvSpPr>
          <p:spPr>
            <a:xfrm>
              <a:off x="0" y="-9525"/>
              <a:ext cx="22128480" cy="4800766"/>
            </a:xfrm>
            <a:prstGeom prst="rect">
              <a:avLst/>
            </a:prstGeom>
          </p:spPr>
          <p:txBody>
            <a:bodyPr anchor="ctr" rtlCol="false" tIns="0" lIns="0" bIns="0" rIns="0"/>
            <a:lstStyle/>
            <a:p>
              <a:pPr algn="l">
                <a:lnSpc>
                  <a:spcPts val="5879"/>
                </a:lnSpc>
              </a:pPr>
              <a:r>
                <a:rPr lang="en-US" sz="4899" b="1">
                  <a:solidFill>
                    <a:srgbClr val="0B4F5C"/>
                  </a:solidFill>
                  <a:latin typeface="Cambria"/>
                  <a:ea typeface="Cambria"/>
                  <a:cs typeface="Cambria"/>
                  <a:sym typeface="Cambria"/>
                </a:rPr>
                <a:t>This is not rare: the people at risk number in crores</a:t>
              </a:r>
            </a:p>
          </p:txBody>
        </p:sp>
      </p:grpSp>
      <p:grpSp>
        <p:nvGrpSpPr>
          <p:cNvPr name="Group 5" id="5"/>
          <p:cNvGrpSpPr/>
          <p:nvPr/>
        </p:nvGrpSpPr>
        <p:grpSpPr>
          <a:xfrm rot="0">
            <a:off x="813435" y="2047875"/>
            <a:ext cx="3928110" cy="6328410"/>
            <a:chOff x="0" y="0"/>
            <a:chExt cx="5237480" cy="8437880"/>
          </a:xfrm>
        </p:grpSpPr>
        <p:sp>
          <p:nvSpPr>
            <p:cNvPr name="Freeform 6" id="6"/>
            <p:cNvSpPr/>
            <p:nvPr/>
          </p:nvSpPr>
          <p:spPr>
            <a:xfrm flipH="false" flipV="false" rot="0">
              <a:off x="0" y="0"/>
              <a:ext cx="5237480" cy="8437880"/>
            </a:xfrm>
            <a:custGeom>
              <a:avLst/>
              <a:gdLst/>
              <a:ahLst/>
              <a:cxnLst/>
              <a:rect r="r" b="b" t="t" l="l"/>
              <a:pathLst>
                <a:path h="8437880" w="5237480">
                  <a:moveTo>
                    <a:pt x="0" y="147066"/>
                  </a:moveTo>
                  <a:cubicBezTo>
                    <a:pt x="0" y="65786"/>
                    <a:pt x="65786" y="0"/>
                    <a:pt x="147066" y="0"/>
                  </a:cubicBezTo>
                  <a:lnTo>
                    <a:pt x="5090414" y="0"/>
                  </a:lnTo>
                  <a:cubicBezTo>
                    <a:pt x="5171567" y="0"/>
                    <a:pt x="5237480" y="65786"/>
                    <a:pt x="5237480" y="147066"/>
                  </a:cubicBezTo>
                  <a:lnTo>
                    <a:pt x="5237480" y="8290814"/>
                  </a:lnTo>
                  <a:cubicBezTo>
                    <a:pt x="5237480" y="8371967"/>
                    <a:pt x="5171694" y="8437880"/>
                    <a:pt x="5090414" y="8437880"/>
                  </a:cubicBezTo>
                  <a:lnTo>
                    <a:pt x="147066" y="8437880"/>
                  </a:lnTo>
                  <a:cubicBezTo>
                    <a:pt x="65786" y="8437880"/>
                    <a:pt x="0" y="8372094"/>
                    <a:pt x="0" y="8290814"/>
                  </a:cubicBezTo>
                  <a:close/>
                </a:path>
              </a:pathLst>
            </a:custGeom>
            <a:solidFill>
              <a:srgbClr val="EEF5F5"/>
            </a:solidFill>
            <a:ln w="19050" cap="sq">
              <a:solidFill>
                <a:srgbClr val="EEF5F5"/>
              </a:solidFill>
              <a:prstDash val="solid"/>
              <a:miter/>
            </a:ln>
          </p:spPr>
        </p:sp>
      </p:grpSp>
      <p:grpSp>
        <p:nvGrpSpPr>
          <p:cNvPr name="Group 7" id="7"/>
          <p:cNvGrpSpPr/>
          <p:nvPr/>
        </p:nvGrpSpPr>
        <p:grpSpPr>
          <a:xfrm rot="0">
            <a:off x="1224915" y="2459355"/>
            <a:ext cx="1047750" cy="1047750"/>
            <a:chOff x="0" y="0"/>
            <a:chExt cx="1397000" cy="1397000"/>
          </a:xfrm>
        </p:grpSpPr>
        <p:sp>
          <p:nvSpPr>
            <p:cNvPr name="Freeform 8" id="8"/>
            <p:cNvSpPr/>
            <p:nvPr/>
          </p:nvSpPr>
          <p:spPr>
            <a:xfrm flipH="false" flipV="false" rot="0">
              <a:off x="0" y="0"/>
              <a:ext cx="1397000" cy="1397000"/>
            </a:xfrm>
            <a:custGeom>
              <a:avLst/>
              <a:gdLst/>
              <a:ahLst/>
              <a:cxnLst/>
              <a:rect r="r" b="b" t="t" l="l"/>
              <a:pathLst>
                <a:path h="1397000" w="1397000">
                  <a:moveTo>
                    <a:pt x="0" y="698500"/>
                  </a:moveTo>
                  <a:cubicBezTo>
                    <a:pt x="0" y="312674"/>
                    <a:pt x="312674" y="0"/>
                    <a:pt x="698500" y="0"/>
                  </a:cubicBezTo>
                  <a:cubicBezTo>
                    <a:pt x="1084326" y="0"/>
                    <a:pt x="1397000" y="312674"/>
                    <a:pt x="1397000" y="698500"/>
                  </a:cubicBezTo>
                  <a:cubicBezTo>
                    <a:pt x="1397000" y="1084326"/>
                    <a:pt x="1084326" y="1397000"/>
                    <a:pt x="698500" y="1397000"/>
                  </a:cubicBezTo>
                  <a:cubicBezTo>
                    <a:pt x="312674" y="1397000"/>
                    <a:pt x="0" y="1084326"/>
                    <a:pt x="0" y="698500"/>
                  </a:cubicBezTo>
                  <a:close/>
                </a:path>
              </a:pathLst>
            </a:custGeom>
            <a:solidFill>
              <a:srgbClr val="0E7C86"/>
            </a:solidFill>
            <a:ln w="19050" cap="sq">
              <a:solidFill>
                <a:srgbClr val="0E7C86"/>
              </a:solidFill>
              <a:prstDash val="solid"/>
              <a:miter/>
            </a:ln>
          </p:spPr>
        </p:sp>
      </p:grpSp>
      <p:grpSp>
        <p:nvGrpSpPr>
          <p:cNvPr name="Group 9" id="9"/>
          <p:cNvGrpSpPr/>
          <p:nvPr/>
        </p:nvGrpSpPr>
        <p:grpSpPr>
          <a:xfrm rot="0">
            <a:off x="1491615" y="2726055"/>
            <a:ext cx="514350" cy="514350"/>
            <a:chOff x="0" y="0"/>
            <a:chExt cx="685800" cy="685800"/>
          </a:xfrm>
        </p:grpSpPr>
        <p:sp>
          <p:nvSpPr>
            <p:cNvPr name="Freeform 10" id="10" descr="preencoded.png"/>
            <p:cNvSpPr/>
            <p:nvPr/>
          </p:nvSpPr>
          <p:spPr>
            <a:xfrm flipH="false" flipV="false" rot="0">
              <a:off x="0" y="0"/>
              <a:ext cx="685800" cy="685800"/>
            </a:xfrm>
            <a:custGeom>
              <a:avLst/>
              <a:gdLst/>
              <a:ahLst/>
              <a:cxnLst/>
              <a:rect r="r" b="b" t="t" l="l"/>
              <a:pathLst>
                <a:path h="685800" w="685800">
                  <a:moveTo>
                    <a:pt x="0" y="0"/>
                  </a:moveTo>
                  <a:lnTo>
                    <a:pt x="685800" y="0"/>
                  </a:lnTo>
                  <a:lnTo>
                    <a:pt x="685800" y="685800"/>
                  </a:lnTo>
                  <a:lnTo>
                    <a:pt x="0" y="685800"/>
                  </a:lnTo>
                  <a:lnTo>
                    <a:pt x="0" y="0"/>
                  </a:lnTo>
                  <a:close/>
                </a:path>
              </a:pathLst>
            </a:custGeom>
            <a:blipFill>
              <a:blip r:embed="rId4"/>
              <a:stretch>
                <a:fillRect l="0" t="0" r="0" b="0"/>
              </a:stretch>
            </a:blipFill>
          </p:spPr>
        </p:sp>
      </p:grpSp>
      <p:sp>
        <p:nvSpPr>
          <p:cNvPr name="TextBox 11" id="11"/>
          <p:cNvSpPr txBox="true"/>
          <p:nvPr/>
        </p:nvSpPr>
        <p:spPr>
          <a:xfrm rot="0">
            <a:off x="1234440" y="3762375"/>
            <a:ext cx="3291840" cy="981075"/>
          </a:xfrm>
          <a:prstGeom prst="rect">
            <a:avLst/>
          </a:prstGeom>
        </p:spPr>
        <p:txBody>
          <a:bodyPr anchor="t" rtlCol="false" tIns="0" lIns="0" bIns="0" rIns="0">
            <a:spAutoFit/>
          </a:bodyPr>
          <a:lstStyle/>
          <a:p>
            <a:pPr algn="l">
              <a:lnSpc>
                <a:spcPts val="7679"/>
              </a:lnSpc>
            </a:pPr>
            <a:r>
              <a:rPr lang="en-US" sz="6399" b="1">
                <a:solidFill>
                  <a:srgbClr val="0B4F5C"/>
                </a:solidFill>
                <a:latin typeface="Cambria"/>
                <a:ea typeface="Cambria"/>
                <a:cs typeface="Cambria"/>
                <a:sym typeface="Cambria"/>
              </a:rPr>
              <a:t>315 M</a:t>
            </a:r>
          </a:p>
        </p:txBody>
      </p:sp>
      <p:sp>
        <p:nvSpPr>
          <p:cNvPr name="TextBox 12" id="12"/>
          <p:cNvSpPr txBox="true"/>
          <p:nvPr/>
        </p:nvSpPr>
        <p:spPr>
          <a:xfrm rot="0">
            <a:off x="1234440" y="5086350"/>
            <a:ext cx="3154680" cy="857250"/>
          </a:xfrm>
          <a:prstGeom prst="rect">
            <a:avLst/>
          </a:prstGeom>
        </p:spPr>
        <p:txBody>
          <a:bodyPr anchor="t" rtlCol="false" tIns="0" lIns="0" bIns="0" rIns="0">
            <a:spAutoFit/>
          </a:bodyPr>
          <a:lstStyle/>
          <a:p>
            <a:pPr algn="l">
              <a:lnSpc>
                <a:spcPts val="3179"/>
              </a:lnSpc>
            </a:pPr>
            <a:r>
              <a:rPr lang="en-US" sz="2649">
                <a:solidFill>
                  <a:srgbClr val="1B2B34"/>
                </a:solidFill>
                <a:latin typeface="Calibri"/>
                <a:ea typeface="Calibri"/>
                <a:cs typeface="Calibri"/>
                <a:sym typeface="Calibri"/>
              </a:rPr>
              <a:t>Indians with high blood pressure</a:t>
            </a:r>
          </a:p>
        </p:txBody>
      </p:sp>
      <p:sp>
        <p:nvSpPr>
          <p:cNvPr name="TextBox 13" id="13"/>
          <p:cNvSpPr txBox="true"/>
          <p:nvPr/>
        </p:nvSpPr>
        <p:spPr>
          <a:xfrm rot="0">
            <a:off x="1234440" y="7162800"/>
            <a:ext cx="3154680" cy="609600"/>
          </a:xfrm>
          <a:prstGeom prst="rect">
            <a:avLst/>
          </a:prstGeom>
        </p:spPr>
        <p:txBody>
          <a:bodyPr anchor="t" rtlCol="false" tIns="0" lIns="0" bIns="0" rIns="0">
            <a:spAutoFit/>
          </a:bodyPr>
          <a:lstStyle/>
          <a:p>
            <a:pPr algn="l">
              <a:lnSpc>
                <a:spcPts val="2279"/>
              </a:lnSpc>
            </a:pPr>
            <a:r>
              <a:rPr lang="en-US" sz="1899" i="1">
                <a:solidFill>
                  <a:srgbClr val="5B6C75"/>
                </a:solidFill>
                <a:latin typeface="Calibri"/>
                <a:ea typeface="Calibri"/>
                <a:cs typeface="Calibri"/>
                <a:sym typeface="Calibri"/>
              </a:rPr>
              <a:t>ICMR-INDIAB, Lancet Diabetes Endocrinol 2023</a:t>
            </a:r>
          </a:p>
        </p:txBody>
      </p:sp>
      <p:grpSp>
        <p:nvGrpSpPr>
          <p:cNvPr name="Group 14" id="14"/>
          <p:cNvGrpSpPr/>
          <p:nvPr/>
        </p:nvGrpSpPr>
        <p:grpSpPr>
          <a:xfrm rot="0">
            <a:off x="5037963" y="2047875"/>
            <a:ext cx="3928110" cy="6328410"/>
            <a:chOff x="0" y="0"/>
            <a:chExt cx="5237480" cy="8437880"/>
          </a:xfrm>
        </p:grpSpPr>
        <p:sp>
          <p:nvSpPr>
            <p:cNvPr name="Freeform 15" id="15"/>
            <p:cNvSpPr/>
            <p:nvPr/>
          </p:nvSpPr>
          <p:spPr>
            <a:xfrm flipH="false" flipV="false" rot="0">
              <a:off x="0" y="0"/>
              <a:ext cx="5237480" cy="8437880"/>
            </a:xfrm>
            <a:custGeom>
              <a:avLst/>
              <a:gdLst/>
              <a:ahLst/>
              <a:cxnLst/>
              <a:rect r="r" b="b" t="t" l="l"/>
              <a:pathLst>
                <a:path h="8437880" w="5237480">
                  <a:moveTo>
                    <a:pt x="0" y="147066"/>
                  </a:moveTo>
                  <a:cubicBezTo>
                    <a:pt x="0" y="65786"/>
                    <a:pt x="65786" y="0"/>
                    <a:pt x="147066" y="0"/>
                  </a:cubicBezTo>
                  <a:lnTo>
                    <a:pt x="5090414" y="0"/>
                  </a:lnTo>
                  <a:cubicBezTo>
                    <a:pt x="5171567" y="0"/>
                    <a:pt x="5237480" y="65786"/>
                    <a:pt x="5237480" y="147066"/>
                  </a:cubicBezTo>
                  <a:lnTo>
                    <a:pt x="5237480" y="8290814"/>
                  </a:lnTo>
                  <a:cubicBezTo>
                    <a:pt x="5237480" y="8371967"/>
                    <a:pt x="5171694" y="8437880"/>
                    <a:pt x="5090414" y="8437880"/>
                  </a:cubicBezTo>
                  <a:lnTo>
                    <a:pt x="147066" y="8437880"/>
                  </a:lnTo>
                  <a:cubicBezTo>
                    <a:pt x="65786" y="8437880"/>
                    <a:pt x="0" y="8372094"/>
                    <a:pt x="0" y="8290814"/>
                  </a:cubicBezTo>
                  <a:close/>
                </a:path>
              </a:pathLst>
            </a:custGeom>
            <a:solidFill>
              <a:srgbClr val="EEF5F5"/>
            </a:solidFill>
            <a:ln w="19050" cap="sq">
              <a:solidFill>
                <a:srgbClr val="EEF5F5"/>
              </a:solidFill>
              <a:prstDash val="solid"/>
              <a:miter/>
            </a:ln>
          </p:spPr>
        </p:sp>
      </p:grpSp>
      <p:grpSp>
        <p:nvGrpSpPr>
          <p:cNvPr name="Group 16" id="16"/>
          <p:cNvGrpSpPr/>
          <p:nvPr/>
        </p:nvGrpSpPr>
        <p:grpSpPr>
          <a:xfrm rot="0">
            <a:off x="5449443" y="2459355"/>
            <a:ext cx="1047750" cy="1047750"/>
            <a:chOff x="0" y="0"/>
            <a:chExt cx="1397000" cy="1397000"/>
          </a:xfrm>
        </p:grpSpPr>
        <p:sp>
          <p:nvSpPr>
            <p:cNvPr name="Freeform 17" id="17"/>
            <p:cNvSpPr/>
            <p:nvPr/>
          </p:nvSpPr>
          <p:spPr>
            <a:xfrm flipH="false" flipV="false" rot="0">
              <a:off x="0" y="0"/>
              <a:ext cx="1397000" cy="1397000"/>
            </a:xfrm>
            <a:custGeom>
              <a:avLst/>
              <a:gdLst/>
              <a:ahLst/>
              <a:cxnLst/>
              <a:rect r="r" b="b" t="t" l="l"/>
              <a:pathLst>
                <a:path h="1397000" w="1397000">
                  <a:moveTo>
                    <a:pt x="0" y="698500"/>
                  </a:moveTo>
                  <a:cubicBezTo>
                    <a:pt x="0" y="312674"/>
                    <a:pt x="312674" y="0"/>
                    <a:pt x="698500" y="0"/>
                  </a:cubicBezTo>
                  <a:cubicBezTo>
                    <a:pt x="1084326" y="0"/>
                    <a:pt x="1397000" y="312674"/>
                    <a:pt x="1397000" y="698500"/>
                  </a:cubicBezTo>
                  <a:cubicBezTo>
                    <a:pt x="1397000" y="1084326"/>
                    <a:pt x="1084326" y="1397000"/>
                    <a:pt x="698500" y="1397000"/>
                  </a:cubicBezTo>
                  <a:cubicBezTo>
                    <a:pt x="312674" y="1397000"/>
                    <a:pt x="0" y="1084326"/>
                    <a:pt x="0" y="698500"/>
                  </a:cubicBezTo>
                  <a:close/>
                </a:path>
              </a:pathLst>
            </a:custGeom>
            <a:solidFill>
              <a:srgbClr val="0E7C86"/>
            </a:solidFill>
            <a:ln w="19050" cap="sq">
              <a:solidFill>
                <a:srgbClr val="0E7C86"/>
              </a:solidFill>
              <a:prstDash val="solid"/>
              <a:miter/>
            </a:ln>
          </p:spPr>
        </p:sp>
      </p:grpSp>
      <p:grpSp>
        <p:nvGrpSpPr>
          <p:cNvPr name="Group 18" id="18"/>
          <p:cNvGrpSpPr/>
          <p:nvPr/>
        </p:nvGrpSpPr>
        <p:grpSpPr>
          <a:xfrm rot="0">
            <a:off x="5716143" y="2726055"/>
            <a:ext cx="514350" cy="514350"/>
            <a:chOff x="0" y="0"/>
            <a:chExt cx="685800" cy="685800"/>
          </a:xfrm>
        </p:grpSpPr>
        <p:sp>
          <p:nvSpPr>
            <p:cNvPr name="Freeform 19" id="19" descr="preencoded.png"/>
            <p:cNvSpPr/>
            <p:nvPr/>
          </p:nvSpPr>
          <p:spPr>
            <a:xfrm flipH="false" flipV="false" rot="0">
              <a:off x="0" y="0"/>
              <a:ext cx="685800" cy="685800"/>
            </a:xfrm>
            <a:custGeom>
              <a:avLst/>
              <a:gdLst/>
              <a:ahLst/>
              <a:cxnLst/>
              <a:rect r="r" b="b" t="t" l="l"/>
              <a:pathLst>
                <a:path h="685800" w="685800">
                  <a:moveTo>
                    <a:pt x="0" y="0"/>
                  </a:moveTo>
                  <a:lnTo>
                    <a:pt x="685800" y="0"/>
                  </a:lnTo>
                  <a:lnTo>
                    <a:pt x="685800" y="685800"/>
                  </a:lnTo>
                  <a:lnTo>
                    <a:pt x="0" y="685800"/>
                  </a:lnTo>
                  <a:lnTo>
                    <a:pt x="0" y="0"/>
                  </a:lnTo>
                  <a:close/>
                </a:path>
              </a:pathLst>
            </a:custGeom>
            <a:blipFill>
              <a:blip r:embed="rId5"/>
              <a:stretch>
                <a:fillRect l="0" t="0" r="0" b="0"/>
              </a:stretch>
            </a:blipFill>
          </p:spPr>
        </p:sp>
      </p:grpSp>
      <p:sp>
        <p:nvSpPr>
          <p:cNvPr name="TextBox 20" id="20"/>
          <p:cNvSpPr txBox="true"/>
          <p:nvPr/>
        </p:nvSpPr>
        <p:spPr>
          <a:xfrm rot="0">
            <a:off x="5458968" y="3762375"/>
            <a:ext cx="3291840" cy="981075"/>
          </a:xfrm>
          <a:prstGeom prst="rect">
            <a:avLst/>
          </a:prstGeom>
        </p:spPr>
        <p:txBody>
          <a:bodyPr anchor="t" rtlCol="false" tIns="0" lIns="0" bIns="0" rIns="0">
            <a:spAutoFit/>
          </a:bodyPr>
          <a:lstStyle/>
          <a:p>
            <a:pPr algn="l">
              <a:lnSpc>
                <a:spcPts val="7679"/>
              </a:lnSpc>
            </a:pPr>
            <a:r>
              <a:rPr lang="en-US" sz="6399" b="1">
                <a:solidFill>
                  <a:srgbClr val="0B4F5C"/>
                </a:solidFill>
                <a:latin typeface="Cambria"/>
                <a:ea typeface="Cambria"/>
                <a:cs typeface="Cambria"/>
                <a:sym typeface="Cambria"/>
              </a:rPr>
              <a:t>138 M</a:t>
            </a:r>
          </a:p>
        </p:txBody>
      </p:sp>
      <p:sp>
        <p:nvSpPr>
          <p:cNvPr name="TextBox 21" id="21"/>
          <p:cNvSpPr txBox="true"/>
          <p:nvPr/>
        </p:nvSpPr>
        <p:spPr>
          <a:xfrm rot="0">
            <a:off x="5458968" y="5086350"/>
            <a:ext cx="3154680" cy="1257300"/>
          </a:xfrm>
          <a:prstGeom prst="rect">
            <a:avLst/>
          </a:prstGeom>
        </p:spPr>
        <p:txBody>
          <a:bodyPr anchor="t" rtlCol="false" tIns="0" lIns="0" bIns="0" rIns="0">
            <a:spAutoFit/>
          </a:bodyPr>
          <a:lstStyle/>
          <a:p>
            <a:pPr algn="l">
              <a:lnSpc>
                <a:spcPts val="3179"/>
              </a:lnSpc>
            </a:pPr>
            <a:r>
              <a:rPr lang="en-US" sz="2649">
                <a:solidFill>
                  <a:srgbClr val="1B2B34"/>
                </a:solidFill>
                <a:latin typeface="Calibri"/>
                <a:ea typeface="Calibri"/>
                <a:cs typeface="Calibri"/>
                <a:sym typeface="Calibri"/>
              </a:rPr>
              <a:t>Indians with chronic kidney disease, 2nd highest in the world</a:t>
            </a:r>
          </a:p>
        </p:txBody>
      </p:sp>
      <p:sp>
        <p:nvSpPr>
          <p:cNvPr name="TextBox 22" id="22"/>
          <p:cNvSpPr txBox="true"/>
          <p:nvPr/>
        </p:nvSpPr>
        <p:spPr>
          <a:xfrm rot="0">
            <a:off x="5458968" y="7162800"/>
            <a:ext cx="3154680" cy="609600"/>
          </a:xfrm>
          <a:prstGeom prst="rect">
            <a:avLst/>
          </a:prstGeom>
        </p:spPr>
        <p:txBody>
          <a:bodyPr anchor="t" rtlCol="false" tIns="0" lIns="0" bIns="0" rIns="0">
            <a:spAutoFit/>
          </a:bodyPr>
          <a:lstStyle/>
          <a:p>
            <a:pPr algn="l">
              <a:lnSpc>
                <a:spcPts val="2279"/>
              </a:lnSpc>
            </a:pPr>
            <a:r>
              <a:rPr lang="en-US" sz="1899" i="1">
                <a:solidFill>
                  <a:srgbClr val="5B6C75"/>
                </a:solidFill>
                <a:latin typeface="Calibri"/>
                <a:ea typeface="Calibri"/>
                <a:cs typeface="Calibri"/>
                <a:sym typeface="Calibri"/>
              </a:rPr>
              <a:t>GBD 2023 (Lancet, 2025), via PTI report</a:t>
            </a:r>
          </a:p>
        </p:txBody>
      </p:sp>
      <p:grpSp>
        <p:nvGrpSpPr>
          <p:cNvPr name="Group 23" id="23"/>
          <p:cNvGrpSpPr/>
          <p:nvPr/>
        </p:nvGrpSpPr>
        <p:grpSpPr>
          <a:xfrm rot="0">
            <a:off x="9262491" y="2047875"/>
            <a:ext cx="3928110" cy="6328410"/>
            <a:chOff x="0" y="0"/>
            <a:chExt cx="5237480" cy="8437880"/>
          </a:xfrm>
        </p:grpSpPr>
        <p:sp>
          <p:nvSpPr>
            <p:cNvPr name="Freeform 24" id="24"/>
            <p:cNvSpPr/>
            <p:nvPr/>
          </p:nvSpPr>
          <p:spPr>
            <a:xfrm flipH="false" flipV="false" rot="0">
              <a:off x="0" y="0"/>
              <a:ext cx="5237480" cy="8437880"/>
            </a:xfrm>
            <a:custGeom>
              <a:avLst/>
              <a:gdLst/>
              <a:ahLst/>
              <a:cxnLst/>
              <a:rect r="r" b="b" t="t" l="l"/>
              <a:pathLst>
                <a:path h="8437880" w="5237480">
                  <a:moveTo>
                    <a:pt x="0" y="147066"/>
                  </a:moveTo>
                  <a:cubicBezTo>
                    <a:pt x="0" y="65786"/>
                    <a:pt x="65786" y="0"/>
                    <a:pt x="147066" y="0"/>
                  </a:cubicBezTo>
                  <a:lnTo>
                    <a:pt x="5090414" y="0"/>
                  </a:lnTo>
                  <a:cubicBezTo>
                    <a:pt x="5171567" y="0"/>
                    <a:pt x="5237480" y="65786"/>
                    <a:pt x="5237480" y="147066"/>
                  </a:cubicBezTo>
                  <a:lnTo>
                    <a:pt x="5237480" y="8290814"/>
                  </a:lnTo>
                  <a:cubicBezTo>
                    <a:pt x="5237480" y="8371967"/>
                    <a:pt x="5171694" y="8437880"/>
                    <a:pt x="5090414" y="8437880"/>
                  </a:cubicBezTo>
                  <a:lnTo>
                    <a:pt x="147066" y="8437880"/>
                  </a:lnTo>
                  <a:cubicBezTo>
                    <a:pt x="65786" y="8437880"/>
                    <a:pt x="0" y="8372094"/>
                    <a:pt x="0" y="8290814"/>
                  </a:cubicBezTo>
                  <a:close/>
                </a:path>
              </a:pathLst>
            </a:custGeom>
            <a:solidFill>
              <a:srgbClr val="EEF5F5"/>
            </a:solidFill>
            <a:ln w="19050" cap="sq">
              <a:solidFill>
                <a:srgbClr val="EEF5F5"/>
              </a:solidFill>
              <a:prstDash val="solid"/>
              <a:miter/>
            </a:ln>
          </p:spPr>
        </p:sp>
      </p:grpSp>
      <p:grpSp>
        <p:nvGrpSpPr>
          <p:cNvPr name="Group 25" id="25"/>
          <p:cNvGrpSpPr/>
          <p:nvPr/>
        </p:nvGrpSpPr>
        <p:grpSpPr>
          <a:xfrm rot="0">
            <a:off x="9673971" y="2459355"/>
            <a:ext cx="1047750" cy="1047750"/>
            <a:chOff x="0" y="0"/>
            <a:chExt cx="1397000" cy="1397000"/>
          </a:xfrm>
        </p:grpSpPr>
        <p:sp>
          <p:nvSpPr>
            <p:cNvPr name="Freeform 26" id="26"/>
            <p:cNvSpPr/>
            <p:nvPr/>
          </p:nvSpPr>
          <p:spPr>
            <a:xfrm flipH="false" flipV="false" rot="0">
              <a:off x="0" y="0"/>
              <a:ext cx="1397000" cy="1397000"/>
            </a:xfrm>
            <a:custGeom>
              <a:avLst/>
              <a:gdLst/>
              <a:ahLst/>
              <a:cxnLst/>
              <a:rect r="r" b="b" t="t" l="l"/>
              <a:pathLst>
                <a:path h="1397000" w="1397000">
                  <a:moveTo>
                    <a:pt x="0" y="698500"/>
                  </a:moveTo>
                  <a:cubicBezTo>
                    <a:pt x="0" y="312674"/>
                    <a:pt x="312674" y="0"/>
                    <a:pt x="698500" y="0"/>
                  </a:cubicBezTo>
                  <a:cubicBezTo>
                    <a:pt x="1084326" y="0"/>
                    <a:pt x="1397000" y="312674"/>
                    <a:pt x="1397000" y="698500"/>
                  </a:cubicBezTo>
                  <a:cubicBezTo>
                    <a:pt x="1397000" y="1084326"/>
                    <a:pt x="1084326" y="1397000"/>
                    <a:pt x="698500" y="1397000"/>
                  </a:cubicBezTo>
                  <a:cubicBezTo>
                    <a:pt x="312674" y="1397000"/>
                    <a:pt x="0" y="1084326"/>
                    <a:pt x="0" y="698500"/>
                  </a:cubicBezTo>
                  <a:close/>
                </a:path>
              </a:pathLst>
            </a:custGeom>
            <a:solidFill>
              <a:srgbClr val="0E7C86"/>
            </a:solidFill>
            <a:ln w="19050" cap="sq">
              <a:solidFill>
                <a:srgbClr val="0E7C86"/>
              </a:solidFill>
              <a:prstDash val="solid"/>
              <a:miter/>
            </a:ln>
          </p:spPr>
        </p:sp>
      </p:grpSp>
      <p:grpSp>
        <p:nvGrpSpPr>
          <p:cNvPr name="Group 27" id="27"/>
          <p:cNvGrpSpPr/>
          <p:nvPr/>
        </p:nvGrpSpPr>
        <p:grpSpPr>
          <a:xfrm rot="0">
            <a:off x="9940671" y="2726055"/>
            <a:ext cx="514350" cy="514350"/>
            <a:chOff x="0" y="0"/>
            <a:chExt cx="685800" cy="685800"/>
          </a:xfrm>
        </p:grpSpPr>
        <p:sp>
          <p:nvSpPr>
            <p:cNvPr name="Freeform 28" id="28" descr="preencoded.png"/>
            <p:cNvSpPr/>
            <p:nvPr/>
          </p:nvSpPr>
          <p:spPr>
            <a:xfrm flipH="false" flipV="false" rot="0">
              <a:off x="0" y="0"/>
              <a:ext cx="685800" cy="685800"/>
            </a:xfrm>
            <a:custGeom>
              <a:avLst/>
              <a:gdLst/>
              <a:ahLst/>
              <a:cxnLst/>
              <a:rect r="r" b="b" t="t" l="l"/>
              <a:pathLst>
                <a:path h="685800" w="685800">
                  <a:moveTo>
                    <a:pt x="0" y="0"/>
                  </a:moveTo>
                  <a:lnTo>
                    <a:pt x="685800" y="0"/>
                  </a:lnTo>
                  <a:lnTo>
                    <a:pt x="685800" y="685800"/>
                  </a:lnTo>
                  <a:lnTo>
                    <a:pt x="0" y="685800"/>
                  </a:lnTo>
                  <a:lnTo>
                    <a:pt x="0" y="0"/>
                  </a:lnTo>
                  <a:close/>
                </a:path>
              </a:pathLst>
            </a:custGeom>
            <a:blipFill>
              <a:blip r:embed="rId6"/>
              <a:stretch>
                <a:fillRect l="0" t="0" r="0" b="0"/>
              </a:stretch>
            </a:blipFill>
          </p:spPr>
        </p:sp>
      </p:grpSp>
      <p:sp>
        <p:nvSpPr>
          <p:cNvPr name="TextBox 29" id="29"/>
          <p:cNvSpPr txBox="true"/>
          <p:nvPr/>
        </p:nvSpPr>
        <p:spPr>
          <a:xfrm rot="0">
            <a:off x="9683496" y="3762375"/>
            <a:ext cx="3291840" cy="981075"/>
          </a:xfrm>
          <a:prstGeom prst="rect">
            <a:avLst/>
          </a:prstGeom>
        </p:spPr>
        <p:txBody>
          <a:bodyPr anchor="t" rtlCol="false" tIns="0" lIns="0" bIns="0" rIns="0">
            <a:spAutoFit/>
          </a:bodyPr>
          <a:lstStyle/>
          <a:p>
            <a:pPr algn="l">
              <a:lnSpc>
                <a:spcPts val="7679"/>
              </a:lnSpc>
            </a:pPr>
            <a:r>
              <a:rPr lang="en-US" sz="6399" b="1">
                <a:solidFill>
                  <a:srgbClr val="0B4F5C"/>
                </a:solidFill>
                <a:latin typeface="Cambria"/>
                <a:ea typeface="Cambria"/>
                <a:cs typeface="Cambria"/>
                <a:sym typeface="Cambria"/>
              </a:rPr>
              <a:t>67,637</a:t>
            </a:r>
          </a:p>
        </p:txBody>
      </p:sp>
      <p:sp>
        <p:nvSpPr>
          <p:cNvPr name="TextBox 30" id="30"/>
          <p:cNvSpPr txBox="true"/>
          <p:nvPr/>
        </p:nvSpPr>
        <p:spPr>
          <a:xfrm rot="0">
            <a:off x="9683496" y="5086350"/>
            <a:ext cx="3154680" cy="1257300"/>
          </a:xfrm>
          <a:prstGeom prst="rect">
            <a:avLst/>
          </a:prstGeom>
        </p:spPr>
        <p:txBody>
          <a:bodyPr anchor="t" rtlCol="false" tIns="0" lIns="0" bIns="0" rIns="0">
            <a:spAutoFit/>
          </a:bodyPr>
          <a:lstStyle/>
          <a:p>
            <a:pPr algn="l">
              <a:lnSpc>
                <a:spcPts val="3179"/>
              </a:lnSpc>
            </a:pPr>
            <a:r>
              <a:rPr lang="en-US" sz="2649">
                <a:solidFill>
                  <a:srgbClr val="1B2B34"/>
                </a:solidFill>
                <a:latin typeface="Calibri"/>
                <a:ea typeface="Calibri"/>
                <a:cs typeface="Calibri"/>
                <a:sym typeface="Calibri"/>
              </a:rPr>
              <a:t>suspected heatstroke cases and 374 deaths, 1 Mar - 27 Jul 2024</a:t>
            </a:r>
          </a:p>
        </p:txBody>
      </p:sp>
      <p:sp>
        <p:nvSpPr>
          <p:cNvPr name="TextBox 31" id="31"/>
          <p:cNvSpPr txBox="true"/>
          <p:nvPr/>
        </p:nvSpPr>
        <p:spPr>
          <a:xfrm rot="0">
            <a:off x="9683496" y="7162800"/>
            <a:ext cx="3154680" cy="609600"/>
          </a:xfrm>
          <a:prstGeom prst="rect">
            <a:avLst/>
          </a:prstGeom>
        </p:spPr>
        <p:txBody>
          <a:bodyPr anchor="t" rtlCol="false" tIns="0" lIns="0" bIns="0" rIns="0">
            <a:spAutoFit/>
          </a:bodyPr>
          <a:lstStyle/>
          <a:p>
            <a:pPr algn="l">
              <a:lnSpc>
                <a:spcPts val="2279"/>
              </a:lnSpc>
            </a:pPr>
            <a:r>
              <a:rPr lang="en-US" sz="1899" i="1">
                <a:solidFill>
                  <a:srgbClr val="5B6C75"/>
                </a:solidFill>
                <a:latin typeface="Calibri"/>
                <a:ea typeface="Calibri"/>
                <a:cs typeface="Calibri"/>
                <a:sym typeface="Calibri"/>
              </a:rPr>
              <a:t>NCDC surveillance, Lok Sabha reply, Aug 2024</a:t>
            </a:r>
          </a:p>
        </p:txBody>
      </p:sp>
      <p:grpSp>
        <p:nvGrpSpPr>
          <p:cNvPr name="Group 32" id="32"/>
          <p:cNvGrpSpPr/>
          <p:nvPr/>
        </p:nvGrpSpPr>
        <p:grpSpPr>
          <a:xfrm rot="0">
            <a:off x="13487019" y="2047875"/>
            <a:ext cx="3928110" cy="6328410"/>
            <a:chOff x="0" y="0"/>
            <a:chExt cx="5237480" cy="8437880"/>
          </a:xfrm>
        </p:grpSpPr>
        <p:sp>
          <p:nvSpPr>
            <p:cNvPr name="Freeform 33" id="33"/>
            <p:cNvSpPr/>
            <p:nvPr/>
          </p:nvSpPr>
          <p:spPr>
            <a:xfrm flipH="false" flipV="false" rot="0">
              <a:off x="0" y="0"/>
              <a:ext cx="5237480" cy="8437880"/>
            </a:xfrm>
            <a:custGeom>
              <a:avLst/>
              <a:gdLst/>
              <a:ahLst/>
              <a:cxnLst/>
              <a:rect r="r" b="b" t="t" l="l"/>
              <a:pathLst>
                <a:path h="8437880" w="5237480">
                  <a:moveTo>
                    <a:pt x="0" y="147066"/>
                  </a:moveTo>
                  <a:cubicBezTo>
                    <a:pt x="0" y="65786"/>
                    <a:pt x="65786" y="0"/>
                    <a:pt x="147066" y="0"/>
                  </a:cubicBezTo>
                  <a:lnTo>
                    <a:pt x="5090414" y="0"/>
                  </a:lnTo>
                  <a:cubicBezTo>
                    <a:pt x="5171567" y="0"/>
                    <a:pt x="5237480" y="65786"/>
                    <a:pt x="5237480" y="147066"/>
                  </a:cubicBezTo>
                  <a:lnTo>
                    <a:pt x="5237480" y="8290814"/>
                  </a:lnTo>
                  <a:cubicBezTo>
                    <a:pt x="5237480" y="8371967"/>
                    <a:pt x="5171694" y="8437880"/>
                    <a:pt x="5090414" y="8437880"/>
                  </a:cubicBezTo>
                  <a:lnTo>
                    <a:pt x="147066" y="8437880"/>
                  </a:lnTo>
                  <a:cubicBezTo>
                    <a:pt x="65786" y="8437880"/>
                    <a:pt x="0" y="8372094"/>
                    <a:pt x="0" y="8290814"/>
                  </a:cubicBezTo>
                  <a:close/>
                </a:path>
              </a:pathLst>
            </a:custGeom>
            <a:solidFill>
              <a:srgbClr val="EEF5F5"/>
            </a:solidFill>
            <a:ln w="19050" cap="sq">
              <a:solidFill>
                <a:srgbClr val="EEF5F5"/>
              </a:solidFill>
              <a:prstDash val="solid"/>
              <a:miter/>
            </a:ln>
          </p:spPr>
        </p:sp>
      </p:grpSp>
      <p:grpSp>
        <p:nvGrpSpPr>
          <p:cNvPr name="Group 34" id="34"/>
          <p:cNvGrpSpPr/>
          <p:nvPr/>
        </p:nvGrpSpPr>
        <p:grpSpPr>
          <a:xfrm rot="0">
            <a:off x="13898499" y="2459355"/>
            <a:ext cx="1047750" cy="1047750"/>
            <a:chOff x="0" y="0"/>
            <a:chExt cx="1397000" cy="1397000"/>
          </a:xfrm>
        </p:grpSpPr>
        <p:sp>
          <p:nvSpPr>
            <p:cNvPr name="Freeform 35" id="35"/>
            <p:cNvSpPr/>
            <p:nvPr/>
          </p:nvSpPr>
          <p:spPr>
            <a:xfrm flipH="false" flipV="false" rot="0">
              <a:off x="0" y="0"/>
              <a:ext cx="1397000" cy="1397000"/>
            </a:xfrm>
            <a:custGeom>
              <a:avLst/>
              <a:gdLst/>
              <a:ahLst/>
              <a:cxnLst/>
              <a:rect r="r" b="b" t="t" l="l"/>
              <a:pathLst>
                <a:path h="1397000" w="1397000">
                  <a:moveTo>
                    <a:pt x="0" y="698500"/>
                  </a:moveTo>
                  <a:cubicBezTo>
                    <a:pt x="0" y="312674"/>
                    <a:pt x="312674" y="0"/>
                    <a:pt x="698500" y="0"/>
                  </a:cubicBezTo>
                  <a:cubicBezTo>
                    <a:pt x="1084326" y="0"/>
                    <a:pt x="1397000" y="312674"/>
                    <a:pt x="1397000" y="698500"/>
                  </a:cubicBezTo>
                  <a:cubicBezTo>
                    <a:pt x="1397000" y="1084326"/>
                    <a:pt x="1084326" y="1397000"/>
                    <a:pt x="698500" y="1397000"/>
                  </a:cubicBezTo>
                  <a:cubicBezTo>
                    <a:pt x="312674" y="1397000"/>
                    <a:pt x="0" y="1084326"/>
                    <a:pt x="0" y="698500"/>
                  </a:cubicBezTo>
                  <a:close/>
                </a:path>
              </a:pathLst>
            </a:custGeom>
            <a:solidFill>
              <a:srgbClr val="D9472B"/>
            </a:solidFill>
            <a:ln w="19050" cap="sq">
              <a:solidFill>
                <a:srgbClr val="D9472B"/>
              </a:solidFill>
              <a:prstDash val="solid"/>
              <a:miter/>
            </a:ln>
          </p:spPr>
        </p:sp>
      </p:grpSp>
      <p:grpSp>
        <p:nvGrpSpPr>
          <p:cNvPr name="Group 36" id="36"/>
          <p:cNvGrpSpPr/>
          <p:nvPr/>
        </p:nvGrpSpPr>
        <p:grpSpPr>
          <a:xfrm rot="0">
            <a:off x="14165199" y="2726055"/>
            <a:ext cx="514350" cy="514350"/>
            <a:chOff x="0" y="0"/>
            <a:chExt cx="685800" cy="685800"/>
          </a:xfrm>
        </p:grpSpPr>
        <p:sp>
          <p:nvSpPr>
            <p:cNvPr name="Freeform 37" id="37" descr="preencoded.png"/>
            <p:cNvSpPr/>
            <p:nvPr/>
          </p:nvSpPr>
          <p:spPr>
            <a:xfrm flipH="false" flipV="false" rot="0">
              <a:off x="0" y="0"/>
              <a:ext cx="685800" cy="685800"/>
            </a:xfrm>
            <a:custGeom>
              <a:avLst/>
              <a:gdLst/>
              <a:ahLst/>
              <a:cxnLst/>
              <a:rect r="r" b="b" t="t" l="l"/>
              <a:pathLst>
                <a:path h="685800" w="685800">
                  <a:moveTo>
                    <a:pt x="0" y="0"/>
                  </a:moveTo>
                  <a:lnTo>
                    <a:pt x="685800" y="0"/>
                  </a:lnTo>
                  <a:lnTo>
                    <a:pt x="685800" y="685800"/>
                  </a:lnTo>
                  <a:lnTo>
                    <a:pt x="0" y="685800"/>
                  </a:lnTo>
                  <a:lnTo>
                    <a:pt x="0" y="0"/>
                  </a:lnTo>
                  <a:close/>
                </a:path>
              </a:pathLst>
            </a:custGeom>
            <a:blipFill>
              <a:blip r:embed="rId7"/>
              <a:stretch>
                <a:fillRect l="0" t="0" r="0" b="0"/>
              </a:stretch>
            </a:blipFill>
          </p:spPr>
        </p:sp>
      </p:grpSp>
      <p:sp>
        <p:nvSpPr>
          <p:cNvPr name="TextBox 38" id="38"/>
          <p:cNvSpPr txBox="true"/>
          <p:nvPr/>
        </p:nvSpPr>
        <p:spPr>
          <a:xfrm rot="0">
            <a:off x="13908024" y="3762375"/>
            <a:ext cx="3291840" cy="981075"/>
          </a:xfrm>
          <a:prstGeom prst="rect">
            <a:avLst/>
          </a:prstGeom>
        </p:spPr>
        <p:txBody>
          <a:bodyPr anchor="t" rtlCol="false" tIns="0" lIns="0" bIns="0" rIns="0">
            <a:spAutoFit/>
          </a:bodyPr>
          <a:lstStyle/>
          <a:p>
            <a:pPr algn="l">
              <a:lnSpc>
                <a:spcPts val="7679"/>
              </a:lnSpc>
            </a:pPr>
            <a:r>
              <a:rPr lang="en-US" sz="6399" b="1">
                <a:solidFill>
                  <a:srgbClr val="D9472B"/>
                </a:solidFill>
                <a:latin typeface="Cambria"/>
                <a:ea typeface="Cambria"/>
                <a:cs typeface="Cambria"/>
                <a:sym typeface="Cambria"/>
              </a:rPr>
              <a:t>+82%</a:t>
            </a:r>
          </a:p>
        </p:txBody>
      </p:sp>
      <p:sp>
        <p:nvSpPr>
          <p:cNvPr name="TextBox 39" id="39"/>
          <p:cNvSpPr txBox="true"/>
          <p:nvPr/>
        </p:nvSpPr>
        <p:spPr>
          <a:xfrm rot="0">
            <a:off x="13908024" y="5086350"/>
            <a:ext cx="3154680" cy="1657350"/>
          </a:xfrm>
          <a:prstGeom prst="rect">
            <a:avLst/>
          </a:prstGeom>
        </p:spPr>
        <p:txBody>
          <a:bodyPr anchor="t" rtlCol="false" tIns="0" lIns="0" bIns="0" rIns="0">
            <a:spAutoFit/>
          </a:bodyPr>
          <a:lstStyle/>
          <a:p>
            <a:pPr algn="l">
              <a:lnSpc>
                <a:spcPts val="3179"/>
              </a:lnSpc>
            </a:pPr>
            <a:r>
              <a:rPr lang="en-US" sz="2649">
                <a:solidFill>
                  <a:srgbClr val="1B2B34"/>
                </a:solidFill>
                <a:latin typeface="Calibri"/>
                <a:ea typeface="Calibri"/>
                <a:cs typeface="Calibri"/>
                <a:sym typeface="Calibri"/>
              </a:rPr>
              <a:t>kidney-injury rate in the first 30 days of BP pill + water pill + painkiller</a:t>
            </a:r>
          </a:p>
        </p:txBody>
      </p:sp>
      <p:sp>
        <p:nvSpPr>
          <p:cNvPr name="TextBox 40" id="40"/>
          <p:cNvSpPr txBox="true"/>
          <p:nvPr/>
        </p:nvSpPr>
        <p:spPr>
          <a:xfrm rot="0">
            <a:off x="13908024" y="7162800"/>
            <a:ext cx="3154680" cy="609600"/>
          </a:xfrm>
          <a:prstGeom prst="rect">
            <a:avLst/>
          </a:prstGeom>
        </p:spPr>
        <p:txBody>
          <a:bodyPr anchor="t" rtlCol="false" tIns="0" lIns="0" bIns="0" rIns="0">
            <a:spAutoFit/>
          </a:bodyPr>
          <a:lstStyle/>
          <a:p>
            <a:pPr algn="l">
              <a:lnSpc>
                <a:spcPts val="2279"/>
              </a:lnSpc>
            </a:pPr>
            <a:r>
              <a:rPr lang="en-US" sz="1899" i="1">
                <a:solidFill>
                  <a:srgbClr val="5B6C75"/>
                </a:solidFill>
                <a:latin typeface="Calibri"/>
                <a:ea typeface="Calibri"/>
                <a:cs typeface="Calibri"/>
                <a:sym typeface="Calibri"/>
              </a:rPr>
              <a:t>Lapi et al., BMJ 2013, 487,372 patients</a:t>
            </a:r>
          </a:p>
        </p:txBody>
      </p:sp>
      <p:sp>
        <p:nvSpPr>
          <p:cNvPr name="TextBox 41" id="41"/>
          <p:cNvSpPr txBox="true"/>
          <p:nvPr/>
        </p:nvSpPr>
        <p:spPr>
          <a:xfrm rot="0">
            <a:off x="822960" y="8593455"/>
            <a:ext cx="16596360" cy="419100"/>
          </a:xfrm>
          <a:prstGeom prst="rect">
            <a:avLst/>
          </a:prstGeom>
        </p:spPr>
        <p:txBody>
          <a:bodyPr anchor="t" rtlCol="false" tIns="0" lIns="0" bIns="0" rIns="0">
            <a:spAutoFit/>
          </a:bodyPr>
          <a:lstStyle/>
          <a:p>
            <a:pPr algn="l">
              <a:lnSpc>
                <a:spcPts val="2999"/>
              </a:lnSpc>
            </a:pPr>
            <a:r>
              <a:rPr lang="en-US" sz="2499" i="1">
                <a:solidFill>
                  <a:srgbClr val="0B4F5C"/>
                </a:solidFill>
                <a:latin typeface="Calibri"/>
                <a:ea typeface="Calibri"/>
                <a:cs typeface="Calibri"/>
                <a:sym typeface="Calibri"/>
              </a:rPr>
              <a:t>And it is getting hotter: the ILO projects India will lose 5.8% of working hours to heat stress by 2030.</a:t>
            </a:r>
          </a:p>
        </p:txBody>
      </p:sp>
      <p:sp>
        <p:nvSpPr>
          <p:cNvPr name="TextBox 42" id="42"/>
          <p:cNvSpPr txBox="true"/>
          <p:nvPr/>
        </p:nvSpPr>
        <p:spPr>
          <a:xfrm rot="0">
            <a:off x="16962120" y="9540240"/>
            <a:ext cx="640080" cy="342900"/>
          </a:xfrm>
          <a:prstGeom prst="rect">
            <a:avLst/>
          </a:prstGeom>
        </p:spPr>
        <p:txBody>
          <a:bodyPr anchor="t" rtlCol="false" tIns="0" lIns="0" bIns="0" rIns="0">
            <a:spAutoFit/>
          </a:bodyPr>
          <a:lstStyle/>
          <a:p>
            <a:pPr algn="r">
              <a:lnSpc>
                <a:spcPts val="2459"/>
              </a:lnSpc>
            </a:pPr>
            <a:r>
              <a:rPr lang="en-US" sz="2049">
                <a:solidFill>
                  <a:srgbClr val="5B6C75"/>
                </a:solidFill>
                <a:latin typeface="Calibri"/>
                <a:ea typeface="Calibri"/>
                <a:cs typeface="Calibri"/>
                <a:sym typeface="Calibri"/>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56910" y="-1054910"/>
            <a:ext cx="16596360" cy="4336381"/>
            <a:chOff x="0" y="0"/>
            <a:chExt cx="22128480" cy="5781841"/>
          </a:xfrm>
        </p:grpSpPr>
        <p:sp>
          <p:nvSpPr>
            <p:cNvPr name="Freeform 3" id="3"/>
            <p:cNvSpPr/>
            <p:nvPr/>
          </p:nvSpPr>
          <p:spPr>
            <a:xfrm flipH="false" flipV="false" rot="0">
              <a:off x="0" y="0"/>
              <a:ext cx="22128480" cy="5781841"/>
            </a:xfrm>
            <a:custGeom>
              <a:avLst/>
              <a:gdLst/>
              <a:ahLst/>
              <a:cxnLst/>
              <a:rect r="r" b="b" t="t" l="l"/>
              <a:pathLst>
                <a:path h="5781841" w="22128480">
                  <a:moveTo>
                    <a:pt x="0" y="0"/>
                  </a:moveTo>
                  <a:lnTo>
                    <a:pt x="22128480" y="0"/>
                  </a:lnTo>
                  <a:lnTo>
                    <a:pt x="22128480" y="5781841"/>
                  </a:lnTo>
                  <a:lnTo>
                    <a:pt x="0" y="5781841"/>
                  </a:lnTo>
                  <a:close/>
                </a:path>
              </a:pathLst>
            </a:custGeom>
            <a:blipFill>
              <a:blip r:embed="rId3">
                <a:alphaModFix amt="0"/>
              </a:blip>
              <a:stretch>
                <a:fillRect l="0" t="-61131" r="0" b="11983"/>
              </a:stretch>
            </a:blipFill>
          </p:spPr>
        </p:sp>
        <p:sp>
          <p:nvSpPr>
            <p:cNvPr name="TextBox 4" id="4"/>
            <p:cNvSpPr txBox="true"/>
            <p:nvPr/>
          </p:nvSpPr>
          <p:spPr>
            <a:xfrm>
              <a:off x="0" y="-9525"/>
              <a:ext cx="22128480" cy="5791366"/>
            </a:xfrm>
            <a:prstGeom prst="rect">
              <a:avLst/>
            </a:prstGeom>
          </p:spPr>
          <p:txBody>
            <a:bodyPr anchor="ctr" rtlCol="false" tIns="0" lIns="0" bIns="0" rIns="0"/>
            <a:lstStyle/>
            <a:p>
              <a:pPr algn="l">
                <a:lnSpc>
                  <a:spcPts val="5879"/>
                </a:lnSpc>
              </a:pPr>
              <a:r>
                <a:rPr lang="en-US" sz="4899" b="1">
                  <a:solidFill>
                    <a:srgbClr val="0B4F5C"/>
                  </a:solidFill>
                  <a:latin typeface="Cambria"/>
                  <a:ea typeface="Cambria"/>
                  <a:cs typeface="Cambria"/>
                  <a:sym typeface="Cambria"/>
                </a:rPr>
                <a:t>Why it happens: heat drains water, pills switch off the valves</a:t>
              </a:r>
            </a:p>
          </p:txBody>
        </p:sp>
      </p:grpSp>
      <p:grpSp>
        <p:nvGrpSpPr>
          <p:cNvPr name="Group 5" id="5"/>
          <p:cNvGrpSpPr/>
          <p:nvPr/>
        </p:nvGrpSpPr>
        <p:grpSpPr>
          <a:xfrm rot="0">
            <a:off x="813435" y="2047875"/>
            <a:ext cx="5299710" cy="4888230"/>
            <a:chOff x="0" y="0"/>
            <a:chExt cx="7066280" cy="6517640"/>
          </a:xfrm>
        </p:grpSpPr>
        <p:sp>
          <p:nvSpPr>
            <p:cNvPr name="Freeform 6" id="6"/>
            <p:cNvSpPr/>
            <p:nvPr/>
          </p:nvSpPr>
          <p:spPr>
            <a:xfrm flipH="false" flipV="false" rot="0">
              <a:off x="0" y="0"/>
              <a:ext cx="7066280" cy="6517640"/>
            </a:xfrm>
            <a:custGeom>
              <a:avLst/>
              <a:gdLst/>
              <a:ahLst/>
              <a:cxnLst/>
              <a:rect r="r" b="b" t="t" l="l"/>
              <a:pathLst>
                <a:path h="6517640" w="7066280">
                  <a:moveTo>
                    <a:pt x="0" y="146939"/>
                  </a:moveTo>
                  <a:cubicBezTo>
                    <a:pt x="0" y="65786"/>
                    <a:pt x="65786" y="0"/>
                    <a:pt x="146939" y="0"/>
                  </a:cubicBezTo>
                  <a:lnTo>
                    <a:pt x="6919341" y="0"/>
                  </a:lnTo>
                  <a:cubicBezTo>
                    <a:pt x="7000494" y="0"/>
                    <a:pt x="7066280" y="65786"/>
                    <a:pt x="7066280" y="146939"/>
                  </a:cubicBezTo>
                  <a:lnTo>
                    <a:pt x="7066280" y="6370701"/>
                  </a:lnTo>
                  <a:cubicBezTo>
                    <a:pt x="7066280" y="6451854"/>
                    <a:pt x="7000494" y="6517640"/>
                    <a:pt x="6919341" y="6517640"/>
                  </a:cubicBezTo>
                  <a:lnTo>
                    <a:pt x="146939" y="6517640"/>
                  </a:lnTo>
                  <a:cubicBezTo>
                    <a:pt x="65786" y="6517640"/>
                    <a:pt x="0" y="6451854"/>
                    <a:pt x="0" y="6370701"/>
                  </a:cubicBezTo>
                  <a:close/>
                </a:path>
              </a:pathLst>
            </a:custGeom>
            <a:solidFill>
              <a:srgbClr val="EEF5F5"/>
            </a:solidFill>
            <a:ln w="19050" cap="sq">
              <a:solidFill>
                <a:srgbClr val="EEF5F5"/>
              </a:solidFill>
              <a:prstDash val="solid"/>
              <a:miter/>
            </a:ln>
          </p:spPr>
        </p:sp>
      </p:grpSp>
      <p:grpSp>
        <p:nvGrpSpPr>
          <p:cNvPr name="Group 7" id="7"/>
          <p:cNvGrpSpPr/>
          <p:nvPr/>
        </p:nvGrpSpPr>
        <p:grpSpPr>
          <a:xfrm rot="0">
            <a:off x="1224915" y="2459355"/>
            <a:ext cx="1116330" cy="1116330"/>
            <a:chOff x="0" y="0"/>
            <a:chExt cx="1488440" cy="1488440"/>
          </a:xfrm>
        </p:grpSpPr>
        <p:sp>
          <p:nvSpPr>
            <p:cNvPr name="Freeform 8" id="8"/>
            <p:cNvSpPr/>
            <p:nvPr/>
          </p:nvSpPr>
          <p:spPr>
            <a:xfrm flipH="false" flipV="false" rot="0">
              <a:off x="0" y="0"/>
              <a:ext cx="1488440" cy="1488440"/>
            </a:xfrm>
            <a:custGeom>
              <a:avLst/>
              <a:gdLst/>
              <a:ahLst/>
              <a:cxnLst/>
              <a:rect r="r" b="b" t="t" l="l"/>
              <a:pathLst>
                <a:path h="1488440" w="1488440">
                  <a:moveTo>
                    <a:pt x="0" y="744220"/>
                  </a:moveTo>
                  <a:cubicBezTo>
                    <a:pt x="0" y="333248"/>
                    <a:pt x="333248" y="0"/>
                    <a:pt x="744220" y="0"/>
                  </a:cubicBezTo>
                  <a:cubicBezTo>
                    <a:pt x="1155192" y="0"/>
                    <a:pt x="1488440" y="333248"/>
                    <a:pt x="1488440" y="744220"/>
                  </a:cubicBezTo>
                  <a:cubicBezTo>
                    <a:pt x="1488440" y="1155192"/>
                    <a:pt x="1155192" y="1488440"/>
                    <a:pt x="744220" y="1488440"/>
                  </a:cubicBezTo>
                  <a:cubicBezTo>
                    <a:pt x="333248" y="1488440"/>
                    <a:pt x="0" y="1155192"/>
                    <a:pt x="0" y="744220"/>
                  </a:cubicBezTo>
                  <a:close/>
                </a:path>
              </a:pathLst>
            </a:custGeom>
            <a:solidFill>
              <a:srgbClr val="E9A23B"/>
            </a:solidFill>
            <a:ln w="19050" cap="sq">
              <a:solidFill>
                <a:srgbClr val="E9A23B"/>
              </a:solidFill>
              <a:prstDash val="solid"/>
              <a:miter/>
            </a:ln>
          </p:spPr>
        </p:sp>
      </p:grpSp>
      <p:grpSp>
        <p:nvGrpSpPr>
          <p:cNvPr name="Group 9" id="9"/>
          <p:cNvGrpSpPr/>
          <p:nvPr/>
        </p:nvGrpSpPr>
        <p:grpSpPr>
          <a:xfrm rot="0">
            <a:off x="1508760" y="2743200"/>
            <a:ext cx="548640" cy="548640"/>
            <a:chOff x="0" y="0"/>
            <a:chExt cx="731520" cy="731520"/>
          </a:xfrm>
        </p:grpSpPr>
        <p:sp>
          <p:nvSpPr>
            <p:cNvPr name="Freeform 10" id="10" descr="preencode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4"/>
              <a:stretch>
                <a:fillRect l="0" t="0" r="0" b="0"/>
              </a:stretch>
            </a:blipFill>
          </p:spPr>
        </p:sp>
      </p:grpSp>
      <p:sp>
        <p:nvSpPr>
          <p:cNvPr name="TextBox 11" id="11"/>
          <p:cNvSpPr txBox="true"/>
          <p:nvPr/>
        </p:nvSpPr>
        <p:spPr>
          <a:xfrm rot="0">
            <a:off x="2537460" y="2566797"/>
            <a:ext cx="3360420" cy="533400"/>
          </a:xfrm>
          <a:prstGeom prst="rect">
            <a:avLst/>
          </a:prstGeom>
        </p:spPr>
        <p:txBody>
          <a:bodyPr anchor="t" rtlCol="false" tIns="0" lIns="0" bIns="0" rIns="0">
            <a:spAutoFit/>
          </a:bodyPr>
          <a:lstStyle/>
          <a:p>
            <a:pPr algn="l">
              <a:lnSpc>
                <a:spcPts val="3719"/>
              </a:lnSpc>
            </a:pPr>
            <a:r>
              <a:rPr lang="en-US" sz="3099" b="1">
                <a:solidFill>
                  <a:srgbClr val="0B4F5C"/>
                </a:solidFill>
                <a:latin typeface="Calibri"/>
                <a:ea typeface="Calibri"/>
                <a:cs typeface="Calibri"/>
                <a:sym typeface="Calibri"/>
              </a:rPr>
              <a:t>1 · Water loss</a:t>
            </a:r>
          </a:p>
        </p:txBody>
      </p:sp>
      <p:sp>
        <p:nvSpPr>
          <p:cNvPr name="TextBox 12" id="12"/>
          <p:cNvSpPr txBox="true"/>
          <p:nvPr/>
        </p:nvSpPr>
        <p:spPr>
          <a:xfrm rot="0">
            <a:off x="1234440" y="3851910"/>
            <a:ext cx="4526280" cy="1257300"/>
          </a:xfrm>
          <a:prstGeom prst="rect">
            <a:avLst/>
          </a:prstGeom>
        </p:spPr>
        <p:txBody>
          <a:bodyPr anchor="t" rtlCol="false" tIns="0" lIns="0" bIns="0" rIns="0">
            <a:spAutoFit/>
          </a:bodyPr>
          <a:lstStyle/>
          <a:p>
            <a:pPr algn="l">
              <a:lnSpc>
                <a:spcPts val="3179"/>
              </a:lnSpc>
            </a:pPr>
            <a:r>
              <a:rPr lang="en-US" sz="2649">
                <a:solidFill>
                  <a:srgbClr val="1B2B34"/>
                </a:solidFill>
                <a:latin typeface="Calibri"/>
                <a:ea typeface="Calibri"/>
                <a:cs typeface="Calibri"/>
                <a:sym typeface="Calibri"/>
              </a:rPr>
              <a:t>Sweat in heat, fever, vomiting or loose motions drain body water. Older people feel less thirst.</a:t>
            </a:r>
          </a:p>
        </p:txBody>
      </p:sp>
      <p:grpSp>
        <p:nvGrpSpPr>
          <p:cNvPr name="Group 13" id="13"/>
          <p:cNvGrpSpPr/>
          <p:nvPr/>
        </p:nvGrpSpPr>
        <p:grpSpPr>
          <a:xfrm rot="0">
            <a:off x="6464427" y="2047875"/>
            <a:ext cx="5299710" cy="4888230"/>
            <a:chOff x="0" y="0"/>
            <a:chExt cx="7066280" cy="6517640"/>
          </a:xfrm>
        </p:grpSpPr>
        <p:sp>
          <p:nvSpPr>
            <p:cNvPr name="Freeform 14" id="14"/>
            <p:cNvSpPr/>
            <p:nvPr/>
          </p:nvSpPr>
          <p:spPr>
            <a:xfrm flipH="false" flipV="false" rot="0">
              <a:off x="0" y="0"/>
              <a:ext cx="7066280" cy="6517640"/>
            </a:xfrm>
            <a:custGeom>
              <a:avLst/>
              <a:gdLst/>
              <a:ahLst/>
              <a:cxnLst/>
              <a:rect r="r" b="b" t="t" l="l"/>
              <a:pathLst>
                <a:path h="6517640" w="7066280">
                  <a:moveTo>
                    <a:pt x="0" y="146939"/>
                  </a:moveTo>
                  <a:cubicBezTo>
                    <a:pt x="0" y="65786"/>
                    <a:pt x="65786" y="0"/>
                    <a:pt x="146939" y="0"/>
                  </a:cubicBezTo>
                  <a:lnTo>
                    <a:pt x="6919341" y="0"/>
                  </a:lnTo>
                  <a:cubicBezTo>
                    <a:pt x="7000494" y="0"/>
                    <a:pt x="7066280" y="65786"/>
                    <a:pt x="7066280" y="146939"/>
                  </a:cubicBezTo>
                  <a:lnTo>
                    <a:pt x="7066280" y="6370701"/>
                  </a:lnTo>
                  <a:cubicBezTo>
                    <a:pt x="7066280" y="6451854"/>
                    <a:pt x="7000494" y="6517640"/>
                    <a:pt x="6919341" y="6517640"/>
                  </a:cubicBezTo>
                  <a:lnTo>
                    <a:pt x="146939" y="6517640"/>
                  </a:lnTo>
                  <a:cubicBezTo>
                    <a:pt x="65786" y="6517640"/>
                    <a:pt x="0" y="6451854"/>
                    <a:pt x="0" y="6370701"/>
                  </a:cubicBezTo>
                  <a:close/>
                </a:path>
              </a:pathLst>
            </a:custGeom>
            <a:solidFill>
              <a:srgbClr val="EEF5F5"/>
            </a:solidFill>
            <a:ln w="19050" cap="sq">
              <a:solidFill>
                <a:srgbClr val="EEF5F5"/>
              </a:solidFill>
              <a:prstDash val="solid"/>
              <a:miter/>
            </a:ln>
          </p:spPr>
        </p:sp>
      </p:grpSp>
      <p:grpSp>
        <p:nvGrpSpPr>
          <p:cNvPr name="Group 15" id="15"/>
          <p:cNvGrpSpPr/>
          <p:nvPr/>
        </p:nvGrpSpPr>
        <p:grpSpPr>
          <a:xfrm rot="0">
            <a:off x="6875907" y="2459355"/>
            <a:ext cx="1116330" cy="1116330"/>
            <a:chOff x="0" y="0"/>
            <a:chExt cx="1488440" cy="1488440"/>
          </a:xfrm>
        </p:grpSpPr>
        <p:sp>
          <p:nvSpPr>
            <p:cNvPr name="Freeform 16" id="16"/>
            <p:cNvSpPr/>
            <p:nvPr/>
          </p:nvSpPr>
          <p:spPr>
            <a:xfrm flipH="false" flipV="false" rot="0">
              <a:off x="0" y="0"/>
              <a:ext cx="1488440" cy="1488440"/>
            </a:xfrm>
            <a:custGeom>
              <a:avLst/>
              <a:gdLst/>
              <a:ahLst/>
              <a:cxnLst/>
              <a:rect r="r" b="b" t="t" l="l"/>
              <a:pathLst>
                <a:path h="1488440" w="1488440">
                  <a:moveTo>
                    <a:pt x="0" y="744220"/>
                  </a:moveTo>
                  <a:cubicBezTo>
                    <a:pt x="0" y="333248"/>
                    <a:pt x="333248" y="0"/>
                    <a:pt x="744220" y="0"/>
                  </a:cubicBezTo>
                  <a:cubicBezTo>
                    <a:pt x="1155192" y="0"/>
                    <a:pt x="1488440" y="333248"/>
                    <a:pt x="1488440" y="744220"/>
                  </a:cubicBezTo>
                  <a:cubicBezTo>
                    <a:pt x="1488440" y="1155192"/>
                    <a:pt x="1155192" y="1488440"/>
                    <a:pt x="744220" y="1488440"/>
                  </a:cubicBezTo>
                  <a:cubicBezTo>
                    <a:pt x="333248" y="1488440"/>
                    <a:pt x="0" y="1155192"/>
                    <a:pt x="0" y="744220"/>
                  </a:cubicBezTo>
                  <a:close/>
                </a:path>
              </a:pathLst>
            </a:custGeom>
            <a:solidFill>
              <a:srgbClr val="D9472B"/>
            </a:solidFill>
            <a:ln w="19050" cap="sq">
              <a:solidFill>
                <a:srgbClr val="D9472B"/>
              </a:solidFill>
              <a:prstDash val="solid"/>
              <a:miter/>
            </a:ln>
          </p:spPr>
        </p:sp>
      </p:grpSp>
      <p:grpSp>
        <p:nvGrpSpPr>
          <p:cNvPr name="Group 17" id="17"/>
          <p:cNvGrpSpPr/>
          <p:nvPr/>
        </p:nvGrpSpPr>
        <p:grpSpPr>
          <a:xfrm rot="0">
            <a:off x="7159752" y="2743200"/>
            <a:ext cx="548640" cy="548640"/>
            <a:chOff x="0" y="0"/>
            <a:chExt cx="731520" cy="731520"/>
          </a:xfrm>
        </p:grpSpPr>
        <p:sp>
          <p:nvSpPr>
            <p:cNvPr name="Freeform 18" id="18" descr="preencode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5"/>
              <a:stretch>
                <a:fillRect l="0" t="0" r="0" b="0"/>
              </a:stretch>
            </a:blipFill>
          </p:spPr>
        </p:sp>
      </p:grpSp>
      <p:sp>
        <p:nvSpPr>
          <p:cNvPr name="TextBox 19" id="19"/>
          <p:cNvSpPr txBox="true"/>
          <p:nvPr/>
        </p:nvSpPr>
        <p:spPr>
          <a:xfrm rot="0">
            <a:off x="8188452" y="2566797"/>
            <a:ext cx="3360420" cy="1000125"/>
          </a:xfrm>
          <a:prstGeom prst="rect">
            <a:avLst/>
          </a:prstGeom>
        </p:spPr>
        <p:txBody>
          <a:bodyPr anchor="t" rtlCol="false" tIns="0" lIns="0" bIns="0" rIns="0">
            <a:spAutoFit/>
          </a:bodyPr>
          <a:lstStyle/>
          <a:p>
            <a:pPr algn="l">
              <a:lnSpc>
                <a:spcPts val="3719"/>
              </a:lnSpc>
            </a:pPr>
            <a:r>
              <a:rPr lang="en-US" sz="3099" b="1">
                <a:solidFill>
                  <a:srgbClr val="0B4F5C"/>
                </a:solidFill>
                <a:latin typeface="Calibri"/>
                <a:ea typeface="Calibri"/>
                <a:cs typeface="Calibri"/>
                <a:sym typeface="Calibri"/>
              </a:rPr>
              <a:t>2 · Safety valves switched off</a:t>
            </a:r>
          </a:p>
        </p:txBody>
      </p:sp>
      <p:sp>
        <p:nvSpPr>
          <p:cNvPr name="TextBox 20" id="20"/>
          <p:cNvSpPr txBox="true"/>
          <p:nvPr/>
        </p:nvSpPr>
        <p:spPr>
          <a:xfrm rot="0">
            <a:off x="6885432" y="3851910"/>
            <a:ext cx="4526280" cy="2457450"/>
          </a:xfrm>
          <a:prstGeom prst="rect">
            <a:avLst/>
          </a:prstGeom>
        </p:spPr>
        <p:txBody>
          <a:bodyPr anchor="t" rtlCol="false" tIns="0" lIns="0" bIns="0" rIns="0">
            <a:spAutoFit/>
          </a:bodyPr>
          <a:lstStyle/>
          <a:p>
            <a:pPr algn="l">
              <a:lnSpc>
                <a:spcPts val="3179"/>
              </a:lnSpc>
            </a:pPr>
            <a:r>
              <a:rPr lang="en-US" sz="2649">
                <a:solidFill>
                  <a:srgbClr val="1B2B34"/>
                </a:solidFill>
                <a:latin typeface="Calibri"/>
                <a:ea typeface="Calibri"/>
                <a:cs typeface="Calibri"/>
                <a:sym typeface="Calibri"/>
              </a:rPr>
              <a:t>Kidneys protect filtration with two 'valves'. Painkillers (NSAIDs) block the inlet valve; BP pills (ACE-inhibitors/ARBs) block the outlet; water pills remove more water.</a:t>
            </a:r>
          </a:p>
        </p:txBody>
      </p:sp>
      <p:grpSp>
        <p:nvGrpSpPr>
          <p:cNvPr name="Group 21" id="21"/>
          <p:cNvGrpSpPr/>
          <p:nvPr/>
        </p:nvGrpSpPr>
        <p:grpSpPr>
          <a:xfrm rot="0">
            <a:off x="12115419" y="2047875"/>
            <a:ext cx="5299710" cy="4888230"/>
            <a:chOff x="0" y="0"/>
            <a:chExt cx="7066280" cy="6517640"/>
          </a:xfrm>
        </p:grpSpPr>
        <p:sp>
          <p:nvSpPr>
            <p:cNvPr name="Freeform 22" id="22"/>
            <p:cNvSpPr/>
            <p:nvPr/>
          </p:nvSpPr>
          <p:spPr>
            <a:xfrm flipH="false" flipV="false" rot="0">
              <a:off x="0" y="0"/>
              <a:ext cx="7066280" cy="6517640"/>
            </a:xfrm>
            <a:custGeom>
              <a:avLst/>
              <a:gdLst/>
              <a:ahLst/>
              <a:cxnLst/>
              <a:rect r="r" b="b" t="t" l="l"/>
              <a:pathLst>
                <a:path h="6517640" w="7066280">
                  <a:moveTo>
                    <a:pt x="0" y="146939"/>
                  </a:moveTo>
                  <a:cubicBezTo>
                    <a:pt x="0" y="65786"/>
                    <a:pt x="65786" y="0"/>
                    <a:pt x="146939" y="0"/>
                  </a:cubicBezTo>
                  <a:lnTo>
                    <a:pt x="6919341" y="0"/>
                  </a:lnTo>
                  <a:cubicBezTo>
                    <a:pt x="7000494" y="0"/>
                    <a:pt x="7066280" y="65786"/>
                    <a:pt x="7066280" y="146939"/>
                  </a:cubicBezTo>
                  <a:lnTo>
                    <a:pt x="7066280" y="6370701"/>
                  </a:lnTo>
                  <a:cubicBezTo>
                    <a:pt x="7066280" y="6451854"/>
                    <a:pt x="7000494" y="6517640"/>
                    <a:pt x="6919341" y="6517640"/>
                  </a:cubicBezTo>
                  <a:lnTo>
                    <a:pt x="146939" y="6517640"/>
                  </a:lnTo>
                  <a:cubicBezTo>
                    <a:pt x="65786" y="6517640"/>
                    <a:pt x="0" y="6451854"/>
                    <a:pt x="0" y="6370701"/>
                  </a:cubicBezTo>
                  <a:close/>
                </a:path>
              </a:pathLst>
            </a:custGeom>
            <a:solidFill>
              <a:srgbClr val="EEF5F5"/>
            </a:solidFill>
            <a:ln w="19050" cap="sq">
              <a:solidFill>
                <a:srgbClr val="EEF5F5"/>
              </a:solidFill>
              <a:prstDash val="solid"/>
              <a:miter/>
            </a:ln>
          </p:spPr>
        </p:sp>
      </p:grpSp>
      <p:grpSp>
        <p:nvGrpSpPr>
          <p:cNvPr name="Group 23" id="23"/>
          <p:cNvGrpSpPr/>
          <p:nvPr/>
        </p:nvGrpSpPr>
        <p:grpSpPr>
          <a:xfrm rot="0">
            <a:off x="12526899" y="2459355"/>
            <a:ext cx="1116330" cy="1116330"/>
            <a:chOff x="0" y="0"/>
            <a:chExt cx="1488440" cy="1488440"/>
          </a:xfrm>
        </p:grpSpPr>
        <p:sp>
          <p:nvSpPr>
            <p:cNvPr name="Freeform 24" id="24"/>
            <p:cNvSpPr/>
            <p:nvPr/>
          </p:nvSpPr>
          <p:spPr>
            <a:xfrm flipH="false" flipV="false" rot="0">
              <a:off x="0" y="0"/>
              <a:ext cx="1488440" cy="1488440"/>
            </a:xfrm>
            <a:custGeom>
              <a:avLst/>
              <a:gdLst/>
              <a:ahLst/>
              <a:cxnLst/>
              <a:rect r="r" b="b" t="t" l="l"/>
              <a:pathLst>
                <a:path h="1488440" w="1488440">
                  <a:moveTo>
                    <a:pt x="0" y="744220"/>
                  </a:moveTo>
                  <a:cubicBezTo>
                    <a:pt x="0" y="333248"/>
                    <a:pt x="333248" y="0"/>
                    <a:pt x="744220" y="0"/>
                  </a:cubicBezTo>
                  <a:cubicBezTo>
                    <a:pt x="1155192" y="0"/>
                    <a:pt x="1488440" y="333248"/>
                    <a:pt x="1488440" y="744220"/>
                  </a:cubicBezTo>
                  <a:cubicBezTo>
                    <a:pt x="1488440" y="1155192"/>
                    <a:pt x="1155192" y="1488440"/>
                    <a:pt x="744220" y="1488440"/>
                  </a:cubicBezTo>
                  <a:cubicBezTo>
                    <a:pt x="333248" y="1488440"/>
                    <a:pt x="0" y="1155192"/>
                    <a:pt x="0" y="744220"/>
                  </a:cubicBezTo>
                  <a:close/>
                </a:path>
              </a:pathLst>
            </a:custGeom>
            <a:solidFill>
              <a:srgbClr val="0E7C86"/>
            </a:solidFill>
            <a:ln w="19050" cap="sq">
              <a:solidFill>
                <a:srgbClr val="0E7C86"/>
              </a:solidFill>
              <a:prstDash val="solid"/>
              <a:miter/>
            </a:ln>
          </p:spPr>
        </p:sp>
      </p:grpSp>
      <p:grpSp>
        <p:nvGrpSpPr>
          <p:cNvPr name="Group 25" id="25"/>
          <p:cNvGrpSpPr/>
          <p:nvPr/>
        </p:nvGrpSpPr>
        <p:grpSpPr>
          <a:xfrm rot="0">
            <a:off x="12810744" y="2743200"/>
            <a:ext cx="548640" cy="548640"/>
            <a:chOff x="0" y="0"/>
            <a:chExt cx="731520" cy="731520"/>
          </a:xfrm>
        </p:grpSpPr>
        <p:sp>
          <p:nvSpPr>
            <p:cNvPr name="Freeform 26" id="26" descr="preencode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6"/>
              <a:stretch>
                <a:fillRect l="0" t="0" r="0" b="0"/>
              </a:stretch>
            </a:blipFill>
          </p:spPr>
        </p:sp>
      </p:grpSp>
      <p:sp>
        <p:nvSpPr>
          <p:cNvPr name="TextBox 27" id="27"/>
          <p:cNvSpPr txBox="true"/>
          <p:nvPr/>
        </p:nvSpPr>
        <p:spPr>
          <a:xfrm rot="0">
            <a:off x="13839444" y="2566797"/>
            <a:ext cx="3360420" cy="1000125"/>
          </a:xfrm>
          <a:prstGeom prst="rect">
            <a:avLst/>
          </a:prstGeom>
        </p:spPr>
        <p:txBody>
          <a:bodyPr anchor="t" rtlCol="false" tIns="0" lIns="0" bIns="0" rIns="0">
            <a:spAutoFit/>
          </a:bodyPr>
          <a:lstStyle/>
          <a:p>
            <a:pPr algn="l">
              <a:lnSpc>
                <a:spcPts val="3719"/>
              </a:lnSpc>
            </a:pPr>
            <a:r>
              <a:rPr lang="en-US" sz="3099" b="1">
                <a:solidFill>
                  <a:srgbClr val="0B4F5C"/>
                </a:solidFill>
                <a:latin typeface="Calibri"/>
                <a:ea typeface="Calibri"/>
                <a:cs typeface="Calibri"/>
                <a:sym typeface="Calibri"/>
              </a:rPr>
              <a:t>3 · Low kidney reserve</a:t>
            </a:r>
          </a:p>
        </p:txBody>
      </p:sp>
      <p:sp>
        <p:nvSpPr>
          <p:cNvPr name="TextBox 28" id="28"/>
          <p:cNvSpPr txBox="true"/>
          <p:nvPr/>
        </p:nvSpPr>
        <p:spPr>
          <a:xfrm rot="0">
            <a:off x="12536424" y="3851910"/>
            <a:ext cx="4526280" cy="1257300"/>
          </a:xfrm>
          <a:prstGeom prst="rect">
            <a:avLst/>
          </a:prstGeom>
        </p:spPr>
        <p:txBody>
          <a:bodyPr anchor="t" rtlCol="false" tIns="0" lIns="0" bIns="0" rIns="0">
            <a:spAutoFit/>
          </a:bodyPr>
          <a:lstStyle/>
          <a:p>
            <a:pPr algn="l">
              <a:lnSpc>
                <a:spcPts val="3179"/>
              </a:lnSpc>
            </a:pPr>
            <a:r>
              <a:rPr lang="en-US" sz="2649">
                <a:solidFill>
                  <a:srgbClr val="1B2B34"/>
                </a:solidFill>
                <a:latin typeface="Calibri"/>
                <a:ea typeface="Calibri"/>
                <a:cs typeface="Calibri"/>
                <a:sym typeface="Calibri"/>
              </a:rPr>
              <a:t>Age 60+, chronic kidney disease, diabetes or heart failure leave less room for error.</a:t>
            </a:r>
          </a:p>
        </p:txBody>
      </p:sp>
      <p:grpSp>
        <p:nvGrpSpPr>
          <p:cNvPr name="Group 29" id="29"/>
          <p:cNvGrpSpPr/>
          <p:nvPr/>
        </p:nvGrpSpPr>
        <p:grpSpPr>
          <a:xfrm rot="0">
            <a:off x="813435" y="7328535"/>
            <a:ext cx="16615410" cy="1459230"/>
            <a:chOff x="0" y="0"/>
            <a:chExt cx="22153880" cy="1945640"/>
          </a:xfrm>
        </p:grpSpPr>
        <p:sp>
          <p:nvSpPr>
            <p:cNvPr name="Freeform 30" id="30"/>
            <p:cNvSpPr/>
            <p:nvPr/>
          </p:nvSpPr>
          <p:spPr>
            <a:xfrm flipH="false" flipV="false" rot="0">
              <a:off x="0" y="0"/>
              <a:ext cx="22153880" cy="1945640"/>
            </a:xfrm>
            <a:custGeom>
              <a:avLst/>
              <a:gdLst/>
              <a:ahLst/>
              <a:cxnLst/>
              <a:rect r="r" b="b" t="t" l="l"/>
              <a:pathLst>
                <a:path h="1945640" w="22153880">
                  <a:moveTo>
                    <a:pt x="0" y="148209"/>
                  </a:moveTo>
                  <a:cubicBezTo>
                    <a:pt x="0" y="66421"/>
                    <a:pt x="66421" y="0"/>
                    <a:pt x="148209" y="0"/>
                  </a:cubicBezTo>
                  <a:lnTo>
                    <a:pt x="22005671" y="0"/>
                  </a:lnTo>
                  <a:cubicBezTo>
                    <a:pt x="22087585" y="0"/>
                    <a:pt x="22153880" y="66421"/>
                    <a:pt x="22153880" y="148209"/>
                  </a:cubicBezTo>
                  <a:lnTo>
                    <a:pt x="22153880" y="1797431"/>
                  </a:lnTo>
                  <a:cubicBezTo>
                    <a:pt x="22153880" y="1879346"/>
                    <a:pt x="22087460" y="1945640"/>
                    <a:pt x="22005671" y="1945640"/>
                  </a:cubicBezTo>
                  <a:lnTo>
                    <a:pt x="148209" y="1945640"/>
                  </a:lnTo>
                  <a:cubicBezTo>
                    <a:pt x="66421" y="1945640"/>
                    <a:pt x="0" y="1879219"/>
                    <a:pt x="0" y="1797431"/>
                  </a:cubicBezTo>
                  <a:close/>
                </a:path>
              </a:pathLst>
            </a:custGeom>
            <a:solidFill>
              <a:srgbClr val="0B4F5C"/>
            </a:solidFill>
            <a:ln w="19050" cap="sq">
              <a:solidFill>
                <a:srgbClr val="0B4F5C"/>
              </a:solidFill>
              <a:prstDash val="solid"/>
              <a:miter/>
            </a:ln>
          </p:spPr>
        </p:sp>
      </p:grpSp>
      <p:grpSp>
        <p:nvGrpSpPr>
          <p:cNvPr name="Group 31" id="31"/>
          <p:cNvGrpSpPr/>
          <p:nvPr/>
        </p:nvGrpSpPr>
        <p:grpSpPr>
          <a:xfrm rot="0">
            <a:off x="1303020" y="7502652"/>
            <a:ext cx="15636240" cy="1165860"/>
            <a:chOff x="0" y="0"/>
            <a:chExt cx="20848320" cy="1554480"/>
          </a:xfrm>
        </p:grpSpPr>
        <p:sp>
          <p:nvSpPr>
            <p:cNvPr name="Freeform 32" id="32"/>
            <p:cNvSpPr/>
            <p:nvPr/>
          </p:nvSpPr>
          <p:spPr>
            <a:xfrm flipH="false" flipV="false" rot="0">
              <a:off x="0" y="0"/>
              <a:ext cx="20848320" cy="1554480"/>
            </a:xfrm>
            <a:custGeom>
              <a:avLst/>
              <a:gdLst/>
              <a:ahLst/>
              <a:cxnLst/>
              <a:rect r="r" b="b" t="t" l="l"/>
              <a:pathLst>
                <a:path h="1554480" w="20848320">
                  <a:moveTo>
                    <a:pt x="0" y="0"/>
                  </a:moveTo>
                  <a:lnTo>
                    <a:pt x="20848320" y="0"/>
                  </a:lnTo>
                  <a:lnTo>
                    <a:pt x="20848320" y="1554480"/>
                  </a:lnTo>
                  <a:lnTo>
                    <a:pt x="0" y="1554480"/>
                  </a:lnTo>
                  <a:close/>
                </a:path>
              </a:pathLst>
            </a:custGeom>
            <a:blipFill>
              <a:blip r:embed="rId3">
                <a:alphaModFix amt="0"/>
              </a:blip>
              <a:stretch>
                <a:fillRect l="0" t="-211328" r="0" b="-211328"/>
              </a:stretch>
            </a:blipFill>
          </p:spPr>
        </p:sp>
        <p:sp>
          <p:nvSpPr>
            <p:cNvPr name="TextBox 33" id="33"/>
            <p:cNvSpPr txBox="true"/>
            <p:nvPr/>
          </p:nvSpPr>
          <p:spPr>
            <a:xfrm>
              <a:off x="0" y="-66675"/>
              <a:ext cx="20848320" cy="1621155"/>
            </a:xfrm>
            <a:prstGeom prst="rect">
              <a:avLst/>
            </a:prstGeom>
          </p:spPr>
          <p:txBody>
            <a:bodyPr anchor="ctr" rtlCol="false" tIns="0" lIns="0" bIns="0" rIns="0"/>
            <a:lstStyle/>
            <a:p>
              <a:pPr algn="l">
                <a:lnSpc>
                  <a:spcPts val="3359"/>
                </a:lnSpc>
              </a:pPr>
              <a:r>
                <a:rPr lang="en-US" sz="2799" b="1">
                  <a:solidFill>
                    <a:srgbClr val="BFE3E5"/>
                  </a:solidFill>
                  <a:latin typeface="Calibri"/>
                  <a:ea typeface="Calibri"/>
                  <a:cs typeface="Calibri"/>
                  <a:sym typeface="Calibri"/>
                </a:rPr>
                <a:t>Result: </a:t>
              </a:r>
              <a:r>
                <a:rPr lang="en-US" sz="2799">
                  <a:solidFill>
                    <a:srgbClr val="FFFFFF"/>
                  </a:solidFill>
                  <a:latin typeface="Calibri"/>
                  <a:ea typeface="Calibri"/>
                  <a:cs typeface="Calibri"/>
                  <a:sym typeface="Calibri"/>
                </a:rPr>
                <a:t>acute kidney injury (AKI) in 1-3 days, defined by KDIGO as a creatinine rise of ≥0.3 mg/dL in 48 h. Usually mild and reversible, but repeated injuries are linked to faster long-term decline.</a:t>
              </a:r>
            </a:p>
          </p:txBody>
        </p:sp>
      </p:grpSp>
      <p:sp>
        <p:nvSpPr>
          <p:cNvPr name="TextBox 34" id="34"/>
          <p:cNvSpPr txBox="true"/>
          <p:nvPr/>
        </p:nvSpPr>
        <p:spPr>
          <a:xfrm rot="0">
            <a:off x="16962120" y="9540240"/>
            <a:ext cx="640080" cy="342900"/>
          </a:xfrm>
          <a:prstGeom prst="rect">
            <a:avLst/>
          </a:prstGeom>
        </p:spPr>
        <p:txBody>
          <a:bodyPr anchor="t" rtlCol="false" tIns="0" lIns="0" bIns="0" rIns="0">
            <a:spAutoFit/>
          </a:bodyPr>
          <a:lstStyle/>
          <a:p>
            <a:pPr algn="r">
              <a:lnSpc>
                <a:spcPts val="2459"/>
              </a:lnSpc>
            </a:pPr>
            <a:r>
              <a:rPr lang="en-US" sz="2049">
                <a:solidFill>
                  <a:srgbClr val="5B6C75"/>
                </a:solidFill>
                <a:latin typeface="Calibri"/>
                <a:ea typeface="Calibri"/>
                <a:cs typeface="Calibri"/>
                <a:sym typeface="Calibri"/>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86574" y="-768015"/>
            <a:ext cx="16596360" cy="3593431"/>
            <a:chOff x="0" y="0"/>
            <a:chExt cx="22128480" cy="4791241"/>
          </a:xfrm>
        </p:grpSpPr>
        <p:sp>
          <p:nvSpPr>
            <p:cNvPr name="Freeform 3" id="3"/>
            <p:cNvSpPr/>
            <p:nvPr/>
          </p:nvSpPr>
          <p:spPr>
            <a:xfrm flipH="false" flipV="false" rot="0">
              <a:off x="0" y="0"/>
              <a:ext cx="22128480" cy="4791241"/>
            </a:xfrm>
            <a:custGeom>
              <a:avLst/>
              <a:gdLst/>
              <a:ahLst/>
              <a:cxnLst/>
              <a:rect r="r" b="b" t="t" l="l"/>
              <a:pathLst>
                <a:path h="4791241" w="22128480">
                  <a:moveTo>
                    <a:pt x="0" y="0"/>
                  </a:moveTo>
                  <a:lnTo>
                    <a:pt x="22128480" y="0"/>
                  </a:lnTo>
                  <a:lnTo>
                    <a:pt x="22128480" y="4791241"/>
                  </a:lnTo>
                  <a:lnTo>
                    <a:pt x="0" y="4791241"/>
                  </a:lnTo>
                  <a:close/>
                </a:path>
              </a:pathLst>
            </a:custGeom>
            <a:blipFill>
              <a:blip r:embed="rId3">
                <a:alphaModFix amt="0"/>
              </a:blip>
              <a:stretch>
                <a:fillRect l="0" t="-73770" r="0" b="-6214"/>
              </a:stretch>
            </a:blipFill>
          </p:spPr>
        </p:sp>
        <p:sp>
          <p:nvSpPr>
            <p:cNvPr name="TextBox 4" id="4"/>
            <p:cNvSpPr txBox="true"/>
            <p:nvPr/>
          </p:nvSpPr>
          <p:spPr>
            <a:xfrm>
              <a:off x="0" y="-9525"/>
              <a:ext cx="22128480" cy="4800766"/>
            </a:xfrm>
            <a:prstGeom prst="rect">
              <a:avLst/>
            </a:prstGeom>
          </p:spPr>
          <p:txBody>
            <a:bodyPr anchor="ctr" rtlCol="false" tIns="0" lIns="0" bIns="0" rIns="0"/>
            <a:lstStyle/>
            <a:p>
              <a:pPr algn="l">
                <a:lnSpc>
                  <a:spcPts val="5879"/>
                </a:lnSpc>
              </a:pPr>
              <a:r>
                <a:rPr lang="en-US" sz="4899" b="1">
                  <a:solidFill>
                    <a:srgbClr val="0B4F5C"/>
                  </a:solidFill>
                  <a:latin typeface="Cambria"/>
                  <a:ea typeface="Cambria"/>
                  <a:cs typeface="Cambria"/>
                  <a:sym typeface="Cambria"/>
                </a:rPr>
                <a:t>Today: the danger lives in a window nobody watches</a:t>
              </a:r>
            </a:p>
          </p:txBody>
        </p:sp>
      </p:grpSp>
      <p:grpSp>
        <p:nvGrpSpPr>
          <p:cNvPr name="Group 5" id="5"/>
          <p:cNvGrpSpPr/>
          <p:nvPr/>
        </p:nvGrpSpPr>
        <p:grpSpPr>
          <a:xfrm rot="0">
            <a:off x="749617" y="2030349"/>
            <a:ext cx="5299710" cy="4065270"/>
            <a:chOff x="0" y="0"/>
            <a:chExt cx="7066280" cy="5420360"/>
          </a:xfrm>
        </p:grpSpPr>
        <p:sp>
          <p:nvSpPr>
            <p:cNvPr name="Freeform 6" id="6"/>
            <p:cNvSpPr/>
            <p:nvPr/>
          </p:nvSpPr>
          <p:spPr>
            <a:xfrm flipH="false" flipV="false" rot="0">
              <a:off x="0" y="0"/>
              <a:ext cx="7066280" cy="5420360"/>
            </a:xfrm>
            <a:custGeom>
              <a:avLst/>
              <a:gdLst/>
              <a:ahLst/>
              <a:cxnLst/>
              <a:rect r="r" b="b" t="t" l="l"/>
              <a:pathLst>
                <a:path h="5420360" w="7066280">
                  <a:moveTo>
                    <a:pt x="0" y="146939"/>
                  </a:moveTo>
                  <a:cubicBezTo>
                    <a:pt x="0" y="65786"/>
                    <a:pt x="65786" y="0"/>
                    <a:pt x="146939" y="0"/>
                  </a:cubicBezTo>
                  <a:lnTo>
                    <a:pt x="6919341" y="0"/>
                  </a:lnTo>
                  <a:cubicBezTo>
                    <a:pt x="7000494" y="0"/>
                    <a:pt x="7066280" y="65786"/>
                    <a:pt x="7066280" y="146939"/>
                  </a:cubicBezTo>
                  <a:lnTo>
                    <a:pt x="7066280" y="5273421"/>
                  </a:lnTo>
                  <a:cubicBezTo>
                    <a:pt x="7066280" y="5354574"/>
                    <a:pt x="7000494" y="5420360"/>
                    <a:pt x="6919341" y="5420360"/>
                  </a:cubicBezTo>
                  <a:lnTo>
                    <a:pt x="146939" y="5420360"/>
                  </a:lnTo>
                  <a:cubicBezTo>
                    <a:pt x="65786" y="5420360"/>
                    <a:pt x="0" y="5354574"/>
                    <a:pt x="0" y="5273421"/>
                  </a:cubicBezTo>
                  <a:close/>
                </a:path>
              </a:pathLst>
            </a:custGeom>
            <a:solidFill>
              <a:srgbClr val="EEF5F5"/>
            </a:solidFill>
            <a:ln w="19050" cap="sq">
              <a:solidFill>
                <a:srgbClr val="EEF5F5"/>
              </a:solidFill>
              <a:prstDash val="solid"/>
              <a:miter/>
            </a:ln>
          </p:spPr>
        </p:sp>
      </p:grpSp>
      <p:grpSp>
        <p:nvGrpSpPr>
          <p:cNvPr name="Group 7" id="7"/>
          <p:cNvGrpSpPr/>
          <p:nvPr/>
        </p:nvGrpSpPr>
        <p:grpSpPr>
          <a:xfrm rot="0">
            <a:off x="1161097" y="2373249"/>
            <a:ext cx="1047750" cy="1047750"/>
            <a:chOff x="0" y="0"/>
            <a:chExt cx="1397000" cy="1397000"/>
          </a:xfrm>
        </p:grpSpPr>
        <p:sp>
          <p:nvSpPr>
            <p:cNvPr name="Freeform 8" id="8"/>
            <p:cNvSpPr/>
            <p:nvPr/>
          </p:nvSpPr>
          <p:spPr>
            <a:xfrm flipH="false" flipV="false" rot="0">
              <a:off x="0" y="0"/>
              <a:ext cx="1397000" cy="1397000"/>
            </a:xfrm>
            <a:custGeom>
              <a:avLst/>
              <a:gdLst/>
              <a:ahLst/>
              <a:cxnLst/>
              <a:rect r="r" b="b" t="t" l="l"/>
              <a:pathLst>
                <a:path h="1397000" w="1397000">
                  <a:moveTo>
                    <a:pt x="0" y="698500"/>
                  </a:moveTo>
                  <a:cubicBezTo>
                    <a:pt x="0" y="312674"/>
                    <a:pt x="312674" y="0"/>
                    <a:pt x="698500" y="0"/>
                  </a:cubicBezTo>
                  <a:cubicBezTo>
                    <a:pt x="1084326" y="0"/>
                    <a:pt x="1397000" y="312674"/>
                    <a:pt x="1397000" y="698500"/>
                  </a:cubicBezTo>
                  <a:cubicBezTo>
                    <a:pt x="1397000" y="1084326"/>
                    <a:pt x="1084326" y="1397000"/>
                    <a:pt x="698500" y="1397000"/>
                  </a:cubicBezTo>
                  <a:cubicBezTo>
                    <a:pt x="312674" y="1397000"/>
                    <a:pt x="0" y="1084326"/>
                    <a:pt x="0" y="698500"/>
                  </a:cubicBezTo>
                  <a:close/>
                </a:path>
              </a:pathLst>
            </a:custGeom>
            <a:solidFill>
              <a:srgbClr val="0E7C86"/>
            </a:solidFill>
            <a:ln w="19050" cap="sq">
              <a:solidFill>
                <a:srgbClr val="0E7C86"/>
              </a:solidFill>
              <a:prstDash val="solid"/>
              <a:miter/>
            </a:ln>
          </p:spPr>
        </p:sp>
      </p:grpSp>
      <p:grpSp>
        <p:nvGrpSpPr>
          <p:cNvPr name="Group 9" id="9"/>
          <p:cNvGrpSpPr/>
          <p:nvPr/>
        </p:nvGrpSpPr>
        <p:grpSpPr>
          <a:xfrm rot="0">
            <a:off x="1427797" y="2639949"/>
            <a:ext cx="514350" cy="514350"/>
            <a:chOff x="0" y="0"/>
            <a:chExt cx="685800" cy="685800"/>
          </a:xfrm>
        </p:grpSpPr>
        <p:sp>
          <p:nvSpPr>
            <p:cNvPr name="Freeform 10" id="10" descr="preencoded.png"/>
            <p:cNvSpPr/>
            <p:nvPr/>
          </p:nvSpPr>
          <p:spPr>
            <a:xfrm flipH="false" flipV="false" rot="0">
              <a:off x="0" y="0"/>
              <a:ext cx="685800" cy="685800"/>
            </a:xfrm>
            <a:custGeom>
              <a:avLst/>
              <a:gdLst/>
              <a:ahLst/>
              <a:cxnLst/>
              <a:rect r="r" b="b" t="t" l="l"/>
              <a:pathLst>
                <a:path h="685800" w="685800">
                  <a:moveTo>
                    <a:pt x="0" y="0"/>
                  </a:moveTo>
                  <a:lnTo>
                    <a:pt x="685800" y="0"/>
                  </a:lnTo>
                  <a:lnTo>
                    <a:pt x="685800" y="685800"/>
                  </a:lnTo>
                  <a:lnTo>
                    <a:pt x="0" y="685800"/>
                  </a:lnTo>
                  <a:lnTo>
                    <a:pt x="0" y="0"/>
                  </a:lnTo>
                  <a:close/>
                </a:path>
              </a:pathLst>
            </a:custGeom>
            <a:blipFill>
              <a:blip r:embed="rId4"/>
              <a:stretch>
                <a:fillRect l="0" t="0" r="0" b="0"/>
              </a:stretch>
            </a:blipFill>
          </p:spPr>
        </p:sp>
      </p:grpSp>
      <p:sp>
        <p:nvSpPr>
          <p:cNvPr name="TextBox 11" id="11"/>
          <p:cNvSpPr txBox="true"/>
          <p:nvPr/>
        </p:nvSpPr>
        <p:spPr>
          <a:xfrm rot="0">
            <a:off x="2405062" y="2551557"/>
            <a:ext cx="3429000" cy="523875"/>
          </a:xfrm>
          <a:prstGeom prst="rect">
            <a:avLst/>
          </a:prstGeom>
        </p:spPr>
        <p:txBody>
          <a:bodyPr anchor="t" rtlCol="false" tIns="0" lIns="0" bIns="0" rIns="0">
            <a:spAutoFit/>
          </a:bodyPr>
          <a:lstStyle/>
          <a:p>
            <a:pPr algn="l">
              <a:lnSpc>
                <a:spcPts val="4079"/>
              </a:lnSpc>
            </a:pPr>
            <a:r>
              <a:rPr lang="en-US" sz="3399" b="1">
                <a:solidFill>
                  <a:srgbClr val="0B4F5C"/>
                </a:solidFill>
                <a:latin typeface="Cambria"/>
                <a:ea typeface="Cambria"/>
                <a:cs typeface="Cambria"/>
                <a:sym typeface="Cambria"/>
              </a:rPr>
              <a:t>Minutes to hours</a:t>
            </a:r>
          </a:p>
        </p:txBody>
      </p:sp>
      <p:sp>
        <p:nvSpPr>
          <p:cNvPr name="TextBox 12" id="12"/>
          <p:cNvSpPr txBox="true"/>
          <p:nvPr/>
        </p:nvSpPr>
        <p:spPr>
          <a:xfrm rot="0">
            <a:off x="1170622" y="3697224"/>
            <a:ext cx="4526280" cy="857250"/>
          </a:xfrm>
          <a:prstGeom prst="rect">
            <a:avLst/>
          </a:prstGeom>
        </p:spPr>
        <p:txBody>
          <a:bodyPr anchor="t" rtlCol="false" tIns="0" lIns="0" bIns="0" rIns="0">
            <a:spAutoFit/>
          </a:bodyPr>
          <a:lstStyle/>
          <a:p>
            <a:pPr algn="l">
              <a:lnSpc>
                <a:spcPts val="3179"/>
              </a:lnSpc>
            </a:pPr>
            <a:r>
              <a:rPr lang="en-US" sz="2649" b="1">
                <a:solidFill>
                  <a:srgbClr val="1B2B34"/>
                </a:solidFill>
                <a:latin typeface="Calibri"/>
                <a:ea typeface="Calibri"/>
                <a:cs typeface="Calibri"/>
                <a:sym typeface="Calibri"/>
              </a:rPr>
              <a:t>Heat alarms and heat-stress wearables</a:t>
            </a:r>
          </a:p>
        </p:txBody>
      </p:sp>
      <p:sp>
        <p:nvSpPr>
          <p:cNvPr name="TextBox 13" id="13"/>
          <p:cNvSpPr txBox="true"/>
          <p:nvPr/>
        </p:nvSpPr>
        <p:spPr>
          <a:xfrm rot="0">
            <a:off x="1170622" y="4735449"/>
            <a:ext cx="4526280" cy="790575"/>
          </a:xfrm>
          <a:prstGeom prst="rect">
            <a:avLst/>
          </a:prstGeom>
        </p:spPr>
        <p:txBody>
          <a:bodyPr anchor="t" rtlCol="false" tIns="0" lIns="0" bIns="0" rIns="0">
            <a:spAutoFit/>
          </a:bodyPr>
          <a:lstStyle/>
          <a:p>
            <a:pPr algn="l">
              <a:lnSpc>
                <a:spcPts val="2999"/>
              </a:lnSpc>
            </a:pPr>
            <a:r>
              <a:rPr lang="en-US" sz="2499">
                <a:solidFill>
                  <a:srgbClr val="1B2B34"/>
                </a:solidFill>
                <a:latin typeface="Calibri"/>
                <a:ea typeface="Calibri"/>
                <a:cs typeface="Calibri"/>
                <a:sym typeface="Calibri"/>
              </a:rPr>
              <a:t>Warn about overheating, not about kidneys or medicines</a:t>
            </a:r>
          </a:p>
        </p:txBody>
      </p:sp>
      <p:grpSp>
        <p:nvGrpSpPr>
          <p:cNvPr name="Group 14" id="14"/>
          <p:cNvGrpSpPr/>
          <p:nvPr/>
        </p:nvGrpSpPr>
        <p:grpSpPr>
          <a:xfrm rot="0">
            <a:off x="6400609" y="2030349"/>
            <a:ext cx="5299710" cy="4065270"/>
            <a:chOff x="0" y="0"/>
            <a:chExt cx="7066280" cy="5420360"/>
          </a:xfrm>
        </p:grpSpPr>
        <p:sp>
          <p:nvSpPr>
            <p:cNvPr name="Freeform 15" id="15"/>
            <p:cNvSpPr/>
            <p:nvPr/>
          </p:nvSpPr>
          <p:spPr>
            <a:xfrm flipH="false" flipV="false" rot="0">
              <a:off x="0" y="0"/>
              <a:ext cx="7066280" cy="5420360"/>
            </a:xfrm>
            <a:custGeom>
              <a:avLst/>
              <a:gdLst/>
              <a:ahLst/>
              <a:cxnLst/>
              <a:rect r="r" b="b" t="t" l="l"/>
              <a:pathLst>
                <a:path h="5420360" w="7066280">
                  <a:moveTo>
                    <a:pt x="0" y="146939"/>
                  </a:moveTo>
                  <a:cubicBezTo>
                    <a:pt x="0" y="65786"/>
                    <a:pt x="65786" y="0"/>
                    <a:pt x="146939" y="0"/>
                  </a:cubicBezTo>
                  <a:lnTo>
                    <a:pt x="6919341" y="0"/>
                  </a:lnTo>
                  <a:cubicBezTo>
                    <a:pt x="7000494" y="0"/>
                    <a:pt x="7066280" y="65786"/>
                    <a:pt x="7066280" y="146939"/>
                  </a:cubicBezTo>
                  <a:lnTo>
                    <a:pt x="7066280" y="5273421"/>
                  </a:lnTo>
                  <a:cubicBezTo>
                    <a:pt x="7066280" y="5354574"/>
                    <a:pt x="7000494" y="5420360"/>
                    <a:pt x="6919341" y="5420360"/>
                  </a:cubicBezTo>
                  <a:lnTo>
                    <a:pt x="146939" y="5420360"/>
                  </a:lnTo>
                  <a:cubicBezTo>
                    <a:pt x="65786" y="5420360"/>
                    <a:pt x="0" y="5354574"/>
                    <a:pt x="0" y="5273421"/>
                  </a:cubicBezTo>
                  <a:close/>
                </a:path>
              </a:pathLst>
            </a:custGeom>
            <a:solidFill>
              <a:srgbClr val="D9472B"/>
            </a:solidFill>
            <a:ln w="19050" cap="sq">
              <a:solidFill>
                <a:srgbClr val="D9472B"/>
              </a:solidFill>
              <a:prstDash val="solid"/>
              <a:miter/>
            </a:ln>
          </p:spPr>
        </p:sp>
      </p:grpSp>
      <p:grpSp>
        <p:nvGrpSpPr>
          <p:cNvPr name="Group 16" id="16"/>
          <p:cNvGrpSpPr/>
          <p:nvPr/>
        </p:nvGrpSpPr>
        <p:grpSpPr>
          <a:xfrm rot="0">
            <a:off x="6812090" y="2373249"/>
            <a:ext cx="1047750" cy="1047750"/>
            <a:chOff x="0" y="0"/>
            <a:chExt cx="1397000" cy="1397000"/>
          </a:xfrm>
        </p:grpSpPr>
        <p:sp>
          <p:nvSpPr>
            <p:cNvPr name="Freeform 17" id="17"/>
            <p:cNvSpPr/>
            <p:nvPr/>
          </p:nvSpPr>
          <p:spPr>
            <a:xfrm flipH="false" flipV="false" rot="0">
              <a:off x="0" y="0"/>
              <a:ext cx="1397000" cy="1397000"/>
            </a:xfrm>
            <a:custGeom>
              <a:avLst/>
              <a:gdLst/>
              <a:ahLst/>
              <a:cxnLst/>
              <a:rect r="r" b="b" t="t" l="l"/>
              <a:pathLst>
                <a:path h="1397000" w="1397000">
                  <a:moveTo>
                    <a:pt x="0" y="698500"/>
                  </a:moveTo>
                  <a:cubicBezTo>
                    <a:pt x="0" y="312674"/>
                    <a:pt x="312674" y="0"/>
                    <a:pt x="698500" y="0"/>
                  </a:cubicBezTo>
                  <a:cubicBezTo>
                    <a:pt x="1084326" y="0"/>
                    <a:pt x="1397000" y="312674"/>
                    <a:pt x="1397000" y="698500"/>
                  </a:cubicBezTo>
                  <a:cubicBezTo>
                    <a:pt x="1397000" y="1084326"/>
                    <a:pt x="1084326" y="1397000"/>
                    <a:pt x="698500" y="1397000"/>
                  </a:cubicBezTo>
                  <a:cubicBezTo>
                    <a:pt x="312674" y="1397000"/>
                    <a:pt x="0" y="1084326"/>
                    <a:pt x="0" y="698500"/>
                  </a:cubicBezTo>
                  <a:close/>
                </a:path>
              </a:pathLst>
            </a:custGeom>
            <a:solidFill>
              <a:srgbClr val="0B4F5C"/>
            </a:solidFill>
            <a:ln w="19050" cap="sq">
              <a:solidFill>
                <a:srgbClr val="0B4F5C"/>
              </a:solidFill>
              <a:prstDash val="solid"/>
              <a:miter/>
            </a:ln>
          </p:spPr>
        </p:sp>
      </p:grpSp>
      <p:grpSp>
        <p:nvGrpSpPr>
          <p:cNvPr name="Group 18" id="18"/>
          <p:cNvGrpSpPr/>
          <p:nvPr/>
        </p:nvGrpSpPr>
        <p:grpSpPr>
          <a:xfrm rot="0">
            <a:off x="7078790" y="2639949"/>
            <a:ext cx="514350" cy="514350"/>
            <a:chOff x="0" y="0"/>
            <a:chExt cx="685800" cy="685800"/>
          </a:xfrm>
        </p:grpSpPr>
        <p:sp>
          <p:nvSpPr>
            <p:cNvPr name="Freeform 19" id="19" descr="preencoded.png"/>
            <p:cNvSpPr/>
            <p:nvPr/>
          </p:nvSpPr>
          <p:spPr>
            <a:xfrm flipH="false" flipV="false" rot="0">
              <a:off x="0" y="0"/>
              <a:ext cx="685800" cy="685800"/>
            </a:xfrm>
            <a:custGeom>
              <a:avLst/>
              <a:gdLst/>
              <a:ahLst/>
              <a:cxnLst/>
              <a:rect r="r" b="b" t="t" l="l"/>
              <a:pathLst>
                <a:path h="685800" w="685800">
                  <a:moveTo>
                    <a:pt x="0" y="0"/>
                  </a:moveTo>
                  <a:lnTo>
                    <a:pt x="685800" y="0"/>
                  </a:lnTo>
                  <a:lnTo>
                    <a:pt x="685800" y="685800"/>
                  </a:lnTo>
                  <a:lnTo>
                    <a:pt x="0" y="685800"/>
                  </a:lnTo>
                  <a:lnTo>
                    <a:pt x="0" y="0"/>
                  </a:lnTo>
                  <a:close/>
                </a:path>
              </a:pathLst>
            </a:custGeom>
            <a:blipFill>
              <a:blip r:embed="rId5"/>
              <a:stretch>
                <a:fillRect l="0" t="0" r="0" b="0"/>
              </a:stretch>
            </a:blipFill>
          </p:spPr>
        </p:sp>
      </p:grpSp>
      <p:sp>
        <p:nvSpPr>
          <p:cNvPr name="TextBox 20" id="20"/>
          <p:cNvSpPr txBox="true"/>
          <p:nvPr/>
        </p:nvSpPr>
        <p:spPr>
          <a:xfrm rot="0">
            <a:off x="8056054" y="2551557"/>
            <a:ext cx="3429000" cy="523875"/>
          </a:xfrm>
          <a:prstGeom prst="rect">
            <a:avLst/>
          </a:prstGeom>
        </p:spPr>
        <p:txBody>
          <a:bodyPr anchor="t" rtlCol="false" tIns="0" lIns="0" bIns="0" rIns="0">
            <a:spAutoFit/>
          </a:bodyPr>
          <a:lstStyle/>
          <a:p>
            <a:pPr algn="l">
              <a:lnSpc>
                <a:spcPts val="4079"/>
              </a:lnSpc>
            </a:pPr>
            <a:r>
              <a:rPr lang="en-US" sz="3399" b="1">
                <a:solidFill>
                  <a:srgbClr val="FFFFFF"/>
                </a:solidFill>
                <a:latin typeface="Cambria"/>
                <a:ea typeface="Cambria"/>
                <a:cs typeface="Cambria"/>
                <a:sym typeface="Cambria"/>
              </a:rPr>
              <a:t>1 to 3 days</a:t>
            </a:r>
          </a:p>
        </p:txBody>
      </p:sp>
      <p:sp>
        <p:nvSpPr>
          <p:cNvPr name="TextBox 21" id="21"/>
          <p:cNvSpPr txBox="true"/>
          <p:nvPr/>
        </p:nvSpPr>
        <p:spPr>
          <a:xfrm rot="0">
            <a:off x="6821614" y="3697224"/>
            <a:ext cx="4526280" cy="857250"/>
          </a:xfrm>
          <a:prstGeom prst="rect">
            <a:avLst/>
          </a:prstGeom>
        </p:spPr>
        <p:txBody>
          <a:bodyPr anchor="t" rtlCol="false" tIns="0" lIns="0" bIns="0" rIns="0">
            <a:spAutoFit/>
          </a:bodyPr>
          <a:lstStyle/>
          <a:p>
            <a:pPr algn="l">
              <a:lnSpc>
                <a:spcPts val="3179"/>
              </a:lnSpc>
            </a:pPr>
            <a:r>
              <a:rPr lang="en-US" sz="2649" b="1">
                <a:solidFill>
                  <a:srgbClr val="FFFFFF"/>
                </a:solidFill>
                <a:latin typeface="Calibri"/>
                <a:ea typeface="Calibri"/>
                <a:cs typeface="Calibri"/>
                <a:sym typeface="Calibri"/>
              </a:rPr>
              <a:t>Kidney injury from heat + sickness + pills</a:t>
            </a:r>
          </a:p>
        </p:txBody>
      </p:sp>
      <p:sp>
        <p:nvSpPr>
          <p:cNvPr name="TextBox 22" id="22"/>
          <p:cNvSpPr txBox="true"/>
          <p:nvPr/>
        </p:nvSpPr>
        <p:spPr>
          <a:xfrm rot="0">
            <a:off x="6821614" y="4735449"/>
            <a:ext cx="4526280" cy="790575"/>
          </a:xfrm>
          <a:prstGeom prst="rect">
            <a:avLst/>
          </a:prstGeom>
        </p:spPr>
        <p:txBody>
          <a:bodyPr anchor="t" rtlCol="false" tIns="0" lIns="0" bIns="0" rIns="0">
            <a:spAutoFit/>
          </a:bodyPr>
          <a:lstStyle/>
          <a:p>
            <a:pPr algn="l">
              <a:lnSpc>
                <a:spcPts val="2999"/>
              </a:lnSpc>
            </a:pPr>
            <a:r>
              <a:rPr lang="en-US" sz="2499">
                <a:solidFill>
                  <a:srgbClr val="FFFFFF"/>
                </a:solidFill>
                <a:latin typeface="Calibri"/>
                <a:ea typeface="Calibri"/>
                <a:cs typeface="Calibri"/>
                <a:sym typeface="Calibri"/>
              </a:rPr>
              <a:t>No routine tool watches this window</a:t>
            </a:r>
          </a:p>
        </p:txBody>
      </p:sp>
      <p:grpSp>
        <p:nvGrpSpPr>
          <p:cNvPr name="Group 23" id="23"/>
          <p:cNvGrpSpPr/>
          <p:nvPr/>
        </p:nvGrpSpPr>
        <p:grpSpPr>
          <a:xfrm rot="0">
            <a:off x="12051602" y="2030349"/>
            <a:ext cx="5299710" cy="4065270"/>
            <a:chOff x="0" y="0"/>
            <a:chExt cx="7066280" cy="5420360"/>
          </a:xfrm>
        </p:grpSpPr>
        <p:sp>
          <p:nvSpPr>
            <p:cNvPr name="Freeform 24" id="24"/>
            <p:cNvSpPr/>
            <p:nvPr/>
          </p:nvSpPr>
          <p:spPr>
            <a:xfrm flipH="false" flipV="false" rot="0">
              <a:off x="0" y="0"/>
              <a:ext cx="7066280" cy="5420360"/>
            </a:xfrm>
            <a:custGeom>
              <a:avLst/>
              <a:gdLst/>
              <a:ahLst/>
              <a:cxnLst/>
              <a:rect r="r" b="b" t="t" l="l"/>
              <a:pathLst>
                <a:path h="5420360" w="7066280">
                  <a:moveTo>
                    <a:pt x="0" y="146939"/>
                  </a:moveTo>
                  <a:cubicBezTo>
                    <a:pt x="0" y="65786"/>
                    <a:pt x="65786" y="0"/>
                    <a:pt x="146939" y="0"/>
                  </a:cubicBezTo>
                  <a:lnTo>
                    <a:pt x="6919341" y="0"/>
                  </a:lnTo>
                  <a:cubicBezTo>
                    <a:pt x="7000494" y="0"/>
                    <a:pt x="7066280" y="65786"/>
                    <a:pt x="7066280" y="146939"/>
                  </a:cubicBezTo>
                  <a:lnTo>
                    <a:pt x="7066280" y="5273421"/>
                  </a:lnTo>
                  <a:cubicBezTo>
                    <a:pt x="7066280" y="5354574"/>
                    <a:pt x="7000494" y="5420360"/>
                    <a:pt x="6919341" y="5420360"/>
                  </a:cubicBezTo>
                  <a:lnTo>
                    <a:pt x="146939" y="5420360"/>
                  </a:lnTo>
                  <a:cubicBezTo>
                    <a:pt x="65786" y="5420360"/>
                    <a:pt x="0" y="5354574"/>
                    <a:pt x="0" y="5273421"/>
                  </a:cubicBezTo>
                  <a:close/>
                </a:path>
              </a:pathLst>
            </a:custGeom>
            <a:solidFill>
              <a:srgbClr val="EEF5F5"/>
            </a:solidFill>
            <a:ln w="19050" cap="sq">
              <a:solidFill>
                <a:srgbClr val="EEF5F5"/>
              </a:solidFill>
              <a:prstDash val="solid"/>
              <a:miter/>
            </a:ln>
          </p:spPr>
        </p:sp>
      </p:grpSp>
      <p:grpSp>
        <p:nvGrpSpPr>
          <p:cNvPr name="Group 25" id="25"/>
          <p:cNvGrpSpPr/>
          <p:nvPr/>
        </p:nvGrpSpPr>
        <p:grpSpPr>
          <a:xfrm rot="0">
            <a:off x="12463082" y="2373249"/>
            <a:ext cx="1047750" cy="1047750"/>
            <a:chOff x="0" y="0"/>
            <a:chExt cx="1397000" cy="1397000"/>
          </a:xfrm>
        </p:grpSpPr>
        <p:sp>
          <p:nvSpPr>
            <p:cNvPr name="Freeform 26" id="26"/>
            <p:cNvSpPr/>
            <p:nvPr/>
          </p:nvSpPr>
          <p:spPr>
            <a:xfrm flipH="false" flipV="false" rot="0">
              <a:off x="0" y="0"/>
              <a:ext cx="1397000" cy="1397000"/>
            </a:xfrm>
            <a:custGeom>
              <a:avLst/>
              <a:gdLst/>
              <a:ahLst/>
              <a:cxnLst/>
              <a:rect r="r" b="b" t="t" l="l"/>
              <a:pathLst>
                <a:path h="1397000" w="1397000">
                  <a:moveTo>
                    <a:pt x="0" y="698500"/>
                  </a:moveTo>
                  <a:cubicBezTo>
                    <a:pt x="0" y="312674"/>
                    <a:pt x="312674" y="0"/>
                    <a:pt x="698500" y="0"/>
                  </a:cubicBezTo>
                  <a:cubicBezTo>
                    <a:pt x="1084326" y="0"/>
                    <a:pt x="1397000" y="312674"/>
                    <a:pt x="1397000" y="698500"/>
                  </a:cubicBezTo>
                  <a:cubicBezTo>
                    <a:pt x="1397000" y="1084326"/>
                    <a:pt x="1084326" y="1397000"/>
                    <a:pt x="698500" y="1397000"/>
                  </a:cubicBezTo>
                  <a:cubicBezTo>
                    <a:pt x="312674" y="1397000"/>
                    <a:pt x="0" y="1084326"/>
                    <a:pt x="0" y="698500"/>
                  </a:cubicBezTo>
                  <a:close/>
                </a:path>
              </a:pathLst>
            </a:custGeom>
            <a:solidFill>
              <a:srgbClr val="0E7C86"/>
            </a:solidFill>
            <a:ln w="19050" cap="sq">
              <a:solidFill>
                <a:srgbClr val="0E7C86"/>
              </a:solidFill>
              <a:prstDash val="solid"/>
              <a:miter/>
            </a:ln>
          </p:spPr>
        </p:sp>
      </p:grpSp>
      <p:grpSp>
        <p:nvGrpSpPr>
          <p:cNvPr name="Group 27" id="27"/>
          <p:cNvGrpSpPr/>
          <p:nvPr/>
        </p:nvGrpSpPr>
        <p:grpSpPr>
          <a:xfrm rot="0">
            <a:off x="12729782" y="2639949"/>
            <a:ext cx="514350" cy="514350"/>
            <a:chOff x="0" y="0"/>
            <a:chExt cx="685800" cy="685800"/>
          </a:xfrm>
        </p:grpSpPr>
        <p:sp>
          <p:nvSpPr>
            <p:cNvPr name="Freeform 28" id="28" descr="preencoded.png"/>
            <p:cNvSpPr/>
            <p:nvPr/>
          </p:nvSpPr>
          <p:spPr>
            <a:xfrm flipH="false" flipV="false" rot="0">
              <a:off x="0" y="0"/>
              <a:ext cx="685800" cy="685800"/>
            </a:xfrm>
            <a:custGeom>
              <a:avLst/>
              <a:gdLst/>
              <a:ahLst/>
              <a:cxnLst/>
              <a:rect r="r" b="b" t="t" l="l"/>
              <a:pathLst>
                <a:path h="685800" w="685800">
                  <a:moveTo>
                    <a:pt x="0" y="0"/>
                  </a:moveTo>
                  <a:lnTo>
                    <a:pt x="685800" y="0"/>
                  </a:lnTo>
                  <a:lnTo>
                    <a:pt x="685800" y="685800"/>
                  </a:lnTo>
                  <a:lnTo>
                    <a:pt x="0" y="685800"/>
                  </a:lnTo>
                  <a:lnTo>
                    <a:pt x="0" y="0"/>
                  </a:lnTo>
                  <a:close/>
                </a:path>
              </a:pathLst>
            </a:custGeom>
            <a:blipFill>
              <a:blip r:embed="rId6"/>
              <a:stretch>
                <a:fillRect l="0" t="0" r="0" b="0"/>
              </a:stretch>
            </a:blipFill>
          </p:spPr>
        </p:sp>
      </p:grpSp>
      <p:sp>
        <p:nvSpPr>
          <p:cNvPr name="TextBox 29" id="29"/>
          <p:cNvSpPr txBox="true"/>
          <p:nvPr/>
        </p:nvSpPr>
        <p:spPr>
          <a:xfrm rot="0">
            <a:off x="13707046" y="2551557"/>
            <a:ext cx="3429000" cy="523875"/>
          </a:xfrm>
          <a:prstGeom prst="rect">
            <a:avLst/>
          </a:prstGeom>
        </p:spPr>
        <p:txBody>
          <a:bodyPr anchor="t" rtlCol="false" tIns="0" lIns="0" bIns="0" rIns="0">
            <a:spAutoFit/>
          </a:bodyPr>
          <a:lstStyle/>
          <a:p>
            <a:pPr algn="l">
              <a:lnSpc>
                <a:spcPts val="4079"/>
              </a:lnSpc>
            </a:pPr>
            <a:r>
              <a:rPr lang="en-US" sz="3399" b="1">
                <a:solidFill>
                  <a:srgbClr val="0B4F5C"/>
                </a:solidFill>
                <a:latin typeface="Cambria"/>
                <a:ea typeface="Cambria"/>
                <a:cs typeface="Cambria"/>
                <a:sym typeface="Cambria"/>
              </a:rPr>
              <a:t>Months to years</a:t>
            </a:r>
          </a:p>
        </p:txBody>
      </p:sp>
      <p:sp>
        <p:nvSpPr>
          <p:cNvPr name="TextBox 30" id="30"/>
          <p:cNvSpPr txBox="true"/>
          <p:nvPr/>
        </p:nvSpPr>
        <p:spPr>
          <a:xfrm rot="0">
            <a:off x="12472606" y="3697224"/>
            <a:ext cx="4526280" cy="457200"/>
          </a:xfrm>
          <a:prstGeom prst="rect">
            <a:avLst/>
          </a:prstGeom>
        </p:spPr>
        <p:txBody>
          <a:bodyPr anchor="t" rtlCol="false" tIns="0" lIns="0" bIns="0" rIns="0">
            <a:spAutoFit/>
          </a:bodyPr>
          <a:lstStyle/>
          <a:p>
            <a:pPr algn="l">
              <a:lnSpc>
                <a:spcPts val="3179"/>
              </a:lnSpc>
            </a:pPr>
            <a:r>
              <a:rPr lang="en-US" sz="2649" b="1">
                <a:solidFill>
                  <a:srgbClr val="1B2B34"/>
                </a:solidFill>
                <a:latin typeface="Calibri"/>
                <a:ea typeface="Calibri"/>
                <a:cs typeface="Calibri"/>
                <a:sym typeface="Calibri"/>
              </a:rPr>
              <a:t>Chronic kidney risk tests</a:t>
            </a:r>
          </a:p>
        </p:txBody>
      </p:sp>
      <p:sp>
        <p:nvSpPr>
          <p:cNvPr name="TextBox 31" id="31"/>
          <p:cNvSpPr txBox="true"/>
          <p:nvPr/>
        </p:nvSpPr>
        <p:spPr>
          <a:xfrm rot="0">
            <a:off x="12472606" y="4735449"/>
            <a:ext cx="4526280" cy="790575"/>
          </a:xfrm>
          <a:prstGeom prst="rect">
            <a:avLst/>
          </a:prstGeom>
        </p:spPr>
        <p:txBody>
          <a:bodyPr anchor="t" rtlCol="false" tIns="0" lIns="0" bIns="0" rIns="0">
            <a:spAutoFit/>
          </a:bodyPr>
          <a:lstStyle/>
          <a:p>
            <a:pPr algn="l">
              <a:lnSpc>
                <a:spcPts val="2999"/>
              </a:lnSpc>
            </a:pPr>
            <a:r>
              <a:rPr lang="en-US" sz="2499">
                <a:solidFill>
                  <a:srgbClr val="1B2B34"/>
                </a:solidFill>
                <a:latin typeface="Calibri"/>
                <a:ea typeface="Calibri"/>
                <a:cs typeface="Calibri"/>
                <a:sym typeface="Calibri"/>
              </a:rPr>
              <a:t>Need a blood draw; ignore today's heat and illness</a:t>
            </a:r>
          </a:p>
        </p:txBody>
      </p:sp>
      <p:sp>
        <p:nvSpPr>
          <p:cNvPr name="TextBox 32" id="32"/>
          <p:cNvSpPr txBox="true"/>
          <p:nvPr/>
        </p:nvSpPr>
        <p:spPr>
          <a:xfrm rot="0">
            <a:off x="754951" y="6770942"/>
            <a:ext cx="16596360" cy="2057400"/>
          </a:xfrm>
          <a:prstGeom prst="rect">
            <a:avLst/>
          </a:prstGeom>
        </p:spPr>
        <p:txBody>
          <a:bodyPr anchor="t" rtlCol="false" tIns="0" lIns="0" bIns="0" rIns="0">
            <a:spAutoFit/>
          </a:bodyPr>
          <a:lstStyle/>
          <a:p>
            <a:pPr algn="l" marL="479582" indent="-239791" lvl="1">
              <a:lnSpc>
                <a:spcPts val="3179"/>
              </a:lnSpc>
              <a:buFont typeface="Arial"/>
              <a:buChar char="•"/>
            </a:pPr>
            <a:r>
              <a:rPr lang="en-US" b="1" sz="2649">
                <a:solidFill>
                  <a:srgbClr val="1B2B34"/>
                </a:solidFill>
                <a:latin typeface="Calibri"/>
                <a:ea typeface="Calibri"/>
                <a:cs typeface="Calibri"/>
                <a:sym typeface="Calibri"/>
              </a:rPr>
              <a:t>Kidney blood tests happen every 3-12 months</a:t>
            </a:r>
            <a:r>
              <a:rPr lang="en-US" sz="2649">
                <a:solidFill>
                  <a:srgbClr val="1B2B34"/>
                </a:solidFill>
                <a:latin typeface="Calibri"/>
                <a:ea typeface="Calibri"/>
                <a:cs typeface="Calibri"/>
                <a:sym typeface="Calibri"/>
              </a:rPr>
              <a:t>, so a 3-day injury is usually missed.</a:t>
            </a:r>
          </a:p>
          <a:p>
            <a:pPr algn="l" marL="479582" indent="-239791" lvl="1">
              <a:lnSpc>
                <a:spcPts val="3179"/>
              </a:lnSpc>
              <a:buFont typeface="Arial"/>
              <a:buChar char="•"/>
            </a:pPr>
            <a:r>
              <a:rPr lang="en-US" b="1" sz="2649">
                <a:solidFill>
                  <a:srgbClr val="1B2B34"/>
                </a:solidFill>
                <a:latin typeface="Calibri"/>
                <a:ea typeface="Calibri"/>
                <a:cs typeface="Calibri"/>
                <a:sym typeface="Calibri"/>
              </a:rPr>
              <a:t>Heat alerts are the same for everyone</a:t>
            </a:r>
            <a:r>
              <a:rPr lang="en-US" sz="2649">
                <a:solidFill>
                  <a:srgbClr val="1B2B34"/>
                </a:solidFill>
                <a:latin typeface="Calibri"/>
                <a:ea typeface="Calibri"/>
                <a:cs typeface="Calibri"/>
                <a:sym typeface="Calibri"/>
              </a:rPr>
              <a:t>, not tied to a person's medicines or kidneys.</a:t>
            </a:r>
          </a:p>
          <a:p>
            <a:pPr algn="l" marL="479582" indent="-239791" lvl="1">
              <a:lnSpc>
                <a:spcPts val="3179"/>
              </a:lnSpc>
              <a:buFont typeface="Arial"/>
              <a:buChar char="•"/>
            </a:pPr>
            <a:r>
              <a:rPr lang="en-US" b="1" sz="2649">
                <a:solidFill>
                  <a:srgbClr val="1B2B34"/>
                </a:solidFill>
                <a:latin typeface="Calibri"/>
                <a:ea typeface="Calibri"/>
                <a:cs typeface="Calibri"/>
                <a:sym typeface="Calibri"/>
              </a:rPr>
              <a:t>Painkillers are sold over the counter</a:t>
            </a:r>
            <a:r>
              <a:rPr lang="en-US" sz="2649">
                <a:solidFill>
                  <a:srgbClr val="1B2B34"/>
                </a:solidFill>
                <a:latin typeface="Calibri"/>
                <a:ea typeface="Calibri"/>
                <a:cs typeface="Calibri"/>
                <a:sym typeface="Calibri"/>
              </a:rPr>
              <a:t>, and Combiflam-type pills are a household habit.</a:t>
            </a:r>
          </a:p>
          <a:p>
            <a:pPr algn="l" marL="479582" indent="-239791" lvl="1">
              <a:lnSpc>
                <a:spcPts val="3179"/>
              </a:lnSpc>
              <a:buFont typeface="Arial"/>
              <a:buChar char="•"/>
            </a:pPr>
            <a:r>
              <a:rPr lang="en-US" b="1" sz="2649">
                <a:solidFill>
                  <a:srgbClr val="1B2B34"/>
                </a:solidFill>
                <a:latin typeface="Calibri"/>
                <a:ea typeface="Calibri"/>
                <a:cs typeface="Calibri"/>
                <a:sym typeface="Calibri"/>
              </a:rPr>
              <a:t>Blanket 'sick-day rules' have weak evidence</a:t>
            </a:r>
            <a:r>
              <a:rPr lang="en-US" sz="2649">
                <a:solidFill>
                  <a:srgbClr val="1B2B34"/>
                </a:solidFill>
                <a:latin typeface="Calibri"/>
                <a:ea typeface="Calibri"/>
                <a:cs typeface="Calibri"/>
                <a:sym typeface="Calibri"/>
              </a:rPr>
              <a:t>; UK guidance supports individual assessment for high-risk patients (Think Kidneys, 2018). That individual assessment is exactly what a twin can do.</a:t>
            </a:r>
          </a:p>
        </p:txBody>
      </p:sp>
      <p:sp>
        <p:nvSpPr>
          <p:cNvPr name="TextBox 33" id="33"/>
          <p:cNvSpPr txBox="true"/>
          <p:nvPr/>
        </p:nvSpPr>
        <p:spPr>
          <a:xfrm rot="0">
            <a:off x="16898302" y="9522714"/>
            <a:ext cx="640080" cy="342900"/>
          </a:xfrm>
          <a:prstGeom prst="rect">
            <a:avLst/>
          </a:prstGeom>
        </p:spPr>
        <p:txBody>
          <a:bodyPr anchor="t" rtlCol="false" tIns="0" lIns="0" bIns="0" rIns="0">
            <a:spAutoFit/>
          </a:bodyPr>
          <a:lstStyle/>
          <a:p>
            <a:pPr algn="r">
              <a:lnSpc>
                <a:spcPts val="2459"/>
              </a:lnSpc>
            </a:pPr>
            <a:r>
              <a:rPr lang="en-US" sz="2049">
                <a:solidFill>
                  <a:srgbClr val="5B6C75"/>
                </a:solidFill>
                <a:latin typeface="Calibri"/>
                <a:ea typeface="Calibri"/>
                <a:cs typeface="Calibri"/>
                <a:sym typeface="Calibri"/>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45820" y="-768015"/>
            <a:ext cx="16596360" cy="3593431"/>
            <a:chOff x="0" y="0"/>
            <a:chExt cx="22128480" cy="4791241"/>
          </a:xfrm>
        </p:grpSpPr>
        <p:sp>
          <p:nvSpPr>
            <p:cNvPr name="Freeform 3" id="3"/>
            <p:cNvSpPr/>
            <p:nvPr/>
          </p:nvSpPr>
          <p:spPr>
            <a:xfrm flipH="false" flipV="false" rot="0">
              <a:off x="0" y="0"/>
              <a:ext cx="22128480" cy="4791241"/>
            </a:xfrm>
            <a:custGeom>
              <a:avLst/>
              <a:gdLst/>
              <a:ahLst/>
              <a:cxnLst/>
              <a:rect r="r" b="b" t="t" l="l"/>
              <a:pathLst>
                <a:path h="4791241" w="22128480">
                  <a:moveTo>
                    <a:pt x="0" y="0"/>
                  </a:moveTo>
                  <a:lnTo>
                    <a:pt x="22128480" y="0"/>
                  </a:lnTo>
                  <a:lnTo>
                    <a:pt x="22128480" y="4791241"/>
                  </a:lnTo>
                  <a:lnTo>
                    <a:pt x="0" y="4791241"/>
                  </a:lnTo>
                  <a:close/>
                </a:path>
              </a:pathLst>
            </a:custGeom>
            <a:blipFill>
              <a:blip r:embed="rId3">
                <a:alphaModFix amt="0"/>
              </a:blip>
              <a:stretch>
                <a:fillRect l="0" t="-73770" r="0" b="-6214"/>
              </a:stretch>
            </a:blipFill>
          </p:spPr>
        </p:sp>
        <p:sp>
          <p:nvSpPr>
            <p:cNvPr name="TextBox 4" id="4"/>
            <p:cNvSpPr txBox="true"/>
            <p:nvPr/>
          </p:nvSpPr>
          <p:spPr>
            <a:xfrm>
              <a:off x="0" y="-9525"/>
              <a:ext cx="22128480" cy="4800766"/>
            </a:xfrm>
            <a:prstGeom prst="rect">
              <a:avLst/>
            </a:prstGeom>
          </p:spPr>
          <p:txBody>
            <a:bodyPr anchor="ctr" rtlCol="false" tIns="0" lIns="0" bIns="0" rIns="0"/>
            <a:lstStyle/>
            <a:p>
              <a:pPr algn="l">
                <a:lnSpc>
                  <a:spcPts val="5879"/>
                </a:lnSpc>
              </a:pPr>
              <a:r>
                <a:rPr lang="en-US" sz="4899" b="1">
                  <a:solidFill>
                    <a:srgbClr val="0B4F5C"/>
                  </a:solidFill>
                  <a:latin typeface="Cambria"/>
                  <a:ea typeface="Cambria"/>
                  <a:cs typeface="Cambria"/>
                  <a:sym typeface="Cambria"/>
                </a:rPr>
                <a:t>If nothing changes: one bad week can echo for years</a:t>
              </a:r>
            </a:p>
          </p:txBody>
        </p:sp>
      </p:grpSp>
      <p:grpSp>
        <p:nvGrpSpPr>
          <p:cNvPr name="Group 5" id="5"/>
          <p:cNvGrpSpPr/>
          <p:nvPr/>
        </p:nvGrpSpPr>
        <p:grpSpPr>
          <a:xfrm rot="0">
            <a:off x="813435" y="2047875"/>
            <a:ext cx="7837170" cy="6602730"/>
            <a:chOff x="0" y="0"/>
            <a:chExt cx="10449560" cy="8803640"/>
          </a:xfrm>
        </p:grpSpPr>
        <p:sp>
          <p:nvSpPr>
            <p:cNvPr name="Freeform 6" id="6"/>
            <p:cNvSpPr/>
            <p:nvPr/>
          </p:nvSpPr>
          <p:spPr>
            <a:xfrm flipH="false" flipV="false" rot="0">
              <a:off x="0" y="0"/>
              <a:ext cx="10449560" cy="8803640"/>
            </a:xfrm>
            <a:custGeom>
              <a:avLst/>
              <a:gdLst/>
              <a:ahLst/>
              <a:cxnLst/>
              <a:rect r="r" b="b" t="t" l="l"/>
              <a:pathLst>
                <a:path h="8803640" w="10449560">
                  <a:moveTo>
                    <a:pt x="0" y="146812"/>
                  </a:moveTo>
                  <a:cubicBezTo>
                    <a:pt x="0" y="65659"/>
                    <a:pt x="65659" y="0"/>
                    <a:pt x="146812" y="0"/>
                  </a:cubicBezTo>
                  <a:lnTo>
                    <a:pt x="10302748" y="0"/>
                  </a:lnTo>
                  <a:cubicBezTo>
                    <a:pt x="10383774" y="0"/>
                    <a:pt x="10449560" y="65659"/>
                    <a:pt x="10449560" y="146812"/>
                  </a:cubicBezTo>
                  <a:lnTo>
                    <a:pt x="10449560" y="8656828"/>
                  </a:lnTo>
                  <a:cubicBezTo>
                    <a:pt x="10449560" y="8737854"/>
                    <a:pt x="10383901" y="8803640"/>
                    <a:pt x="10302748" y="8803640"/>
                  </a:cubicBezTo>
                  <a:lnTo>
                    <a:pt x="146812" y="8803640"/>
                  </a:lnTo>
                  <a:cubicBezTo>
                    <a:pt x="65659" y="8803640"/>
                    <a:pt x="0" y="8737981"/>
                    <a:pt x="0" y="8656828"/>
                  </a:cubicBezTo>
                  <a:close/>
                </a:path>
              </a:pathLst>
            </a:custGeom>
            <a:solidFill>
              <a:srgbClr val="EEF5F5"/>
            </a:solidFill>
            <a:ln w="19050" cap="sq">
              <a:solidFill>
                <a:srgbClr val="EEF5F5"/>
              </a:solidFill>
              <a:prstDash val="solid"/>
              <a:miter/>
            </a:ln>
          </p:spPr>
        </p:sp>
      </p:grpSp>
      <p:sp>
        <p:nvSpPr>
          <p:cNvPr name="TextBox 7" id="7"/>
          <p:cNvSpPr txBox="true"/>
          <p:nvPr/>
        </p:nvSpPr>
        <p:spPr>
          <a:xfrm rot="0">
            <a:off x="1303020" y="2333625"/>
            <a:ext cx="6858000" cy="581025"/>
          </a:xfrm>
          <a:prstGeom prst="rect">
            <a:avLst/>
          </a:prstGeom>
        </p:spPr>
        <p:txBody>
          <a:bodyPr anchor="t" rtlCol="false" tIns="0" lIns="0" bIns="0" rIns="0">
            <a:spAutoFit/>
          </a:bodyPr>
          <a:lstStyle/>
          <a:p>
            <a:pPr algn="l">
              <a:lnSpc>
                <a:spcPts val="4079"/>
              </a:lnSpc>
            </a:pPr>
            <a:r>
              <a:rPr lang="en-US" sz="3399" b="1">
                <a:solidFill>
                  <a:srgbClr val="0B4F5C"/>
                </a:solidFill>
                <a:latin typeface="Calibri"/>
                <a:ea typeface="Calibri"/>
                <a:cs typeface="Calibri"/>
                <a:sym typeface="Calibri"/>
              </a:rPr>
              <a:t>What one missed injury can mean</a:t>
            </a:r>
          </a:p>
        </p:txBody>
      </p:sp>
      <p:sp>
        <p:nvSpPr>
          <p:cNvPr name="TextBox 8" id="8"/>
          <p:cNvSpPr txBox="true"/>
          <p:nvPr/>
        </p:nvSpPr>
        <p:spPr>
          <a:xfrm rot="0">
            <a:off x="1303020" y="3234690"/>
            <a:ext cx="6858000" cy="4057650"/>
          </a:xfrm>
          <a:prstGeom prst="rect">
            <a:avLst/>
          </a:prstGeom>
        </p:spPr>
        <p:txBody>
          <a:bodyPr anchor="t" rtlCol="false" tIns="0" lIns="0" bIns="0" rIns="0">
            <a:spAutoFit/>
          </a:bodyPr>
          <a:lstStyle/>
          <a:p>
            <a:pPr algn="l" marL="479582" indent="-239791" lvl="1">
              <a:lnSpc>
                <a:spcPts val="3179"/>
              </a:lnSpc>
              <a:buFont typeface="Arial"/>
              <a:buChar char="•"/>
            </a:pPr>
            <a:r>
              <a:rPr lang="en-US" sz="2649">
                <a:solidFill>
                  <a:srgbClr val="1B2B34"/>
                </a:solidFill>
                <a:latin typeface="Calibri"/>
                <a:ea typeface="Calibri"/>
                <a:cs typeface="Calibri"/>
                <a:sym typeface="Calibri"/>
              </a:rPr>
              <a:t>A hospital visit that a cheap action could have prevented: one pill swapped, ORS, a ₹189 creatinine test</a:t>
            </a:r>
          </a:p>
          <a:p>
            <a:pPr algn="l" marL="479582" indent="-239791" lvl="1">
              <a:lnSpc>
                <a:spcPts val="3179"/>
              </a:lnSpc>
              <a:buFont typeface="Arial"/>
              <a:buChar char="•"/>
            </a:pPr>
            <a:r>
              <a:rPr lang="en-US" sz="2649">
                <a:solidFill>
                  <a:srgbClr val="1B2B34"/>
                </a:solidFill>
                <a:latin typeface="Calibri"/>
                <a:ea typeface="Calibri"/>
                <a:cs typeface="Calibri"/>
                <a:sym typeface="Calibri"/>
              </a:rPr>
              <a:t>Any intercurrent AKI was associated with 1.83 mL/min/yr extra eGFR loss in an Indian diabetic kidney cohort (Trichy, n = 274)</a:t>
            </a:r>
          </a:p>
          <a:p>
            <a:pPr algn="l" marL="479582" indent="-239791" lvl="1">
              <a:lnSpc>
                <a:spcPts val="3179"/>
              </a:lnSpc>
              <a:buFont typeface="Arial"/>
              <a:buChar char="•"/>
            </a:pPr>
            <a:r>
              <a:rPr lang="en-US" sz="2649">
                <a:solidFill>
                  <a:srgbClr val="1B2B34"/>
                </a:solidFill>
                <a:latin typeface="Calibri"/>
                <a:ea typeface="Calibri"/>
                <a:cs typeface="Calibri"/>
                <a:sym typeface="Calibri"/>
              </a:rPr>
              <a:t>Faster progress toward dialysis, which many families cannot afford</a:t>
            </a:r>
          </a:p>
          <a:p>
            <a:pPr algn="l" marL="479582" indent="-239791" lvl="1">
              <a:lnSpc>
                <a:spcPts val="3179"/>
              </a:lnSpc>
              <a:buFont typeface="Arial"/>
              <a:buChar char="•"/>
            </a:pPr>
            <a:r>
              <a:rPr lang="en-US" sz="2649">
                <a:solidFill>
                  <a:srgbClr val="1B2B34"/>
                </a:solidFill>
                <a:latin typeface="Calibri"/>
                <a:ea typeface="Calibri"/>
                <a:cs typeface="Calibri"/>
                <a:sym typeface="Calibri"/>
              </a:rPr>
              <a:t>Doctors only find out at the next routine test, after the damage</a:t>
            </a:r>
          </a:p>
        </p:txBody>
      </p:sp>
      <p:sp>
        <p:nvSpPr>
          <p:cNvPr name="TextBox 9" id="9"/>
          <p:cNvSpPr txBox="true"/>
          <p:nvPr/>
        </p:nvSpPr>
        <p:spPr>
          <a:xfrm rot="0">
            <a:off x="9395460" y="2127885"/>
            <a:ext cx="8092440" cy="533400"/>
          </a:xfrm>
          <a:prstGeom prst="rect">
            <a:avLst/>
          </a:prstGeom>
        </p:spPr>
        <p:txBody>
          <a:bodyPr anchor="t" rtlCol="false" tIns="0" lIns="0" bIns="0" rIns="0">
            <a:spAutoFit/>
          </a:bodyPr>
          <a:lstStyle/>
          <a:p>
            <a:pPr algn="l">
              <a:lnSpc>
                <a:spcPts val="3719"/>
              </a:lnSpc>
            </a:pPr>
            <a:r>
              <a:rPr lang="en-US" sz="3099" b="1">
                <a:solidFill>
                  <a:srgbClr val="0B4F5C"/>
                </a:solidFill>
                <a:latin typeface="Calibri"/>
                <a:ea typeface="Calibri"/>
                <a:cs typeface="Calibri"/>
                <a:sym typeface="Calibri"/>
              </a:rPr>
              <a:t>Riya's slow clock (projection, 10-90% range)</a:t>
            </a:r>
          </a:p>
        </p:txBody>
      </p:sp>
      <p:graphicFrame>
        <p:nvGraphicFramePr>
          <p:cNvPr name="Table 10" id="10"/>
          <p:cNvGraphicFramePr>
            <a:graphicFrameLocks noGrp="true"/>
          </p:cNvGraphicFramePr>
          <p:nvPr/>
        </p:nvGraphicFramePr>
        <p:xfrm>
          <a:off x="9395460" y="3017520"/>
          <a:ext cx="8020050" cy="3738562"/>
        </p:xfrm>
        <a:graphic>
          <a:graphicData uri="http://schemas.openxmlformats.org/drawingml/2006/table">
            <a:tbl>
              <a:tblPr/>
              <a:tblGrid>
                <a:gridCol w="5269184"/>
                <a:gridCol w="2750866"/>
              </a:tblGrid>
              <a:tr h="1126821">
                <a:tc>
                  <a:txBody>
                    <a:bodyPr anchor="t" rtlCol="false"/>
                    <a:lstStyle/>
                    <a:p>
                      <a:pPr algn="l">
                        <a:lnSpc>
                          <a:spcPts val="3179"/>
                        </a:lnSpc>
                        <a:defRPr/>
                      </a:pPr>
                      <a:r>
                        <a:rPr lang="en-US" sz="2649" b="1">
                          <a:solidFill>
                            <a:srgbClr val="FFFFFF"/>
                          </a:solidFill>
                          <a:latin typeface="Calibri"/>
                          <a:ea typeface="Calibri"/>
                          <a:cs typeface="Calibri"/>
                          <a:sym typeface="Calibri"/>
                        </a:rPr>
                        <a:t>Scenario</a:t>
                      </a:r>
                      <a:endParaRPr lang="en-US" sz="1100"/>
                    </a:p>
                  </a:txBody>
                  <a:tcPr marL="91440" marR="91440" marT="91440" marB="91440" anchor="ctr">
                    <a:lnL cmpd="sng" algn="ctr" cap="flat" w="9525">
                      <a:solidFill>
                        <a:srgbClr val="C9D6D8"/>
                      </a:solidFill>
                      <a:prstDash val="solid"/>
                      <a:round/>
                      <a:headEnd type="none" w="med" len="med"/>
                      <a:tailEnd type="none" w="med" len="med"/>
                    </a:lnL>
                    <a:lnR cmpd="sng" algn="ctr" cap="flat" w="9525">
                      <a:solidFill>
                        <a:srgbClr val="C9D6D8"/>
                      </a:solidFill>
                      <a:prstDash val="solid"/>
                      <a:round/>
                      <a:headEnd type="none" w="med" len="med"/>
                      <a:tailEnd type="none" w="med" len="med"/>
                    </a:lnR>
                    <a:lnT cmpd="sng" algn="ctr" cap="flat" w="9525">
                      <a:solidFill>
                        <a:srgbClr val="C9D6D8"/>
                      </a:solidFill>
                      <a:prstDash val="solid"/>
                      <a:round/>
                      <a:headEnd type="none" w="med" len="med"/>
                      <a:tailEnd type="none" w="med" len="med"/>
                    </a:lnT>
                    <a:lnB cmpd="sng" algn="ctr" cap="flat" w="9525">
                      <a:solidFill>
                        <a:srgbClr val="C9D6D8"/>
                      </a:solidFill>
                      <a:prstDash val="solid"/>
                      <a:round/>
                      <a:headEnd type="none" w="med" len="med"/>
                      <a:tailEnd type="none" w="med" len="med"/>
                    </a:lnB>
                    <a:solidFill>
                      <a:srgbClr val="0B4F5C"/>
                    </a:solidFill>
                  </a:tcPr>
                </a:tc>
                <a:tc>
                  <a:txBody>
                    <a:bodyPr anchor="t" rtlCol="false"/>
                    <a:lstStyle/>
                    <a:p>
                      <a:pPr algn="l">
                        <a:lnSpc>
                          <a:spcPts val="3179"/>
                        </a:lnSpc>
                        <a:defRPr/>
                      </a:pPr>
                      <a:r>
                        <a:rPr lang="en-US" sz="2649" b="1">
                          <a:solidFill>
                            <a:srgbClr val="FFFFFF"/>
                          </a:solidFill>
                          <a:latin typeface="Calibri"/>
                          <a:ea typeface="Calibri"/>
                          <a:cs typeface="Calibri"/>
                          <a:sym typeface="Calibri"/>
                        </a:rPr>
                        <a:t>Median eGFR in 10 years</a:t>
                      </a:r>
                      <a:endParaRPr lang="en-US" sz="1100"/>
                    </a:p>
                  </a:txBody>
                  <a:tcPr marL="91440" marR="91440" marT="91440" marB="91440" anchor="ctr">
                    <a:lnL cmpd="sng" algn="ctr" cap="flat" w="9525">
                      <a:solidFill>
                        <a:srgbClr val="C9D6D8"/>
                      </a:solidFill>
                      <a:prstDash val="solid"/>
                      <a:round/>
                      <a:headEnd type="none" w="med" len="med"/>
                      <a:tailEnd type="none" w="med" len="med"/>
                    </a:lnL>
                    <a:lnR cmpd="sng" algn="ctr" cap="flat" w="9525">
                      <a:solidFill>
                        <a:srgbClr val="C9D6D8"/>
                      </a:solidFill>
                      <a:prstDash val="solid"/>
                      <a:round/>
                      <a:headEnd type="none" w="med" len="med"/>
                      <a:tailEnd type="none" w="med" len="med"/>
                    </a:lnR>
                    <a:lnT cmpd="sng" algn="ctr" cap="flat" w="9525">
                      <a:solidFill>
                        <a:srgbClr val="C9D6D8"/>
                      </a:solidFill>
                      <a:prstDash val="solid"/>
                      <a:round/>
                      <a:headEnd type="none" w="med" len="med"/>
                      <a:tailEnd type="none" w="med" len="med"/>
                    </a:lnT>
                    <a:lnB cmpd="sng" algn="ctr" cap="flat" w="9525">
                      <a:solidFill>
                        <a:srgbClr val="C9D6D8"/>
                      </a:solidFill>
                      <a:prstDash val="solid"/>
                      <a:round/>
                      <a:headEnd type="none" w="med" len="med"/>
                      <a:tailEnd type="none" w="med" len="med"/>
                    </a:lnB>
                    <a:solidFill>
                      <a:srgbClr val="0B4F5C"/>
                    </a:solidFill>
                  </a:tcPr>
                </a:tc>
              </a:tr>
              <a:tr h="742460">
                <a:tc>
                  <a:txBody>
                    <a:bodyPr anchor="t" rtlCol="false"/>
                    <a:lstStyle/>
                    <a:p>
                      <a:pPr algn="l">
                        <a:lnSpc>
                          <a:spcPts val="3179"/>
                        </a:lnSpc>
                        <a:defRPr/>
                      </a:pPr>
                      <a:r>
                        <a:rPr lang="en-US" sz="2649">
                          <a:solidFill>
                            <a:srgbClr val="1B2B34"/>
                          </a:solidFill>
                          <a:latin typeface="Calibri"/>
                          <a:ea typeface="Calibri"/>
                          <a:cs typeface="Calibri"/>
                          <a:sym typeface="Calibri"/>
                        </a:rPr>
                        <a:t>Continue as is</a:t>
                      </a:r>
                      <a:endParaRPr lang="en-US" sz="1100"/>
                    </a:p>
                  </a:txBody>
                  <a:tcPr marL="91440" marR="91440" marT="91440" marB="91440" anchor="ctr">
                    <a:lnL cmpd="sng" algn="ctr" cap="flat" w="9525">
                      <a:solidFill>
                        <a:srgbClr val="C9D6D8"/>
                      </a:solidFill>
                      <a:prstDash val="solid"/>
                      <a:round/>
                      <a:headEnd type="none" w="med" len="med"/>
                      <a:tailEnd type="none" w="med" len="med"/>
                    </a:lnL>
                    <a:lnR cmpd="sng" algn="ctr" cap="flat" w="9525">
                      <a:solidFill>
                        <a:srgbClr val="C9D6D8"/>
                      </a:solidFill>
                      <a:prstDash val="solid"/>
                      <a:round/>
                      <a:headEnd type="none" w="med" len="med"/>
                      <a:tailEnd type="none" w="med" len="med"/>
                    </a:lnR>
                    <a:lnT cmpd="sng" algn="ctr" cap="flat" w="9525">
                      <a:solidFill>
                        <a:srgbClr val="C9D6D8"/>
                      </a:solidFill>
                      <a:prstDash val="solid"/>
                      <a:round/>
                      <a:headEnd type="none" w="med" len="med"/>
                      <a:tailEnd type="none" w="med" len="med"/>
                    </a:lnT>
                    <a:lnB cmpd="sng" algn="ctr" cap="flat" w="9525">
                      <a:solidFill>
                        <a:srgbClr val="C9D6D8"/>
                      </a:solidFill>
                      <a:prstDash val="solid"/>
                      <a:round/>
                      <a:headEnd type="none" w="med" len="med"/>
                      <a:tailEnd type="none" w="med" len="med"/>
                    </a:lnB>
                    <a:solidFill>
                      <a:srgbClr val="FFFFFF"/>
                    </a:solidFill>
                  </a:tcPr>
                </a:tc>
                <a:tc>
                  <a:txBody>
                    <a:bodyPr anchor="t" rtlCol="false"/>
                    <a:lstStyle/>
                    <a:p>
                      <a:pPr algn="l">
                        <a:lnSpc>
                          <a:spcPts val="3179"/>
                        </a:lnSpc>
                        <a:defRPr/>
                      </a:pPr>
                      <a:r>
                        <a:rPr lang="en-US" sz="2649">
                          <a:solidFill>
                            <a:srgbClr val="1B2B34"/>
                          </a:solidFill>
                          <a:latin typeface="Calibri"/>
                          <a:ea typeface="Calibri"/>
                          <a:cs typeface="Calibri"/>
                          <a:sym typeface="Calibri"/>
                        </a:rPr>
                        <a:t>43</a:t>
                      </a:r>
                      <a:endParaRPr lang="en-US" sz="1100"/>
                    </a:p>
                  </a:txBody>
                  <a:tcPr marL="91440" marR="91440" marT="91440" marB="91440" anchor="ctr">
                    <a:lnL cmpd="sng" algn="ctr" cap="flat" w="9525">
                      <a:solidFill>
                        <a:srgbClr val="C9D6D8"/>
                      </a:solidFill>
                      <a:prstDash val="solid"/>
                      <a:round/>
                      <a:headEnd type="none" w="med" len="med"/>
                      <a:tailEnd type="none" w="med" len="med"/>
                    </a:lnL>
                    <a:lnR cmpd="sng" algn="ctr" cap="flat" w="9525">
                      <a:solidFill>
                        <a:srgbClr val="C9D6D8"/>
                      </a:solidFill>
                      <a:prstDash val="solid"/>
                      <a:round/>
                      <a:headEnd type="none" w="med" len="med"/>
                      <a:tailEnd type="none" w="med" len="med"/>
                    </a:lnR>
                    <a:lnT cmpd="sng" algn="ctr" cap="flat" w="9525">
                      <a:solidFill>
                        <a:srgbClr val="C9D6D8"/>
                      </a:solidFill>
                      <a:prstDash val="solid"/>
                      <a:round/>
                      <a:headEnd type="none" w="med" len="med"/>
                      <a:tailEnd type="none" w="med" len="med"/>
                    </a:lnT>
                    <a:lnB cmpd="sng" algn="ctr" cap="flat" w="9525">
                      <a:solidFill>
                        <a:srgbClr val="C9D6D8"/>
                      </a:solidFill>
                      <a:prstDash val="solid"/>
                      <a:round/>
                      <a:headEnd type="none" w="med" len="med"/>
                      <a:tailEnd type="none" w="med" len="med"/>
                    </a:lnB>
                    <a:solidFill>
                      <a:srgbClr val="FFFFFF"/>
                    </a:solidFill>
                  </a:tcPr>
                </a:tc>
              </a:tr>
              <a:tr h="1126821">
                <a:tc>
                  <a:txBody>
                    <a:bodyPr anchor="t" rtlCol="false"/>
                    <a:lstStyle/>
                    <a:p>
                      <a:pPr algn="l">
                        <a:lnSpc>
                          <a:spcPts val="3179"/>
                        </a:lnSpc>
                        <a:defRPr/>
                      </a:pPr>
                      <a:r>
                        <a:rPr lang="en-US" sz="2649">
                          <a:solidFill>
                            <a:srgbClr val="1B2B34"/>
                          </a:solidFill>
                          <a:latin typeface="Calibri"/>
                          <a:ea typeface="Calibri"/>
                          <a:cs typeface="Calibri"/>
                          <a:sym typeface="Calibri"/>
                        </a:rPr>
                        <a:t>One stage-1 kidney injury this season</a:t>
                      </a:r>
                      <a:endParaRPr lang="en-US" sz="1100"/>
                    </a:p>
                  </a:txBody>
                  <a:tcPr marL="91440" marR="91440" marT="91440" marB="91440" anchor="ctr">
                    <a:lnL cmpd="sng" algn="ctr" cap="flat" w="9525">
                      <a:solidFill>
                        <a:srgbClr val="C9D6D8"/>
                      </a:solidFill>
                      <a:prstDash val="solid"/>
                      <a:round/>
                      <a:headEnd type="none" w="med" len="med"/>
                      <a:tailEnd type="none" w="med" len="med"/>
                    </a:lnL>
                    <a:lnR cmpd="sng" algn="ctr" cap="flat" w="9525">
                      <a:solidFill>
                        <a:srgbClr val="C9D6D8"/>
                      </a:solidFill>
                      <a:prstDash val="solid"/>
                      <a:round/>
                      <a:headEnd type="none" w="med" len="med"/>
                      <a:tailEnd type="none" w="med" len="med"/>
                    </a:lnR>
                    <a:lnT cmpd="sng" algn="ctr" cap="flat" w="9525">
                      <a:solidFill>
                        <a:srgbClr val="C9D6D8"/>
                      </a:solidFill>
                      <a:prstDash val="solid"/>
                      <a:round/>
                      <a:headEnd type="none" w="med" len="med"/>
                      <a:tailEnd type="none" w="med" len="med"/>
                    </a:lnT>
                    <a:lnB cmpd="sng" algn="ctr" cap="flat" w="9525">
                      <a:solidFill>
                        <a:srgbClr val="C9D6D8"/>
                      </a:solidFill>
                      <a:prstDash val="solid"/>
                      <a:round/>
                      <a:headEnd type="none" w="med" len="med"/>
                      <a:tailEnd type="none" w="med" len="med"/>
                    </a:lnB>
                    <a:solidFill>
                      <a:srgbClr val="EEF5F5"/>
                    </a:solidFill>
                  </a:tcPr>
                </a:tc>
                <a:tc>
                  <a:txBody>
                    <a:bodyPr anchor="t" rtlCol="false"/>
                    <a:lstStyle/>
                    <a:p>
                      <a:pPr algn="l">
                        <a:lnSpc>
                          <a:spcPts val="3179"/>
                        </a:lnSpc>
                        <a:defRPr/>
                      </a:pPr>
                      <a:r>
                        <a:rPr lang="en-US" sz="2649">
                          <a:solidFill>
                            <a:srgbClr val="1B2B34"/>
                          </a:solidFill>
                          <a:latin typeface="Calibri"/>
                          <a:ea typeface="Calibri"/>
                          <a:cs typeface="Calibri"/>
                          <a:sym typeface="Calibri"/>
                        </a:rPr>
                        <a:t>38</a:t>
                      </a:r>
                      <a:endParaRPr lang="en-US" sz="1100"/>
                    </a:p>
                  </a:txBody>
                  <a:tcPr marL="91440" marR="91440" marT="91440" marB="91440" anchor="ctr">
                    <a:lnL cmpd="sng" algn="ctr" cap="flat" w="9525">
                      <a:solidFill>
                        <a:srgbClr val="C9D6D8"/>
                      </a:solidFill>
                      <a:prstDash val="solid"/>
                      <a:round/>
                      <a:headEnd type="none" w="med" len="med"/>
                      <a:tailEnd type="none" w="med" len="med"/>
                    </a:lnL>
                    <a:lnR cmpd="sng" algn="ctr" cap="flat" w="9525">
                      <a:solidFill>
                        <a:srgbClr val="C9D6D8"/>
                      </a:solidFill>
                      <a:prstDash val="solid"/>
                      <a:round/>
                      <a:headEnd type="none" w="med" len="med"/>
                      <a:tailEnd type="none" w="med" len="med"/>
                    </a:lnR>
                    <a:lnT cmpd="sng" algn="ctr" cap="flat" w="9525">
                      <a:solidFill>
                        <a:srgbClr val="C9D6D8"/>
                      </a:solidFill>
                      <a:prstDash val="solid"/>
                      <a:round/>
                      <a:headEnd type="none" w="med" len="med"/>
                      <a:tailEnd type="none" w="med" len="med"/>
                    </a:lnT>
                    <a:lnB cmpd="sng" algn="ctr" cap="flat" w="9525">
                      <a:solidFill>
                        <a:srgbClr val="C9D6D8"/>
                      </a:solidFill>
                      <a:prstDash val="solid"/>
                      <a:round/>
                      <a:headEnd type="none" w="med" len="med"/>
                      <a:tailEnd type="none" w="med" len="med"/>
                    </a:lnB>
                    <a:solidFill>
                      <a:srgbClr val="EEF5F5"/>
                    </a:solidFill>
                  </a:tcPr>
                </a:tc>
              </a:tr>
              <a:tr h="742460">
                <a:tc>
                  <a:txBody>
                    <a:bodyPr anchor="t" rtlCol="false"/>
                    <a:lstStyle/>
                    <a:p>
                      <a:pPr algn="l">
                        <a:lnSpc>
                          <a:spcPts val="3179"/>
                        </a:lnSpc>
                        <a:defRPr/>
                      </a:pPr>
                      <a:r>
                        <a:rPr lang="en-US" sz="2649">
                          <a:solidFill>
                            <a:srgbClr val="1B2B34"/>
                          </a:solidFill>
                          <a:latin typeface="Calibri"/>
                          <a:ea typeface="Calibri"/>
                          <a:cs typeface="Calibri"/>
                          <a:sym typeface="Calibri"/>
                        </a:rPr>
                        <a:t>Start an SGLT2 inhibitor now</a:t>
                      </a:r>
                      <a:endParaRPr lang="en-US" sz="1100"/>
                    </a:p>
                  </a:txBody>
                  <a:tcPr marL="91440" marR="91440" marT="91440" marB="91440" anchor="ctr">
                    <a:lnL cmpd="sng" algn="ctr" cap="flat" w="9525">
                      <a:solidFill>
                        <a:srgbClr val="C9D6D8"/>
                      </a:solidFill>
                      <a:prstDash val="solid"/>
                      <a:round/>
                      <a:headEnd type="none" w="med" len="med"/>
                      <a:tailEnd type="none" w="med" len="med"/>
                    </a:lnL>
                    <a:lnR cmpd="sng" algn="ctr" cap="flat" w="9525">
                      <a:solidFill>
                        <a:srgbClr val="C9D6D8"/>
                      </a:solidFill>
                      <a:prstDash val="solid"/>
                      <a:round/>
                      <a:headEnd type="none" w="med" len="med"/>
                      <a:tailEnd type="none" w="med" len="med"/>
                    </a:lnR>
                    <a:lnT cmpd="sng" algn="ctr" cap="flat" w="9525">
                      <a:solidFill>
                        <a:srgbClr val="C9D6D8"/>
                      </a:solidFill>
                      <a:prstDash val="solid"/>
                      <a:round/>
                      <a:headEnd type="none" w="med" len="med"/>
                      <a:tailEnd type="none" w="med" len="med"/>
                    </a:lnT>
                    <a:lnB cmpd="sng" algn="ctr" cap="flat" w="9525">
                      <a:solidFill>
                        <a:srgbClr val="C9D6D8"/>
                      </a:solidFill>
                      <a:prstDash val="solid"/>
                      <a:round/>
                      <a:headEnd type="none" w="med" len="med"/>
                      <a:tailEnd type="none" w="med" len="med"/>
                    </a:lnB>
                    <a:solidFill>
                      <a:srgbClr val="FFFFFF"/>
                    </a:solidFill>
                  </a:tcPr>
                </a:tc>
                <a:tc>
                  <a:txBody>
                    <a:bodyPr anchor="t" rtlCol="false"/>
                    <a:lstStyle/>
                    <a:p>
                      <a:pPr algn="l">
                        <a:lnSpc>
                          <a:spcPts val="3179"/>
                        </a:lnSpc>
                        <a:defRPr/>
                      </a:pPr>
                      <a:r>
                        <a:rPr lang="en-US" sz="2649">
                          <a:solidFill>
                            <a:srgbClr val="1B2B34"/>
                          </a:solidFill>
                          <a:latin typeface="Calibri"/>
                          <a:ea typeface="Calibri"/>
                          <a:cs typeface="Calibri"/>
                          <a:sym typeface="Calibri"/>
                        </a:rPr>
                        <a:t>54</a:t>
                      </a:r>
                      <a:endParaRPr lang="en-US" sz="1100"/>
                    </a:p>
                  </a:txBody>
                  <a:tcPr marL="91440" marR="91440" marT="91440" marB="91440" anchor="ctr">
                    <a:lnL cmpd="sng" algn="ctr" cap="flat" w="9525">
                      <a:solidFill>
                        <a:srgbClr val="C9D6D8"/>
                      </a:solidFill>
                      <a:prstDash val="solid"/>
                      <a:round/>
                      <a:headEnd type="none" w="med" len="med"/>
                      <a:tailEnd type="none" w="med" len="med"/>
                    </a:lnL>
                    <a:lnR cmpd="sng" algn="ctr" cap="flat" w="9525">
                      <a:solidFill>
                        <a:srgbClr val="C9D6D8"/>
                      </a:solidFill>
                      <a:prstDash val="solid"/>
                      <a:round/>
                      <a:headEnd type="none" w="med" len="med"/>
                      <a:tailEnd type="none" w="med" len="med"/>
                    </a:lnR>
                    <a:lnT cmpd="sng" algn="ctr" cap="flat" w="9525">
                      <a:solidFill>
                        <a:srgbClr val="C9D6D8"/>
                      </a:solidFill>
                      <a:prstDash val="solid"/>
                      <a:round/>
                      <a:headEnd type="none" w="med" len="med"/>
                      <a:tailEnd type="none" w="med" len="med"/>
                    </a:lnT>
                    <a:lnB cmpd="sng" algn="ctr" cap="flat" w="9525">
                      <a:solidFill>
                        <a:srgbClr val="C9D6D8"/>
                      </a:solidFill>
                      <a:prstDash val="solid"/>
                      <a:round/>
                      <a:headEnd type="none" w="med" len="med"/>
                      <a:tailEnd type="none" w="med" len="med"/>
                    </a:lnB>
                    <a:solidFill>
                      <a:srgbClr val="FFFFFF"/>
                    </a:solidFill>
                  </a:tcPr>
                </a:tc>
              </a:tr>
            </a:tbl>
          </a:graphicData>
        </a:graphic>
      </p:graphicFrame>
      <p:sp>
        <p:nvSpPr>
          <p:cNvPr name="TextBox 11" id="11"/>
          <p:cNvSpPr txBox="true"/>
          <p:nvPr/>
        </p:nvSpPr>
        <p:spPr>
          <a:xfrm rot="0">
            <a:off x="9391650" y="6898957"/>
            <a:ext cx="8023860" cy="1047750"/>
          </a:xfrm>
          <a:prstGeom prst="rect">
            <a:avLst/>
          </a:prstGeom>
        </p:spPr>
        <p:txBody>
          <a:bodyPr anchor="t" rtlCol="false" tIns="0" lIns="0" bIns="0" rIns="0">
            <a:spAutoFit/>
          </a:bodyPr>
          <a:lstStyle/>
          <a:p>
            <a:pPr algn="l">
              <a:lnSpc>
                <a:spcPts val="2639"/>
              </a:lnSpc>
            </a:pPr>
            <a:r>
              <a:rPr lang="en-US" sz="2199" i="1">
                <a:solidFill>
                  <a:srgbClr val="5B6C75"/>
                </a:solidFill>
                <a:latin typeface="Calibri"/>
                <a:ea typeface="Calibri"/>
                <a:cs typeface="Calibri"/>
                <a:sym typeface="Calibri"/>
              </a:rPr>
              <a:t>eGFR in mL/min/1.73 m². Ranges are wide (e.g. 9.6-75.5 for 'continue'); these are illustrative projections from published effect sizes, not prognosis. Source: reports/slowclock_demo.json.</a:t>
            </a:r>
          </a:p>
        </p:txBody>
      </p:sp>
      <p:sp>
        <p:nvSpPr>
          <p:cNvPr name="TextBox 12" id="12"/>
          <p:cNvSpPr txBox="true"/>
          <p:nvPr/>
        </p:nvSpPr>
        <p:spPr>
          <a:xfrm rot="0">
            <a:off x="9395460" y="8164830"/>
            <a:ext cx="8023860" cy="904875"/>
          </a:xfrm>
          <a:prstGeom prst="rect">
            <a:avLst/>
          </a:prstGeom>
        </p:spPr>
        <p:txBody>
          <a:bodyPr anchor="t" rtlCol="false" tIns="0" lIns="0" bIns="0" rIns="0">
            <a:spAutoFit/>
          </a:bodyPr>
          <a:lstStyle/>
          <a:p>
            <a:pPr algn="l">
              <a:lnSpc>
                <a:spcPts val="3359"/>
              </a:lnSpc>
            </a:pPr>
            <a:r>
              <a:rPr lang="en-US" sz="2799" b="1">
                <a:solidFill>
                  <a:srgbClr val="D9472B"/>
                </a:solidFill>
                <a:latin typeface="Calibri"/>
                <a:ea typeface="Calibri"/>
                <a:cs typeface="Calibri"/>
                <a:sym typeface="Calibri"/>
              </a:rPr>
              <a:t>Prevention is cheap. Knowing who to act on, today, is the missing piece.</a:t>
            </a:r>
          </a:p>
        </p:txBody>
      </p:sp>
      <p:sp>
        <p:nvSpPr>
          <p:cNvPr name="TextBox 13" id="13"/>
          <p:cNvSpPr txBox="true"/>
          <p:nvPr/>
        </p:nvSpPr>
        <p:spPr>
          <a:xfrm rot="0">
            <a:off x="16962120" y="9540240"/>
            <a:ext cx="640080" cy="342900"/>
          </a:xfrm>
          <a:prstGeom prst="rect">
            <a:avLst/>
          </a:prstGeom>
        </p:spPr>
        <p:txBody>
          <a:bodyPr anchor="t" rtlCol="false" tIns="0" lIns="0" bIns="0" rIns="0">
            <a:spAutoFit/>
          </a:bodyPr>
          <a:lstStyle/>
          <a:p>
            <a:pPr algn="r">
              <a:lnSpc>
                <a:spcPts val="2459"/>
              </a:lnSpc>
            </a:pPr>
            <a:r>
              <a:rPr lang="en-US" sz="2049">
                <a:solidFill>
                  <a:srgbClr val="5B6C75"/>
                </a:solidFill>
                <a:latin typeface="Calibri"/>
                <a:ea typeface="Calibri"/>
                <a:cs typeface="Calibri"/>
                <a:sym typeface="Calibri"/>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B4F5C"/>
        </a:solidFill>
      </p:bgPr>
    </p:bg>
    <p:spTree>
      <p:nvGrpSpPr>
        <p:cNvPr id="1" name=""/>
        <p:cNvGrpSpPr/>
        <p:nvPr/>
      </p:nvGrpSpPr>
      <p:grpSpPr>
        <a:xfrm>
          <a:off x="0" y="0"/>
          <a:ext cx="0" cy="0"/>
          <a:chOff x="0" y="0"/>
          <a:chExt cx="0" cy="0"/>
        </a:xfrm>
      </p:grpSpPr>
      <p:grpSp>
        <p:nvGrpSpPr>
          <p:cNvPr name="Group 2" id="2"/>
          <p:cNvGrpSpPr/>
          <p:nvPr/>
        </p:nvGrpSpPr>
        <p:grpSpPr>
          <a:xfrm rot="0">
            <a:off x="3029742" y="-2928459"/>
            <a:ext cx="14401800" cy="4839547"/>
            <a:chOff x="0" y="0"/>
            <a:chExt cx="19202400" cy="6452729"/>
          </a:xfrm>
        </p:grpSpPr>
        <p:sp>
          <p:nvSpPr>
            <p:cNvPr name="Freeform 3" id="3"/>
            <p:cNvSpPr/>
            <p:nvPr/>
          </p:nvSpPr>
          <p:spPr>
            <a:xfrm flipH="false" flipV="false" rot="0">
              <a:off x="0" y="0"/>
              <a:ext cx="19202400" cy="6452729"/>
            </a:xfrm>
            <a:custGeom>
              <a:avLst/>
              <a:gdLst/>
              <a:ahLst/>
              <a:cxnLst/>
              <a:rect r="r" b="b" t="t" l="l"/>
              <a:pathLst>
                <a:path h="6452729" w="19202400">
                  <a:moveTo>
                    <a:pt x="0" y="0"/>
                  </a:moveTo>
                  <a:lnTo>
                    <a:pt x="19202400" y="0"/>
                  </a:lnTo>
                  <a:lnTo>
                    <a:pt x="19202400" y="6452729"/>
                  </a:lnTo>
                  <a:lnTo>
                    <a:pt x="0" y="6452729"/>
                  </a:lnTo>
                  <a:close/>
                </a:path>
              </a:pathLst>
            </a:custGeom>
            <a:blipFill>
              <a:blip r:embed="rId3">
                <a:alphaModFix amt="0"/>
              </a:blip>
              <a:stretch>
                <a:fillRect l="0" t="-39562" r="0" b="23593"/>
              </a:stretch>
            </a:blipFill>
          </p:spPr>
        </p:sp>
        <p:sp>
          <p:nvSpPr>
            <p:cNvPr name="TextBox 4" id="4"/>
            <p:cNvSpPr txBox="true"/>
            <p:nvPr/>
          </p:nvSpPr>
          <p:spPr>
            <a:xfrm>
              <a:off x="0" y="-19050"/>
              <a:ext cx="19202400" cy="6471779"/>
            </a:xfrm>
            <a:prstGeom prst="rect">
              <a:avLst/>
            </a:prstGeom>
          </p:spPr>
          <p:txBody>
            <a:bodyPr anchor="b" rtlCol="false" tIns="0" lIns="0" bIns="0" rIns="0"/>
            <a:lstStyle/>
            <a:p>
              <a:pPr algn="l">
                <a:lnSpc>
                  <a:spcPts val="7919"/>
                </a:lnSpc>
              </a:pPr>
              <a:r>
                <a:rPr lang="en-US" sz="6599" b="1">
                  <a:solidFill>
                    <a:srgbClr val="FFFFFF"/>
                  </a:solidFill>
                  <a:latin typeface="Cambria"/>
                  <a:ea typeface="Cambria"/>
                  <a:cs typeface="Cambria"/>
                  <a:sym typeface="Cambria"/>
                </a:rPr>
                <a:t>Our answer: VrikkaTwin</a:t>
              </a:r>
            </a:p>
          </p:txBody>
        </p:sp>
      </p:grpSp>
      <p:sp>
        <p:nvSpPr>
          <p:cNvPr name="Freeform 5" id="5"/>
          <p:cNvSpPr/>
          <p:nvPr/>
        </p:nvSpPr>
        <p:spPr>
          <a:xfrm flipH="false" flipV="false" rot="0">
            <a:off x="3889874" y="3307808"/>
            <a:ext cx="8910414" cy="5950492"/>
          </a:xfrm>
          <a:custGeom>
            <a:avLst/>
            <a:gdLst/>
            <a:ahLst/>
            <a:cxnLst/>
            <a:rect r="r" b="b" t="t" l="l"/>
            <a:pathLst>
              <a:path h="5950492" w="8910414">
                <a:moveTo>
                  <a:pt x="0" y="0"/>
                </a:moveTo>
                <a:lnTo>
                  <a:pt x="8910414" y="0"/>
                </a:lnTo>
                <a:lnTo>
                  <a:pt x="8910414" y="5950492"/>
                </a:lnTo>
                <a:lnTo>
                  <a:pt x="0" y="5950492"/>
                </a:lnTo>
                <a:lnTo>
                  <a:pt x="0" y="0"/>
                </a:lnTo>
                <a:close/>
              </a:path>
            </a:pathLst>
          </a:custGeom>
          <a:blipFill>
            <a:blip r:embed="rId4"/>
            <a:stretch>
              <a:fillRect l="-2616" t="0" r="-2616" b="-5378"/>
            </a:stretch>
          </a:blipFill>
        </p:spPr>
      </p:sp>
      <p:sp>
        <p:nvSpPr>
          <p:cNvPr name="TextBox 6" id="6"/>
          <p:cNvSpPr txBox="true"/>
          <p:nvPr/>
        </p:nvSpPr>
        <p:spPr>
          <a:xfrm rot="0">
            <a:off x="922322" y="2031088"/>
            <a:ext cx="17762899" cy="628650"/>
          </a:xfrm>
          <a:prstGeom prst="rect">
            <a:avLst/>
          </a:prstGeom>
        </p:spPr>
        <p:txBody>
          <a:bodyPr anchor="t" rtlCol="false" tIns="0" lIns="0" bIns="0" rIns="0">
            <a:spAutoFit/>
          </a:bodyPr>
          <a:lstStyle/>
          <a:p>
            <a:pPr algn="l">
              <a:lnSpc>
                <a:spcPts val="4319"/>
              </a:lnSpc>
            </a:pPr>
            <a:r>
              <a:rPr lang="en-US" sz="3599">
                <a:solidFill>
                  <a:srgbClr val="BFE3E5"/>
                </a:solidFill>
                <a:latin typeface="Calibri"/>
                <a:ea typeface="Calibri"/>
                <a:cs typeface="Calibri"/>
                <a:sym typeface="Calibri"/>
              </a:rPr>
              <a:t>A living virtual copy of each at-risk patient that decides when to look and what to change</a:t>
            </a:r>
          </a:p>
        </p:txBody>
      </p:sp>
      <p:sp>
        <p:nvSpPr>
          <p:cNvPr name="TextBox 7" id="7"/>
          <p:cNvSpPr txBox="true"/>
          <p:nvPr/>
        </p:nvSpPr>
        <p:spPr>
          <a:xfrm rot="0">
            <a:off x="16962120" y="9540240"/>
            <a:ext cx="640080" cy="342900"/>
          </a:xfrm>
          <a:prstGeom prst="rect">
            <a:avLst/>
          </a:prstGeom>
        </p:spPr>
        <p:txBody>
          <a:bodyPr anchor="t" rtlCol="false" tIns="0" lIns="0" bIns="0" rIns="0">
            <a:spAutoFit/>
          </a:bodyPr>
          <a:lstStyle/>
          <a:p>
            <a:pPr algn="r">
              <a:lnSpc>
                <a:spcPts val="2459"/>
              </a:lnSpc>
            </a:pPr>
            <a:r>
              <a:rPr lang="en-US" sz="2049">
                <a:solidFill>
                  <a:srgbClr val="BFE3E5"/>
                </a:solidFill>
                <a:latin typeface="Calibri"/>
                <a:ea typeface="Calibri"/>
                <a:cs typeface="Calibri"/>
                <a:sym typeface="Calibri"/>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13435" y="-678781"/>
            <a:ext cx="16596360" cy="3593431"/>
            <a:chOff x="0" y="0"/>
            <a:chExt cx="22128480" cy="4791241"/>
          </a:xfrm>
        </p:grpSpPr>
        <p:sp>
          <p:nvSpPr>
            <p:cNvPr name="Freeform 3" id="3"/>
            <p:cNvSpPr/>
            <p:nvPr/>
          </p:nvSpPr>
          <p:spPr>
            <a:xfrm flipH="false" flipV="false" rot="0">
              <a:off x="0" y="0"/>
              <a:ext cx="22128480" cy="4791241"/>
            </a:xfrm>
            <a:custGeom>
              <a:avLst/>
              <a:gdLst/>
              <a:ahLst/>
              <a:cxnLst/>
              <a:rect r="r" b="b" t="t" l="l"/>
              <a:pathLst>
                <a:path h="4791241" w="22128480">
                  <a:moveTo>
                    <a:pt x="0" y="0"/>
                  </a:moveTo>
                  <a:lnTo>
                    <a:pt x="22128480" y="0"/>
                  </a:lnTo>
                  <a:lnTo>
                    <a:pt x="22128480" y="4791241"/>
                  </a:lnTo>
                  <a:lnTo>
                    <a:pt x="0" y="4791241"/>
                  </a:lnTo>
                  <a:close/>
                </a:path>
              </a:pathLst>
            </a:custGeom>
            <a:blipFill>
              <a:blip r:embed="rId3">
                <a:alphaModFix amt="0"/>
              </a:blip>
              <a:stretch>
                <a:fillRect l="0" t="-73770" r="0" b="-6214"/>
              </a:stretch>
            </a:blipFill>
          </p:spPr>
        </p:sp>
        <p:sp>
          <p:nvSpPr>
            <p:cNvPr name="TextBox 4" id="4"/>
            <p:cNvSpPr txBox="true"/>
            <p:nvPr/>
          </p:nvSpPr>
          <p:spPr>
            <a:xfrm>
              <a:off x="0" y="-9525"/>
              <a:ext cx="22128480" cy="4800766"/>
            </a:xfrm>
            <a:prstGeom prst="rect">
              <a:avLst/>
            </a:prstGeom>
          </p:spPr>
          <p:txBody>
            <a:bodyPr anchor="ctr" rtlCol="false" tIns="0" lIns="0" bIns="0" rIns="0"/>
            <a:lstStyle/>
            <a:p>
              <a:pPr algn="l">
                <a:lnSpc>
                  <a:spcPts val="5879"/>
                </a:lnSpc>
              </a:pPr>
              <a:r>
                <a:rPr lang="en-US" sz="4899" b="1">
                  <a:solidFill>
                    <a:srgbClr val="0B4F5C"/>
                  </a:solidFill>
                  <a:latin typeface="Cambria"/>
                  <a:ea typeface="Cambria"/>
                  <a:cs typeface="Cambria"/>
                  <a:sym typeface="Cambria"/>
                </a:rPr>
                <a:t>The idea: exposure → organ → decision</a:t>
              </a:r>
            </a:p>
          </p:txBody>
        </p:sp>
      </p:grpSp>
      <p:grpSp>
        <p:nvGrpSpPr>
          <p:cNvPr name="Group 5" id="5"/>
          <p:cNvGrpSpPr/>
          <p:nvPr/>
        </p:nvGrpSpPr>
        <p:grpSpPr>
          <a:xfrm rot="0">
            <a:off x="813435" y="2047875"/>
            <a:ext cx="4956810" cy="4133850"/>
            <a:chOff x="0" y="0"/>
            <a:chExt cx="6609080" cy="5511800"/>
          </a:xfrm>
        </p:grpSpPr>
        <p:sp>
          <p:nvSpPr>
            <p:cNvPr name="Freeform 6" id="6"/>
            <p:cNvSpPr/>
            <p:nvPr/>
          </p:nvSpPr>
          <p:spPr>
            <a:xfrm flipH="false" flipV="false" rot="0">
              <a:off x="0" y="0"/>
              <a:ext cx="6609080" cy="5511800"/>
            </a:xfrm>
            <a:custGeom>
              <a:avLst/>
              <a:gdLst/>
              <a:ahLst/>
              <a:cxnLst/>
              <a:rect r="r" b="b" t="t" l="l"/>
              <a:pathLst>
                <a:path h="5511800" w="6609080">
                  <a:moveTo>
                    <a:pt x="0" y="146939"/>
                  </a:moveTo>
                  <a:cubicBezTo>
                    <a:pt x="0" y="65786"/>
                    <a:pt x="65786" y="0"/>
                    <a:pt x="146939" y="0"/>
                  </a:cubicBezTo>
                  <a:lnTo>
                    <a:pt x="6462141" y="0"/>
                  </a:lnTo>
                  <a:cubicBezTo>
                    <a:pt x="6543294" y="0"/>
                    <a:pt x="6609080" y="65786"/>
                    <a:pt x="6609080" y="146939"/>
                  </a:cubicBezTo>
                  <a:lnTo>
                    <a:pt x="6609080" y="5364861"/>
                  </a:lnTo>
                  <a:cubicBezTo>
                    <a:pt x="6609080" y="5446014"/>
                    <a:pt x="6543294" y="5511800"/>
                    <a:pt x="6462141" y="5511800"/>
                  </a:cubicBezTo>
                  <a:lnTo>
                    <a:pt x="146939" y="5511800"/>
                  </a:lnTo>
                  <a:cubicBezTo>
                    <a:pt x="65786" y="5511800"/>
                    <a:pt x="0" y="5446014"/>
                    <a:pt x="0" y="5364861"/>
                  </a:cubicBezTo>
                  <a:close/>
                </a:path>
              </a:pathLst>
            </a:custGeom>
            <a:solidFill>
              <a:srgbClr val="EEF5F5"/>
            </a:solidFill>
            <a:ln w="19050" cap="sq">
              <a:solidFill>
                <a:srgbClr val="EEF5F5"/>
              </a:solidFill>
              <a:prstDash val="solid"/>
              <a:miter/>
            </a:ln>
          </p:spPr>
        </p:sp>
      </p:grpSp>
      <p:grpSp>
        <p:nvGrpSpPr>
          <p:cNvPr name="Group 7" id="7"/>
          <p:cNvGrpSpPr/>
          <p:nvPr/>
        </p:nvGrpSpPr>
        <p:grpSpPr>
          <a:xfrm rot="0">
            <a:off x="2733675" y="2390775"/>
            <a:ext cx="1184910" cy="1184910"/>
            <a:chOff x="0" y="0"/>
            <a:chExt cx="1579880" cy="1579880"/>
          </a:xfrm>
        </p:grpSpPr>
        <p:sp>
          <p:nvSpPr>
            <p:cNvPr name="Freeform 8" id="8"/>
            <p:cNvSpPr/>
            <p:nvPr/>
          </p:nvSpPr>
          <p:spPr>
            <a:xfrm flipH="false" flipV="false" rot="0">
              <a:off x="0" y="0"/>
              <a:ext cx="1579880" cy="1579880"/>
            </a:xfrm>
            <a:custGeom>
              <a:avLst/>
              <a:gdLst/>
              <a:ahLst/>
              <a:cxnLst/>
              <a:rect r="r" b="b" t="t" l="l"/>
              <a:pathLst>
                <a:path h="1579880" w="1579880">
                  <a:moveTo>
                    <a:pt x="0" y="789940"/>
                  </a:moveTo>
                  <a:cubicBezTo>
                    <a:pt x="0" y="353695"/>
                    <a:pt x="353695" y="0"/>
                    <a:pt x="789940" y="0"/>
                  </a:cubicBezTo>
                  <a:cubicBezTo>
                    <a:pt x="1226185" y="0"/>
                    <a:pt x="1579880" y="353695"/>
                    <a:pt x="1579880" y="789940"/>
                  </a:cubicBezTo>
                  <a:cubicBezTo>
                    <a:pt x="1579880" y="1226185"/>
                    <a:pt x="1226185" y="1579880"/>
                    <a:pt x="789940" y="1579880"/>
                  </a:cubicBezTo>
                  <a:cubicBezTo>
                    <a:pt x="353695" y="1579880"/>
                    <a:pt x="0" y="1226185"/>
                    <a:pt x="0" y="789940"/>
                  </a:cubicBezTo>
                  <a:close/>
                </a:path>
              </a:pathLst>
            </a:custGeom>
            <a:solidFill>
              <a:srgbClr val="E9A23B"/>
            </a:solidFill>
            <a:ln w="19050" cap="sq">
              <a:solidFill>
                <a:srgbClr val="E9A23B"/>
              </a:solidFill>
              <a:prstDash val="solid"/>
              <a:miter/>
            </a:ln>
          </p:spPr>
        </p:sp>
      </p:grpSp>
      <p:grpSp>
        <p:nvGrpSpPr>
          <p:cNvPr name="Group 9" id="9"/>
          <p:cNvGrpSpPr/>
          <p:nvPr/>
        </p:nvGrpSpPr>
        <p:grpSpPr>
          <a:xfrm rot="0">
            <a:off x="3034665" y="2691765"/>
            <a:ext cx="582930" cy="582930"/>
            <a:chOff x="0" y="0"/>
            <a:chExt cx="777240" cy="777240"/>
          </a:xfrm>
        </p:grpSpPr>
        <p:sp>
          <p:nvSpPr>
            <p:cNvPr name="Freeform 10" id="10" descr="preencoded.png"/>
            <p:cNvSpPr/>
            <p:nvPr/>
          </p:nvSpPr>
          <p:spPr>
            <a:xfrm flipH="false" flipV="false" rot="0">
              <a:off x="0" y="0"/>
              <a:ext cx="777240" cy="777240"/>
            </a:xfrm>
            <a:custGeom>
              <a:avLst/>
              <a:gdLst/>
              <a:ahLst/>
              <a:cxnLst/>
              <a:rect r="r" b="b" t="t" l="l"/>
              <a:pathLst>
                <a:path h="777240" w="777240">
                  <a:moveTo>
                    <a:pt x="0" y="0"/>
                  </a:moveTo>
                  <a:lnTo>
                    <a:pt x="777240" y="0"/>
                  </a:lnTo>
                  <a:lnTo>
                    <a:pt x="777240" y="777240"/>
                  </a:lnTo>
                  <a:lnTo>
                    <a:pt x="0" y="777240"/>
                  </a:lnTo>
                  <a:lnTo>
                    <a:pt x="0" y="0"/>
                  </a:lnTo>
                  <a:close/>
                </a:path>
              </a:pathLst>
            </a:custGeom>
            <a:blipFill>
              <a:blip r:embed="rId4"/>
              <a:stretch>
                <a:fillRect l="0" t="0" r="0" b="0"/>
              </a:stretch>
            </a:blipFill>
          </p:spPr>
        </p:sp>
      </p:grpSp>
      <p:sp>
        <p:nvSpPr>
          <p:cNvPr name="TextBox 11" id="11"/>
          <p:cNvSpPr txBox="true"/>
          <p:nvPr/>
        </p:nvSpPr>
        <p:spPr>
          <a:xfrm rot="0">
            <a:off x="1165860" y="3705225"/>
            <a:ext cx="4251960" cy="581025"/>
          </a:xfrm>
          <a:prstGeom prst="rect">
            <a:avLst/>
          </a:prstGeom>
        </p:spPr>
        <p:txBody>
          <a:bodyPr anchor="t" rtlCol="false" tIns="0" lIns="0" bIns="0" rIns="0">
            <a:spAutoFit/>
          </a:bodyPr>
          <a:lstStyle/>
          <a:p>
            <a:pPr algn="ctr">
              <a:lnSpc>
                <a:spcPts val="4079"/>
              </a:lnSpc>
            </a:pPr>
            <a:r>
              <a:rPr lang="en-US" sz="3399" b="1">
                <a:solidFill>
                  <a:srgbClr val="0B4F5C"/>
                </a:solidFill>
                <a:latin typeface="Calibri"/>
                <a:ea typeface="Calibri"/>
                <a:cs typeface="Calibri"/>
                <a:sym typeface="Calibri"/>
              </a:rPr>
              <a:t>Exposure</a:t>
            </a:r>
          </a:p>
        </p:txBody>
      </p:sp>
      <p:sp>
        <p:nvSpPr>
          <p:cNvPr name="TextBox 12" id="12"/>
          <p:cNvSpPr txBox="true"/>
          <p:nvPr/>
        </p:nvSpPr>
        <p:spPr>
          <a:xfrm rot="0">
            <a:off x="1234440" y="4478655"/>
            <a:ext cx="4114800" cy="1533525"/>
          </a:xfrm>
          <a:prstGeom prst="rect">
            <a:avLst/>
          </a:prstGeom>
        </p:spPr>
        <p:txBody>
          <a:bodyPr anchor="t" rtlCol="false" tIns="0" lIns="0" bIns="0" rIns="0">
            <a:spAutoFit/>
          </a:bodyPr>
          <a:lstStyle/>
          <a:p>
            <a:pPr algn="l">
              <a:lnSpc>
                <a:spcPts val="2999"/>
              </a:lnSpc>
            </a:pPr>
            <a:r>
              <a:rPr lang="en-US" sz="2499">
                <a:solidFill>
                  <a:srgbClr val="1B2B34"/>
                </a:solidFill>
                <a:latin typeface="Calibri"/>
                <a:ea typeface="Calibri"/>
                <a:cs typeface="Calibri"/>
                <a:sym typeface="Calibri"/>
              </a:rPr>
              <a:t>Wearables, home scale and weather measure what hits the kidney: heat, weight loss, heart rate, fever</a:t>
            </a:r>
          </a:p>
        </p:txBody>
      </p:sp>
      <p:grpSp>
        <p:nvGrpSpPr>
          <p:cNvPr name="Group 13" id="13"/>
          <p:cNvGrpSpPr/>
          <p:nvPr/>
        </p:nvGrpSpPr>
        <p:grpSpPr>
          <a:xfrm rot="0">
            <a:off x="5860923" y="3830955"/>
            <a:ext cx="540258" cy="595122"/>
            <a:chOff x="0" y="0"/>
            <a:chExt cx="720344" cy="793496"/>
          </a:xfrm>
        </p:grpSpPr>
        <p:sp>
          <p:nvSpPr>
            <p:cNvPr name="Freeform 14" id="14"/>
            <p:cNvSpPr/>
            <p:nvPr/>
          </p:nvSpPr>
          <p:spPr>
            <a:xfrm flipH="false" flipV="false" rot="0">
              <a:off x="0" y="0"/>
              <a:ext cx="720344" cy="793496"/>
            </a:xfrm>
            <a:custGeom>
              <a:avLst/>
              <a:gdLst/>
              <a:ahLst/>
              <a:cxnLst/>
              <a:rect r="r" b="b" t="t" l="l"/>
              <a:pathLst>
                <a:path h="793496" w="720344">
                  <a:moveTo>
                    <a:pt x="0" y="198374"/>
                  </a:moveTo>
                  <a:lnTo>
                    <a:pt x="360172" y="198374"/>
                  </a:lnTo>
                  <a:lnTo>
                    <a:pt x="360172" y="0"/>
                  </a:lnTo>
                  <a:lnTo>
                    <a:pt x="720344" y="396748"/>
                  </a:lnTo>
                  <a:lnTo>
                    <a:pt x="360172" y="793496"/>
                  </a:lnTo>
                  <a:lnTo>
                    <a:pt x="360172" y="595122"/>
                  </a:lnTo>
                  <a:lnTo>
                    <a:pt x="0" y="595122"/>
                  </a:lnTo>
                  <a:close/>
                </a:path>
              </a:pathLst>
            </a:custGeom>
            <a:solidFill>
              <a:srgbClr val="5B6C75"/>
            </a:solidFill>
            <a:ln w="19050" cap="sq">
              <a:solidFill>
                <a:srgbClr val="5B6C75"/>
              </a:solidFill>
              <a:prstDash val="solid"/>
              <a:miter/>
            </a:ln>
          </p:spPr>
        </p:sp>
      </p:grpSp>
      <p:grpSp>
        <p:nvGrpSpPr>
          <p:cNvPr name="Group 15" id="15"/>
          <p:cNvGrpSpPr/>
          <p:nvPr/>
        </p:nvGrpSpPr>
        <p:grpSpPr>
          <a:xfrm rot="0">
            <a:off x="6464427" y="2047875"/>
            <a:ext cx="4956810" cy="4133850"/>
            <a:chOff x="0" y="0"/>
            <a:chExt cx="6609080" cy="5511800"/>
          </a:xfrm>
        </p:grpSpPr>
        <p:sp>
          <p:nvSpPr>
            <p:cNvPr name="Freeform 16" id="16"/>
            <p:cNvSpPr/>
            <p:nvPr/>
          </p:nvSpPr>
          <p:spPr>
            <a:xfrm flipH="false" flipV="false" rot="0">
              <a:off x="0" y="0"/>
              <a:ext cx="6609080" cy="5511800"/>
            </a:xfrm>
            <a:custGeom>
              <a:avLst/>
              <a:gdLst/>
              <a:ahLst/>
              <a:cxnLst/>
              <a:rect r="r" b="b" t="t" l="l"/>
              <a:pathLst>
                <a:path h="5511800" w="6609080">
                  <a:moveTo>
                    <a:pt x="0" y="146939"/>
                  </a:moveTo>
                  <a:cubicBezTo>
                    <a:pt x="0" y="65786"/>
                    <a:pt x="65786" y="0"/>
                    <a:pt x="146939" y="0"/>
                  </a:cubicBezTo>
                  <a:lnTo>
                    <a:pt x="6462141" y="0"/>
                  </a:lnTo>
                  <a:cubicBezTo>
                    <a:pt x="6543294" y="0"/>
                    <a:pt x="6609080" y="65786"/>
                    <a:pt x="6609080" y="146939"/>
                  </a:cubicBezTo>
                  <a:lnTo>
                    <a:pt x="6609080" y="5364861"/>
                  </a:lnTo>
                  <a:cubicBezTo>
                    <a:pt x="6609080" y="5446014"/>
                    <a:pt x="6543294" y="5511800"/>
                    <a:pt x="6462141" y="5511800"/>
                  </a:cubicBezTo>
                  <a:lnTo>
                    <a:pt x="146939" y="5511800"/>
                  </a:lnTo>
                  <a:cubicBezTo>
                    <a:pt x="65786" y="5511800"/>
                    <a:pt x="0" y="5446014"/>
                    <a:pt x="0" y="5364861"/>
                  </a:cubicBezTo>
                  <a:close/>
                </a:path>
              </a:pathLst>
            </a:custGeom>
            <a:solidFill>
              <a:srgbClr val="EEF5F5"/>
            </a:solidFill>
            <a:ln w="19050" cap="sq">
              <a:solidFill>
                <a:srgbClr val="EEF5F5"/>
              </a:solidFill>
              <a:prstDash val="solid"/>
              <a:miter/>
            </a:ln>
          </p:spPr>
        </p:sp>
      </p:grpSp>
      <p:grpSp>
        <p:nvGrpSpPr>
          <p:cNvPr name="Group 17" id="17"/>
          <p:cNvGrpSpPr/>
          <p:nvPr/>
        </p:nvGrpSpPr>
        <p:grpSpPr>
          <a:xfrm rot="0">
            <a:off x="8384667" y="2390775"/>
            <a:ext cx="1184910" cy="1184910"/>
            <a:chOff x="0" y="0"/>
            <a:chExt cx="1579880" cy="1579880"/>
          </a:xfrm>
        </p:grpSpPr>
        <p:sp>
          <p:nvSpPr>
            <p:cNvPr name="Freeform 18" id="18"/>
            <p:cNvSpPr/>
            <p:nvPr/>
          </p:nvSpPr>
          <p:spPr>
            <a:xfrm flipH="false" flipV="false" rot="0">
              <a:off x="0" y="0"/>
              <a:ext cx="1579880" cy="1579880"/>
            </a:xfrm>
            <a:custGeom>
              <a:avLst/>
              <a:gdLst/>
              <a:ahLst/>
              <a:cxnLst/>
              <a:rect r="r" b="b" t="t" l="l"/>
              <a:pathLst>
                <a:path h="1579880" w="1579880">
                  <a:moveTo>
                    <a:pt x="0" y="789940"/>
                  </a:moveTo>
                  <a:cubicBezTo>
                    <a:pt x="0" y="353695"/>
                    <a:pt x="353695" y="0"/>
                    <a:pt x="789940" y="0"/>
                  </a:cubicBezTo>
                  <a:cubicBezTo>
                    <a:pt x="1226185" y="0"/>
                    <a:pt x="1579880" y="353695"/>
                    <a:pt x="1579880" y="789940"/>
                  </a:cubicBezTo>
                  <a:cubicBezTo>
                    <a:pt x="1579880" y="1226185"/>
                    <a:pt x="1226185" y="1579880"/>
                    <a:pt x="789940" y="1579880"/>
                  </a:cubicBezTo>
                  <a:cubicBezTo>
                    <a:pt x="353695" y="1579880"/>
                    <a:pt x="0" y="1226185"/>
                    <a:pt x="0" y="789940"/>
                  </a:cubicBezTo>
                  <a:close/>
                </a:path>
              </a:pathLst>
            </a:custGeom>
            <a:solidFill>
              <a:srgbClr val="0E7C86"/>
            </a:solidFill>
            <a:ln w="19050" cap="sq">
              <a:solidFill>
                <a:srgbClr val="0E7C86"/>
              </a:solidFill>
              <a:prstDash val="solid"/>
              <a:miter/>
            </a:ln>
          </p:spPr>
        </p:sp>
      </p:grpSp>
      <p:grpSp>
        <p:nvGrpSpPr>
          <p:cNvPr name="Group 19" id="19"/>
          <p:cNvGrpSpPr/>
          <p:nvPr/>
        </p:nvGrpSpPr>
        <p:grpSpPr>
          <a:xfrm rot="0">
            <a:off x="8685657" y="2691765"/>
            <a:ext cx="582930" cy="582930"/>
            <a:chOff x="0" y="0"/>
            <a:chExt cx="777240" cy="777240"/>
          </a:xfrm>
        </p:grpSpPr>
        <p:sp>
          <p:nvSpPr>
            <p:cNvPr name="Freeform 20" id="20" descr="preencoded.png"/>
            <p:cNvSpPr/>
            <p:nvPr/>
          </p:nvSpPr>
          <p:spPr>
            <a:xfrm flipH="false" flipV="false" rot="0">
              <a:off x="0" y="0"/>
              <a:ext cx="777240" cy="777240"/>
            </a:xfrm>
            <a:custGeom>
              <a:avLst/>
              <a:gdLst/>
              <a:ahLst/>
              <a:cxnLst/>
              <a:rect r="r" b="b" t="t" l="l"/>
              <a:pathLst>
                <a:path h="777240" w="777240">
                  <a:moveTo>
                    <a:pt x="0" y="0"/>
                  </a:moveTo>
                  <a:lnTo>
                    <a:pt x="777240" y="0"/>
                  </a:lnTo>
                  <a:lnTo>
                    <a:pt x="777240" y="777240"/>
                  </a:lnTo>
                  <a:lnTo>
                    <a:pt x="0" y="777240"/>
                  </a:lnTo>
                  <a:lnTo>
                    <a:pt x="0" y="0"/>
                  </a:lnTo>
                  <a:close/>
                </a:path>
              </a:pathLst>
            </a:custGeom>
            <a:blipFill>
              <a:blip r:embed="rId5"/>
              <a:stretch>
                <a:fillRect l="0" t="0" r="0" b="0"/>
              </a:stretch>
            </a:blipFill>
          </p:spPr>
        </p:sp>
      </p:grpSp>
      <p:sp>
        <p:nvSpPr>
          <p:cNvPr name="TextBox 21" id="21"/>
          <p:cNvSpPr txBox="true"/>
          <p:nvPr/>
        </p:nvSpPr>
        <p:spPr>
          <a:xfrm rot="0">
            <a:off x="6816852" y="3705225"/>
            <a:ext cx="4251960" cy="581025"/>
          </a:xfrm>
          <a:prstGeom prst="rect">
            <a:avLst/>
          </a:prstGeom>
        </p:spPr>
        <p:txBody>
          <a:bodyPr anchor="t" rtlCol="false" tIns="0" lIns="0" bIns="0" rIns="0">
            <a:spAutoFit/>
          </a:bodyPr>
          <a:lstStyle/>
          <a:p>
            <a:pPr algn="ctr">
              <a:lnSpc>
                <a:spcPts val="4079"/>
              </a:lnSpc>
            </a:pPr>
            <a:r>
              <a:rPr lang="en-US" sz="3399" b="1">
                <a:solidFill>
                  <a:srgbClr val="0B4F5C"/>
                </a:solidFill>
                <a:latin typeface="Calibri"/>
                <a:ea typeface="Calibri"/>
                <a:cs typeface="Calibri"/>
                <a:sym typeface="Calibri"/>
              </a:rPr>
              <a:t>Organ</a:t>
            </a:r>
          </a:p>
        </p:txBody>
      </p:sp>
      <p:sp>
        <p:nvSpPr>
          <p:cNvPr name="TextBox 22" id="22"/>
          <p:cNvSpPr txBox="true"/>
          <p:nvPr/>
        </p:nvSpPr>
        <p:spPr>
          <a:xfrm rot="0">
            <a:off x="6885432" y="4478655"/>
            <a:ext cx="4114800" cy="1162050"/>
          </a:xfrm>
          <a:prstGeom prst="rect">
            <a:avLst/>
          </a:prstGeom>
        </p:spPr>
        <p:txBody>
          <a:bodyPr anchor="t" rtlCol="false" tIns="0" lIns="0" bIns="0" rIns="0">
            <a:spAutoFit/>
          </a:bodyPr>
          <a:lstStyle/>
          <a:p>
            <a:pPr algn="l">
              <a:lnSpc>
                <a:spcPts val="2999"/>
              </a:lnSpc>
            </a:pPr>
            <a:r>
              <a:rPr lang="en-US" sz="2499">
                <a:solidFill>
                  <a:srgbClr val="1B2B34"/>
                </a:solidFill>
                <a:latin typeface="Calibri"/>
                <a:ea typeface="Calibri"/>
                <a:cs typeface="Calibri"/>
                <a:sym typeface="Calibri"/>
              </a:rPr>
              <a:t>Labs measure the kidney itself: creatinine and eGFR, but only every few months</a:t>
            </a:r>
          </a:p>
        </p:txBody>
      </p:sp>
      <p:grpSp>
        <p:nvGrpSpPr>
          <p:cNvPr name="Group 23" id="23"/>
          <p:cNvGrpSpPr/>
          <p:nvPr/>
        </p:nvGrpSpPr>
        <p:grpSpPr>
          <a:xfrm rot="0">
            <a:off x="11511915" y="3830955"/>
            <a:ext cx="540258" cy="595122"/>
            <a:chOff x="0" y="0"/>
            <a:chExt cx="720344" cy="793496"/>
          </a:xfrm>
        </p:grpSpPr>
        <p:sp>
          <p:nvSpPr>
            <p:cNvPr name="Freeform 24" id="24"/>
            <p:cNvSpPr/>
            <p:nvPr/>
          </p:nvSpPr>
          <p:spPr>
            <a:xfrm flipH="false" flipV="false" rot="0">
              <a:off x="0" y="0"/>
              <a:ext cx="720344" cy="793496"/>
            </a:xfrm>
            <a:custGeom>
              <a:avLst/>
              <a:gdLst/>
              <a:ahLst/>
              <a:cxnLst/>
              <a:rect r="r" b="b" t="t" l="l"/>
              <a:pathLst>
                <a:path h="793496" w="720344">
                  <a:moveTo>
                    <a:pt x="0" y="198374"/>
                  </a:moveTo>
                  <a:lnTo>
                    <a:pt x="360172" y="198374"/>
                  </a:lnTo>
                  <a:lnTo>
                    <a:pt x="360172" y="0"/>
                  </a:lnTo>
                  <a:lnTo>
                    <a:pt x="720344" y="396748"/>
                  </a:lnTo>
                  <a:lnTo>
                    <a:pt x="360172" y="793496"/>
                  </a:lnTo>
                  <a:lnTo>
                    <a:pt x="360172" y="595122"/>
                  </a:lnTo>
                  <a:lnTo>
                    <a:pt x="0" y="595122"/>
                  </a:lnTo>
                  <a:close/>
                </a:path>
              </a:pathLst>
            </a:custGeom>
            <a:solidFill>
              <a:srgbClr val="5B6C75"/>
            </a:solidFill>
            <a:ln w="19050" cap="sq">
              <a:solidFill>
                <a:srgbClr val="5B6C75"/>
              </a:solidFill>
              <a:prstDash val="solid"/>
              <a:miter/>
            </a:ln>
          </p:spPr>
        </p:sp>
      </p:grpSp>
      <p:grpSp>
        <p:nvGrpSpPr>
          <p:cNvPr name="Group 25" id="25"/>
          <p:cNvGrpSpPr/>
          <p:nvPr/>
        </p:nvGrpSpPr>
        <p:grpSpPr>
          <a:xfrm rot="0">
            <a:off x="12115419" y="2047875"/>
            <a:ext cx="4956810" cy="4133850"/>
            <a:chOff x="0" y="0"/>
            <a:chExt cx="6609080" cy="5511800"/>
          </a:xfrm>
        </p:grpSpPr>
        <p:sp>
          <p:nvSpPr>
            <p:cNvPr name="Freeform 26" id="26"/>
            <p:cNvSpPr/>
            <p:nvPr/>
          </p:nvSpPr>
          <p:spPr>
            <a:xfrm flipH="false" flipV="false" rot="0">
              <a:off x="0" y="0"/>
              <a:ext cx="6609080" cy="5511800"/>
            </a:xfrm>
            <a:custGeom>
              <a:avLst/>
              <a:gdLst/>
              <a:ahLst/>
              <a:cxnLst/>
              <a:rect r="r" b="b" t="t" l="l"/>
              <a:pathLst>
                <a:path h="5511800" w="6609080">
                  <a:moveTo>
                    <a:pt x="0" y="146939"/>
                  </a:moveTo>
                  <a:cubicBezTo>
                    <a:pt x="0" y="65786"/>
                    <a:pt x="65786" y="0"/>
                    <a:pt x="146939" y="0"/>
                  </a:cubicBezTo>
                  <a:lnTo>
                    <a:pt x="6462141" y="0"/>
                  </a:lnTo>
                  <a:cubicBezTo>
                    <a:pt x="6543294" y="0"/>
                    <a:pt x="6609080" y="65786"/>
                    <a:pt x="6609080" y="146939"/>
                  </a:cubicBezTo>
                  <a:lnTo>
                    <a:pt x="6609080" y="5364861"/>
                  </a:lnTo>
                  <a:cubicBezTo>
                    <a:pt x="6609080" y="5446014"/>
                    <a:pt x="6543294" y="5511800"/>
                    <a:pt x="6462141" y="5511800"/>
                  </a:cubicBezTo>
                  <a:lnTo>
                    <a:pt x="146939" y="5511800"/>
                  </a:lnTo>
                  <a:cubicBezTo>
                    <a:pt x="65786" y="5511800"/>
                    <a:pt x="0" y="5446014"/>
                    <a:pt x="0" y="5364861"/>
                  </a:cubicBezTo>
                  <a:close/>
                </a:path>
              </a:pathLst>
            </a:custGeom>
            <a:solidFill>
              <a:srgbClr val="EEF5F5"/>
            </a:solidFill>
            <a:ln w="19050" cap="sq">
              <a:solidFill>
                <a:srgbClr val="EEF5F5"/>
              </a:solidFill>
              <a:prstDash val="solid"/>
              <a:miter/>
            </a:ln>
          </p:spPr>
        </p:sp>
      </p:grpSp>
      <p:grpSp>
        <p:nvGrpSpPr>
          <p:cNvPr name="Group 27" id="27"/>
          <p:cNvGrpSpPr/>
          <p:nvPr/>
        </p:nvGrpSpPr>
        <p:grpSpPr>
          <a:xfrm rot="0">
            <a:off x="14035659" y="2390775"/>
            <a:ext cx="1184910" cy="1184910"/>
            <a:chOff x="0" y="0"/>
            <a:chExt cx="1579880" cy="1579880"/>
          </a:xfrm>
        </p:grpSpPr>
        <p:sp>
          <p:nvSpPr>
            <p:cNvPr name="Freeform 28" id="28"/>
            <p:cNvSpPr/>
            <p:nvPr/>
          </p:nvSpPr>
          <p:spPr>
            <a:xfrm flipH="false" flipV="false" rot="0">
              <a:off x="0" y="0"/>
              <a:ext cx="1579880" cy="1579880"/>
            </a:xfrm>
            <a:custGeom>
              <a:avLst/>
              <a:gdLst/>
              <a:ahLst/>
              <a:cxnLst/>
              <a:rect r="r" b="b" t="t" l="l"/>
              <a:pathLst>
                <a:path h="1579880" w="1579880">
                  <a:moveTo>
                    <a:pt x="0" y="789940"/>
                  </a:moveTo>
                  <a:cubicBezTo>
                    <a:pt x="0" y="353695"/>
                    <a:pt x="353695" y="0"/>
                    <a:pt x="789940" y="0"/>
                  </a:cubicBezTo>
                  <a:cubicBezTo>
                    <a:pt x="1226185" y="0"/>
                    <a:pt x="1579880" y="353695"/>
                    <a:pt x="1579880" y="789940"/>
                  </a:cubicBezTo>
                  <a:cubicBezTo>
                    <a:pt x="1579880" y="1226185"/>
                    <a:pt x="1226185" y="1579880"/>
                    <a:pt x="789940" y="1579880"/>
                  </a:cubicBezTo>
                  <a:cubicBezTo>
                    <a:pt x="353695" y="1579880"/>
                    <a:pt x="0" y="1226185"/>
                    <a:pt x="0" y="789940"/>
                  </a:cubicBezTo>
                  <a:close/>
                </a:path>
              </a:pathLst>
            </a:custGeom>
            <a:solidFill>
              <a:srgbClr val="D9472B"/>
            </a:solidFill>
            <a:ln w="19050" cap="sq">
              <a:solidFill>
                <a:srgbClr val="D9472B"/>
              </a:solidFill>
              <a:prstDash val="solid"/>
              <a:miter/>
            </a:ln>
          </p:spPr>
        </p:sp>
      </p:grpSp>
      <p:grpSp>
        <p:nvGrpSpPr>
          <p:cNvPr name="Group 29" id="29"/>
          <p:cNvGrpSpPr/>
          <p:nvPr/>
        </p:nvGrpSpPr>
        <p:grpSpPr>
          <a:xfrm rot="0">
            <a:off x="14336649" y="2691765"/>
            <a:ext cx="582930" cy="582930"/>
            <a:chOff x="0" y="0"/>
            <a:chExt cx="777240" cy="777240"/>
          </a:xfrm>
        </p:grpSpPr>
        <p:sp>
          <p:nvSpPr>
            <p:cNvPr name="Freeform 30" id="30" descr="preencoded.png"/>
            <p:cNvSpPr/>
            <p:nvPr/>
          </p:nvSpPr>
          <p:spPr>
            <a:xfrm flipH="false" flipV="false" rot="0">
              <a:off x="0" y="0"/>
              <a:ext cx="777240" cy="777240"/>
            </a:xfrm>
            <a:custGeom>
              <a:avLst/>
              <a:gdLst/>
              <a:ahLst/>
              <a:cxnLst/>
              <a:rect r="r" b="b" t="t" l="l"/>
              <a:pathLst>
                <a:path h="777240" w="777240">
                  <a:moveTo>
                    <a:pt x="0" y="0"/>
                  </a:moveTo>
                  <a:lnTo>
                    <a:pt x="777240" y="0"/>
                  </a:lnTo>
                  <a:lnTo>
                    <a:pt x="777240" y="777240"/>
                  </a:lnTo>
                  <a:lnTo>
                    <a:pt x="0" y="777240"/>
                  </a:lnTo>
                  <a:lnTo>
                    <a:pt x="0" y="0"/>
                  </a:lnTo>
                  <a:close/>
                </a:path>
              </a:pathLst>
            </a:custGeom>
            <a:blipFill>
              <a:blip r:embed="rId6"/>
              <a:stretch>
                <a:fillRect l="0" t="0" r="0" b="0"/>
              </a:stretch>
            </a:blipFill>
          </p:spPr>
        </p:sp>
      </p:grpSp>
      <p:sp>
        <p:nvSpPr>
          <p:cNvPr name="TextBox 31" id="31"/>
          <p:cNvSpPr txBox="true"/>
          <p:nvPr/>
        </p:nvSpPr>
        <p:spPr>
          <a:xfrm rot="0">
            <a:off x="12467844" y="3705225"/>
            <a:ext cx="4251960" cy="581025"/>
          </a:xfrm>
          <a:prstGeom prst="rect">
            <a:avLst/>
          </a:prstGeom>
        </p:spPr>
        <p:txBody>
          <a:bodyPr anchor="t" rtlCol="false" tIns="0" lIns="0" bIns="0" rIns="0">
            <a:spAutoFit/>
          </a:bodyPr>
          <a:lstStyle/>
          <a:p>
            <a:pPr algn="ctr">
              <a:lnSpc>
                <a:spcPts val="4079"/>
              </a:lnSpc>
            </a:pPr>
            <a:r>
              <a:rPr lang="en-US" sz="3399" b="1">
                <a:solidFill>
                  <a:srgbClr val="0B4F5C"/>
                </a:solidFill>
                <a:latin typeface="Calibri"/>
                <a:ea typeface="Calibri"/>
                <a:cs typeface="Calibri"/>
                <a:sym typeface="Calibri"/>
              </a:rPr>
              <a:t>Decision</a:t>
            </a:r>
          </a:p>
        </p:txBody>
      </p:sp>
      <p:sp>
        <p:nvSpPr>
          <p:cNvPr name="TextBox 32" id="32"/>
          <p:cNvSpPr txBox="true"/>
          <p:nvPr/>
        </p:nvSpPr>
        <p:spPr>
          <a:xfrm rot="0">
            <a:off x="12536424" y="4478655"/>
            <a:ext cx="4114800" cy="1162050"/>
          </a:xfrm>
          <a:prstGeom prst="rect">
            <a:avLst/>
          </a:prstGeom>
        </p:spPr>
        <p:txBody>
          <a:bodyPr anchor="t" rtlCol="false" tIns="0" lIns="0" bIns="0" rIns="0">
            <a:spAutoFit/>
          </a:bodyPr>
          <a:lstStyle/>
          <a:p>
            <a:pPr algn="l">
              <a:lnSpc>
                <a:spcPts val="2999"/>
              </a:lnSpc>
            </a:pPr>
            <a:r>
              <a:rPr lang="en-US" sz="2499">
                <a:solidFill>
                  <a:srgbClr val="1B2B34"/>
                </a:solidFill>
                <a:latin typeface="Calibri"/>
                <a:ea typeface="Calibri"/>
                <a:cs typeface="Calibri"/>
                <a:sym typeface="Calibri"/>
              </a:rPr>
              <a:t>The twin bridges the gap: who needs a test today, which pill to review, what to change</a:t>
            </a:r>
          </a:p>
        </p:txBody>
      </p:sp>
      <p:grpSp>
        <p:nvGrpSpPr>
          <p:cNvPr name="Group 33" id="33"/>
          <p:cNvGrpSpPr/>
          <p:nvPr/>
        </p:nvGrpSpPr>
        <p:grpSpPr>
          <a:xfrm rot="0">
            <a:off x="813435" y="6574155"/>
            <a:ext cx="8111490" cy="2145030"/>
            <a:chOff x="0" y="0"/>
            <a:chExt cx="10815320" cy="2860040"/>
          </a:xfrm>
        </p:grpSpPr>
        <p:sp>
          <p:nvSpPr>
            <p:cNvPr name="Freeform 34" id="34"/>
            <p:cNvSpPr/>
            <p:nvPr/>
          </p:nvSpPr>
          <p:spPr>
            <a:xfrm flipH="false" flipV="false" rot="0">
              <a:off x="0" y="0"/>
              <a:ext cx="10815320" cy="2860040"/>
            </a:xfrm>
            <a:custGeom>
              <a:avLst/>
              <a:gdLst/>
              <a:ahLst/>
              <a:cxnLst/>
              <a:rect r="r" b="b" t="t" l="l"/>
              <a:pathLst>
                <a:path h="2860040" w="10815320">
                  <a:moveTo>
                    <a:pt x="0" y="147574"/>
                  </a:moveTo>
                  <a:cubicBezTo>
                    <a:pt x="0" y="66040"/>
                    <a:pt x="66040" y="0"/>
                    <a:pt x="147574" y="0"/>
                  </a:cubicBezTo>
                  <a:lnTo>
                    <a:pt x="10667746" y="0"/>
                  </a:lnTo>
                  <a:cubicBezTo>
                    <a:pt x="10749280" y="0"/>
                    <a:pt x="10815320" y="66040"/>
                    <a:pt x="10815320" y="147574"/>
                  </a:cubicBezTo>
                  <a:lnTo>
                    <a:pt x="10815320" y="2712466"/>
                  </a:lnTo>
                  <a:cubicBezTo>
                    <a:pt x="10815320" y="2794000"/>
                    <a:pt x="10749280" y="2860040"/>
                    <a:pt x="10667746" y="2860040"/>
                  </a:cubicBezTo>
                  <a:lnTo>
                    <a:pt x="147574" y="2860040"/>
                  </a:lnTo>
                  <a:cubicBezTo>
                    <a:pt x="66040" y="2860040"/>
                    <a:pt x="0" y="2794000"/>
                    <a:pt x="0" y="2712466"/>
                  </a:cubicBezTo>
                  <a:close/>
                </a:path>
              </a:pathLst>
            </a:custGeom>
            <a:solidFill>
              <a:srgbClr val="0B4F5C"/>
            </a:solidFill>
            <a:ln w="19050" cap="sq">
              <a:solidFill>
                <a:srgbClr val="0B4F5C"/>
              </a:solidFill>
              <a:prstDash val="solid"/>
              <a:miter/>
            </a:ln>
          </p:spPr>
        </p:sp>
      </p:grpSp>
      <p:sp>
        <p:nvSpPr>
          <p:cNvPr name="TextBox 35" id="35"/>
          <p:cNvSpPr txBox="true"/>
          <p:nvPr/>
        </p:nvSpPr>
        <p:spPr>
          <a:xfrm rot="0">
            <a:off x="1234440" y="6722745"/>
            <a:ext cx="7406640" cy="1276350"/>
          </a:xfrm>
          <a:prstGeom prst="rect">
            <a:avLst/>
          </a:prstGeom>
        </p:spPr>
        <p:txBody>
          <a:bodyPr anchor="t" rtlCol="false" tIns="0" lIns="0" bIns="0" rIns="0">
            <a:spAutoFit/>
          </a:bodyPr>
          <a:lstStyle/>
          <a:p>
            <a:pPr algn="l">
              <a:lnSpc>
                <a:spcPts val="3719"/>
              </a:lnSpc>
            </a:pPr>
            <a:r>
              <a:rPr lang="en-US" sz="3099" b="1">
                <a:solidFill>
                  <a:srgbClr val="FFFFFF"/>
                </a:solidFill>
                <a:latin typeface="Calibri"/>
                <a:ea typeface="Calibri"/>
                <a:cs typeface="Calibri"/>
                <a:sym typeface="Calibri"/>
              </a:rPr>
              <a:t>Fast clock · next 72 hours</a:t>
            </a:r>
          </a:p>
          <a:p>
            <a:pPr algn="l">
              <a:lnSpc>
                <a:spcPts val="2999"/>
              </a:lnSpc>
            </a:pPr>
            <a:r>
              <a:rPr lang="en-US" sz="2499">
                <a:solidFill>
                  <a:srgbClr val="BFE3E5"/>
                </a:solidFill>
                <a:latin typeface="Calibri"/>
                <a:ea typeface="Calibri"/>
                <a:cs typeface="Calibri"/>
                <a:sym typeface="Calibri"/>
              </a:rPr>
              <a:t>Probability of acute kidney injury, with plain-language reasons and safer what-if choices</a:t>
            </a:r>
          </a:p>
        </p:txBody>
      </p:sp>
      <p:grpSp>
        <p:nvGrpSpPr>
          <p:cNvPr name="Group 36" id="36"/>
          <p:cNvGrpSpPr/>
          <p:nvPr/>
        </p:nvGrpSpPr>
        <p:grpSpPr>
          <a:xfrm rot="0">
            <a:off x="9317355" y="6574155"/>
            <a:ext cx="8111490" cy="2145030"/>
            <a:chOff x="0" y="0"/>
            <a:chExt cx="10815320" cy="2860040"/>
          </a:xfrm>
        </p:grpSpPr>
        <p:sp>
          <p:nvSpPr>
            <p:cNvPr name="Freeform 37" id="37"/>
            <p:cNvSpPr/>
            <p:nvPr/>
          </p:nvSpPr>
          <p:spPr>
            <a:xfrm flipH="false" flipV="false" rot="0">
              <a:off x="0" y="0"/>
              <a:ext cx="10815320" cy="2860040"/>
            </a:xfrm>
            <a:custGeom>
              <a:avLst/>
              <a:gdLst/>
              <a:ahLst/>
              <a:cxnLst/>
              <a:rect r="r" b="b" t="t" l="l"/>
              <a:pathLst>
                <a:path h="2860040" w="10815320">
                  <a:moveTo>
                    <a:pt x="0" y="147574"/>
                  </a:moveTo>
                  <a:cubicBezTo>
                    <a:pt x="0" y="66040"/>
                    <a:pt x="66040" y="0"/>
                    <a:pt x="147574" y="0"/>
                  </a:cubicBezTo>
                  <a:lnTo>
                    <a:pt x="10667746" y="0"/>
                  </a:lnTo>
                  <a:cubicBezTo>
                    <a:pt x="10749280" y="0"/>
                    <a:pt x="10815320" y="66040"/>
                    <a:pt x="10815320" y="147574"/>
                  </a:cubicBezTo>
                  <a:lnTo>
                    <a:pt x="10815320" y="2712466"/>
                  </a:lnTo>
                  <a:cubicBezTo>
                    <a:pt x="10815320" y="2794000"/>
                    <a:pt x="10749280" y="2860040"/>
                    <a:pt x="10667746" y="2860040"/>
                  </a:cubicBezTo>
                  <a:lnTo>
                    <a:pt x="147574" y="2860040"/>
                  </a:lnTo>
                  <a:cubicBezTo>
                    <a:pt x="66040" y="2860040"/>
                    <a:pt x="0" y="2794000"/>
                    <a:pt x="0" y="2712466"/>
                  </a:cubicBezTo>
                  <a:close/>
                </a:path>
              </a:pathLst>
            </a:custGeom>
            <a:solidFill>
              <a:srgbClr val="0E7C86"/>
            </a:solidFill>
            <a:ln w="19050" cap="sq">
              <a:solidFill>
                <a:srgbClr val="0E7C86"/>
              </a:solidFill>
              <a:prstDash val="solid"/>
              <a:miter/>
            </a:ln>
          </p:spPr>
        </p:sp>
      </p:grpSp>
      <p:sp>
        <p:nvSpPr>
          <p:cNvPr name="TextBox 38" id="38"/>
          <p:cNvSpPr txBox="true"/>
          <p:nvPr/>
        </p:nvSpPr>
        <p:spPr>
          <a:xfrm rot="0">
            <a:off x="9738360" y="6722745"/>
            <a:ext cx="7406640" cy="1276350"/>
          </a:xfrm>
          <a:prstGeom prst="rect">
            <a:avLst/>
          </a:prstGeom>
        </p:spPr>
        <p:txBody>
          <a:bodyPr anchor="t" rtlCol="false" tIns="0" lIns="0" bIns="0" rIns="0">
            <a:spAutoFit/>
          </a:bodyPr>
          <a:lstStyle/>
          <a:p>
            <a:pPr algn="l">
              <a:lnSpc>
                <a:spcPts val="3719"/>
              </a:lnSpc>
            </a:pPr>
            <a:r>
              <a:rPr lang="en-US" sz="3099" b="1">
                <a:solidFill>
                  <a:srgbClr val="FFFFFF"/>
                </a:solidFill>
                <a:latin typeface="Calibri"/>
                <a:ea typeface="Calibri"/>
                <a:cs typeface="Calibri"/>
                <a:sym typeface="Calibri"/>
              </a:rPr>
              <a:t>Slow clock · next 10 years</a:t>
            </a:r>
          </a:p>
          <a:p>
            <a:pPr algn="l">
              <a:lnSpc>
                <a:spcPts val="2999"/>
              </a:lnSpc>
            </a:pPr>
            <a:r>
              <a:rPr lang="en-US" sz="2499">
                <a:solidFill>
                  <a:srgbClr val="FFFFFF"/>
                </a:solidFill>
                <a:latin typeface="Calibri"/>
                <a:ea typeface="Calibri"/>
                <a:cs typeface="Calibri"/>
                <a:sym typeface="Calibri"/>
              </a:rPr>
              <a:t>Projected kidney function as honest ranges, and what each decision does to it</a:t>
            </a:r>
          </a:p>
        </p:txBody>
      </p:sp>
      <p:sp>
        <p:nvSpPr>
          <p:cNvPr name="TextBox 39" id="39"/>
          <p:cNvSpPr txBox="true"/>
          <p:nvPr/>
        </p:nvSpPr>
        <p:spPr>
          <a:xfrm rot="0">
            <a:off x="16962120" y="9540240"/>
            <a:ext cx="640080" cy="342900"/>
          </a:xfrm>
          <a:prstGeom prst="rect">
            <a:avLst/>
          </a:prstGeom>
        </p:spPr>
        <p:txBody>
          <a:bodyPr anchor="t" rtlCol="false" tIns="0" lIns="0" bIns="0" rIns="0">
            <a:spAutoFit/>
          </a:bodyPr>
          <a:lstStyle/>
          <a:p>
            <a:pPr algn="r">
              <a:lnSpc>
                <a:spcPts val="2459"/>
              </a:lnSpc>
            </a:pPr>
            <a:r>
              <a:rPr lang="en-US" sz="2049">
                <a:solidFill>
                  <a:srgbClr val="5B6C75"/>
                </a:solidFill>
                <a:latin typeface="Calibri"/>
                <a:ea typeface="Calibri"/>
                <a:cs typeface="Calibri"/>
                <a:sym typeface="Calibri"/>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87349" y="-683353"/>
            <a:ext cx="16596360" cy="3593431"/>
            <a:chOff x="0" y="0"/>
            <a:chExt cx="22128480" cy="4791241"/>
          </a:xfrm>
        </p:grpSpPr>
        <p:sp>
          <p:nvSpPr>
            <p:cNvPr name="Freeform 3" id="3"/>
            <p:cNvSpPr/>
            <p:nvPr/>
          </p:nvSpPr>
          <p:spPr>
            <a:xfrm flipH="false" flipV="false" rot="0">
              <a:off x="0" y="0"/>
              <a:ext cx="22128480" cy="4791241"/>
            </a:xfrm>
            <a:custGeom>
              <a:avLst/>
              <a:gdLst/>
              <a:ahLst/>
              <a:cxnLst/>
              <a:rect r="r" b="b" t="t" l="l"/>
              <a:pathLst>
                <a:path h="4791241" w="22128480">
                  <a:moveTo>
                    <a:pt x="0" y="0"/>
                  </a:moveTo>
                  <a:lnTo>
                    <a:pt x="22128480" y="0"/>
                  </a:lnTo>
                  <a:lnTo>
                    <a:pt x="22128480" y="4791241"/>
                  </a:lnTo>
                  <a:lnTo>
                    <a:pt x="0" y="4791241"/>
                  </a:lnTo>
                  <a:close/>
                </a:path>
              </a:pathLst>
            </a:custGeom>
            <a:blipFill>
              <a:blip r:embed="rId3">
                <a:alphaModFix amt="0"/>
              </a:blip>
              <a:stretch>
                <a:fillRect l="0" t="-73770" r="0" b="-6214"/>
              </a:stretch>
            </a:blipFill>
          </p:spPr>
        </p:sp>
        <p:sp>
          <p:nvSpPr>
            <p:cNvPr name="TextBox 4" id="4"/>
            <p:cNvSpPr txBox="true"/>
            <p:nvPr/>
          </p:nvSpPr>
          <p:spPr>
            <a:xfrm>
              <a:off x="0" y="-9525"/>
              <a:ext cx="22128480" cy="4800766"/>
            </a:xfrm>
            <a:prstGeom prst="rect">
              <a:avLst/>
            </a:prstGeom>
          </p:spPr>
          <p:txBody>
            <a:bodyPr anchor="ctr" rtlCol="false" tIns="0" lIns="0" bIns="0" rIns="0"/>
            <a:lstStyle/>
            <a:p>
              <a:pPr algn="l">
                <a:lnSpc>
                  <a:spcPts val="5879"/>
                </a:lnSpc>
              </a:pPr>
              <a:r>
                <a:rPr lang="en-US" sz="4899" b="1">
                  <a:solidFill>
                    <a:srgbClr val="0B4F5C"/>
                  </a:solidFill>
                  <a:latin typeface="Cambria"/>
                  <a:ea typeface="Cambria"/>
                  <a:cs typeface="Cambria"/>
                  <a:sym typeface="Cambria"/>
                </a:rPr>
                <a:t>Why this is a true digital twin, not just a risk score</a:t>
              </a:r>
            </a:p>
          </p:txBody>
        </p:sp>
      </p:grpSp>
      <p:grpSp>
        <p:nvGrpSpPr>
          <p:cNvPr name="Group 5" id="5"/>
          <p:cNvGrpSpPr/>
          <p:nvPr/>
        </p:nvGrpSpPr>
        <p:grpSpPr>
          <a:xfrm rot="0">
            <a:off x="813435" y="2047875"/>
            <a:ext cx="1184910" cy="1184910"/>
            <a:chOff x="0" y="0"/>
            <a:chExt cx="1579880" cy="1579880"/>
          </a:xfrm>
        </p:grpSpPr>
        <p:sp>
          <p:nvSpPr>
            <p:cNvPr name="Freeform 6" id="6"/>
            <p:cNvSpPr/>
            <p:nvPr/>
          </p:nvSpPr>
          <p:spPr>
            <a:xfrm flipH="false" flipV="false" rot="0">
              <a:off x="0" y="0"/>
              <a:ext cx="1579880" cy="1579880"/>
            </a:xfrm>
            <a:custGeom>
              <a:avLst/>
              <a:gdLst/>
              <a:ahLst/>
              <a:cxnLst/>
              <a:rect r="r" b="b" t="t" l="l"/>
              <a:pathLst>
                <a:path h="1579880" w="1579880">
                  <a:moveTo>
                    <a:pt x="0" y="789940"/>
                  </a:moveTo>
                  <a:cubicBezTo>
                    <a:pt x="0" y="353695"/>
                    <a:pt x="353695" y="0"/>
                    <a:pt x="789940" y="0"/>
                  </a:cubicBezTo>
                  <a:cubicBezTo>
                    <a:pt x="1226185" y="0"/>
                    <a:pt x="1579880" y="353695"/>
                    <a:pt x="1579880" y="789940"/>
                  </a:cubicBezTo>
                  <a:cubicBezTo>
                    <a:pt x="1579880" y="1226185"/>
                    <a:pt x="1226185" y="1579880"/>
                    <a:pt x="789940" y="1579880"/>
                  </a:cubicBezTo>
                  <a:cubicBezTo>
                    <a:pt x="353695" y="1579880"/>
                    <a:pt x="0" y="1226185"/>
                    <a:pt x="0" y="789940"/>
                  </a:cubicBezTo>
                  <a:close/>
                </a:path>
              </a:pathLst>
            </a:custGeom>
            <a:solidFill>
              <a:srgbClr val="0E7C86"/>
            </a:solidFill>
            <a:ln w="19050" cap="sq">
              <a:solidFill>
                <a:srgbClr val="0E7C86"/>
              </a:solidFill>
              <a:prstDash val="solid"/>
              <a:miter/>
            </a:ln>
          </p:spPr>
        </p:sp>
      </p:grpSp>
      <p:grpSp>
        <p:nvGrpSpPr>
          <p:cNvPr name="Group 7" id="7"/>
          <p:cNvGrpSpPr/>
          <p:nvPr/>
        </p:nvGrpSpPr>
        <p:grpSpPr>
          <a:xfrm rot="0">
            <a:off x="1114425" y="2348865"/>
            <a:ext cx="582930" cy="582930"/>
            <a:chOff x="0" y="0"/>
            <a:chExt cx="777240" cy="777240"/>
          </a:xfrm>
        </p:grpSpPr>
        <p:sp>
          <p:nvSpPr>
            <p:cNvPr name="Freeform 8" id="8" descr="preencoded.png"/>
            <p:cNvSpPr/>
            <p:nvPr/>
          </p:nvSpPr>
          <p:spPr>
            <a:xfrm flipH="false" flipV="false" rot="0">
              <a:off x="0" y="0"/>
              <a:ext cx="777240" cy="777240"/>
            </a:xfrm>
            <a:custGeom>
              <a:avLst/>
              <a:gdLst/>
              <a:ahLst/>
              <a:cxnLst/>
              <a:rect r="r" b="b" t="t" l="l"/>
              <a:pathLst>
                <a:path h="777240" w="777240">
                  <a:moveTo>
                    <a:pt x="0" y="0"/>
                  </a:moveTo>
                  <a:lnTo>
                    <a:pt x="777240" y="0"/>
                  </a:lnTo>
                  <a:lnTo>
                    <a:pt x="777240" y="777240"/>
                  </a:lnTo>
                  <a:lnTo>
                    <a:pt x="0" y="777240"/>
                  </a:lnTo>
                  <a:lnTo>
                    <a:pt x="0" y="0"/>
                  </a:lnTo>
                  <a:close/>
                </a:path>
              </a:pathLst>
            </a:custGeom>
            <a:blipFill>
              <a:blip r:embed="rId4"/>
              <a:stretch>
                <a:fillRect l="0" t="0" r="0" b="0"/>
              </a:stretch>
            </a:blipFill>
          </p:spPr>
        </p:sp>
      </p:grpSp>
      <p:sp>
        <p:nvSpPr>
          <p:cNvPr name="TextBox 9" id="9"/>
          <p:cNvSpPr txBox="true"/>
          <p:nvPr/>
        </p:nvSpPr>
        <p:spPr>
          <a:xfrm rot="0">
            <a:off x="2331720" y="1963293"/>
            <a:ext cx="6035040" cy="533400"/>
          </a:xfrm>
          <a:prstGeom prst="rect">
            <a:avLst/>
          </a:prstGeom>
        </p:spPr>
        <p:txBody>
          <a:bodyPr anchor="t" rtlCol="false" tIns="0" lIns="0" bIns="0" rIns="0">
            <a:spAutoFit/>
          </a:bodyPr>
          <a:lstStyle/>
          <a:p>
            <a:pPr algn="l">
              <a:lnSpc>
                <a:spcPts val="3719"/>
              </a:lnSpc>
            </a:pPr>
            <a:r>
              <a:rPr lang="en-US" sz="3099" b="1">
                <a:solidFill>
                  <a:srgbClr val="0B4F5C"/>
                </a:solidFill>
                <a:latin typeface="Calibri"/>
                <a:ea typeface="Calibri"/>
                <a:cs typeface="Calibri"/>
                <a:sym typeface="Calibri"/>
              </a:rPr>
              <a:t>Personalised</a:t>
            </a:r>
          </a:p>
        </p:txBody>
      </p:sp>
      <p:sp>
        <p:nvSpPr>
          <p:cNvPr name="TextBox 10" id="10"/>
          <p:cNvSpPr txBox="true"/>
          <p:nvPr/>
        </p:nvSpPr>
        <p:spPr>
          <a:xfrm rot="0">
            <a:off x="2331720" y="2626995"/>
            <a:ext cx="6035040" cy="1162050"/>
          </a:xfrm>
          <a:prstGeom prst="rect">
            <a:avLst/>
          </a:prstGeom>
        </p:spPr>
        <p:txBody>
          <a:bodyPr anchor="t" rtlCol="false" tIns="0" lIns="0" bIns="0" rIns="0">
            <a:spAutoFit/>
          </a:bodyPr>
          <a:lstStyle/>
          <a:p>
            <a:pPr algn="l">
              <a:lnSpc>
                <a:spcPts val="2999"/>
              </a:lnSpc>
            </a:pPr>
            <a:r>
              <a:rPr lang="en-US" sz="2499">
                <a:solidFill>
                  <a:srgbClr val="1B2B34"/>
                </a:solidFill>
                <a:latin typeface="Calibri"/>
                <a:ea typeface="Calibri"/>
                <a:cs typeface="Calibri"/>
                <a:sym typeface="Calibri"/>
              </a:rPr>
              <a:t>Each patient has their own hidden state: body water, creatinine, kidney reserve, learned sweat rate, CYP2C9 gene</a:t>
            </a:r>
          </a:p>
        </p:txBody>
      </p:sp>
      <p:grpSp>
        <p:nvGrpSpPr>
          <p:cNvPr name="Group 11" id="11"/>
          <p:cNvGrpSpPr/>
          <p:nvPr/>
        </p:nvGrpSpPr>
        <p:grpSpPr>
          <a:xfrm rot="0">
            <a:off x="813435" y="4242435"/>
            <a:ext cx="1184910" cy="1184910"/>
            <a:chOff x="0" y="0"/>
            <a:chExt cx="1579880" cy="1579880"/>
          </a:xfrm>
        </p:grpSpPr>
        <p:sp>
          <p:nvSpPr>
            <p:cNvPr name="Freeform 12" id="12"/>
            <p:cNvSpPr/>
            <p:nvPr/>
          </p:nvSpPr>
          <p:spPr>
            <a:xfrm flipH="false" flipV="false" rot="0">
              <a:off x="0" y="0"/>
              <a:ext cx="1579880" cy="1579880"/>
            </a:xfrm>
            <a:custGeom>
              <a:avLst/>
              <a:gdLst/>
              <a:ahLst/>
              <a:cxnLst/>
              <a:rect r="r" b="b" t="t" l="l"/>
              <a:pathLst>
                <a:path h="1579880" w="1579880">
                  <a:moveTo>
                    <a:pt x="0" y="789940"/>
                  </a:moveTo>
                  <a:cubicBezTo>
                    <a:pt x="0" y="353695"/>
                    <a:pt x="353695" y="0"/>
                    <a:pt x="789940" y="0"/>
                  </a:cubicBezTo>
                  <a:cubicBezTo>
                    <a:pt x="1226185" y="0"/>
                    <a:pt x="1579880" y="353695"/>
                    <a:pt x="1579880" y="789940"/>
                  </a:cubicBezTo>
                  <a:cubicBezTo>
                    <a:pt x="1579880" y="1226185"/>
                    <a:pt x="1226185" y="1579880"/>
                    <a:pt x="789940" y="1579880"/>
                  </a:cubicBezTo>
                  <a:cubicBezTo>
                    <a:pt x="353695" y="1579880"/>
                    <a:pt x="0" y="1226185"/>
                    <a:pt x="0" y="789940"/>
                  </a:cubicBezTo>
                  <a:close/>
                </a:path>
              </a:pathLst>
            </a:custGeom>
            <a:solidFill>
              <a:srgbClr val="0E7C86"/>
            </a:solidFill>
            <a:ln w="19050" cap="sq">
              <a:solidFill>
                <a:srgbClr val="0E7C86"/>
              </a:solidFill>
              <a:prstDash val="solid"/>
              <a:miter/>
            </a:ln>
          </p:spPr>
        </p:sp>
      </p:grpSp>
      <p:grpSp>
        <p:nvGrpSpPr>
          <p:cNvPr name="Group 13" id="13"/>
          <p:cNvGrpSpPr/>
          <p:nvPr/>
        </p:nvGrpSpPr>
        <p:grpSpPr>
          <a:xfrm rot="0">
            <a:off x="1114425" y="4543425"/>
            <a:ext cx="582930" cy="582930"/>
            <a:chOff x="0" y="0"/>
            <a:chExt cx="777240" cy="777240"/>
          </a:xfrm>
        </p:grpSpPr>
        <p:sp>
          <p:nvSpPr>
            <p:cNvPr name="Freeform 14" id="14" descr="preencoded.png"/>
            <p:cNvSpPr/>
            <p:nvPr/>
          </p:nvSpPr>
          <p:spPr>
            <a:xfrm flipH="false" flipV="false" rot="0">
              <a:off x="0" y="0"/>
              <a:ext cx="777240" cy="777240"/>
            </a:xfrm>
            <a:custGeom>
              <a:avLst/>
              <a:gdLst/>
              <a:ahLst/>
              <a:cxnLst/>
              <a:rect r="r" b="b" t="t" l="l"/>
              <a:pathLst>
                <a:path h="777240" w="777240">
                  <a:moveTo>
                    <a:pt x="0" y="0"/>
                  </a:moveTo>
                  <a:lnTo>
                    <a:pt x="777240" y="0"/>
                  </a:lnTo>
                  <a:lnTo>
                    <a:pt x="777240" y="777240"/>
                  </a:lnTo>
                  <a:lnTo>
                    <a:pt x="0" y="777240"/>
                  </a:lnTo>
                  <a:lnTo>
                    <a:pt x="0" y="0"/>
                  </a:lnTo>
                  <a:close/>
                </a:path>
              </a:pathLst>
            </a:custGeom>
            <a:blipFill>
              <a:blip r:embed="rId5"/>
              <a:stretch>
                <a:fillRect l="0" t="0" r="0" b="0"/>
              </a:stretch>
            </a:blipFill>
          </p:spPr>
        </p:sp>
      </p:grpSp>
      <p:sp>
        <p:nvSpPr>
          <p:cNvPr name="TextBox 15" id="15"/>
          <p:cNvSpPr txBox="true"/>
          <p:nvPr/>
        </p:nvSpPr>
        <p:spPr>
          <a:xfrm rot="0">
            <a:off x="2331720" y="4157853"/>
            <a:ext cx="6035040" cy="533400"/>
          </a:xfrm>
          <a:prstGeom prst="rect">
            <a:avLst/>
          </a:prstGeom>
        </p:spPr>
        <p:txBody>
          <a:bodyPr anchor="t" rtlCol="false" tIns="0" lIns="0" bIns="0" rIns="0">
            <a:spAutoFit/>
          </a:bodyPr>
          <a:lstStyle/>
          <a:p>
            <a:pPr algn="l">
              <a:lnSpc>
                <a:spcPts val="3719"/>
              </a:lnSpc>
            </a:pPr>
            <a:r>
              <a:rPr lang="en-US" sz="3099" b="1">
                <a:solidFill>
                  <a:srgbClr val="0B4F5C"/>
                </a:solidFill>
                <a:latin typeface="Calibri"/>
                <a:ea typeface="Calibri"/>
                <a:cs typeface="Calibri"/>
                <a:sym typeface="Calibri"/>
              </a:rPr>
              <a:t>Continuously synchronised</a:t>
            </a:r>
          </a:p>
        </p:txBody>
      </p:sp>
      <p:sp>
        <p:nvSpPr>
          <p:cNvPr name="TextBox 16" id="16"/>
          <p:cNvSpPr txBox="true"/>
          <p:nvPr/>
        </p:nvSpPr>
        <p:spPr>
          <a:xfrm rot="0">
            <a:off x="2331720" y="4821555"/>
            <a:ext cx="6035040" cy="1162050"/>
          </a:xfrm>
          <a:prstGeom prst="rect">
            <a:avLst/>
          </a:prstGeom>
        </p:spPr>
        <p:txBody>
          <a:bodyPr anchor="t" rtlCol="false" tIns="0" lIns="0" bIns="0" rIns="0">
            <a:spAutoFit/>
          </a:bodyPr>
          <a:lstStyle/>
          <a:p>
            <a:pPr algn="l">
              <a:lnSpc>
                <a:spcPts val="2999"/>
              </a:lnSpc>
            </a:pPr>
            <a:r>
              <a:rPr lang="en-US" sz="2499">
                <a:solidFill>
                  <a:srgbClr val="1B2B34"/>
                </a:solidFill>
                <a:latin typeface="Calibri"/>
                <a:ea typeface="Calibri"/>
                <a:cs typeface="Calibri"/>
                <a:sym typeface="Calibri"/>
              </a:rPr>
              <a:t>A 5-state Unscented Kalman Filter updates every morning from weight and heart rate, and resets when a lab result arrives</a:t>
            </a:r>
          </a:p>
        </p:txBody>
      </p:sp>
      <p:grpSp>
        <p:nvGrpSpPr>
          <p:cNvPr name="Group 17" id="17"/>
          <p:cNvGrpSpPr/>
          <p:nvPr/>
        </p:nvGrpSpPr>
        <p:grpSpPr>
          <a:xfrm rot="0">
            <a:off x="813435" y="6436995"/>
            <a:ext cx="1184910" cy="1184910"/>
            <a:chOff x="0" y="0"/>
            <a:chExt cx="1579880" cy="1579880"/>
          </a:xfrm>
        </p:grpSpPr>
        <p:sp>
          <p:nvSpPr>
            <p:cNvPr name="Freeform 18" id="18"/>
            <p:cNvSpPr/>
            <p:nvPr/>
          </p:nvSpPr>
          <p:spPr>
            <a:xfrm flipH="false" flipV="false" rot="0">
              <a:off x="0" y="0"/>
              <a:ext cx="1579880" cy="1579880"/>
            </a:xfrm>
            <a:custGeom>
              <a:avLst/>
              <a:gdLst/>
              <a:ahLst/>
              <a:cxnLst/>
              <a:rect r="r" b="b" t="t" l="l"/>
              <a:pathLst>
                <a:path h="1579880" w="1579880">
                  <a:moveTo>
                    <a:pt x="0" y="789940"/>
                  </a:moveTo>
                  <a:cubicBezTo>
                    <a:pt x="0" y="353695"/>
                    <a:pt x="353695" y="0"/>
                    <a:pt x="789940" y="0"/>
                  </a:cubicBezTo>
                  <a:cubicBezTo>
                    <a:pt x="1226185" y="0"/>
                    <a:pt x="1579880" y="353695"/>
                    <a:pt x="1579880" y="789940"/>
                  </a:cubicBezTo>
                  <a:cubicBezTo>
                    <a:pt x="1579880" y="1226185"/>
                    <a:pt x="1226185" y="1579880"/>
                    <a:pt x="789940" y="1579880"/>
                  </a:cubicBezTo>
                  <a:cubicBezTo>
                    <a:pt x="353695" y="1579880"/>
                    <a:pt x="0" y="1226185"/>
                    <a:pt x="0" y="789940"/>
                  </a:cubicBezTo>
                  <a:close/>
                </a:path>
              </a:pathLst>
            </a:custGeom>
            <a:solidFill>
              <a:srgbClr val="0E7C86"/>
            </a:solidFill>
            <a:ln w="19050" cap="sq">
              <a:solidFill>
                <a:srgbClr val="0E7C86"/>
              </a:solidFill>
              <a:prstDash val="solid"/>
              <a:miter/>
            </a:ln>
          </p:spPr>
        </p:sp>
      </p:grpSp>
      <p:grpSp>
        <p:nvGrpSpPr>
          <p:cNvPr name="Group 19" id="19"/>
          <p:cNvGrpSpPr/>
          <p:nvPr/>
        </p:nvGrpSpPr>
        <p:grpSpPr>
          <a:xfrm rot="0">
            <a:off x="1114425" y="6737985"/>
            <a:ext cx="582930" cy="582930"/>
            <a:chOff x="0" y="0"/>
            <a:chExt cx="777240" cy="777240"/>
          </a:xfrm>
        </p:grpSpPr>
        <p:sp>
          <p:nvSpPr>
            <p:cNvPr name="Freeform 20" id="20" descr="preencoded.png"/>
            <p:cNvSpPr/>
            <p:nvPr/>
          </p:nvSpPr>
          <p:spPr>
            <a:xfrm flipH="false" flipV="false" rot="0">
              <a:off x="0" y="0"/>
              <a:ext cx="777240" cy="777240"/>
            </a:xfrm>
            <a:custGeom>
              <a:avLst/>
              <a:gdLst/>
              <a:ahLst/>
              <a:cxnLst/>
              <a:rect r="r" b="b" t="t" l="l"/>
              <a:pathLst>
                <a:path h="777240" w="777240">
                  <a:moveTo>
                    <a:pt x="0" y="0"/>
                  </a:moveTo>
                  <a:lnTo>
                    <a:pt x="777240" y="0"/>
                  </a:lnTo>
                  <a:lnTo>
                    <a:pt x="777240" y="777240"/>
                  </a:lnTo>
                  <a:lnTo>
                    <a:pt x="0" y="777240"/>
                  </a:lnTo>
                  <a:lnTo>
                    <a:pt x="0" y="0"/>
                  </a:lnTo>
                  <a:close/>
                </a:path>
              </a:pathLst>
            </a:custGeom>
            <a:blipFill>
              <a:blip r:embed="rId6"/>
              <a:stretch>
                <a:fillRect l="0" t="0" r="0" b="0"/>
              </a:stretch>
            </a:blipFill>
          </p:spPr>
        </p:sp>
      </p:grpSp>
      <p:sp>
        <p:nvSpPr>
          <p:cNvPr name="TextBox 21" id="21"/>
          <p:cNvSpPr txBox="true"/>
          <p:nvPr/>
        </p:nvSpPr>
        <p:spPr>
          <a:xfrm rot="0">
            <a:off x="2331720" y="6352413"/>
            <a:ext cx="6035040" cy="533400"/>
          </a:xfrm>
          <a:prstGeom prst="rect">
            <a:avLst/>
          </a:prstGeom>
        </p:spPr>
        <p:txBody>
          <a:bodyPr anchor="t" rtlCol="false" tIns="0" lIns="0" bIns="0" rIns="0">
            <a:spAutoFit/>
          </a:bodyPr>
          <a:lstStyle/>
          <a:p>
            <a:pPr algn="l">
              <a:lnSpc>
                <a:spcPts val="3719"/>
              </a:lnSpc>
            </a:pPr>
            <a:r>
              <a:rPr lang="en-US" sz="3099" b="1">
                <a:solidFill>
                  <a:srgbClr val="0B4F5C"/>
                </a:solidFill>
                <a:latin typeface="Calibri"/>
                <a:ea typeface="Calibri"/>
                <a:cs typeface="Calibri"/>
                <a:sym typeface="Calibri"/>
              </a:rPr>
              <a:t>Simulatable</a:t>
            </a:r>
          </a:p>
        </p:txBody>
      </p:sp>
      <p:sp>
        <p:nvSpPr>
          <p:cNvPr name="TextBox 22" id="22"/>
          <p:cNvSpPr txBox="true"/>
          <p:nvPr/>
        </p:nvSpPr>
        <p:spPr>
          <a:xfrm rot="0">
            <a:off x="2331720" y="7016115"/>
            <a:ext cx="6035040" cy="1162050"/>
          </a:xfrm>
          <a:prstGeom prst="rect">
            <a:avLst/>
          </a:prstGeom>
        </p:spPr>
        <p:txBody>
          <a:bodyPr anchor="t" rtlCol="false" tIns="0" lIns="0" bIns="0" rIns="0">
            <a:spAutoFit/>
          </a:bodyPr>
          <a:lstStyle/>
          <a:p>
            <a:pPr algn="l">
              <a:lnSpc>
                <a:spcPts val="2999"/>
              </a:lnSpc>
            </a:pPr>
            <a:r>
              <a:rPr lang="en-US" sz="2499">
                <a:solidFill>
                  <a:srgbClr val="1B2B34"/>
                </a:solidFill>
                <a:latin typeface="Calibri"/>
                <a:ea typeface="Calibri"/>
                <a:cs typeface="Calibri"/>
                <a:sym typeface="Calibri"/>
              </a:rPr>
              <a:t>The doctor changes pills, fluids or work hours on the virtual patient and sees the 72-hour risk and 10-year range change</a:t>
            </a:r>
          </a:p>
        </p:txBody>
      </p:sp>
      <p:grpSp>
        <p:nvGrpSpPr>
          <p:cNvPr name="Group 23" id="23"/>
          <p:cNvGrpSpPr/>
          <p:nvPr/>
        </p:nvGrpSpPr>
        <p:grpSpPr>
          <a:xfrm rot="0">
            <a:off x="8782431" y="1924431"/>
            <a:ext cx="8701278" cy="6188650"/>
            <a:chOff x="0" y="0"/>
            <a:chExt cx="11601704" cy="8251533"/>
          </a:xfrm>
        </p:grpSpPr>
        <p:sp>
          <p:nvSpPr>
            <p:cNvPr name="Freeform 24" id="24"/>
            <p:cNvSpPr/>
            <p:nvPr/>
          </p:nvSpPr>
          <p:spPr>
            <a:xfrm flipH="false" flipV="false" rot="0">
              <a:off x="0" y="0"/>
              <a:ext cx="11601704" cy="8251571"/>
            </a:xfrm>
            <a:custGeom>
              <a:avLst/>
              <a:gdLst/>
              <a:ahLst/>
              <a:cxnLst/>
              <a:rect r="r" b="b" t="t" l="l"/>
              <a:pathLst>
                <a:path h="8251571" w="11601704">
                  <a:moveTo>
                    <a:pt x="0" y="0"/>
                  </a:moveTo>
                  <a:lnTo>
                    <a:pt x="11601704" y="0"/>
                  </a:lnTo>
                  <a:lnTo>
                    <a:pt x="11601704" y="8251571"/>
                  </a:lnTo>
                  <a:lnTo>
                    <a:pt x="0" y="8251571"/>
                  </a:lnTo>
                  <a:close/>
                </a:path>
              </a:pathLst>
            </a:custGeom>
            <a:solidFill>
              <a:srgbClr val="FFFFFF"/>
            </a:solidFill>
            <a:ln w="19050" cap="sq">
              <a:solidFill>
                <a:srgbClr val="C9D6D8"/>
              </a:solidFill>
              <a:prstDash val="solid"/>
              <a:miter/>
            </a:ln>
          </p:spPr>
        </p:sp>
      </p:grpSp>
      <p:grpSp>
        <p:nvGrpSpPr>
          <p:cNvPr name="Group 25" id="25"/>
          <p:cNvGrpSpPr/>
          <p:nvPr/>
        </p:nvGrpSpPr>
        <p:grpSpPr>
          <a:xfrm rot="0">
            <a:off x="8846820" y="1988820"/>
            <a:ext cx="8572500" cy="6059872"/>
            <a:chOff x="0" y="0"/>
            <a:chExt cx="11430000" cy="8079829"/>
          </a:xfrm>
        </p:grpSpPr>
        <p:sp>
          <p:nvSpPr>
            <p:cNvPr name="Freeform 26" id="26" descr="How well does the twin know this patient screenshot"/>
            <p:cNvSpPr/>
            <p:nvPr/>
          </p:nvSpPr>
          <p:spPr>
            <a:xfrm flipH="false" flipV="false" rot="0">
              <a:off x="0" y="0"/>
              <a:ext cx="11430000" cy="8079867"/>
            </a:xfrm>
            <a:custGeom>
              <a:avLst/>
              <a:gdLst/>
              <a:ahLst/>
              <a:cxnLst/>
              <a:rect r="r" b="b" t="t" l="l"/>
              <a:pathLst>
                <a:path h="8079867" w="11430000">
                  <a:moveTo>
                    <a:pt x="0" y="0"/>
                  </a:moveTo>
                  <a:lnTo>
                    <a:pt x="11430000" y="0"/>
                  </a:lnTo>
                  <a:lnTo>
                    <a:pt x="11430000" y="8079867"/>
                  </a:lnTo>
                  <a:lnTo>
                    <a:pt x="0" y="8079867"/>
                  </a:lnTo>
                  <a:lnTo>
                    <a:pt x="0" y="0"/>
                  </a:lnTo>
                  <a:close/>
                </a:path>
              </a:pathLst>
            </a:custGeom>
            <a:blipFill>
              <a:blip r:embed="rId7"/>
              <a:stretch>
                <a:fillRect l="0" t="0" r="0" b="0"/>
              </a:stretch>
            </a:blipFill>
          </p:spPr>
        </p:sp>
      </p:grpSp>
      <p:sp>
        <p:nvSpPr>
          <p:cNvPr name="TextBox 27" id="27"/>
          <p:cNvSpPr txBox="true"/>
          <p:nvPr/>
        </p:nvSpPr>
        <p:spPr>
          <a:xfrm rot="0">
            <a:off x="8846820" y="8113395"/>
            <a:ext cx="8572500" cy="1047750"/>
          </a:xfrm>
          <a:prstGeom prst="rect">
            <a:avLst/>
          </a:prstGeom>
        </p:spPr>
        <p:txBody>
          <a:bodyPr anchor="t" rtlCol="false" tIns="0" lIns="0" bIns="0" rIns="0">
            <a:spAutoFit/>
          </a:bodyPr>
          <a:lstStyle/>
          <a:p>
            <a:pPr algn="l">
              <a:lnSpc>
                <a:spcPts val="2639"/>
              </a:lnSpc>
            </a:pPr>
            <a:r>
              <a:rPr lang="en-US" sz="2199" i="1">
                <a:solidFill>
                  <a:srgbClr val="5B6C75"/>
                </a:solidFill>
                <a:latin typeface="Calibri"/>
                <a:ea typeface="Calibri"/>
                <a:cs typeface="Calibri"/>
                <a:sym typeface="Calibri"/>
              </a:rPr>
              <a:t>Live proof: the twin predicts Riya's morning weight before seeing it (mean error 0.21 kg, about the scale's noise) and is still learning her sweat rate (0.98, 80% interval 0.69-1.39).</a:t>
            </a:r>
          </a:p>
        </p:txBody>
      </p:sp>
      <p:sp>
        <p:nvSpPr>
          <p:cNvPr name="TextBox 28" id="28"/>
          <p:cNvSpPr txBox="true"/>
          <p:nvPr/>
        </p:nvSpPr>
        <p:spPr>
          <a:xfrm rot="0">
            <a:off x="16962120" y="9540240"/>
            <a:ext cx="640080" cy="342900"/>
          </a:xfrm>
          <a:prstGeom prst="rect">
            <a:avLst/>
          </a:prstGeom>
        </p:spPr>
        <p:txBody>
          <a:bodyPr anchor="t" rtlCol="false" tIns="0" lIns="0" bIns="0" rIns="0">
            <a:spAutoFit/>
          </a:bodyPr>
          <a:lstStyle/>
          <a:p>
            <a:pPr algn="r">
              <a:lnSpc>
                <a:spcPts val="2459"/>
              </a:lnSpc>
            </a:pPr>
            <a:r>
              <a:rPr lang="en-US" sz="2049">
                <a:solidFill>
                  <a:srgbClr val="5B6C75"/>
                </a:solidFill>
                <a:latin typeface="Calibri"/>
                <a:ea typeface="Calibri"/>
                <a:cs typeface="Calibri"/>
                <a:sym typeface="Calibri"/>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19108"/>
            <a:ext cx="16596360" cy="3593431"/>
            <a:chOff x="0" y="0"/>
            <a:chExt cx="22128480" cy="4791241"/>
          </a:xfrm>
        </p:grpSpPr>
        <p:sp>
          <p:nvSpPr>
            <p:cNvPr name="Freeform 3" id="3"/>
            <p:cNvSpPr/>
            <p:nvPr/>
          </p:nvSpPr>
          <p:spPr>
            <a:xfrm flipH="false" flipV="false" rot="0">
              <a:off x="0" y="0"/>
              <a:ext cx="22128480" cy="4791241"/>
            </a:xfrm>
            <a:custGeom>
              <a:avLst/>
              <a:gdLst/>
              <a:ahLst/>
              <a:cxnLst/>
              <a:rect r="r" b="b" t="t" l="l"/>
              <a:pathLst>
                <a:path h="4791241" w="22128480">
                  <a:moveTo>
                    <a:pt x="0" y="0"/>
                  </a:moveTo>
                  <a:lnTo>
                    <a:pt x="22128480" y="0"/>
                  </a:lnTo>
                  <a:lnTo>
                    <a:pt x="22128480" y="4791241"/>
                  </a:lnTo>
                  <a:lnTo>
                    <a:pt x="0" y="4791241"/>
                  </a:lnTo>
                  <a:close/>
                </a:path>
              </a:pathLst>
            </a:custGeom>
            <a:blipFill>
              <a:blip r:embed="rId3">
                <a:alphaModFix amt="0"/>
              </a:blip>
              <a:stretch>
                <a:fillRect l="0" t="-73770" r="0" b="-6214"/>
              </a:stretch>
            </a:blipFill>
          </p:spPr>
        </p:sp>
        <p:sp>
          <p:nvSpPr>
            <p:cNvPr name="TextBox 4" id="4"/>
            <p:cNvSpPr txBox="true"/>
            <p:nvPr/>
          </p:nvSpPr>
          <p:spPr>
            <a:xfrm>
              <a:off x="0" y="-9525"/>
              <a:ext cx="22128480" cy="4800766"/>
            </a:xfrm>
            <a:prstGeom prst="rect">
              <a:avLst/>
            </a:prstGeom>
          </p:spPr>
          <p:txBody>
            <a:bodyPr anchor="ctr" rtlCol="false" tIns="0" lIns="0" bIns="0" rIns="0"/>
            <a:lstStyle/>
            <a:p>
              <a:pPr algn="l">
                <a:lnSpc>
                  <a:spcPts val="5879"/>
                </a:lnSpc>
              </a:pPr>
              <a:r>
                <a:rPr lang="en-US" sz="4899" b="1">
                  <a:solidFill>
                    <a:srgbClr val="0B4F5C"/>
                  </a:solidFill>
                  <a:latin typeface="Cambria"/>
                  <a:ea typeface="Cambria"/>
                  <a:cs typeface="Cambria"/>
                  <a:sym typeface="Cambria"/>
                </a:rPr>
                <a:t>Who it serves, even without a smartwatch</a:t>
              </a:r>
            </a:p>
          </p:txBody>
        </p:sp>
      </p:grpSp>
      <p:grpSp>
        <p:nvGrpSpPr>
          <p:cNvPr name="Group 5" id="5"/>
          <p:cNvGrpSpPr/>
          <p:nvPr/>
        </p:nvGrpSpPr>
        <p:grpSpPr>
          <a:xfrm rot="0">
            <a:off x="813435" y="1979295"/>
            <a:ext cx="3928110" cy="3242310"/>
            <a:chOff x="0" y="0"/>
            <a:chExt cx="5237480" cy="4323080"/>
          </a:xfrm>
        </p:grpSpPr>
        <p:sp>
          <p:nvSpPr>
            <p:cNvPr name="Freeform 6" id="6"/>
            <p:cNvSpPr/>
            <p:nvPr/>
          </p:nvSpPr>
          <p:spPr>
            <a:xfrm flipH="false" flipV="false" rot="0">
              <a:off x="0" y="0"/>
              <a:ext cx="5237480" cy="4323080"/>
            </a:xfrm>
            <a:custGeom>
              <a:avLst/>
              <a:gdLst/>
              <a:ahLst/>
              <a:cxnLst/>
              <a:rect r="r" b="b" t="t" l="l"/>
              <a:pathLst>
                <a:path h="4323080" w="5237480">
                  <a:moveTo>
                    <a:pt x="0" y="147193"/>
                  </a:moveTo>
                  <a:cubicBezTo>
                    <a:pt x="0" y="65913"/>
                    <a:pt x="65913" y="0"/>
                    <a:pt x="147193" y="0"/>
                  </a:cubicBezTo>
                  <a:lnTo>
                    <a:pt x="5090287" y="0"/>
                  </a:lnTo>
                  <a:cubicBezTo>
                    <a:pt x="5171567" y="0"/>
                    <a:pt x="5237480" y="65913"/>
                    <a:pt x="5237480" y="147193"/>
                  </a:cubicBezTo>
                  <a:lnTo>
                    <a:pt x="5237480" y="4175887"/>
                  </a:lnTo>
                  <a:cubicBezTo>
                    <a:pt x="5237480" y="4257167"/>
                    <a:pt x="5171567" y="4323080"/>
                    <a:pt x="5090287" y="4323080"/>
                  </a:cubicBezTo>
                  <a:lnTo>
                    <a:pt x="147193" y="4323080"/>
                  </a:lnTo>
                  <a:cubicBezTo>
                    <a:pt x="65913" y="4323080"/>
                    <a:pt x="0" y="4257167"/>
                    <a:pt x="0" y="4175887"/>
                  </a:cubicBezTo>
                  <a:close/>
                </a:path>
              </a:pathLst>
            </a:custGeom>
            <a:solidFill>
              <a:srgbClr val="EEF5F5"/>
            </a:solidFill>
            <a:ln w="19050" cap="sq">
              <a:solidFill>
                <a:srgbClr val="EEF5F5"/>
              </a:solidFill>
              <a:prstDash val="solid"/>
              <a:miter/>
            </a:ln>
          </p:spPr>
        </p:sp>
      </p:grpSp>
      <p:grpSp>
        <p:nvGrpSpPr>
          <p:cNvPr name="Group 7" id="7"/>
          <p:cNvGrpSpPr/>
          <p:nvPr/>
        </p:nvGrpSpPr>
        <p:grpSpPr>
          <a:xfrm rot="0">
            <a:off x="1156335" y="2322195"/>
            <a:ext cx="1047750" cy="1047750"/>
            <a:chOff x="0" y="0"/>
            <a:chExt cx="1397000" cy="1397000"/>
          </a:xfrm>
        </p:grpSpPr>
        <p:sp>
          <p:nvSpPr>
            <p:cNvPr name="Freeform 8" id="8"/>
            <p:cNvSpPr/>
            <p:nvPr/>
          </p:nvSpPr>
          <p:spPr>
            <a:xfrm flipH="false" flipV="false" rot="0">
              <a:off x="0" y="0"/>
              <a:ext cx="1397000" cy="1397000"/>
            </a:xfrm>
            <a:custGeom>
              <a:avLst/>
              <a:gdLst/>
              <a:ahLst/>
              <a:cxnLst/>
              <a:rect r="r" b="b" t="t" l="l"/>
              <a:pathLst>
                <a:path h="1397000" w="1397000">
                  <a:moveTo>
                    <a:pt x="0" y="698500"/>
                  </a:moveTo>
                  <a:cubicBezTo>
                    <a:pt x="0" y="312674"/>
                    <a:pt x="312674" y="0"/>
                    <a:pt x="698500" y="0"/>
                  </a:cubicBezTo>
                  <a:cubicBezTo>
                    <a:pt x="1084326" y="0"/>
                    <a:pt x="1397000" y="312674"/>
                    <a:pt x="1397000" y="698500"/>
                  </a:cubicBezTo>
                  <a:cubicBezTo>
                    <a:pt x="1397000" y="1084326"/>
                    <a:pt x="1084326" y="1397000"/>
                    <a:pt x="698500" y="1397000"/>
                  </a:cubicBezTo>
                  <a:cubicBezTo>
                    <a:pt x="312674" y="1397000"/>
                    <a:pt x="0" y="1084326"/>
                    <a:pt x="0" y="698500"/>
                  </a:cubicBezTo>
                  <a:close/>
                </a:path>
              </a:pathLst>
            </a:custGeom>
            <a:solidFill>
              <a:srgbClr val="0E7C86"/>
            </a:solidFill>
            <a:ln w="19050" cap="sq">
              <a:solidFill>
                <a:srgbClr val="0E7C86"/>
              </a:solidFill>
              <a:prstDash val="solid"/>
              <a:miter/>
            </a:ln>
          </p:spPr>
        </p:sp>
      </p:grpSp>
      <p:grpSp>
        <p:nvGrpSpPr>
          <p:cNvPr name="Group 9" id="9"/>
          <p:cNvGrpSpPr/>
          <p:nvPr/>
        </p:nvGrpSpPr>
        <p:grpSpPr>
          <a:xfrm rot="0">
            <a:off x="1423035" y="2588895"/>
            <a:ext cx="514350" cy="514350"/>
            <a:chOff x="0" y="0"/>
            <a:chExt cx="685800" cy="685800"/>
          </a:xfrm>
        </p:grpSpPr>
        <p:sp>
          <p:nvSpPr>
            <p:cNvPr name="Freeform 10" id="10" descr="preencoded.png"/>
            <p:cNvSpPr/>
            <p:nvPr/>
          </p:nvSpPr>
          <p:spPr>
            <a:xfrm flipH="false" flipV="false" rot="0">
              <a:off x="0" y="0"/>
              <a:ext cx="685800" cy="685800"/>
            </a:xfrm>
            <a:custGeom>
              <a:avLst/>
              <a:gdLst/>
              <a:ahLst/>
              <a:cxnLst/>
              <a:rect r="r" b="b" t="t" l="l"/>
              <a:pathLst>
                <a:path h="685800" w="685800">
                  <a:moveTo>
                    <a:pt x="0" y="0"/>
                  </a:moveTo>
                  <a:lnTo>
                    <a:pt x="685800" y="0"/>
                  </a:lnTo>
                  <a:lnTo>
                    <a:pt x="685800" y="685800"/>
                  </a:lnTo>
                  <a:lnTo>
                    <a:pt x="0" y="685800"/>
                  </a:lnTo>
                  <a:lnTo>
                    <a:pt x="0" y="0"/>
                  </a:lnTo>
                  <a:close/>
                </a:path>
              </a:pathLst>
            </a:custGeom>
            <a:blipFill>
              <a:blip r:embed="rId4"/>
              <a:stretch>
                <a:fillRect l="0" t="0" r="0" b="0"/>
              </a:stretch>
            </a:blipFill>
          </p:spPr>
        </p:sp>
      </p:grpSp>
      <p:sp>
        <p:nvSpPr>
          <p:cNvPr name="TextBox 11" id="11"/>
          <p:cNvSpPr txBox="true"/>
          <p:nvPr/>
        </p:nvSpPr>
        <p:spPr>
          <a:xfrm rot="0">
            <a:off x="2331720" y="2480310"/>
            <a:ext cx="2263140" cy="504825"/>
          </a:xfrm>
          <a:prstGeom prst="rect">
            <a:avLst/>
          </a:prstGeom>
        </p:spPr>
        <p:txBody>
          <a:bodyPr anchor="t" rtlCol="false" tIns="0" lIns="0" bIns="0" rIns="0">
            <a:spAutoFit/>
          </a:bodyPr>
          <a:lstStyle/>
          <a:p>
            <a:pPr algn="l">
              <a:lnSpc>
                <a:spcPts val="3539"/>
              </a:lnSpc>
            </a:pPr>
            <a:r>
              <a:rPr lang="en-US" sz="2949" b="1">
                <a:solidFill>
                  <a:srgbClr val="0B4F5C"/>
                </a:solidFill>
                <a:latin typeface="Calibri"/>
                <a:ea typeface="Calibri"/>
                <a:cs typeface="Calibri"/>
                <a:sym typeface="Calibri"/>
              </a:rPr>
              <a:t>Doctor</a:t>
            </a:r>
          </a:p>
        </p:txBody>
      </p:sp>
      <p:sp>
        <p:nvSpPr>
          <p:cNvPr name="TextBox 12" id="12"/>
          <p:cNvSpPr txBox="true"/>
          <p:nvPr/>
        </p:nvSpPr>
        <p:spPr>
          <a:xfrm rot="0">
            <a:off x="1165860" y="3518535"/>
            <a:ext cx="3291840" cy="1162050"/>
          </a:xfrm>
          <a:prstGeom prst="rect">
            <a:avLst/>
          </a:prstGeom>
        </p:spPr>
        <p:txBody>
          <a:bodyPr anchor="t" rtlCol="false" tIns="0" lIns="0" bIns="0" rIns="0">
            <a:spAutoFit/>
          </a:bodyPr>
          <a:lstStyle/>
          <a:p>
            <a:pPr algn="l">
              <a:lnSpc>
                <a:spcPts val="2999"/>
              </a:lnSpc>
            </a:pPr>
            <a:r>
              <a:rPr lang="en-US" sz="2499">
                <a:solidFill>
                  <a:srgbClr val="1B2B34"/>
                </a:solidFill>
                <a:latin typeface="Calibri"/>
                <a:ea typeface="Calibri"/>
                <a:cs typeface="Calibri"/>
                <a:sym typeface="Calibri"/>
              </a:rPr>
              <a:t>Sorted risk list, reasons, what-if, one-click home test</a:t>
            </a:r>
          </a:p>
        </p:txBody>
      </p:sp>
      <p:grpSp>
        <p:nvGrpSpPr>
          <p:cNvPr name="Group 13" id="13"/>
          <p:cNvGrpSpPr/>
          <p:nvPr/>
        </p:nvGrpSpPr>
        <p:grpSpPr>
          <a:xfrm rot="0">
            <a:off x="5037963" y="1979295"/>
            <a:ext cx="3928110" cy="3242310"/>
            <a:chOff x="0" y="0"/>
            <a:chExt cx="5237480" cy="4323080"/>
          </a:xfrm>
        </p:grpSpPr>
        <p:sp>
          <p:nvSpPr>
            <p:cNvPr name="Freeform 14" id="14"/>
            <p:cNvSpPr/>
            <p:nvPr/>
          </p:nvSpPr>
          <p:spPr>
            <a:xfrm flipH="false" flipV="false" rot="0">
              <a:off x="0" y="0"/>
              <a:ext cx="5237480" cy="4323080"/>
            </a:xfrm>
            <a:custGeom>
              <a:avLst/>
              <a:gdLst/>
              <a:ahLst/>
              <a:cxnLst/>
              <a:rect r="r" b="b" t="t" l="l"/>
              <a:pathLst>
                <a:path h="4323080" w="5237480">
                  <a:moveTo>
                    <a:pt x="0" y="147193"/>
                  </a:moveTo>
                  <a:cubicBezTo>
                    <a:pt x="0" y="65913"/>
                    <a:pt x="65913" y="0"/>
                    <a:pt x="147193" y="0"/>
                  </a:cubicBezTo>
                  <a:lnTo>
                    <a:pt x="5090287" y="0"/>
                  </a:lnTo>
                  <a:cubicBezTo>
                    <a:pt x="5171567" y="0"/>
                    <a:pt x="5237480" y="65913"/>
                    <a:pt x="5237480" y="147193"/>
                  </a:cubicBezTo>
                  <a:lnTo>
                    <a:pt x="5237480" y="4175887"/>
                  </a:lnTo>
                  <a:cubicBezTo>
                    <a:pt x="5237480" y="4257167"/>
                    <a:pt x="5171567" y="4323080"/>
                    <a:pt x="5090287" y="4323080"/>
                  </a:cubicBezTo>
                  <a:lnTo>
                    <a:pt x="147193" y="4323080"/>
                  </a:lnTo>
                  <a:cubicBezTo>
                    <a:pt x="65913" y="4323080"/>
                    <a:pt x="0" y="4257167"/>
                    <a:pt x="0" y="4175887"/>
                  </a:cubicBezTo>
                  <a:close/>
                </a:path>
              </a:pathLst>
            </a:custGeom>
            <a:solidFill>
              <a:srgbClr val="EEF5F5"/>
            </a:solidFill>
            <a:ln w="19050" cap="sq">
              <a:solidFill>
                <a:srgbClr val="EEF5F5"/>
              </a:solidFill>
              <a:prstDash val="solid"/>
              <a:miter/>
            </a:ln>
          </p:spPr>
        </p:sp>
      </p:grpSp>
      <p:grpSp>
        <p:nvGrpSpPr>
          <p:cNvPr name="Group 15" id="15"/>
          <p:cNvGrpSpPr/>
          <p:nvPr/>
        </p:nvGrpSpPr>
        <p:grpSpPr>
          <a:xfrm rot="0">
            <a:off x="5380863" y="2322195"/>
            <a:ext cx="1047750" cy="1047750"/>
            <a:chOff x="0" y="0"/>
            <a:chExt cx="1397000" cy="1397000"/>
          </a:xfrm>
        </p:grpSpPr>
        <p:sp>
          <p:nvSpPr>
            <p:cNvPr name="Freeform 16" id="16"/>
            <p:cNvSpPr/>
            <p:nvPr/>
          </p:nvSpPr>
          <p:spPr>
            <a:xfrm flipH="false" flipV="false" rot="0">
              <a:off x="0" y="0"/>
              <a:ext cx="1397000" cy="1397000"/>
            </a:xfrm>
            <a:custGeom>
              <a:avLst/>
              <a:gdLst/>
              <a:ahLst/>
              <a:cxnLst/>
              <a:rect r="r" b="b" t="t" l="l"/>
              <a:pathLst>
                <a:path h="1397000" w="1397000">
                  <a:moveTo>
                    <a:pt x="0" y="698500"/>
                  </a:moveTo>
                  <a:cubicBezTo>
                    <a:pt x="0" y="312674"/>
                    <a:pt x="312674" y="0"/>
                    <a:pt x="698500" y="0"/>
                  </a:cubicBezTo>
                  <a:cubicBezTo>
                    <a:pt x="1084326" y="0"/>
                    <a:pt x="1397000" y="312674"/>
                    <a:pt x="1397000" y="698500"/>
                  </a:cubicBezTo>
                  <a:cubicBezTo>
                    <a:pt x="1397000" y="1084326"/>
                    <a:pt x="1084326" y="1397000"/>
                    <a:pt x="698500" y="1397000"/>
                  </a:cubicBezTo>
                  <a:cubicBezTo>
                    <a:pt x="312674" y="1397000"/>
                    <a:pt x="0" y="1084326"/>
                    <a:pt x="0" y="698500"/>
                  </a:cubicBezTo>
                  <a:close/>
                </a:path>
              </a:pathLst>
            </a:custGeom>
            <a:solidFill>
              <a:srgbClr val="0E7C86"/>
            </a:solidFill>
            <a:ln w="19050" cap="sq">
              <a:solidFill>
                <a:srgbClr val="0E7C86"/>
              </a:solidFill>
              <a:prstDash val="solid"/>
              <a:miter/>
            </a:ln>
          </p:spPr>
        </p:sp>
      </p:grpSp>
      <p:grpSp>
        <p:nvGrpSpPr>
          <p:cNvPr name="Group 17" id="17"/>
          <p:cNvGrpSpPr/>
          <p:nvPr/>
        </p:nvGrpSpPr>
        <p:grpSpPr>
          <a:xfrm rot="0">
            <a:off x="5647563" y="2588895"/>
            <a:ext cx="514350" cy="514350"/>
            <a:chOff x="0" y="0"/>
            <a:chExt cx="685800" cy="685800"/>
          </a:xfrm>
        </p:grpSpPr>
        <p:sp>
          <p:nvSpPr>
            <p:cNvPr name="Freeform 18" id="18" descr="preencoded.png"/>
            <p:cNvSpPr/>
            <p:nvPr/>
          </p:nvSpPr>
          <p:spPr>
            <a:xfrm flipH="false" flipV="false" rot="0">
              <a:off x="0" y="0"/>
              <a:ext cx="685800" cy="685800"/>
            </a:xfrm>
            <a:custGeom>
              <a:avLst/>
              <a:gdLst/>
              <a:ahLst/>
              <a:cxnLst/>
              <a:rect r="r" b="b" t="t" l="l"/>
              <a:pathLst>
                <a:path h="685800" w="685800">
                  <a:moveTo>
                    <a:pt x="0" y="0"/>
                  </a:moveTo>
                  <a:lnTo>
                    <a:pt x="685800" y="0"/>
                  </a:lnTo>
                  <a:lnTo>
                    <a:pt x="685800" y="685800"/>
                  </a:lnTo>
                  <a:lnTo>
                    <a:pt x="0" y="685800"/>
                  </a:lnTo>
                  <a:lnTo>
                    <a:pt x="0" y="0"/>
                  </a:lnTo>
                  <a:close/>
                </a:path>
              </a:pathLst>
            </a:custGeom>
            <a:blipFill>
              <a:blip r:embed="rId5"/>
              <a:stretch>
                <a:fillRect l="0" t="0" r="0" b="0"/>
              </a:stretch>
            </a:blipFill>
          </p:spPr>
        </p:sp>
      </p:grpSp>
      <p:sp>
        <p:nvSpPr>
          <p:cNvPr name="TextBox 19" id="19"/>
          <p:cNvSpPr txBox="true"/>
          <p:nvPr/>
        </p:nvSpPr>
        <p:spPr>
          <a:xfrm rot="0">
            <a:off x="6556248" y="2480310"/>
            <a:ext cx="2263140" cy="952500"/>
          </a:xfrm>
          <a:prstGeom prst="rect">
            <a:avLst/>
          </a:prstGeom>
        </p:spPr>
        <p:txBody>
          <a:bodyPr anchor="t" rtlCol="false" tIns="0" lIns="0" bIns="0" rIns="0">
            <a:spAutoFit/>
          </a:bodyPr>
          <a:lstStyle/>
          <a:p>
            <a:pPr algn="l">
              <a:lnSpc>
                <a:spcPts val="3539"/>
              </a:lnSpc>
            </a:pPr>
            <a:r>
              <a:rPr lang="en-US" sz="2949" b="1">
                <a:solidFill>
                  <a:srgbClr val="0B4F5C"/>
                </a:solidFill>
                <a:latin typeface="Calibri"/>
                <a:ea typeface="Calibri"/>
                <a:cs typeface="Calibri"/>
                <a:sym typeface="Calibri"/>
              </a:rPr>
              <a:t>Patient &amp; family</a:t>
            </a:r>
          </a:p>
        </p:txBody>
      </p:sp>
      <p:sp>
        <p:nvSpPr>
          <p:cNvPr name="TextBox 20" id="20"/>
          <p:cNvSpPr txBox="true"/>
          <p:nvPr/>
        </p:nvSpPr>
        <p:spPr>
          <a:xfrm rot="0">
            <a:off x="5390388" y="3518535"/>
            <a:ext cx="3291840" cy="1162050"/>
          </a:xfrm>
          <a:prstGeom prst="rect">
            <a:avLst/>
          </a:prstGeom>
        </p:spPr>
        <p:txBody>
          <a:bodyPr anchor="t" rtlCol="false" tIns="0" lIns="0" bIns="0" rIns="0">
            <a:spAutoFit/>
          </a:bodyPr>
          <a:lstStyle/>
          <a:p>
            <a:pPr algn="l">
              <a:lnSpc>
                <a:spcPts val="2999"/>
              </a:lnSpc>
            </a:pPr>
            <a:r>
              <a:rPr lang="en-US" sz="2499">
                <a:solidFill>
                  <a:srgbClr val="1B2B34"/>
                </a:solidFill>
                <a:latin typeface="Calibri"/>
                <a:ea typeface="Calibri"/>
                <a:cs typeface="Calibri"/>
                <a:sym typeface="Calibri"/>
              </a:rPr>
              <a:t>Traffic light in their language with audio, and safe actions</a:t>
            </a:r>
          </a:p>
        </p:txBody>
      </p:sp>
      <p:grpSp>
        <p:nvGrpSpPr>
          <p:cNvPr name="Group 21" id="21"/>
          <p:cNvGrpSpPr/>
          <p:nvPr/>
        </p:nvGrpSpPr>
        <p:grpSpPr>
          <a:xfrm rot="0">
            <a:off x="9262491" y="1979295"/>
            <a:ext cx="3928110" cy="3242310"/>
            <a:chOff x="0" y="0"/>
            <a:chExt cx="5237480" cy="4323080"/>
          </a:xfrm>
        </p:grpSpPr>
        <p:sp>
          <p:nvSpPr>
            <p:cNvPr name="Freeform 22" id="22"/>
            <p:cNvSpPr/>
            <p:nvPr/>
          </p:nvSpPr>
          <p:spPr>
            <a:xfrm flipH="false" flipV="false" rot="0">
              <a:off x="0" y="0"/>
              <a:ext cx="5237480" cy="4323080"/>
            </a:xfrm>
            <a:custGeom>
              <a:avLst/>
              <a:gdLst/>
              <a:ahLst/>
              <a:cxnLst/>
              <a:rect r="r" b="b" t="t" l="l"/>
              <a:pathLst>
                <a:path h="4323080" w="5237480">
                  <a:moveTo>
                    <a:pt x="0" y="147193"/>
                  </a:moveTo>
                  <a:cubicBezTo>
                    <a:pt x="0" y="65913"/>
                    <a:pt x="65913" y="0"/>
                    <a:pt x="147193" y="0"/>
                  </a:cubicBezTo>
                  <a:lnTo>
                    <a:pt x="5090287" y="0"/>
                  </a:lnTo>
                  <a:cubicBezTo>
                    <a:pt x="5171567" y="0"/>
                    <a:pt x="5237480" y="65913"/>
                    <a:pt x="5237480" y="147193"/>
                  </a:cubicBezTo>
                  <a:lnTo>
                    <a:pt x="5237480" y="4175887"/>
                  </a:lnTo>
                  <a:cubicBezTo>
                    <a:pt x="5237480" y="4257167"/>
                    <a:pt x="5171567" y="4323080"/>
                    <a:pt x="5090287" y="4323080"/>
                  </a:cubicBezTo>
                  <a:lnTo>
                    <a:pt x="147193" y="4323080"/>
                  </a:lnTo>
                  <a:cubicBezTo>
                    <a:pt x="65913" y="4323080"/>
                    <a:pt x="0" y="4257167"/>
                    <a:pt x="0" y="4175887"/>
                  </a:cubicBezTo>
                  <a:close/>
                </a:path>
              </a:pathLst>
            </a:custGeom>
            <a:solidFill>
              <a:srgbClr val="EEF5F5"/>
            </a:solidFill>
            <a:ln w="19050" cap="sq">
              <a:solidFill>
                <a:srgbClr val="EEF5F5"/>
              </a:solidFill>
              <a:prstDash val="solid"/>
              <a:miter/>
            </a:ln>
          </p:spPr>
        </p:sp>
      </p:grpSp>
      <p:grpSp>
        <p:nvGrpSpPr>
          <p:cNvPr name="Group 23" id="23"/>
          <p:cNvGrpSpPr/>
          <p:nvPr/>
        </p:nvGrpSpPr>
        <p:grpSpPr>
          <a:xfrm rot="0">
            <a:off x="9605391" y="2322195"/>
            <a:ext cx="1047750" cy="1047750"/>
            <a:chOff x="0" y="0"/>
            <a:chExt cx="1397000" cy="1397000"/>
          </a:xfrm>
        </p:grpSpPr>
        <p:sp>
          <p:nvSpPr>
            <p:cNvPr name="Freeform 24" id="24"/>
            <p:cNvSpPr/>
            <p:nvPr/>
          </p:nvSpPr>
          <p:spPr>
            <a:xfrm flipH="false" flipV="false" rot="0">
              <a:off x="0" y="0"/>
              <a:ext cx="1397000" cy="1397000"/>
            </a:xfrm>
            <a:custGeom>
              <a:avLst/>
              <a:gdLst/>
              <a:ahLst/>
              <a:cxnLst/>
              <a:rect r="r" b="b" t="t" l="l"/>
              <a:pathLst>
                <a:path h="1397000" w="1397000">
                  <a:moveTo>
                    <a:pt x="0" y="698500"/>
                  </a:moveTo>
                  <a:cubicBezTo>
                    <a:pt x="0" y="312674"/>
                    <a:pt x="312674" y="0"/>
                    <a:pt x="698500" y="0"/>
                  </a:cubicBezTo>
                  <a:cubicBezTo>
                    <a:pt x="1084326" y="0"/>
                    <a:pt x="1397000" y="312674"/>
                    <a:pt x="1397000" y="698500"/>
                  </a:cubicBezTo>
                  <a:cubicBezTo>
                    <a:pt x="1397000" y="1084326"/>
                    <a:pt x="1084326" y="1397000"/>
                    <a:pt x="698500" y="1397000"/>
                  </a:cubicBezTo>
                  <a:cubicBezTo>
                    <a:pt x="312674" y="1397000"/>
                    <a:pt x="0" y="1084326"/>
                    <a:pt x="0" y="698500"/>
                  </a:cubicBezTo>
                  <a:close/>
                </a:path>
              </a:pathLst>
            </a:custGeom>
            <a:solidFill>
              <a:srgbClr val="0E7C86"/>
            </a:solidFill>
            <a:ln w="19050" cap="sq">
              <a:solidFill>
                <a:srgbClr val="0E7C86"/>
              </a:solidFill>
              <a:prstDash val="solid"/>
              <a:miter/>
            </a:ln>
          </p:spPr>
        </p:sp>
      </p:grpSp>
      <p:grpSp>
        <p:nvGrpSpPr>
          <p:cNvPr name="Group 25" id="25"/>
          <p:cNvGrpSpPr/>
          <p:nvPr/>
        </p:nvGrpSpPr>
        <p:grpSpPr>
          <a:xfrm rot="0">
            <a:off x="9872091" y="2588895"/>
            <a:ext cx="514350" cy="514350"/>
            <a:chOff x="0" y="0"/>
            <a:chExt cx="685800" cy="685800"/>
          </a:xfrm>
        </p:grpSpPr>
        <p:sp>
          <p:nvSpPr>
            <p:cNvPr name="Freeform 26" id="26" descr="preencoded.png"/>
            <p:cNvSpPr/>
            <p:nvPr/>
          </p:nvSpPr>
          <p:spPr>
            <a:xfrm flipH="false" flipV="false" rot="0">
              <a:off x="0" y="0"/>
              <a:ext cx="685800" cy="685800"/>
            </a:xfrm>
            <a:custGeom>
              <a:avLst/>
              <a:gdLst/>
              <a:ahLst/>
              <a:cxnLst/>
              <a:rect r="r" b="b" t="t" l="l"/>
              <a:pathLst>
                <a:path h="685800" w="685800">
                  <a:moveTo>
                    <a:pt x="0" y="0"/>
                  </a:moveTo>
                  <a:lnTo>
                    <a:pt x="685800" y="0"/>
                  </a:lnTo>
                  <a:lnTo>
                    <a:pt x="685800" y="685800"/>
                  </a:lnTo>
                  <a:lnTo>
                    <a:pt x="0" y="685800"/>
                  </a:lnTo>
                  <a:lnTo>
                    <a:pt x="0" y="0"/>
                  </a:lnTo>
                  <a:close/>
                </a:path>
              </a:pathLst>
            </a:custGeom>
            <a:blipFill>
              <a:blip r:embed="rId6"/>
              <a:stretch>
                <a:fillRect l="0" t="0" r="0" b="0"/>
              </a:stretch>
            </a:blipFill>
          </p:spPr>
        </p:sp>
      </p:grpSp>
      <p:sp>
        <p:nvSpPr>
          <p:cNvPr name="TextBox 27" id="27"/>
          <p:cNvSpPr txBox="true"/>
          <p:nvPr/>
        </p:nvSpPr>
        <p:spPr>
          <a:xfrm rot="0">
            <a:off x="10780776" y="2480310"/>
            <a:ext cx="2263140" cy="504825"/>
          </a:xfrm>
          <a:prstGeom prst="rect">
            <a:avLst/>
          </a:prstGeom>
        </p:spPr>
        <p:txBody>
          <a:bodyPr anchor="t" rtlCol="false" tIns="0" lIns="0" bIns="0" rIns="0">
            <a:spAutoFit/>
          </a:bodyPr>
          <a:lstStyle/>
          <a:p>
            <a:pPr algn="l">
              <a:lnSpc>
                <a:spcPts val="3539"/>
              </a:lnSpc>
            </a:pPr>
            <a:r>
              <a:rPr lang="en-US" sz="2949" b="1">
                <a:solidFill>
                  <a:srgbClr val="0B4F5C"/>
                </a:solidFill>
                <a:latin typeface="Calibri"/>
                <a:ea typeface="Calibri"/>
                <a:cs typeface="Calibri"/>
                <a:sym typeface="Calibri"/>
              </a:rPr>
              <a:t>ASHA worker</a:t>
            </a:r>
          </a:p>
        </p:txBody>
      </p:sp>
      <p:sp>
        <p:nvSpPr>
          <p:cNvPr name="TextBox 28" id="28"/>
          <p:cNvSpPr txBox="true"/>
          <p:nvPr/>
        </p:nvSpPr>
        <p:spPr>
          <a:xfrm rot="0">
            <a:off x="9614916" y="3518535"/>
            <a:ext cx="3291840" cy="790575"/>
          </a:xfrm>
          <a:prstGeom prst="rect">
            <a:avLst/>
          </a:prstGeom>
        </p:spPr>
        <p:txBody>
          <a:bodyPr anchor="t" rtlCol="false" tIns="0" lIns="0" bIns="0" rIns="0">
            <a:spAutoFit/>
          </a:bodyPr>
          <a:lstStyle/>
          <a:p>
            <a:pPr algn="l">
              <a:lnSpc>
                <a:spcPts val="2999"/>
              </a:lnSpc>
            </a:pPr>
            <a:r>
              <a:rPr lang="en-US" sz="2499">
                <a:solidFill>
                  <a:srgbClr val="1B2B34"/>
                </a:solidFill>
                <a:latin typeface="Calibri"/>
                <a:ea typeface="Calibri"/>
                <a:cs typeface="Calibri"/>
                <a:sym typeface="Calibri"/>
              </a:rPr>
              <a:t>Tier-0 visit form, red-flag check, Telugu by default</a:t>
            </a:r>
          </a:p>
        </p:txBody>
      </p:sp>
      <p:grpSp>
        <p:nvGrpSpPr>
          <p:cNvPr name="Group 29" id="29"/>
          <p:cNvGrpSpPr/>
          <p:nvPr/>
        </p:nvGrpSpPr>
        <p:grpSpPr>
          <a:xfrm rot="0">
            <a:off x="13487019" y="1979295"/>
            <a:ext cx="3928110" cy="3242310"/>
            <a:chOff x="0" y="0"/>
            <a:chExt cx="5237480" cy="4323080"/>
          </a:xfrm>
        </p:grpSpPr>
        <p:sp>
          <p:nvSpPr>
            <p:cNvPr name="Freeform 30" id="30"/>
            <p:cNvSpPr/>
            <p:nvPr/>
          </p:nvSpPr>
          <p:spPr>
            <a:xfrm flipH="false" flipV="false" rot="0">
              <a:off x="0" y="0"/>
              <a:ext cx="5237480" cy="4323080"/>
            </a:xfrm>
            <a:custGeom>
              <a:avLst/>
              <a:gdLst/>
              <a:ahLst/>
              <a:cxnLst/>
              <a:rect r="r" b="b" t="t" l="l"/>
              <a:pathLst>
                <a:path h="4323080" w="5237480">
                  <a:moveTo>
                    <a:pt x="0" y="147193"/>
                  </a:moveTo>
                  <a:cubicBezTo>
                    <a:pt x="0" y="65913"/>
                    <a:pt x="65913" y="0"/>
                    <a:pt x="147193" y="0"/>
                  </a:cubicBezTo>
                  <a:lnTo>
                    <a:pt x="5090287" y="0"/>
                  </a:lnTo>
                  <a:cubicBezTo>
                    <a:pt x="5171567" y="0"/>
                    <a:pt x="5237480" y="65913"/>
                    <a:pt x="5237480" y="147193"/>
                  </a:cubicBezTo>
                  <a:lnTo>
                    <a:pt x="5237480" y="4175887"/>
                  </a:lnTo>
                  <a:cubicBezTo>
                    <a:pt x="5237480" y="4257167"/>
                    <a:pt x="5171567" y="4323080"/>
                    <a:pt x="5090287" y="4323080"/>
                  </a:cubicBezTo>
                  <a:lnTo>
                    <a:pt x="147193" y="4323080"/>
                  </a:lnTo>
                  <a:cubicBezTo>
                    <a:pt x="65913" y="4323080"/>
                    <a:pt x="0" y="4257167"/>
                    <a:pt x="0" y="4175887"/>
                  </a:cubicBezTo>
                  <a:close/>
                </a:path>
              </a:pathLst>
            </a:custGeom>
            <a:solidFill>
              <a:srgbClr val="EEF5F5"/>
            </a:solidFill>
            <a:ln w="19050" cap="sq">
              <a:solidFill>
                <a:srgbClr val="EEF5F5"/>
              </a:solidFill>
              <a:prstDash val="solid"/>
              <a:miter/>
            </a:ln>
          </p:spPr>
        </p:sp>
      </p:grpSp>
      <p:grpSp>
        <p:nvGrpSpPr>
          <p:cNvPr name="Group 31" id="31"/>
          <p:cNvGrpSpPr/>
          <p:nvPr/>
        </p:nvGrpSpPr>
        <p:grpSpPr>
          <a:xfrm rot="0">
            <a:off x="13829919" y="2322195"/>
            <a:ext cx="1047750" cy="1047750"/>
            <a:chOff x="0" y="0"/>
            <a:chExt cx="1397000" cy="1397000"/>
          </a:xfrm>
        </p:grpSpPr>
        <p:sp>
          <p:nvSpPr>
            <p:cNvPr name="Freeform 32" id="32"/>
            <p:cNvSpPr/>
            <p:nvPr/>
          </p:nvSpPr>
          <p:spPr>
            <a:xfrm flipH="false" flipV="false" rot="0">
              <a:off x="0" y="0"/>
              <a:ext cx="1397000" cy="1397000"/>
            </a:xfrm>
            <a:custGeom>
              <a:avLst/>
              <a:gdLst/>
              <a:ahLst/>
              <a:cxnLst/>
              <a:rect r="r" b="b" t="t" l="l"/>
              <a:pathLst>
                <a:path h="1397000" w="1397000">
                  <a:moveTo>
                    <a:pt x="0" y="698500"/>
                  </a:moveTo>
                  <a:cubicBezTo>
                    <a:pt x="0" y="312674"/>
                    <a:pt x="312674" y="0"/>
                    <a:pt x="698500" y="0"/>
                  </a:cubicBezTo>
                  <a:cubicBezTo>
                    <a:pt x="1084326" y="0"/>
                    <a:pt x="1397000" y="312674"/>
                    <a:pt x="1397000" y="698500"/>
                  </a:cubicBezTo>
                  <a:cubicBezTo>
                    <a:pt x="1397000" y="1084326"/>
                    <a:pt x="1084326" y="1397000"/>
                    <a:pt x="698500" y="1397000"/>
                  </a:cubicBezTo>
                  <a:cubicBezTo>
                    <a:pt x="312674" y="1397000"/>
                    <a:pt x="0" y="1084326"/>
                    <a:pt x="0" y="698500"/>
                  </a:cubicBezTo>
                  <a:close/>
                </a:path>
              </a:pathLst>
            </a:custGeom>
            <a:solidFill>
              <a:srgbClr val="0E7C86"/>
            </a:solidFill>
            <a:ln w="19050" cap="sq">
              <a:solidFill>
                <a:srgbClr val="0E7C86"/>
              </a:solidFill>
              <a:prstDash val="solid"/>
              <a:miter/>
            </a:ln>
          </p:spPr>
        </p:sp>
      </p:grpSp>
      <p:grpSp>
        <p:nvGrpSpPr>
          <p:cNvPr name="Group 33" id="33"/>
          <p:cNvGrpSpPr/>
          <p:nvPr/>
        </p:nvGrpSpPr>
        <p:grpSpPr>
          <a:xfrm rot="0">
            <a:off x="14096619" y="2588895"/>
            <a:ext cx="514350" cy="514350"/>
            <a:chOff x="0" y="0"/>
            <a:chExt cx="685800" cy="685800"/>
          </a:xfrm>
        </p:grpSpPr>
        <p:sp>
          <p:nvSpPr>
            <p:cNvPr name="Freeform 34" id="34" descr="preencoded.png"/>
            <p:cNvSpPr/>
            <p:nvPr/>
          </p:nvSpPr>
          <p:spPr>
            <a:xfrm flipH="false" flipV="false" rot="0">
              <a:off x="0" y="0"/>
              <a:ext cx="685800" cy="685800"/>
            </a:xfrm>
            <a:custGeom>
              <a:avLst/>
              <a:gdLst/>
              <a:ahLst/>
              <a:cxnLst/>
              <a:rect r="r" b="b" t="t" l="l"/>
              <a:pathLst>
                <a:path h="685800" w="685800">
                  <a:moveTo>
                    <a:pt x="0" y="0"/>
                  </a:moveTo>
                  <a:lnTo>
                    <a:pt x="685800" y="0"/>
                  </a:lnTo>
                  <a:lnTo>
                    <a:pt x="685800" y="685800"/>
                  </a:lnTo>
                  <a:lnTo>
                    <a:pt x="0" y="685800"/>
                  </a:lnTo>
                  <a:lnTo>
                    <a:pt x="0" y="0"/>
                  </a:lnTo>
                  <a:close/>
                </a:path>
              </a:pathLst>
            </a:custGeom>
            <a:blipFill>
              <a:blip r:embed="rId7"/>
              <a:stretch>
                <a:fillRect l="0" t="0" r="0" b="0"/>
              </a:stretch>
            </a:blipFill>
          </p:spPr>
        </p:sp>
      </p:grpSp>
      <p:sp>
        <p:nvSpPr>
          <p:cNvPr name="TextBox 35" id="35"/>
          <p:cNvSpPr txBox="true"/>
          <p:nvPr/>
        </p:nvSpPr>
        <p:spPr>
          <a:xfrm rot="0">
            <a:off x="15005304" y="2480310"/>
            <a:ext cx="2263140" cy="504825"/>
          </a:xfrm>
          <a:prstGeom prst="rect">
            <a:avLst/>
          </a:prstGeom>
        </p:spPr>
        <p:txBody>
          <a:bodyPr anchor="t" rtlCol="false" tIns="0" lIns="0" bIns="0" rIns="0">
            <a:spAutoFit/>
          </a:bodyPr>
          <a:lstStyle/>
          <a:p>
            <a:pPr algn="l">
              <a:lnSpc>
                <a:spcPts val="3539"/>
              </a:lnSpc>
            </a:pPr>
            <a:r>
              <a:rPr lang="en-US" sz="2949" b="1">
                <a:solidFill>
                  <a:srgbClr val="0B4F5C"/>
                </a:solidFill>
                <a:latin typeface="Calibri"/>
                <a:ea typeface="Calibri"/>
                <a:cs typeface="Calibri"/>
                <a:sym typeface="Calibri"/>
              </a:rPr>
              <a:t>Lab</a:t>
            </a:r>
          </a:p>
        </p:txBody>
      </p:sp>
      <p:sp>
        <p:nvSpPr>
          <p:cNvPr name="TextBox 36" id="36"/>
          <p:cNvSpPr txBox="true"/>
          <p:nvPr/>
        </p:nvSpPr>
        <p:spPr>
          <a:xfrm rot="0">
            <a:off x="13839444" y="3518535"/>
            <a:ext cx="3291840" cy="1162050"/>
          </a:xfrm>
          <a:prstGeom prst="rect">
            <a:avLst/>
          </a:prstGeom>
        </p:spPr>
        <p:txBody>
          <a:bodyPr anchor="t" rtlCol="false" tIns="0" lIns="0" bIns="0" rIns="0">
            <a:spAutoFit/>
          </a:bodyPr>
          <a:lstStyle/>
          <a:p>
            <a:pPr algn="l">
              <a:lnSpc>
                <a:spcPts val="2999"/>
              </a:lnSpc>
            </a:pPr>
            <a:r>
              <a:rPr lang="en-US" sz="2499">
                <a:solidFill>
                  <a:srgbClr val="1B2B34"/>
                </a:solidFill>
                <a:latin typeface="Calibri"/>
                <a:ea typeface="Calibri"/>
                <a:cs typeface="Calibri"/>
                <a:sym typeface="Calibri"/>
              </a:rPr>
              <a:t>Home-collection test orders; a result resets the twin</a:t>
            </a:r>
          </a:p>
        </p:txBody>
      </p:sp>
      <p:grpSp>
        <p:nvGrpSpPr>
          <p:cNvPr name="Group 37" id="37"/>
          <p:cNvGrpSpPr/>
          <p:nvPr/>
        </p:nvGrpSpPr>
        <p:grpSpPr>
          <a:xfrm rot="0">
            <a:off x="813435" y="5614035"/>
            <a:ext cx="5299710" cy="2967990"/>
            <a:chOff x="0" y="0"/>
            <a:chExt cx="7066280" cy="3957320"/>
          </a:xfrm>
        </p:grpSpPr>
        <p:sp>
          <p:nvSpPr>
            <p:cNvPr name="Freeform 38" id="38"/>
            <p:cNvSpPr/>
            <p:nvPr/>
          </p:nvSpPr>
          <p:spPr>
            <a:xfrm flipH="false" flipV="false" rot="0">
              <a:off x="0" y="0"/>
              <a:ext cx="7066280" cy="3957320"/>
            </a:xfrm>
            <a:custGeom>
              <a:avLst/>
              <a:gdLst/>
              <a:ahLst/>
              <a:cxnLst/>
              <a:rect r="r" b="b" t="t" l="l"/>
              <a:pathLst>
                <a:path h="3957320" w="7066280">
                  <a:moveTo>
                    <a:pt x="0" y="147193"/>
                  </a:moveTo>
                  <a:cubicBezTo>
                    <a:pt x="0" y="65913"/>
                    <a:pt x="65913" y="0"/>
                    <a:pt x="147193" y="0"/>
                  </a:cubicBezTo>
                  <a:lnTo>
                    <a:pt x="6919087" y="0"/>
                  </a:lnTo>
                  <a:cubicBezTo>
                    <a:pt x="7000367" y="0"/>
                    <a:pt x="7066280" y="65913"/>
                    <a:pt x="7066280" y="147193"/>
                  </a:cubicBezTo>
                  <a:lnTo>
                    <a:pt x="7066280" y="3810127"/>
                  </a:lnTo>
                  <a:cubicBezTo>
                    <a:pt x="7066280" y="3891407"/>
                    <a:pt x="7000367" y="3957320"/>
                    <a:pt x="6919087" y="3957320"/>
                  </a:cubicBezTo>
                  <a:lnTo>
                    <a:pt x="147193" y="3957320"/>
                  </a:lnTo>
                  <a:cubicBezTo>
                    <a:pt x="65913" y="3957320"/>
                    <a:pt x="0" y="3891407"/>
                    <a:pt x="0" y="3810127"/>
                  </a:cubicBezTo>
                  <a:close/>
                </a:path>
              </a:pathLst>
            </a:custGeom>
            <a:solidFill>
              <a:srgbClr val="0B4F5C"/>
            </a:solidFill>
            <a:ln w="19050" cap="sq">
              <a:solidFill>
                <a:srgbClr val="0B4F5C"/>
              </a:solidFill>
              <a:prstDash val="solid"/>
              <a:miter/>
            </a:ln>
          </p:spPr>
        </p:sp>
      </p:grpSp>
      <p:sp>
        <p:nvSpPr>
          <p:cNvPr name="TextBox 39" id="39"/>
          <p:cNvSpPr txBox="true"/>
          <p:nvPr/>
        </p:nvSpPr>
        <p:spPr>
          <a:xfrm rot="0">
            <a:off x="1234440" y="5840730"/>
            <a:ext cx="4526280" cy="504825"/>
          </a:xfrm>
          <a:prstGeom prst="rect">
            <a:avLst/>
          </a:prstGeom>
        </p:spPr>
        <p:txBody>
          <a:bodyPr anchor="t" rtlCol="false" tIns="0" lIns="0" bIns="0" rIns="0">
            <a:spAutoFit/>
          </a:bodyPr>
          <a:lstStyle/>
          <a:p>
            <a:pPr algn="l">
              <a:lnSpc>
                <a:spcPts val="3539"/>
              </a:lnSpc>
            </a:pPr>
            <a:r>
              <a:rPr lang="en-US" sz="2949" b="1">
                <a:solidFill>
                  <a:srgbClr val="FFFFFF"/>
                </a:solidFill>
                <a:latin typeface="Calibri"/>
                <a:ea typeface="Calibri"/>
                <a:cs typeface="Calibri"/>
                <a:sym typeface="Calibri"/>
              </a:rPr>
              <a:t>Tier 0 · No wearable</a:t>
            </a:r>
          </a:p>
        </p:txBody>
      </p:sp>
      <p:sp>
        <p:nvSpPr>
          <p:cNvPr name="TextBox 40" id="40"/>
          <p:cNvSpPr txBox="true"/>
          <p:nvPr/>
        </p:nvSpPr>
        <p:spPr>
          <a:xfrm rot="0">
            <a:off x="1234440" y="6604635"/>
            <a:ext cx="4526280" cy="790575"/>
          </a:xfrm>
          <a:prstGeom prst="rect">
            <a:avLst/>
          </a:prstGeom>
        </p:spPr>
        <p:txBody>
          <a:bodyPr anchor="t" rtlCol="false" tIns="0" lIns="0" bIns="0" rIns="0">
            <a:spAutoFit/>
          </a:bodyPr>
          <a:lstStyle/>
          <a:p>
            <a:pPr algn="l">
              <a:lnSpc>
                <a:spcPts val="2999"/>
              </a:lnSpc>
            </a:pPr>
            <a:r>
              <a:rPr lang="en-US" sz="2499">
                <a:solidFill>
                  <a:srgbClr val="BFE3E5"/>
                </a:solidFill>
                <a:latin typeface="Calibri"/>
                <a:ea typeface="Calibri"/>
                <a:cs typeface="Calibri"/>
                <a:sym typeface="Calibri"/>
              </a:rPr>
              <a:t>ASHA visit or phone check-in + free weather + clinic labs</a:t>
            </a:r>
          </a:p>
        </p:txBody>
      </p:sp>
      <p:sp>
        <p:nvSpPr>
          <p:cNvPr name="TextBox 41" id="41"/>
          <p:cNvSpPr txBox="true"/>
          <p:nvPr/>
        </p:nvSpPr>
        <p:spPr>
          <a:xfrm rot="0">
            <a:off x="1234440" y="7760970"/>
            <a:ext cx="4526280" cy="457200"/>
          </a:xfrm>
          <a:prstGeom prst="rect">
            <a:avLst/>
          </a:prstGeom>
        </p:spPr>
        <p:txBody>
          <a:bodyPr anchor="t" rtlCol="false" tIns="0" lIns="0" bIns="0" rIns="0">
            <a:spAutoFit/>
          </a:bodyPr>
          <a:lstStyle/>
          <a:p>
            <a:pPr algn="l">
              <a:lnSpc>
                <a:spcPts val="3179"/>
              </a:lnSpc>
            </a:pPr>
            <a:r>
              <a:rPr lang="en-US" sz="2649" b="1">
                <a:solidFill>
                  <a:srgbClr val="E9A23B"/>
                </a:solidFill>
                <a:latin typeface="Calibri"/>
                <a:ea typeface="Calibri"/>
                <a:cs typeface="Calibri"/>
                <a:sym typeface="Calibri"/>
              </a:rPr>
              <a:t>≈ ₹0 extra</a:t>
            </a:r>
          </a:p>
        </p:txBody>
      </p:sp>
      <p:grpSp>
        <p:nvGrpSpPr>
          <p:cNvPr name="Group 42" id="42"/>
          <p:cNvGrpSpPr/>
          <p:nvPr/>
        </p:nvGrpSpPr>
        <p:grpSpPr>
          <a:xfrm rot="0">
            <a:off x="6464427" y="5614035"/>
            <a:ext cx="5299710" cy="2967990"/>
            <a:chOff x="0" y="0"/>
            <a:chExt cx="7066280" cy="3957320"/>
          </a:xfrm>
        </p:grpSpPr>
        <p:sp>
          <p:nvSpPr>
            <p:cNvPr name="Freeform 43" id="43"/>
            <p:cNvSpPr/>
            <p:nvPr/>
          </p:nvSpPr>
          <p:spPr>
            <a:xfrm flipH="false" flipV="false" rot="0">
              <a:off x="0" y="0"/>
              <a:ext cx="7066280" cy="3957320"/>
            </a:xfrm>
            <a:custGeom>
              <a:avLst/>
              <a:gdLst/>
              <a:ahLst/>
              <a:cxnLst/>
              <a:rect r="r" b="b" t="t" l="l"/>
              <a:pathLst>
                <a:path h="3957320" w="7066280">
                  <a:moveTo>
                    <a:pt x="0" y="147193"/>
                  </a:moveTo>
                  <a:cubicBezTo>
                    <a:pt x="0" y="65913"/>
                    <a:pt x="65913" y="0"/>
                    <a:pt x="147193" y="0"/>
                  </a:cubicBezTo>
                  <a:lnTo>
                    <a:pt x="6919087" y="0"/>
                  </a:lnTo>
                  <a:cubicBezTo>
                    <a:pt x="7000367" y="0"/>
                    <a:pt x="7066280" y="65913"/>
                    <a:pt x="7066280" y="147193"/>
                  </a:cubicBezTo>
                  <a:lnTo>
                    <a:pt x="7066280" y="3810127"/>
                  </a:lnTo>
                  <a:cubicBezTo>
                    <a:pt x="7066280" y="3891407"/>
                    <a:pt x="7000367" y="3957320"/>
                    <a:pt x="6919087" y="3957320"/>
                  </a:cubicBezTo>
                  <a:lnTo>
                    <a:pt x="147193" y="3957320"/>
                  </a:lnTo>
                  <a:cubicBezTo>
                    <a:pt x="65913" y="3957320"/>
                    <a:pt x="0" y="3891407"/>
                    <a:pt x="0" y="3810127"/>
                  </a:cubicBezTo>
                  <a:close/>
                </a:path>
              </a:pathLst>
            </a:custGeom>
            <a:solidFill>
              <a:srgbClr val="EEF5F5"/>
            </a:solidFill>
            <a:ln w="19050" cap="sq">
              <a:solidFill>
                <a:srgbClr val="EEF5F5"/>
              </a:solidFill>
              <a:prstDash val="solid"/>
              <a:miter/>
            </a:ln>
          </p:spPr>
        </p:sp>
      </p:grpSp>
      <p:sp>
        <p:nvSpPr>
          <p:cNvPr name="TextBox 44" id="44"/>
          <p:cNvSpPr txBox="true"/>
          <p:nvPr/>
        </p:nvSpPr>
        <p:spPr>
          <a:xfrm rot="0">
            <a:off x="6885432" y="5840730"/>
            <a:ext cx="4526280" cy="504825"/>
          </a:xfrm>
          <a:prstGeom prst="rect">
            <a:avLst/>
          </a:prstGeom>
        </p:spPr>
        <p:txBody>
          <a:bodyPr anchor="t" rtlCol="false" tIns="0" lIns="0" bIns="0" rIns="0">
            <a:spAutoFit/>
          </a:bodyPr>
          <a:lstStyle/>
          <a:p>
            <a:pPr algn="l">
              <a:lnSpc>
                <a:spcPts val="3539"/>
              </a:lnSpc>
            </a:pPr>
            <a:r>
              <a:rPr lang="en-US" sz="2949" b="1">
                <a:solidFill>
                  <a:srgbClr val="0B4F5C"/>
                </a:solidFill>
                <a:latin typeface="Calibri"/>
                <a:ea typeface="Calibri"/>
                <a:cs typeface="Calibri"/>
                <a:sym typeface="Calibri"/>
              </a:rPr>
              <a:t>Tier 1 · Basic band + scale</a:t>
            </a:r>
          </a:p>
        </p:txBody>
      </p:sp>
      <p:sp>
        <p:nvSpPr>
          <p:cNvPr name="TextBox 45" id="45"/>
          <p:cNvSpPr txBox="true"/>
          <p:nvPr/>
        </p:nvSpPr>
        <p:spPr>
          <a:xfrm rot="0">
            <a:off x="6885432" y="6604635"/>
            <a:ext cx="4526280" cy="790575"/>
          </a:xfrm>
          <a:prstGeom prst="rect">
            <a:avLst/>
          </a:prstGeom>
        </p:spPr>
        <p:txBody>
          <a:bodyPr anchor="t" rtlCol="false" tIns="0" lIns="0" bIns="0" rIns="0">
            <a:spAutoFit/>
          </a:bodyPr>
          <a:lstStyle/>
          <a:p>
            <a:pPr algn="l">
              <a:lnSpc>
                <a:spcPts val="2999"/>
              </a:lnSpc>
            </a:pPr>
            <a:r>
              <a:rPr lang="en-US" sz="2499">
                <a:solidFill>
                  <a:srgbClr val="1B2B34"/>
                </a:solidFill>
                <a:latin typeface="Calibri"/>
                <a:ea typeface="Calibri"/>
                <a:cs typeface="Calibri"/>
                <a:sym typeface="Calibri"/>
              </a:rPr>
              <a:t>Daily weight, resting heart rate, steps, sleep</a:t>
            </a:r>
          </a:p>
        </p:txBody>
      </p:sp>
      <p:sp>
        <p:nvSpPr>
          <p:cNvPr name="TextBox 46" id="46"/>
          <p:cNvSpPr txBox="true"/>
          <p:nvPr/>
        </p:nvSpPr>
        <p:spPr>
          <a:xfrm rot="0">
            <a:off x="6885432" y="7760970"/>
            <a:ext cx="4526280" cy="457200"/>
          </a:xfrm>
          <a:prstGeom prst="rect">
            <a:avLst/>
          </a:prstGeom>
        </p:spPr>
        <p:txBody>
          <a:bodyPr anchor="t" rtlCol="false" tIns="0" lIns="0" bIns="0" rIns="0">
            <a:spAutoFit/>
          </a:bodyPr>
          <a:lstStyle/>
          <a:p>
            <a:pPr algn="l">
              <a:lnSpc>
                <a:spcPts val="3179"/>
              </a:lnSpc>
            </a:pPr>
            <a:r>
              <a:rPr lang="en-US" sz="2649" b="1">
                <a:solidFill>
                  <a:srgbClr val="0E7C86"/>
                </a:solidFill>
                <a:latin typeface="Calibri"/>
                <a:ea typeface="Calibri"/>
                <a:cs typeface="Calibri"/>
                <a:sym typeface="Calibri"/>
              </a:rPr>
              <a:t>band ≈ ₹1,500</a:t>
            </a:r>
          </a:p>
        </p:txBody>
      </p:sp>
      <p:grpSp>
        <p:nvGrpSpPr>
          <p:cNvPr name="Group 47" id="47"/>
          <p:cNvGrpSpPr/>
          <p:nvPr/>
        </p:nvGrpSpPr>
        <p:grpSpPr>
          <a:xfrm rot="0">
            <a:off x="12115419" y="5614035"/>
            <a:ext cx="5299710" cy="2967990"/>
            <a:chOff x="0" y="0"/>
            <a:chExt cx="7066280" cy="3957320"/>
          </a:xfrm>
        </p:grpSpPr>
        <p:sp>
          <p:nvSpPr>
            <p:cNvPr name="Freeform 48" id="48"/>
            <p:cNvSpPr/>
            <p:nvPr/>
          </p:nvSpPr>
          <p:spPr>
            <a:xfrm flipH="false" flipV="false" rot="0">
              <a:off x="0" y="0"/>
              <a:ext cx="7066280" cy="3957320"/>
            </a:xfrm>
            <a:custGeom>
              <a:avLst/>
              <a:gdLst/>
              <a:ahLst/>
              <a:cxnLst/>
              <a:rect r="r" b="b" t="t" l="l"/>
              <a:pathLst>
                <a:path h="3957320" w="7066280">
                  <a:moveTo>
                    <a:pt x="0" y="147193"/>
                  </a:moveTo>
                  <a:cubicBezTo>
                    <a:pt x="0" y="65913"/>
                    <a:pt x="65913" y="0"/>
                    <a:pt x="147193" y="0"/>
                  </a:cubicBezTo>
                  <a:lnTo>
                    <a:pt x="6919087" y="0"/>
                  </a:lnTo>
                  <a:cubicBezTo>
                    <a:pt x="7000367" y="0"/>
                    <a:pt x="7066280" y="65913"/>
                    <a:pt x="7066280" y="147193"/>
                  </a:cubicBezTo>
                  <a:lnTo>
                    <a:pt x="7066280" y="3810127"/>
                  </a:lnTo>
                  <a:cubicBezTo>
                    <a:pt x="7066280" y="3891407"/>
                    <a:pt x="7000367" y="3957320"/>
                    <a:pt x="6919087" y="3957320"/>
                  </a:cubicBezTo>
                  <a:lnTo>
                    <a:pt x="147193" y="3957320"/>
                  </a:lnTo>
                  <a:cubicBezTo>
                    <a:pt x="65913" y="3957320"/>
                    <a:pt x="0" y="3891407"/>
                    <a:pt x="0" y="3810127"/>
                  </a:cubicBezTo>
                  <a:close/>
                </a:path>
              </a:pathLst>
            </a:custGeom>
            <a:solidFill>
              <a:srgbClr val="EEF5F5"/>
            </a:solidFill>
            <a:ln w="19050" cap="sq">
              <a:solidFill>
                <a:srgbClr val="EEF5F5"/>
              </a:solidFill>
              <a:prstDash val="solid"/>
              <a:miter/>
            </a:ln>
          </p:spPr>
        </p:sp>
      </p:grpSp>
      <p:sp>
        <p:nvSpPr>
          <p:cNvPr name="TextBox 49" id="49"/>
          <p:cNvSpPr txBox="true"/>
          <p:nvPr/>
        </p:nvSpPr>
        <p:spPr>
          <a:xfrm rot="0">
            <a:off x="12536424" y="5840730"/>
            <a:ext cx="4526280" cy="504825"/>
          </a:xfrm>
          <a:prstGeom prst="rect">
            <a:avLst/>
          </a:prstGeom>
        </p:spPr>
        <p:txBody>
          <a:bodyPr anchor="t" rtlCol="false" tIns="0" lIns="0" bIns="0" rIns="0">
            <a:spAutoFit/>
          </a:bodyPr>
          <a:lstStyle/>
          <a:p>
            <a:pPr algn="l">
              <a:lnSpc>
                <a:spcPts val="3539"/>
              </a:lnSpc>
            </a:pPr>
            <a:r>
              <a:rPr lang="en-US" sz="2949" b="1">
                <a:solidFill>
                  <a:srgbClr val="0B4F5C"/>
                </a:solidFill>
                <a:latin typeface="Calibri"/>
                <a:ea typeface="Calibri"/>
                <a:cs typeface="Calibri"/>
                <a:sym typeface="Calibri"/>
              </a:rPr>
              <a:t>Tier 2 · Richer devices</a:t>
            </a:r>
          </a:p>
        </p:txBody>
      </p:sp>
      <p:sp>
        <p:nvSpPr>
          <p:cNvPr name="TextBox 50" id="50"/>
          <p:cNvSpPr txBox="true"/>
          <p:nvPr/>
        </p:nvSpPr>
        <p:spPr>
          <a:xfrm rot="0">
            <a:off x="12536424" y="6604635"/>
            <a:ext cx="4526280" cy="790575"/>
          </a:xfrm>
          <a:prstGeom prst="rect">
            <a:avLst/>
          </a:prstGeom>
        </p:spPr>
        <p:txBody>
          <a:bodyPr anchor="t" rtlCol="false" tIns="0" lIns="0" bIns="0" rIns="0">
            <a:spAutoFit/>
          </a:bodyPr>
          <a:lstStyle/>
          <a:p>
            <a:pPr algn="l">
              <a:lnSpc>
                <a:spcPts val="2999"/>
              </a:lnSpc>
            </a:pPr>
            <a:r>
              <a:rPr lang="en-US" sz="2499">
                <a:solidFill>
                  <a:srgbClr val="1B2B34"/>
                </a:solidFill>
                <a:latin typeface="Calibri"/>
                <a:ea typeface="Calibri"/>
                <a:cs typeface="Calibri"/>
                <a:sym typeface="Calibri"/>
              </a:rPr>
              <a:t>Home BP cuff, HRV, skin temperature</a:t>
            </a:r>
          </a:p>
        </p:txBody>
      </p:sp>
      <p:sp>
        <p:nvSpPr>
          <p:cNvPr name="TextBox 51" id="51"/>
          <p:cNvSpPr txBox="true"/>
          <p:nvPr/>
        </p:nvSpPr>
        <p:spPr>
          <a:xfrm rot="0">
            <a:off x="12536424" y="7760970"/>
            <a:ext cx="4526280" cy="457200"/>
          </a:xfrm>
          <a:prstGeom prst="rect">
            <a:avLst/>
          </a:prstGeom>
        </p:spPr>
        <p:txBody>
          <a:bodyPr anchor="t" rtlCol="false" tIns="0" lIns="0" bIns="0" rIns="0">
            <a:spAutoFit/>
          </a:bodyPr>
          <a:lstStyle/>
          <a:p>
            <a:pPr algn="l">
              <a:lnSpc>
                <a:spcPts val="3179"/>
              </a:lnSpc>
            </a:pPr>
            <a:r>
              <a:rPr lang="en-US" sz="2649" b="1">
                <a:solidFill>
                  <a:srgbClr val="0E7C86"/>
                </a:solidFill>
                <a:latin typeface="Calibri"/>
                <a:ea typeface="Calibri"/>
                <a:cs typeface="Calibri"/>
                <a:sym typeface="Calibri"/>
              </a:rPr>
              <a:t>optional</a:t>
            </a:r>
          </a:p>
        </p:txBody>
      </p:sp>
      <p:sp>
        <p:nvSpPr>
          <p:cNvPr name="TextBox 52" id="52"/>
          <p:cNvSpPr txBox="true"/>
          <p:nvPr/>
        </p:nvSpPr>
        <p:spPr>
          <a:xfrm rot="0">
            <a:off x="822960" y="8945880"/>
            <a:ext cx="16596360" cy="323850"/>
          </a:xfrm>
          <a:prstGeom prst="rect">
            <a:avLst/>
          </a:prstGeom>
        </p:spPr>
        <p:txBody>
          <a:bodyPr anchor="t" rtlCol="false" tIns="0" lIns="0" bIns="0" rIns="0">
            <a:spAutoFit/>
          </a:bodyPr>
          <a:lstStyle/>
          <a:p>
            <a:pPr algn="l">
              <a:lnSpc>
                <a:spcPts val="2279"/>
              </a:lnSpc>
            </a:pPr>
            <a:r>
              <a:rPr lang="en-US" sz="1899" i="1">
                <a:solidFill>
                  <a:srgbClr val="5B6C75"/>
                </a:solidFill>
                <a:latin typeface="Calibri"/>
                <a:ea typeface="Calibri"/>
                <a:cs typeface="Calibri"/>
                <a:sym typeface="Calibri"/>
              </a:rPr>
              <a:t>A creatinine blood test costs about ₹189 (Apollo 24|7, Delhi listing). The twin rations tests: it decides who needs one today, instead of adding tests for everyone.</a:t>
            </a:r>
          </a:p>
        </p:txBody>
      </p:sp>
      <p:sp>
        <p:nvSpPr>
          <p:cNvPr name="TextBox 53" id="53"/>
          <p:cNvSpPr txBox="true"/>
          <p:nvPr/>
        </p:nvSpPr>
        <p:spPr>
          <a:xfrm rot="0">
            <a:off x="16962120" y="9540240"/>
            <a:ext cx="640080" cy="342900"/>
          </a:xfrm>
          <a:prstGeom prst="rect">
            <a:avLst/>
          </a:prstGeom>
        </p:spPr>
        <p:txBody>
          <a:bodyPr anchor="t" rtlCol="false" tIns="0" lIns="0" bIns="0" rIns="0">
            <a:spAutoFit/>
          </a:bodyPr>
          <a:lstStyle/>
          <a:p>
            <a:pPr algn="r">
              <a:lnSpc>
                <a:spcPts val="2459"/>
              </a:lnSpc>
            </a:pPr>
            <a:r>
              <a:rPr lang="en-US" sz="2049">
                <a:solidFill>
                  <a:srgbClr val="5B6C75"/>
                </a:solidFill>
                <a:latin typeface="Calibri"/>
                <a:ea typeface="Calibri"/>
                <a:cs typeface="Calibri"/>
                <a:sym typeface="Calibri"/>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B4F5C"/>
        </a:solidFill>
      </p:bgPr>
    </p:bg>
    <p:spTree>
      <p:nvGrpSpPr>
        <p:cNvPr id="1" name=""/>
        <p:cNvGrpSpPr/>
        <p:nvPr/>
      </p:nvGrpSpPr>
      <p:grpSpPr>
        <a:xfrm>
          <a:off x="0" y="0"/>
          <a:ext cx="0" cy="0"/>
          <a:chOff x="0" y="0"/>
          <a:chExt cx="0" cy="0"/>
        </a:xfrm>
      </p:grpSpPr>
      <p:grpSp>
        <p:nvGrpSpPr>
          <p:cNvPr name="Group 2" id="2"/>
          <p:cNvGrpSpPr/>
          <p:nvPr/>
        </p:nvGrpSpPr>
        <p:grpSpPr>
          <a:xfrm rot="0">
            <a:off x="822960" y="673676"/>
            <a:ext cx="14401800" cy="4694629"/>
            <a:chOff x="0" y="0"/>
            <a:chExt cx="19202400" cy="6259505"/>
          </a:xfrm>
        </p:grpSpPr>
        <p:sp>
          <p:nvSpPr>
            <p:cNvPr name="Freeform 3" id="3"/>
            <p:cNvSpPr/>
            <p:nvPr/>
          </p:nvSpPr>
          <p:spPr>
            <a:xfrm flipH="false" flipV="false" rot="0">
              <a:off x="0" y="0"/>
              <a:ext cx="19202400" cy="6259505"/>
            </a:xfrm>
            <a:custGeom>
              <a:avLst/>
              <a:gdLst/>
              <a:ahLst/>
              <a:cxnLst/>
              <a:rect r="r" b="b" t="t" l="l"/>
              <a:pathLst>
                <a:path h="6259505" w="19202400">
                  <a:moveTo>
                    <a:pt x="0" y="0"/>
                  </a:moveTo>
                  <a:lnTo>
                    <a:pt x="19202400" y="0"/>
                  </a:lnTo>
                  <a:lnTo>
                    <a:pt x="19202400" y="6259505"/>
                  </a:lnTo>
                  <a:lnTo>
                    <a:pt x="0" y="6259505"/>
                  </a:lnTo>
                  <a:close/>
                </a:path>
              </a:pathLst>
            </a:custGeom>
            <a:blipFill>
              <a:blip r:embed="rId3">
                <a:alphaModFix amt="0"/>
              </a:blip>
              <a:stretch>
                <a:fillRect l="0" t="-40783" r="0" b="21234"/>
              </a:stretch>
            </a:blipFill>
          </p:spPr>
        </p:sp>
        <p:sp>
          <p:nvSpPr>
            <p:cNvPr name="TextBox 4" id="4"/>
            <p:cNvSpPr txBox="true"/>
            <p:nvPr/>
          </p:nvSpPr>
          <p:spPr>
            <a:xfrm>
              <a:off x="0" y="-9525"/>
              <a:ext cx="19202400" cy="6269030"/>
            </a:xfrm>
            <a:prstGeom prst="rect">
              <a:avLst/>
            </a:prstGeom>
          </p:spPr>
          <p:txBody>
            <a:bodyPr anchor="b" rtlCol="false" tIns="0" lIns="0" bIns="0" rIns="0"/>
            <a:lstStyle/>
            <a:p>
              <a:pPr algn="l">
                <a:lnSpc>
                  <a:spcPts val="7679"/>
                </a:lnSpc>
              </a:pPr>
              <a:r>
                <a:rPr lang="en-US" sz="6399" b="1">
                  <a:solidFill>
                    <a:srgbClr val="FFFFFF"/>
                  </a:solidFill>
                  <a:latin typeface="Cambria"/>
                  <a:ea typeface="Cambria"/>
                  <a:cs typeface="Cambria"/>
                  <a:sym typeface="Cambria"/>
                </a:rPr>
                <a:t>How it works</a:t>
              </a:r>
            </a:p>
          </p:txBody>
        </p:sp>
      </p:grpSp>
      <p:sp>
        <p:nvSpPr>
          <p:cNvPr name="TextBox 5" id="5"/>
          <p:cNvSpPr txBox="true"/>
          <p:nvPr/>
        </p:nvSpPr>
        <p:spPr>
          <a:xfrm rot="0">
            <a:off x="822960" y="5488305"/>
            <a:ext cx="14401800" cy="581025"/>
          </a:xfrm>
          <a:prstGeom prst="rect">
            <a:avLst/>
          </a:prstGeom>
        </p:spPr>
        <p:txBody>
          <a:bodyPr anchor="t" rtlCol="false" tIns="0" lIns="0" bIns="0" rIns="0">
            <a:spAutoFit/>
          </a:bodyPr>
          <a:lstStyle/>
          <a:p>
            <a:pPr algn="l">
              <a:lnSpc>
                <a:spcPts val="4079"/>
              </a:lnSpc>
            </a:pPr>
            <a:r>
              <a:rPr lang="en-US" sz="3399">
                <a:solidFill>
                  <a:srgbClr val="BFE3E5"/>
                </a:solidFill>
                <a:latin typeface="Calibri"/>
                <a:ea typeface="Calibri"/>
                <a:cs typeface="Calibri"/>
                <a:sym typeface="Calibri"/>
              </a:rPr>
              <a:t>Data fusion, architecture, the physiology engine and a day in the life of the twin</a:t>
            </a:r>
          </a:p>
        </p:txBody>
      </p:sp>
      <p:sp>
        <p:nvSpPr>
          <p:cNvPr name="TextBox 6" id="6"/>
          <p:cNvSpPr txBox="true"/>
          <p:nvPr/>
        </p:nvSpPr>
        <p:spPr>
          <a:xfrm rot="0">
            <a:off x="16962120" y="9549765"/>
            <a:ext cx="640080" cy="417195"/>
          </a:xfrm>
          <a:prstGeom prst="rect">
            <a:avLst/>
          </a:prstGeom>
        </p:spPr>
        <p:txBody>
          <a:bodyPr anchor="t" rtlCol="false" tIns="0" lIns="0" bIns="0" rIns="0">
            <a:spAutoFit/>
          </a:bodyPr>
          <a:lstStyle/>
          <a:p>
            <a:pPr algn="r">
              <a:lnSpc>
                <a:spcPts val="1980"/>
              </a:lnSpc>
            </a:pPr>
            <a:r>
              <a:rPr lang="en-US" sz="1650">
                <a:solidFill>
                  <a:srgbClr val="BFE3E5"/>
                </a:solidFill>
                <a:latin typeface="Calibri"/>
                <a:ea typeface="Calibri"/>
                <a:cs typeface="Calibri"/>
                <a:sym typeface="Calibri"/>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13435" y="-747361"/>
            <a:ext cx="16596360" cy="3593431"/>
            <a:chOff x="0" y="0"/>
            <a:chExt cx="22128480" cy="4791241"/>
          </a:xfrm>
        </p:grpSpPr>
        <p:sp>
          <p:nvSpPr>
            <p:cNvPr name="Freeform 3" id="3"/>
            <p:cNvSpPr/>
            <p:nvPr/>
          </p:nvSpPr>
          <p:spPr>
            <a:xfrm flipH="false" flipV="false" rot="0">
              <a:off x="0" y="0"/>
              <a:ext cx="22128480" cy="4791241"/>
            </a:xfrm>
            <a:custGeom>
              <a:avLst/>
              <a:gdLst/>
              <a:ahLst/>
              <a:cxnLst/>
              <a:rect r="r" b="b" t="t" l="l"/>
              <a:pathLst>
                <a:path h="4791241" w="22128480">
                  <a:moveTo>
                    <a:pt x="0" y="0"/>
                  </a:moveTo>
                  <a:lnTo>
                    <a:pt x="22128480" y="0"/>
                  </a:lnTo>
                  <a:lnTo>
                    <a:pt x="22128480" y="4791241"/>
                  </a:lnTo>
                  <a:lnTo>
                    <a:pt x="0" y="4791241"/>
                  </a:lnTo>
                  <a:close/>
                </a:path>
              </a:pathLst>
            </a:custGeom>
            <a:blipFill>
              <a:blip r:embed="rId3">
                <a:alphaModFix amt="0"/>
              </a:blip>
              <a:stretch>
                <a:fillRect l="0" t="-73770" r="0" b="-6214"/>
              </a:stretch>
            </a:blipFill>
          </p:spPr>
        </p:sp>
        <p:sp>
          <p:nvSpPr>
            <p:cNvPr name="TextBox 4" id="4"/>
            <p:cNvSpPr txBox="true"/>
            <p:nvPr/>
          </p:nvSpPr>
          <p:spPr>
            <a:xfrm>
              <a:off x="0" y="-9525"/>
              <a:ext cx="22128480" cy="4800766"/>
            </a:xfrm>
            <a:prstGeom prst="rect">
              <a:avLst/>
            </a:prstGeom>
          </p:spPr>
          <p:txBody>
            <a:bodyPr anchor="ctr" rtlCol="false" tIns="0" lIns="0" bIns="0" rIns="0"/>
            <a:lstStyle/>
            <a:p>
              <a:pPr algn="l">
                <a:lnSpc>
                  <a:spcPts val="5879"/>
                </a:lnSpc>
              </a:pPr>
              <a:r>
                <a:rPr lang="en-US" sz="4899" b="1">
                  <a:solidFill>
                    <a:srgbClr val="0B4F5C"/>
                  </a:solidFill>
                  <a:latin typeface="Cambria"/>
                  <a:ea typeface="Cambria"/>
                  <a:cs typeface="Cambria"/>
                  <a:sym typeface="Cambria"/>
                </a:rPr>
                <a:t>Data fusion: static health record + live wearable stream</a:t>
              </a:r>
            </a:p>
          </p:txBody>
        </p:sp>
      </p:grpSp>
      <p:grpSp>
        <p:nvGrpSpPr>
          <p:cNvPr name="Group 5" id="5"/>
          <p:cNvGrpSpPr/>
          <p:nvPr/>
        </p:nvGrpSpPr>
        <p:grpSpPr>
          <a:xfrm rot="0">
            <a:off x="813435" y="1979295"/>
            <a:ext cx="7288530" cy="6808470"/>
            <a:chOff x="0" y="0"/>
            <a:chExt cx="9718040" cy="9077960"/>
          </a:xfrm>
        </p:grpSpPr>
        <p:sp>
          <p:nvSpPr>
            <p:cNvPr name="Freeform 6" id="6"/>
            <p:cNvSpPr/>
            <p:nvPr/>
          </p:nvSpPr>
          <p:spPr>
            <a:xfrm flipH="false" flipV="false" rot="0">
              <a:off x="0" y="0"/>
              <a:ext cx="9718039" cy="9077960"/>
            </a:xfrm>
            <a:custGeom>
              <a:avLst/>
              <a:gdLst/>
              <a:ahLst/>
              <a:cxnLst/>
              <a:rect r="r" b="b" t="t" l="l"/>
              <a:pathLst>
                <a:path h="9077960" w="9718039">
                  <a:moveTo>
                    <a:pt x="0" y="146685"/>
                  </a:moveTo>
                  <a:cubicBezTo>
                    <a:pt x="0" y="65659"/>
                    <a:pt x="65659" y="0"/>
                    <a:pt x="146685" y="0"/>
                  </a:cubicBezTo>
                  <a:lnTo>
                    <a:pt x="9571355" y="0"/>
                  </a:lnTo>
                  <a:cubicBezTo>
                    <a:pt x="9652381" y="0"/>
                    <a:pt x="9718039" y="65659"/>
                    <a:pt x="9718039" y="146685"/>
                  </a:cubicBezTo>
                  <a:lnTo>
                    <a:pt x="9718039" y="8931275"/>
                  </a:lnTo>
                  <a:cubicBezTo>
                    <a:pt x="9718039" y="9012301"/>
                    <a:pt x="9652381" y="9077960"/>
                    <a:pt x="9571355" y="9077960"/>
                  </a:cubicBezTo>
                  <a:lnTo>
                    <a:pt x="146685" y="9077960"/>
                  </a:lnTo>
                  <a:cubicBezTo>
                    <a:pt x="65659" y="9077960"/>
                    <a:pt x="0" y="9012301"/>
                    <a:pt x="0" y="8931275"/>
                  </a:cubicBezTo>
                  <a:close/>
                </a:path>
              </a:pathLst>
            </a:custGeom>
            <a:solidFill>
              <a:srgbClr val="EEF5F5"/>
            </a:solidFill>
            <a:ln w="19050" cap="sq">
              <a:solidFill>
                <a:srgbClr val="EEF5F5"/>
              </a:solidFill>
              <a:prstDash val="solid"/>
              <a:miter/>
            </a:ln>
          </p:spPr>
        </p:sp>
      </p:grpSp>
      <p:grpSp>
        <p:nvGrpSpPr>
          <p:cNvPr name="Group 7" id="7"/>
          <p:cNvGrpSpPr/>
          <p:nvPr/>
        </p:nvGrpSpPr>
        <p:grpSpPr>
          <a:xfrm rot="0">
            <a:off x="1224915" y="2322195"/>
            <a:ext cx="1047750" cy="1047750"/>
            <a:chOff x="0" y="0"/>
            <a:chExt cx="1397000" cy="1397000"/>
          </a:xfrm>
        </p:grpSpPr>
        <p:sp>
          <p:nvSpPr>
            <p:cNvPr name="Freeform 8" id="8"/>
            <p:cNvSpPr/>
            <p:nvPr/>
          </p:nvSpPr>
          <p:spPr>
            <a:xfrm flipH="false" flipV="false" rot="0">
              <a:off x="0" y="0"/>
              <a:ext cx="1397000" cy="1397000"/>
            </a:xfrm>
            <a:custGeom>
              <a:avLst/>
              <a:gdLst/>
              <a:ahLst/>
              <a:cxnLst/>
              <a:rect r="r" b="b" t="t" l="l"/>
              <a:pathLst>
                <a:path h="1397000" w="1397000">
                  <a:moveTo>
                    <a:pt x="0" y="698500"/>
                  </a:moveTo>
                  <a:cubicBezTo>
                    <a:pt x="0" y="312674"/>
                    <a:pt x="312674" y="0"/>
                    <a:pt x="698500" y="0"/>
                  </a:cubicBezTo>
                  <a:cubicBezTo>
                    <a:pt x="1084326" y="0"/>
                    <a:pt x="1397000" y="312674"/>
                    <a:pt x="1397000" y="698500"/>
                  </a:cubicBezTo>
                  <a:cubicBezTo>
                    <a:pt x="1397000" y="1084326"/>
                    <a:pt x="1084326" y="1397000"/>
                    <a:pt x="698500" y="1397000"/>
                  </a:cubicBezTo>
                  <a:cubicBezTo>
                    <a:pt x="312674" y="1397000"/>
                    <a:pt x="0" y="1084326"/>
                    <a:pt x="0" y="698500"/>
                  </a:cubicBezTo>
                  <a:close/>
                </a:path>
              </a:pathLst>
            </a:custGeom>
            <a:solidFill>
              <a:srgbClr val="0E7C86"/>
            </a:solidFill>
            <a:ln w="19050" cap="sq">
              <a:solidFill>
                <a:srgbClr val="0E7C86"/>
              </a:solidFill>
              <a:prstDash val="solid"/>
              <a:miter/>
            </a:ln>
          </p:spPr>
        </p:sp>
      </p:grpSp>
      <p:grpSp>
        <p:nvGrpSpPr>
          <p:cNvPr name="Group 9" id="9"/>
          <p:cNvGrpSpPr/>
          <p:nvPr/>
        </p:nvGrpSpPr>
        <p:grpSpPr>
          <a:xfrm rot="0">
            <a:off x="1491615" y="2588895"/>
            <a:ext cx="514350" cy="514350"/>
            <a:chOff x="0" y="0"/>
            <a:chExt cx="685800" cy="685800"/>
          </a:xfrm>
        </p:grpSpPr>
        <p:sp>
          <p:nvSpPr>
            <p:cNvPr name="Freeform 10" id="10" descr="preencoded.png"/>
            <p:cNvSpPr/>
            <p:nvPr/>
          </p:nvSpPr>
          <p:spPr>
            <a:xfrm flipH="false" flipV="false" rot="0">
              <a:off x="0" y="0"/>
              <a:ext cx="685800" cy="685800"/>
            </a:xfrm>
            <a:custGeom>
              <a:avLst/>
              <a:gdLst/>
              <a:ahLst/>
              <a:cxnLst/>
              <a:rect r="r" b="b" t="t" l="l"/>
              <a:pathLst>
                <a:path h="685800" w="685800">
                  <a:moveTo>
                    <a:pt x="0" y="0"/>
                  </a:moveTo>
                  <a:lnTo>
                    <a:pt x="685800" y="0"/>
                  </a:lnTo>
                  <a:lnTo>
                    <a:pt x="685800" y="685800"/>
                  </a:lnTo>
                  <a:lnTo>
                    <a:pt x="0" y="685800"/>
                  </a:lnTo>
                  <a:lnTo>
                    <a:pt x="0" y="0"/>
                  </a:lnTo>
                  <a:close/>
                </a:path>
              </a:pathLst>
            </a:custGeom>
            <a:blipFill>
              <a:blip r:embed="rId4"/>
              <a:stretch>
                <a:fillRect l="0" t="0" r="0" b="0"/>
              </a:stretch>
            </a:blipFill>
          </p:spPr>
        </p:sp>
      </p:grpSp>
      <p:sp>
        <p:nvSpPr>
          <p:cNvPr name="TextBox 11" id="11"/>
          <p:cNvSpPr txBox="true"/>
          <p:nvPr/>
        </p:nvSpPr>
        <p:spPr>
          <a:xfrm rot="0">
            <a:off x="2468880" y="2411730"/>
            <a:ext cx="5486400" cy="504825"/>
          </a:xfrm>
          <a:prstGeom prst="rect">
            <a:avLst/>
          </a:prstGeom>
        </p:spPr>
        <p:txBody>
          <a:bodyPr anchor="t" rtlCol="false" tIns="0" lIns="0" bIns="0" rIns="0">
            <a:spAutoFit/>
          </a:bodyPr>
          <a:lstStyle/>
          <a:p>
            <a:pPr algn="l">
              <a:lnSpc>
                <a:spcPts val="3539"/>
              </a:lnSpc>
            </a:pPr>
            <a:r>
              <a:rPr lang="en-US" sz="2949" b="1">
                <a:solidFill>
                  <a:srgbClr val="0B4F5C"/>
                </a:solidFill>
                <a:latin typeface="Calibri"/>
                <a:ea typeface="Calibri"/>
                <a:cs typeface="Calibri"/>
                <a:sym typeface="Calibri"/>
              </a:rPr>
              <a:t>Static / historical (simulated EHR)</a:t>
            </a:r>
          </a:p>
        </p:txBody>
      </p:sp>
      <p:sp>
        <p:nvSpPr>
          <p:cNvPr name="TextBox 12" id="12"/>
          <p:cNvSpPr txBox="true"/>
          <p:nvPr/>
        </p:nvSpPr>
        <p:spPr>
          <a:xfrm rot="0">
            <a:off x="1234440" y="3587115"/>
            <a:ext cx="6515100" cy="3762375"/>
          </a:xfrm>
          <a:prstGeom prst="rect">
            <a:avLst/>
          </a:prstGeom>
        </p:spPr>
        <p:txBody>
          <a:bodyPr anchor="t" rtlCol="false" tIns="0" lIns="0" bIns="0" rIns="0">
            <a:spAutoFit/>
          </a:bodyPr>
          <a:lstStyle/>
          <a:p>
            <a:pPr algn="l" marL="452436" indent="-226218" lvl="1">
              <a:lnSpc>
                <a:spcPts val="2999"/>
              </a:lnSpc>
              <a:buFont typeface="Arial"/>
              <a:buChar char="•"/>
            </a:pPr>
            <a:r>
              <a:rPr lang="en-US" sz="2499">
                <a:solidFill>
                  <a:srgbClr val="1B2B34"/>
                </a:solidFill>
                <a:latin typeface="Calibri"/>
                <a:ea typeface="Calibri"/>
                <a:cs typeface="Calibri"/>
                <a:sym typeface="Calibri"/>
              </a:rPr>
              <a:t>Demographics: age, sex, weight, city, occupation, housing</a:t>
            </a:r>
          </a:p>
          <a:p>
            <a:pPr algn="l" marL="452436" indent="-226218" lvl="1">
              <a:lnSpc>
                <a:spcPts val="2999"/>
              </a:lnSpc>
              <a:buFont typeface="Arial"/>
              <a:buChar char="•"/>
            </a:pPr>
            <a:r>
              <a:rPr lang="en-US" sz="2499">
                <a:solidFill>
                  <a:srgbClr val="1B2B34"/>
                </a:solidFill>
                <a:latin typeface="Calibri"/>
                <a:ea typeface="Calibri"/>
                <a:cs typeface="Calibri"/>
                <a:sym typeface="Calibri"/>
              </a:rPr>
              <a:t>Past diagnoses: hypertension, diabetes, CKD stage, heart failure, prior AKI</a:t>
            </a:r>
          </a:p>
          <a:p>
            <a:pPr algn="l" marL="452436" indent="-226218" lvl="1">
              <a:lnSpc>
                <a:spcPts val="2999"/>
              </a:lnSpc>
              <a:buFont typeface="Arial"/>
              <a:buChar char="•"/>
            </a:pPr>
            <a:r>
              <a:rPr lang="en-US" sz="2499">
                <a:solidFill>
                  <a:srgbClr val="1B2B34"/>
                </a:solidFill>
                <a:latin typeface="Calibri"/>
                <a:ea typeface="Calibri"/>
                <a:cs typeface="Calibri"/>
                <a:sym typeface="Calibri"/>
              </a:rPr>
              <a:t>Lab results: creatinine, eGFR (CKD-EPI 2021), potassium, UACR</a:t>
            </a:r>
          </a:p>
          <a:p>
            <a:pPr algn="l" marL="452436" indent="-226218" lvl="1">
              <a:lnSpc>
                <a:spcPts val="2999"/>
              </a:lnSpc>
              <a:buFont typeface="Arial"/>
              <a:buChar char="•"/>
            </a:pPr>
            <a:r>
              <a:rPr lang="en-US" sz="2499">
                <a:solidFill>
                  <a:srgbClr val="1B2B34"/>
                </a:solidFill>
                <a:latin typeface="Calibri"/>
                <a:ea typeface="Calibri"/>
                <a:cs typeface="Calibri"/>
                <a:sym typeface="Calibri"/>
              </a:rPr>
              <a:t>Medicines: Indian brand names mapped to drug class (e.g. Telma-H, Combiflam)</a:t>
            </a:r>
          </a:p>
          <a:p>
            <a:pPr algn="l" marL="452436" indent="-226218" lvl="1">
              <a:lnSpc>
                <a:spcPts val="2999"/>
              </a:lnSpc>
              <a:buFont typeface="Arial"/>
              <a:buChar char="•"/>
            </a:pPr>
            <a:r>
              <a:rPr lang="en-US" sz="2499">
                <a:solidFill>
                  <a:srgbClr val="1B2B34"/>
                </a:solidFill>
                <a:latin typeface="Calibri"/>
                <a:ea typeface="Calibri"/>
                <a:cs typeface="Calibri"/>
                <a:sym typeface="Calibri"/>
              </a:rPr>
              <a:t>Genetic marker: CYP2C9 (*3 allele ≈ 0.11 in IndiGenomes) changes ibuprofen exposure</a:t>
            </a:r>
          </a:p>
        </p:txBody>
      </p:sp>
      <p:grpSp>
        <p:nvGrpSpPr>
          <p:cNvPr name="Group 13" id="13"/>
          <p:cNvGrpSpPr/>
          <p:nvPr/>
        </p:nvGrpSpPr>
        <p:grpSpPr>
          <a:xfrm rot="0">
            <a:off x="10140315" y="1979295"/>
            <a:ext cx="7288530" cy="6808470"/>
            <a:chOff x="0" y="0"/>
            <a:chExt cx="9718040" cy="9077960"/>
          </a:xfrm>
        </p:grpSpPr>
        <p:sp>
          <p:nvSpPr>
            <p:cNvPr name="Freeform 14" id="14"/>
            <p:cNvSpPr/>
            <p:nvPr/>
          </p:nvSpPr>
          <p:spPr>
            <a:xfrm flipH="false" flipV="false" rot="0">
              <a:off x="0" y="0"/>
              <a:ext cx="9718039" cy="9077960"/>
            </a:xfrm>
            <a:custGeom>
              <a:avLst/>
              <a:gdLst/>
              <a:ahLst/>
              <a:cxnLst/>
              <a:rect r="r" b="b" t="t" l="l"/>
              <a:pathLst>
                <a:path h="9077960" w="9718039">
                  <a:moveTo>
                    <a:pt x="0" y="146685"/>
                  </a:moveTo>
                  <a:cubicBezTo>
                    <a:pt x="0" y="65659"/>
                    <a:pt x="65659" y="0"/>
                    <a:pt x="146685" y="0"/>
                  </a:cubicBezTo>
                  <a:lnTo>
                    <a:pt x="9571355" y="0"/>
                  </a:lnTo>
                  <a:cubicBezTo>
                    <a:pt x="9652381" y="0"/>
                    <a:pt x="9718039" y="65659"/>
                    <a:pt x="9718039" y="146685"/>
                  </a:cubicBezTo>
                  <a:lnTo>
                    <a:pt x="9718039" y="8931275"/>
                  </a:lnTo>
                  <a:cubicBezTo>
                    <a:pt x="9718039" y="9012301"/>
                    <a:pt x="9652381" y="9077960"/>
                    <a:pt x="9571355" y="9077960"/>
                  </a:cubicBezTo>
                  <a:lnTo>
                    <a:pt x="146685" y="9077960"/>
                  </a:lnTo>
                  <a:cubicBezTo>
                    <a:pt x="65659" y="9077960"/>
                    <a:pt x="0" y="9012301"/>
                    <a:pt x="0" y="8931275"/>
                  </a:cubicBezTo>
                  <a:close/>
                </a:path>
              </a:pathLst>
            </a:custGeom>
            <a:solidFill>
              <a:srgbClr val="EEF5F5"/>
            </a:solidFill>
            <a:ln w="19050" cap="sq">
              <a:solidFill>
                <a:srgbClr val="EEF5F5"/>
              </a:solidFill>
              <a:prstDash val="solid"/>
              <a:miter/>
            </a:ln>
          </p:spPr>
        </p:sp>
      </p:grpSp>
      <p:grpSp>
        <p:nvGrpSpPr>
          <p:cNvPr name="Group 15" id="15"/>
          <p:cNvGrpSpPr/>
          <p:nvPr/>
        </p:nvGrpSpPr>
        <p:grpSpPr>
          <a:xfrm rot="0">
            <a:off x="10551795" y="2322195"/>
            <a:ext cx="1047750" cy="1047750"/>
            <a:chOff x="0" y="0"/>
            <a:chExt cx="1397000" cy="1397000"/>
          </a:xfrm>
        </p:grpSpPr>
        <p:sp>
          <p:nvSpPr>
            <p:cNvPr name="Freeform 16" id="16"/>
            <p:cNvSpPr/>
            <p:nvPr/>
          </p:nvSpPr>
          <p:spPr>
            <a:xfrm flipH="false" flipV="false" rot="0">
              <a:off x="0" y="0"/>
              <a:ext cx="1397000" cy="1397000"/>
            </a:xfrm>
            <a:custGeom>
              <a:avLst/>
              <a:gdLst/>
              <a:ahLst/>
              <a:cxnLst/>
              <a:rect r="r" b="b" t="t" l="l"/>
              <a:pathLst>
                <a:path h="1397000" w="1397000">
                  <a:moveTo>
                    <a:pt x="0" y="698500"/>
                  </a:moveTo>
                  <a:cubicBezTo>
                    <a:pt x="0" y="312674"/>
                    <a:pt x="312674" y="0"/>
                    <a:pt x="698500" y="0"/>
                  </a:cubicBezTo>
                  <a:cubicBezTo>
                    <a:pt x="1084326" y="0"/>
                    <a:pt x="1397000" y="312674"/>
                    <a:pt x="1397000" y="698500"/>
                  </a:cubicBezTo>
                  <a:cubicBezTo>
                    <a:pt x="1397000" y="1084326"/>
                    <a:pt x="1084326" y="1397000"/>
                    <a:pt x="698500" y="1397000"/>
                  </a:cubicBezTo>
                  <a:cubicBezTo>
                    <a:pt x="312674" y="1397000"/>
                    <a:pt x="0" y="1084326"/>
                    <a:pt x="0" y="698500"/>
                  </a:cubicBezTo>
                  <a:close/>
                </a:path>
              </a:pathLst>
            </a:custGeom>
            <a:solidFill>
              <a:srgbClr val="D9472B"/>
            </a:solidFill>
            <a:ln w="19050" cap="sq">
              <a:solidFill>
                <a:srgbClr val="D9472B"/>
              </a:solidFill>
              <a:prstDash val="solid"/>
              <a:miter/>
            </a:ln>
          </p:spPr>
        </p:sp>
      </p:grpSp>
      <p:grpSp>
        <p:nvGrpSpPr>
          <p:cNvPr name="Group 17" id="17"/>
          <p:cNvGrpSpPr/>
          <p:nvPr/>
        </p:nvGrpSpPr>
        <p:grpSpPr>
          <a:xfrm rot="0">
            <a:off x="10818495" y="2588895"/>
            <a:ext cx="514350" cy="514350"/>
            <a:chOff x="0" y="0"/>
            <a:chExt cx="685800" cy="685800"/>
          </a:xfrm>
        </p:grpSpPr>
        <p:sp>
          <p:nvSpPr>
            <p:cNvPr name="Freeform 18" id="18" descr="preencoded.png"/>
            <p:cNvSpPr/>
            <p:nvPr/>
          </p:nvSpPr>
          <p:spPr>
            <a:xfrm flipH="false" flipV="false" rot="0">
              <a:off x="0" y="0"/>
              <a:ext cx="685800" cy="685800"/>
            </a:xfrm>
            <a:custGeom>
              <a:avLst/>
              <a:gdLst/>
              <a:ahLst/>
              <a:cxnLst/>
              <a:rect r="r" b="b" t="t" l="l"/>
              <a:pathLst>
                <a:path h="685800" w="685800">
                  <a:moveTo>
                    <a:pt x="0" y="0"/>
                  </a:moveTo>
                  <a:lnTo>
                    <a:pt x="685800" y="0"/>
                  </a:lnTo>
                  <a:lnTo>
                    <a:pt x="685800" y="685800"/>
                  </a:lnTo>
                  <a:lnTo>
                    <a:pt x="0" y="685800"/>
                  </a:lnTo>
                  <a:lnTo>
                    <a:pt x="0" y="0"/>
                  </a:lnTo>
                  <a:close/>
                </a:path>
              </a:pathLst>
            </a:custGeom>
            <a:blipFill>
              <a:blip r:embed="rId5"/>
              <a:stretch>
                <a:fillRect l="0" t="0" r="0" b="0"/>
              </a:stretch>
            </a:blipFill>
          </p:spPr>
        </p:sp>
      </p:grpSp>
      <p:sp>
        <p:nvSpPr>
          <p:cNvPr name="TextBox 19" id="19"/>
          <p:cNvSpPr txBox="true"/>
          <p:nvPr/>
        </p:nvSpPr>
        <p:spPr>
          <a:xfrm rot="0">
            <a:off x="11795760" y="2411730"/>
            <a:ext cx="5486400" cy="952500"/>
          </a:xfrm>
          <a:prstGeom prst="rect">
            <a:avLst/>
          </a:prstGeom>
        </p:spPr>
        <p:txBody>
          <a:bodyPr anchor="t" rtlCol="false" tIns="0" lIns="0" bIns="0" rIns="0">
            <a:spAutoFit/>
          </a:bodyPr>
          <a:lstStyle/>
          <a:p>
            <a:pPr algn="l">
              <a:lnSpc>
                <a:spcPts val="3539"/>
              </a:lnSpc>
            </a:pPr>
            <a:r>
              <a:rPr lang="en-US" sz="2949" b="1">
                <a:solidFill>
                  <a:srgbClr val="0B4F5C"/>
                </a:solidFill>
                <a:latin typeface="Calibri"/>
                <a:ea typeface="Calibri"/>
                <a:cs typeface="Calibri"/>
                <a:sym typeface="Calibri"/>
              </a:rPr>
              <a:t>Dynamic / real-time (simulated wearables)</a:t>
            </a:r>
          </a:p>
        </p:txBody>
      </p:sp>
      <p:sp>
        <p:nvSpPr>
          <p:cNvPr name="TextBox 20" id="20"/>
          <p:cNvSpPr txBox="true"/>
          <p:nvPr/>
        </p:nvSpPr>
        <p:spPr>
          <a:xfrm rot="0">
            <a:off x="10561320" y="3587115"/>
            <a:ext cx="6515100" cy="3390900"/>
          </a:xfrm>
          <a:prstGeom prst="rect">
            <a:avLst/>
          </a:prstGeom>
        </p:spPr>
        <p:txBody>
          <a:bodyPr anchor="t" rtlCol="false" tIns="0" lIns="0" bIns="0" rIns="0">
            <a:spAutoFit/>
          </a:bodyPr>
          <a:lstStyle/>
          <a:p>
            <a:pPr algn="l" marL="452436" indent="-226218" lvl="1">
              <a:lnSpc>
                <a:spcPts val="2999"/>
              </a:lnSpc>
              <a:buFont typeface="Arial"/>
              <a:buChar char="•"/>
            </a:pPr>
            <a:r>
              <a:rPr lang="en-US" sz="2499">
                <a:solidFill>
                  <a:srgbClr val="1B2B34"/>
                </a:solidFill>
                <a:latin typeface="Calibri"/>
                <a:ea typeface="Calibri"/>
                <a:cs typeface="Calibri"/>
                <a:sym typeface="Calibri"/>
              </a:rPr>
              <a:t>Resting heart rate, HRV, steps, sleep (Fitbit / Apple Health-style)</a:t>
            </a:r>
          </a:p>
          <a:p>
            <a:pPr algn="l" marL="452436" indent="-226218" lvl="1">
              <a:lnSpc>
                <a:spcPts val="2999"/>
              </a:lnSpc>
              <a:buFont typeface="Arial"/>
              <a:buChar char="•"/>
            </a:pPr>
            <a:r>
              <a:rPr lang="en-US" sz="2499">
                <a:solidFill>
                  <a:srgbClr val="1B2B34"/>
                </a:solidFill>
                <a:latin typeface="Calibri"/>
                <a:ea typeface="Calibri"/>
                <a:cs typeface="Calibri"/>
                <a:sym typeface="Calibri"/>
              </a:rPr>
              <a:t>Morning weight from a home scale (water lost)</a:t>
            </a:r>
          </a:p>
          <a:p>
            <a:pPr algn="l" marL="452436" indent="-226218" lvl="1">
              <a:lnSpc>
                <a:spcPts val="2999"/>
              </a:lnSpc>
              <a:buFont typeface="Arial"/>
              <a:buChar char="•"/>
            </a:pPr>
            <a:r>
              <a:rPr lang="en-US" sz="2499">
                <a:solidFill>
                  <a:srgbClr val="1B2B34"/>
                </a:solidFill>
                <a:latin typeface="Calibri"/>
                <a:ea typeface="Calibri"/>
                <a:cs typeface="Calibri"/>
                <a:sym typeface="Calibri"/>
              </a:rPr>
              <a:t>Home BP (optional)</a:t>
            </a:r>
          </a:p>
          <a:p>
            <a:pPr algn="l" marL="452436" indent="-226218" lvl="1">
              <a:lnSpc>
                <a:spcPts val="2999"/>
              </a:lnSpc>
              <a:buFont typeface="Arial"/>
              <a:buChar char="•"/>
            </a:pPr>
            <a:r>
              <a:rPr lang="en-US" sz="2499">
                <a:solidFill>
                  <a:srgbClr val="1B2B34"/>
                </a:solidFill>
                <a:latin typeface="Calibri"/>
                <a:ea typeface="Calibri"/>
                <a:cs typeface="Calibri"/>
                <a:sym typeface="Calibri"/>
              </a:rPr>
              <a:t>Hourly weather: temperature, humidity, sun (real 2024-26 Open-Meteo / ERA5)</a:t>
            </a:r>
          </a:p>
          <a:p>
            <a:pPr algn="l" marL="452436" indent="-226218" lvl="1">
              <a:lnSpc>
                <a:spcPts val="2999"/>
              </a:lnSpc>
              <a:buFont typeface="Arial"/>
              <a:buChar char="•"/>
            </a:pPr>
            <a:r>
              <a:rPr lang="en-US" sz="2499">
                <a:solidFill>
                  <a:srgbClr val="1B2B34"/>
                </a:solidFill>
                <a:latin typeface="Calibri"/>
                <a:ea typeface="Calibri"/>
                <a:cs typeface="Calibri"/>
                <a:sym typeface="Calibri"/>
              </a:rPr>
              <a:t>Check-ins: fever, vomiting, tablets taken, ORS, work hours</a:t>
            </a:r>
          </a:p>
        </p:txBody>
      </p:sp>
      <p:grpSp>
        <p:nvGrpSpPr>
          <p:cNvPr name="Group 21" id="21"/>
          <p:cNvGrpSpPr/>
          <p:nvPr/>
        </p:nvGrpSpPr>
        <p:grpSpPr>
          <a:xfrm rot="0">
            <a:off x="8425815" y="4516755"/>
            <a:ext cx="1459230" cy="1459230"/>
            <a:chOff x="0" y="0"/>
            <a:chExt cx="1945640" cy="1945640"/>
          </a:xfrm>
        </p:grpSpPr>
        <p:sp>
          <p:nvSpPr>
            <p:cNvPr name="Freeform 22" id="22"/>
            <p:cNvSpPr/>
            <p:nvPr/>
          </p:nvSpPr>
          <p:spPr>
            <a:xfrm flipH="false" flipV="false" rot="0">
              <a:off x="0" y="0"/>
              <a:ext cx="1945640" cy="1945640"/>
            </a:xfrm>
            <a:custGeom>
              <a:avLst/>
              <a:gdLst/>
              <a:ahLst/>
              <a:cxnLst/>
              <a:rect r="r" b="b" t="t" l="l"/>
              <a:pathLst>
                <a:path h="1945640" w="1945640">
                  <a:moveTo>
                    <a:pt x="0" y="972820"/>
                  </a:moveTo>
                  <a:cubicBezTo>
                    <a:pt x="0" y="435483"/>
                    <a:pt x="435483" y="0"/>
                    <a:pt x="972820" y="0"/>
                  </a:cubicBezTo>
                  <a:cubicBezTo>
                    <a:pt x="1510157" y="0"/>
                    <a:pt x="1945640" y="435483"/>
                    <a:pt x="1945640" y="972820"/>
                  </a:cubicBezTo>
                  <a:cubicBezTo>
                    <a:pt x="1945640" y="1510157"/>
                    <a:pt x="1510157" y="1945640"/>
                    <a:pt x="972820" y="1945640"/>
                  </a:cubicBezTo>
                  <a:cubicBezTo>
                    <a:pt x="435483" y="1945640"/>
                    <a:pt x="0" y="1510157"/>
                    <a:pt x="0" y="972820"/>
                  </a:cubicBezTo>
                  <a:close/>
                </a:path>
              </a:pathLst>
            </a:custGeom>
            <a:solidFill>
              <a:srgbClr val="0B4F5C"/>
            </a:solidFill>
            <a:ln w="19050" cap="sq">
              <a:solidFill>
                <a:srgbClr val="0B4F5C"/>
              </a:solidFill>
              <a:prstDash val="solid"/>
              <a:miter/>
            </a:ln>
          </p:spPr>
        </p:sp>
      </p:grpSp>
      <p:grpSp>
        <p:nvGrpSpPr>
          <p:cNvPr name="Group 23" id="23"/>
          <p:cNvGrpSpPr/>
          <p:nvPr/>
        </p:nvGrpSpPr>
        <p:grpSpPr>
          <a:xfrm rot="0">
            <a:off x="8435340" y="4526280"/>
            <a:ext cx="1440180" cy="1440180"/>
            <a:chOff x="0" y="0"/>
            <a:chExt cx="1920240" cy="1920240"/>
          </a:xfrm>
        </p:grpSpPr>
        <p:sp>
          <p:nvSpPr>
            <p:cNvPr name="Freeform 24" id="24"/>
            <p:cNvSpPr/>
            <p:nvPr/>
          </p:nvSpPr>
          <p:spPr>
            <a:xfrm flipH="false" flipV="false" rot="0">
              <a:off x="0" y="0"/>
              <a:ext cx="1920240" cy="1920240"/>
            </a:xfrm>
            <a:custGeom>
              <a:avLst/>
              <a:gdLst/>
              <a:ahLst/>
              <a:cxnLst/>
              <a:rect r="r" b="b" t="t" l="l"/>
              <a:pathLst>
                <a:path h="1920240" w="1920240">
                  <a:moveTo>
                    <a:pt x="0" y="0"/>
                  </a:moveTo>
                  <a:lnTo>
                    <a:pt x="1920240" y="0"/>
                  </a:lnTo>
                  <a:lnTo>
                    <a:pt x="1920240" y="1920240"/>
                  </a:lnTo>
                  <a:lnTo>
                    <a:pt x="0" y="1920240"/>
                  </a:lnTo>
                  <a:close/>
                </a:path>
              </a:pathLst>
            </a:custGeom>
            <a:blipFill>
              <a:blip r:embed="rId3">
                <a:alphaModFix amt="0"/>
              </a:blip>
              <a:stretch>
                <a:fillRect l="-78303" t="0" r="-78303" b="0"/>
              </a:stretch>
            </a:blipFill>
          </p:spPr>
        </p:sp>
        <p:sp>
          <p:nvSpPr>
            <p:cNvPr name="TextBox 25" id="25"/>
            <p:cNvSpPr txBox="true"/>
            <p:nvPr/>
          </p:nvSpPr>
          <p:spPr>
            <a:xfrm>
              <a:off x="0" y="-47625"/>
              <a:ext cx="1920240" cy="1967865"/>
            </a:xfrm>
            <a:prstGeom prst="rect">
              <a:avLst/>
            </a:prstGeom>
          </p:spPr>
          <p:txBody>
            <a:bodyPr anchor="ctr" rtlCol="false" tIns="0" lIns="0" bIns="0" rIns="0"/>
            <a:lstStyle/>
            <a:p>
              <a:pPr algn="ctr">
                <a:lnSpc>
                  <a:spcPts val="2999"/>
                </a:lnSpc>
              </a:pPr>
              <a:r>
                <a:rPr lang="en-US" sz="2499" b="1">
                  <a:solidFill>
                    <a:srgbClr val="FFFFFF"/>
                  </a:solidFill>
                  <a:latin typeface="Calibri"/>
                  <a:ea typeface="Calibri"/>
                  <a:cs typeface="Calibri"/>
                  <a:sym typeface="Calibri"/>
                </a:rPr>
                <a:t>Twin</a:t>
              </a:r>
            </a:p>
          </p:txBody>
        </p:sp>
      </p:grpSp>
      <p:sp>
        <p:nvSpPr>
          <p:cNvPr name="TextBox 26" id="26"/>
          <p:cNvSpPr txBox="true"/>
          <p:nvPr/>
        </p:nvSpPr>
        <p:spPr>
          <a:xfrm rot="0">
            <a:off x="822960" y="8945880"/>
            <a:ext cx="16596360" cy="609600"/>
          </a:xfrm>
          <a:prstGeom prst="rect">
            <a:avLst/>
          </a:prstGeom>
        </p:spPr>
        <p:txBody>
          <a:bodyPr anchor="t" rtlCol="false" tIns="0" lIns="0" bIns="0" rIns="0">
            <a:spAutoFit/>
          </a:bodyPr>
          <a:lstStyle/>
          <a:p>
            <a:pPr algn="l">
              <a:lnSpc>
                <a:spcPts val="2279"/>
              </a:lnSpc>
            </a:pPr>
            <a:r>
              <a:rPr lang="en-US" sz="1899" i="1">
                <a:solidFill>
                  <a:srgbClr val="5B6C75"/>
                </a:solidFill>
                <a:latin typeface="Calibri"/>
                <a:ea typeface="Calibri"/>
                <a:cs typeface="Calibri"/>
                <a:sym typeface="Calibri"/>
              </a:rPr>
              <a:t>Exactly the two streams the challenge asks for. Genotypes are simulated from published Indian allele frequencies; CPIC 2020 gives recommendations for ibuprofen, none for diclofenac or aceclofenac, so we apply no gene effect there.</a:t>
            </a:r>
          </a:p>
        </p:txBody>
      </p:sp>
      <p:sp>
        <p:nvSpPr>
          <p:cNvPr name="TextBox 27" id="27"/>
          <p:cNvSpPr txBox="true"/>
          <p:nvPr/>
        </p:nvSpPr>
        <p:spPr>
          <a:xfrm rot="0">
            <a:off x="16962120" y="9540240"/>
            <a:ext cx="640080" cy="342900"/>
          </a:xfrm>
          <a:prstGeom prst="rect">
            <a:avLst/>
          </a:prstGeom>
        </p:spPr>
        <p:txBody>
          <a:bodyPr anchor="t" rtlCol="false" tIns="0" lIns="0" bIns="0" rIns="0">
            <a:spAutoFit/>
          </a:bodyPr>
          <a:lstStyle/>
          <a:p>
            <a:pPr algn="r">
              <a:lnSpc>
                <a:spcPts val="2459"/>
              </a:lnSpc>
            </a:pPr>
            <a:r>
              <a:rPr lang="en-US" sz="2049">
                <a:solidFill>
                  <a:srgbClr val="5B6C75"/>
                </a:solidFill>
                <a:latin typeface="Calibri"/>
                <a:ea typeface="Calibri"/>
                <a:cs typeface="Calibri"/>
                <a:sym typeface="Calibri"/>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89010" y="-579603"/>
            <a:ext cx="16596360" cy="3516209"/>
            <a:chOff x="0" y="0"/>
            <a:chExt cx="22128480" cy="4688279"/>
          </a:xfrm>
        </p:grpSpPr>
        <p:sp>
          <p:nvSpPr>
            <p:cNvPr name="Freeform 3" id="3"/>
            <p:cNvSpPr/>
            <p:nvPr/>
          </p:nvSpPr>
          <p:spPr>
            <a:xfrm flipH="false" flipV="false" rot="0">
              <a:off x="0" y="0"/>
              <a:ext cx="22128480" cy="4688279"/>
            </a:xfrm>
            <a:custGeom>
              <a:avLst/>
              <a:gdLst/>
              <a:ahLst/>
              <a:cxnLst/>
              <a:rect r="r" b="b" t="t" l="l"/>
              <a:pathLst>
                <a:path h="4688279" w="22128480">
                  <a:moveTo>
                    <a:pt x="0" y="0"/>
                  </a:moveTo>
                  <a:lnTo>
                    <a:pt x="22128480" y="0"/>
                  </a:lnTo>
                  <a:lnTo>
                    <a:pt x="22128480" y="4688279"/>
                  </a:lnTo>
                  <a:lnTo>
                    <a:pt x="0" y="4688279"/>
                  </a:lnTo>
                  <a:close/>
                </a:path>
              </a:pathLst>
            </a:custGeom>
            <a:blipFill>
              <a:blip r:embed="rId3">
                <a:alphaModFix amt="0"/>
              </a:blip>
              <a:stretch>
                <a:fillRect l="0" t="-75390" r="0" b="-8546"/>
              </a:stretch>
            </a:blipFill>
          </p:spPr>
        </p:sp>
        <p:sp>
          <p:nvSpPr>
            <p:cNvPr name="TextBox 4" id="4"/>
            <p:cNvSpPr txBox="true"/>
            <p:nvPr/>
          </p:nvSpPr>
          <p:spPr>
            <a:xfrm>
              <a:off x="0" y="-9525"/>
              <a:ext cx="22128480" cy="4697804"/>
            </a:xfrm>
            <a:prstGeom prst="rect">
              <a:avLst/>
            </a:prstGeom>
          </p:spPr>
          <p:txBody>
            <a:bodyPr anchor="ctr" rtlCol="false" tIns="0" lIns="0" bIns="0" rIns="0"/>
            <a:lstStyle/>
            <a:p>
              <a:pPr algn="l">
                <a:lnSpc>
                  <a:spcPts val="5759"/>
                </a:lnSpc>
              </a:pPr>
              <a:r>
                <a:rPr lang="en-US" sz="4799" b="1">
                  <a:solidFill>
                    <a:srgbClr val="0B4F5C"/>
                  </a:solidFill>
                  <a:latin typeface="Cambria"/>
                  <a:ea typeface="Cambria"/>
                  <a:cs typeface="Cambria"/>
                  <a:sym typeface="Cambria"/>
                </a:rPr>
                <a:t>Architecture</a:t>
              </a:r>
            </a:p>
          </p:txBody>
        </p:sp>
      </p:grpSp>
      <p:grpSp>
        <p:nvGrpSpPr>
          <p:cNvPr name="Group 5" id="5"/>
          <p:cNvGrpSpPr/>
          <p:nvPr/>
        </p:nvGrpSpPr>
        <p:grpSpPr>
          <a:xfrm rot="0">
            <a:off x="813435" y="1910715"/>
            <a:ext cx="3105150" cy="6808470"/>
            <a:chOff x="0" y="0"/>
            <a:chExt cx="4140200" cy="9077960"/>
          </a:xfrm>
        </p:grpSpPr>
        <p:sp>
          <p:nvSpPr>
            <p:cNvPr name="Freeform 6" id="6"/>
            <p:cNvSpPr/>
            <p:nvPr/>
          </p:nvSpPr>
          <p:spPr>
            <a:xfrm flipH="false" flipV="false" rot="0">
              <a:off x="0" y="0"/>
              <a:ext cx="4140200" cy="9077961"/>
            </a:xfrm>
            <a:custGeom>
              <a:avLst/>
              <a:gdLst/>
              <a:ahLst/>
              <a:cxnLst/>
              <a:rect r="r" b="b" t="t" l="l"/>
              <a:pathLst>
                <a:path h="9077961" w="4140200">
                  <a:moveTo>
                    <a:pt x="0" y="147193"/>
                  </a:moveTo>
                  <a:cubicBezTo>
                    <a:pt x="0" y="65913"/>
                    <a:pt x="65913" y="0"/>
                    <a:pt x="147193" y="0"/>
                  </a:cubicBezTo>
                  <a:lnTo>
                    <a:pt x="3993007" y="0"/>
                  </a:lnTo>
                  <a:cubicBezTo>
                    <a:pt x="4074287" y="0"/>
                    <a:pt x="4140200" y="65913"/>
                    <a:pt x="4140200" y="147193"/>
                  </a:cubicBezTo>
                  <a:lnTo>
                    <a:pt x="4140200" y="8930767"/>
                  </a:lnTo>
                  <a:cubicBezTo>
                    <a:pt x="4140200" y="9012048"/>
                    <a:pt x="4074287" y="9077961"/>
                    <a:pt x="3993007" y="9077961"/>
                  </a:cubicBezTo>
                  <a:lnTo>
                    <a:pt x="147193" y="9077961"/>
                  </a:lnTo>
                  <a:cubicBezTo>
                    <a:pt x="65913" y="9077960"/>
                    <a:pt x="0" y="9012047"/>
                    <a:pt x="0" y="8930767"/>
                  </a:cubicBezTo>
                  <a:close/>
                </a:path>
              </a:pathLst>
            </a:custGeom>
            <a:solidFill>
              <a:srgbClr val="EEF5F5"/>
            </a:solidFill>
            <a:ln w="19050" cap="sq">
              <a:solidFill>
                <a:srgbClr val="EEF5F5"/>
              </a:solidFill>
              <a:prstDash val="solid"/>
              <a:miter/>
            </a:ln>
          </p:spPr>
        </p:sp>
      </p:grpSp>
      <p:sp>
        <p:nvSpPr>
          <p:cNvPr name="TextBox 7" id="7"/>
          <p:cNvSpPr txBox="true"/>
          <p:nvPr/>
        </p:nvSpPr>
        <p:spPr>
          <a:xfrm rot="0">
            <a:off x="1028700" y="2078355"/>
            <a:ext cx="2674620" cy="428625"/>
          </a:xfrm>
          <a:prstGeom prst="rect">
            <a:avLst/>
          </a:prstGeom>
        </p:spPr>
        <p:txBody>
          <a:bodyPr anchor="t" rtlCol="false" tIns="0" lIns="0" bIns="0" rIns="0">
            <a:spAutoFit/>
          </a:bodyPr>
          <a:lstStyle/>
          <a:p>
            <a:pPr algn="ctr">
              <a:lnSpc>
                <a:spcPts val="3059"/>
              </a:lnSpc>
            </a:pPr>
            <a:r>
              <a:rPr lang="en-US" sz="2549" b="1">
                <a:solidFill>
                  <a:srgbClr val="0B4F5C"/>
                </a:solidFill>
                <a:latin typeface="Calibri"/>
                <a:ea typeface="Calibri"/>
                <a:cs typeface="Calibri"/>
                <a:sym typeface="Calibri"/>
              </a:rPr>
              <a:t>Data sources</a:t>
            </a:r>
          </a:p>
        </p:txBody>
      </p:sp>
      <p:grpSp>
        <p:nvGrpSpPr>
          <p:cNvPr name="Group 8" id="8"/>
          <p:cNvGrpSpPr/>
          <p:nvPr/>
        </p:nvGrpSpPr>
        <p:grpSpPr>
          <a:xfrm rot="0">
            <a:off x="1021556" y="2941796"/>
            <a:ext cx="2688908" cy="809816"/>
            <a:chOff x="0" y="0"/>
            <a:chExt cx="3585210" cy="1079754"/>
          </a:xfrm>
        </p:grpSpPr>
        <p:sp>
          <p:nvSpPr>
            <p:cNvPr name="Freeform 9" id="9"/>
            <p:cNvSpPr/>
            <p:nvPr/>
          </p:nvSpPr>
          <p:spPr>
            <a:xfrm flipH="false" flipV="false" rot="0">
              <a:off x="0" y="0"/>
              <a:ext cx="3585210" cy="1079754"/>
            </a:xfrm>
            <a:custGeom>
              <a:avLst/>
              <a:gdLst/>
              <a:ahLst/>
              <a:cxnLst/>
              <a:rect r="r" b="b" t="t" l="l"/>
              <a:pathLst>
                <a:path h="1079754" w="3585210">
                  <a:moveTo>
                    <a:pt x="0" y="111760"/>
                  </a:moveTo>
                  <a:cubicBezTo>
                    <a:pt x="0" y="50038"/>
                    <a:pt x="50038" y="0"/>
                    <a:pt x="111760" y="0"/>
                  </a:cubicBezTo>
                  <a:lnTo>
                    <a:pt x="3473450" y="0"/>
                  </a:lnTo>
                  <a:cubicBezTo>
                    <a:pt x="3535172" y="0"/>
                    <a:pt x="3585210" y="50038"/>
                    <a:pt x="3585210" y="111760"/>
                  </a:cubicBezTo>
                  <a:lnTo>
                    <a:pt x="3585210" y="967994"/>
                  </a:lnTo>
                  <a:cubicBezTo>
                    <a:pt x="3585210" y="1029716"/>
                    <a:pt x="3535172" y="1079754"/>
                    <a:pt x="3473450" y="1079754"/>
                  </a:cubicBezTo>
                  <a:lnTo>
                    <a:pt x="111760" y="1079754"/>
                  </a:lnTo>
                  <a:cubicBezTo>
                    <a:pt x="50038" y="1079754"/>
                    <a:pt x="0" y="1029716"/>
                    <a:pt x="0" y="967994"/>
                  </a:cubicBezTo>
                  <a:close/>
                </a:path>
              </a:pathLst>
            </a:custGeom>
            <a:solidFill>
              <a:srgbClr val="FFFFFF"/>
            </a:solidFill>
            <a:ln w="14288" cap="sq">
              <a:solidFill>
                <a:srgbClr val="C9D6D8"/>
              </a:solidFill>
              <a:prstDash val="solid"/>
              <a:miter/>
            </a:ln>
          </p:spPr>
        </p:sp>
      </p:grpSp>
      <p:grpSp>
        <p:nvGrpSpPr>
          <p:cNvPr name="Group 10" id="10"/>
          <p:cNvGrpSpPr/>
          <p:nvPr/>
        </p:nvGrpSpPr>
        <p:grpSpPr>
          <a:xfrm rot="0">
            <a:off x="1097280" y="2948940"/>
            <a:ext cx="2537460" cy="795528"/>
            <a:chOff x="0" y="0"/>
            <a:chExt cx="3383280" cy="1060704"/>
          </a:xfrm>
        </p:grpSpPr>
        <p:sp>
          <p:nvSpPr>
            <p:cNvPr name="Freeform 11" id="11"/>
            <p:cNvSpPr/>
            <p:nvPr/>
          </p:nvSpPr>
          <p:spPr>
            <a:xfrm flipH="false" flipV="false" rot="0">
              <a:off x="0" y="0"/>
              <a:ext cx="3383280" cy="1060704"/>
            </a:xfrm>
            <a:custGeom>
              <a:avLst/>
              <a:gdLst/>
              <a:ahLst/>
              <a:cxnLst/>
              <a:rect r="r" b="b" t="t" l="l"/>
              <a:pathLst>
                <a:path h="1060704" w="3383280">
                  <a:moveTo>
                    <a:pt x="0" y="0"/>
                  </a:moveTo>
                  <a:lnTo>
                    <a:pt x="3383280" y="0"/>
                  </a:lnTo>
                  <a:lnTo>
                    <a:pt x="3383280" y="1060704"/>
                  </a:lnTo>
                  <a:lnTo>
                    <a:pt x="0" y="1060704"/>
                  </a:lnTo>
                  <a:close/>
                </a:path>
              </a:pathLst>
            </a:custGeom>
            <a:blipFill>
              <a:blip r:embed="rId3">
                <a:alphaModFix amt="0"/>
              </a:blip>
              <a:stretch>
                <a:fillRect l="0" t="-12150" r="0" b="-12150"/>
              </a:stretch>
            </a:blipFill>
          </p:spPr>
        </p:sp>
        <p:sp>
          <p:nvSpPr>
            <p:cNvPr name="TextBox 12" id="12"/>
            <p:cNvSpPr txBox="true"/>
            <p:nvPr/>
          </p:nvSpPr>
          <p:spPr>
            <a:xfrm>
              <a:off x="0" y="-38100"/>
              <a:ext cx="3383280" cy="1098804"/>
            </a:xfrm>
            <a:prstGeom prst="rect">
              <a:avLst/>
            </a:prstGeom>
          </p:spPr>
          <p:txBody>
            <a:bodyPr anchor="ctr" rtlCol="false" tIns="0" lIns="0" bIns="0" rIns="0"/>
            <a:lstStyle/>
            <a:p>
              <a:pPr algn="ctr">
                <a:lnSpc>
                  <a:spcPts val="2429"/>
                </a:lnSpc>
              </a:pPr>
              <a:r>
                <a:rPr lang="en-US" sz="2024">
                  <a:solidFill>
                    <a:srgbClr val="1B2B34"/>
                  </a:solidFill>
                  <a:latin typeface="Calibri"/>
                  <a:ea typeface="Calibri"/>
                  <a:cs typeface="Calibri"/>
                  <a:sym typeface="Calibri"/>
                </a:rPr>
                <a:t>Synthetic EHR cohort</a:t>
              </a:r>
            </a:p>
          </p:txBody>
        </p:sp>
      </p:grpSp>
      <p:grpSp>
        <p:nvGrpSpPr>
          <p:cNvPr name="Group 13" id="13"/>
          <p:cNvGrpSpPr/>
          <p:nvPr/>
        </p:nvGrpSpPr>
        <p:grpSpPr>
          <a:xfrm rot="0">
            <a:off x="1021556" y="3901916"/>
            <a:ext cx="2688908" cy="809816"/>
            <a:chOff x="0" y="0"/>
            <a:chExt cx="3585210" cy="1079754"/>
          </a:xfrm>
        </p:grpSpPr>
        <p:sp>
          <p:nvSpPr>
            <p:cNvPr name="Freeform 14" id="14"/>
            <p:cNvSpPr/>
            <p:nvPr/>
          </p:nvSpPr>
          <p:spPr>
            <a:xfrm flipH="false" flipV="false" rot="0">
              <a:off x="0" y="0"/>
              <a:ext cx="3585210" cy="1079754"/>
            </a:xfrm>
            <a:custGeom>
              <a:avLst/>
              <a:gdLst/>
              <a:ahLst/>
              <a:cxnLst/>
              <a:rect r="r" b="b" t="t" l="l"/>
              <a:pathLst>
                <a:path h="1079754" w="3585210">
                  <a:moveTo>
                    <a:pt x="0" y="111760"/>
                  </a:moveTo>
                  <a:cubicBezTo>
                    <a:pt x="0" y="50038"/>
                    <a:pt x="50038" y="0"/>
                    <a:pt x="111760" y="0"/>
                  </a:cubicBezTo>
                  <a:lnTo>
                    <a:pt x="3473450" y="0"/>
                  </a:lnTo>
                  <a:cubicBezTo>
                    <a:pt x="3535172" y="0"/>
                    <a:pt x="3585210" y="50038"/>
                    <a:pt x="3585210" y="111760"/>
                  </a:cubicBezTo>
                  <a:lnTo>
                    <a:pt x="3585210" y="967994"/>
                  </a:lnTo>
                  <a:cubicBezTo>
                    <a:pt x="3585210" y="1029716"/>
                    <a:pt x="3535172" y="1079754"/>
                    <a:pt x="3473450" y="1079754"/>
                  </a:cubicBezTo>
                  <a:lnTo>
                    <a:pt x="111760" y="1079754"/>
                  </a:lnTo>
                  <a:cubicBezTo>
                    <a:pt x="50038" y="1079754"/>
                    <a:pt x="0" y="1029716"/>
                    <a:pt x="0" y="967994"/>
                  </a:cubicBezTo>
                  <a:close/>
                </a:path>
              </a:pathLst>
            </a:custGeom>
            <a:solidFill>
              <a:srgbClr val="FFFFFF"/>
            </a:solidFill>
            <a:ln w="14288" cap="sq">
              <a:solidFill>
                <a:srgbClr val="C9D6D8"/>
              </a:solidFill>
              <a:prstDash val="solid"/>
              <a:miter/>
            </a:ln>
          </p:spPr>
        </p:sp>
      </p:grpSp>
      <p:grpSp>
        <p:nvGrpSpPr>
          <p:cNvPr name="Group 15" id="15"/>
          <p:cNvGrpSpPr/>
          <p:nvPr/>
        </p:nvGrpSpPr>
        <p:grpSpPr>
          <a:xfrm rot="0">
            <a:off x="1097280" y="3909060"/>
            <a:ext cx="2537460" cy="795528"/>
            <a:chOff x="0" y="0"/>
            <a:chExt cx="3383280" cy="1060704"/>
          </a:xfrm>
        </p:grpSpPr>
        <p:sp>
          <p:nvSpPr>
            <p:cNvPr name="Freeform 16" id="16"/>
            <p:cNvSpPr/>
            <p:nvPr/>
          </p:nvSpPr>
          <p:spPr>
            <a:xfrm flipH="false" flipV="false" rot="0">
              <a:off x="0" y="0"/>
              <a:ext cx="3383280" cy="1060704"/>
            </a:xfrm>
            <a:custGeom>
              <a:avLst/>
              <a:gdLst/>
              <a:ahLst/>
              <a:cxnLst/>
              <a:rect r="r" b="b" t="t" l="l"/>
              <a:pathLst>
                <a:path h="1060704" w="3383280">
                  <a:moveTo>
                    <a:pt x="0" y="0"/>
                  </a:moveTo>
                  <a:lnTo>
                    <a:pt x="3383280" y="0"/>
                  </a:lnTo>
                  <a:lnTo>
                    <a:pt x="3383280" y="1060704"/>
                  </a:lnTo>
                  <a:lnTo>
                    <a:pt x="0" y="1060704"/>
                  </a:lnTo>
                  <a:close/>
                </a:path>
              </a:pathLst>
            </a:custGeom>
            <a:blipFill>
              <a:blip r:embed="rId3">
                <a:alphaModFix amt="0"/>
              </a:blip>
              <a:stretch>
                <a:fillRect l="0" t="-12150" r="0" b="-12150"/>
              </a:stretch>
            </a:blipFill>
          </p:spPr>
        </p:sp>
        <p:sp>
          <p:nvSpPr>
            <p:cNvPr name="TextBox 17" id="17"/>
            <p:cNvSpPr txBox="true"/>
            <p:nvPr/>
          </p:nvSpPr>
          <p:spPr>
            <a:xfrm>
              <a:off x="0" y="-38100"/>
              <a:ext cx="3383280" cy="1098804"/>
            </a:xfrm>
            <a:prstGeom prst="rect">
              <a:avLst/>
            </a:prstGeom>
          </p:spPr>
          <p:txBody>
            <a:bodyPr anchor="ctr" rtlCol="false" tIns="0" lIns="0" bIns="0" rIns="0"/>
            <a:lstStyle/>
            <a:p>
              <a:pPr algn="ctr">
                <a:lnSpc>
                  <a:spcPts val="2429"/>
                </a:lnSpc>
              </a:pPr>
              <a:r>
                <a:rPr lang="en-US" sz="2024">
                  <a:solidFill>
                    <a:srgbClr val="1B2B34"/>
                  </a:solidFill>
                  <a:latin typeface="Calibri"/>
                  <a:ea typeface="Calibri"/>
                  <a:cs typeface="Calibri"/>
                  <a:sym typeface="Calibri"/>
                </a:rPr>
                <a:t>Wearable / scale streams</a:t>
              </a:r>
            </a:p>
          </p:txBody>
        </p:sp>
      </p:grpSp>
      <p:grpSp>
        <p:nvGrpSpPr>
          <p:cNvPr name="Group 18" id="18"/>
          <p:cNvGrpSpPr/>
          <p:nvPr/>
        </p:nvGrpSpPr>
        <p:grpSpPr>
          <a:xfrm rot="0">
            <a:off x="1021556" y="4862036"/>
            <a:ext cx="2688908" cy="809816"/>
            <a:chOff x="0" y="0"/>
            <a:chExt cx="3585210" cy="1079754"/>
          </a:xfrm>
        </p:grpSpPr>
        <p:sp>
          <p:nvSpPr>
            <p:cNvPr name="Freeform 19" id="19"/>
            <p:cNvSpPr/>
            <p:nvPr/>
          </p:nvSpPr>
          <p:spPr>
            <a:xfrm flipH="false" flipV="false" rot="0">
              <a:off x="0" y="0"/>
              <a:ext cx="3585210" cy="1079754"/>
            </a:xfrm>
            <a:custGeom>
              <a:avLst/>
              <a:gdLst/>
              <a:ahLst/>
              <a:cxnLst/>
              <a:rect r="r" b="b" t="t" l="l"/>
              <a:pathLst>
                <a:path h="1079754" w="3585210">
                  <a:moveTo>
                    <a:pt x="0" y="111760"/>
                  </a:moveTo>
                  <a:cubicBezTo>
                    <a:pt x="0" y="50038"/>
                    <a:pt x="50038" y="0"/>
                    <a:pt x="111760" y="0"/>
                  </a:cubicBezTo>
                  <a:lnTo>
                    <a:pt x="3473450" y="0"/>
                  </a:lnTo>
                  <a:cubicBezTo>
                    <a:pt x="3535172" y="0"/>
                    <a:pt x="3585210" y="50038"/>
                    <a:pt x="3585210" y="111760"/>
                  </a:cubicBezTo>
                  <a:lnTo>
                    <a:pt x="3585210" y="967994"/>
                  </a:lnTo>
                  <a:cubicBezTo>
                    <a:pt x="3585210" y="1029716"/>
                    <a:pt x="3535172" y="1079754"/>
                    <a:pt x="3473450" y="1079754"/>
                  </a:cubicBezTo>
                  <a:lnTo>
                    <a:pt x="111760" y="1079754"/>
                  </a:lnTo>
                  <a:cubicBezTo>
                    <a:pt x="50038" y="1079754"/>
                    <a:pt x="0" y="1029716"/>
                    <a:pt x="0" y="967994"/>
                  </a:cubicBezTo>
                  <a:close/>
                </a:path>
              </a:pathLst>
            </a:custGeom>
            <a:solidFill>
              <a:srgbClr val="FFFFFF"/>
            </a:solidFill>
            <a:ln w="14288" cap="sq">
              <a:solidFill>
                <a:srgbClr val="C9D6D8"/>
              </a:solidFill>
              <a:prstDash val="solid"/>
              <a:miter/>
            </a:ln>
          </p:spPr>
        </p:sp>
      </p:grpSp>
      <p:grpSp>
        <p:nvGrpSpPr>
          <p:cNvPr name="Group 20" id="20"/>
          <p:cNvGrpSpPr/>
          <p:nvPr/>
        </p:nvGrpSpPr>
        <p:grpSpPr>
          <a:xfrm rot="0">
            <a:off x="1097280" y="4869180"/>
            <a:ext cx="2537460" cy="795528"/>
            <a:chOff x="0" y="0"/>
            <a:chExt cx="3383280" cy="1060704"/>
          </a:xfrm>
        </p:grpSpPr>
        <p:sp>
          <p:nvSpPr>
            <p:cNvPr name="Freeform 21" id="21"/>
            <p:cNvSpPr/>
            <p:nvPr/>
          </p:nvSpPr>
          <p:spPr>
            <a:xfrm flipH="false" flipV="false" rot="0">
              <a:off x="0" y="0"/>
              <a:ext cx="3383280" cy="1060704"/>
            </a:xfrm>
            <a:custGeom>
              <a:avLst/>
              <a:gdLst/>
              <a:ahLst/>
              <a:cxnLst/>
              <a:rect r="r" b="b" t="t" l="l"/>
              <a:pathLst>
                <a:path h="1060704" w="3383280">
                  <a:moveTo>
                    <a:pt x="0" y="0"/>
                  </a:moveTo>
                  <a:lnTo>
                    <a:pt x="3383280" y="0"/>
                  </a:lnTo>
                  <a:lnTo>
                    <a:pt x="3383280" y="1060704"/>
                  </a:lnTo>
                  <a:lnTo>
                    <a:pt x="0" y="1060704"/>
                  </a:lnTo>
                  <a:close/>
                </a:path>
              </a:pathLst>
            </a:custGeom>
            <a:blipFill>
              <a:blip r:embed="rId3">
                <a:alphaModFix amt="0"/>
              </a:blip>
              <a:stretch>
                <a:fillRect l="0" t="-12150" r="0" b="-12150"/>
              </a:stretch>
            </a:blipFill>
          </p:spPr>
        </p:sp>
        <p:sp>
          <p:nvSpPr>
            <p:cNvPr name="TextBox 22" id="22"/>
            <p:cNvSpPr txBox="true"/>
            <p:nvPr/>
          </p:nvSpPr>
          <p:spPr>
            <a:xfrm>
              <a:off x="0" y="-38100"/>
              <a:ext cx="3383280" cy="1098804"/>
            </a:xfrm>
            <a:prstGeom prst="rect">
              <a:avLst/>
            </a:prstGeom>
          </p:spPr>
          <p:txBody>
            <a:bodyPr anchor="ctr" rtlCol="false" tIns="0" lIns="0" bIns="0" rIns="0"/>
            <a:lstStyle/>
            <a:p>
              <a:pPr algn="ctr">
                <a:lnSpc>
                  <a:spcPts val="2429"/>
                </a:lnSpc>
              </a:pPr>
              <a:r>
                <a:rPr lang="en-US" sz="2024">
                  <a:solidFill>
                    <a:srgbClr val="1B2B34"/>
                  </a:solidFill>
                  <a:latin typeface="Calibri"/>
                  <a:ea typeface="Calibri"/>
                  <a:cs typeface="Calibri"/>
                  <a:sym typeface="Calibri"/>
                </a:rPr>
                <a:t>Real weather (ERA5)</a:t>
              </a:r>
            </a:p>
          </p:txBody>
        </p:sp>
      </p:grpSp>
      <p:grpSp>
        <p:nvGrpSpPr>
          <p:cNvPr name="Group 23" id="23"/>
          <p:cNvGrpSpPr/>
          <p:nvPr/>
        </p:nvGrpSpPr>
        <p:grpSpPr>
          <a:xfrm rot="0">
            <a:off x="1021556" y="5822156"/>
            <a:ext cx="2688908" cy="809816"/>
            <a:chOff x="0" y="0"/>
            <a:chExt cx="3585210" cy="1079754"/>
          </a:xfrm>
        </p:grpSpPr>
        <p:sp>
          <p:nvSpPr>
            <p:cNvPr name="Freeform 24" id="24"/>
            <p:cNvSpPr/>
            <p:nvPr/>
          </p:nvSpPr>
          <p:spPr>
            <a:xfrm flipH="false" flipV="false" rot="0">
              <a:off x="0" y="0"/>
              <a:ext cx="3585210" cy="1079754"/>
            </a:xfrm>
            <a:custGeom>
              <a:avLst/>
              <a:gdLst/>
              <a:ahLst/>
              <a:cxnLst/>
              <a:rect r="r" b="b" t="t" l="l"/>
              <a:pathLst>
                <a:path h="1079754" w="3585210">
                  <a:moveTo>
                    <a:pt x="0" y="111760"/>
                  </a:moveTo>
                  <a:cubicBezTo>
                    <a:pt x="0" y="50038"/>
                    <a:pt x="50038" y="0"/>
                    <a:pt x="111760" y="0"/>
                  </a:cubicBezTo>
                  <a:lnTo>
                    <a:pt x="3473450" y="0"/>
                  </a:lnTo>
                  <a:cubicBezTo>
                    <a:pt x="3535172" y="0"/>
                    <a:pt x="3585210" y="50038"/>
                    <a:pt x="3585210" y="111760"/>
                  </a:cubicBezTo>
                  <a:lnTo>
                    <a:pt x="3585210" y="967994"/>
                  </a:lnTo>
                  <a:cubicBezTo>
                    <a:pt x="3585210" y="1029716"/>
                    <a:pt x="3535172" y="1079754"/>
                    <a:pt x="3473450" y="1079754"/>
                  </a:cubicBezTo>
                  <a:lnTo>
                    <a:pt x="111760" y="1079754"/>
                  </a:lnTo>
                  <a:cubicBezTo>
                    <a:pt x="50038" y="1079754"/>
                    <a:pt x="0" y="1029716"/>
                    <a:pt x="0" y="967994"/>
                  </a:cubicBezTo>
                  <a:close/>
                </a:path>
              </a:pathLst>
            </a:custGeom>
            <a:solidFill>
              <a:srgbClr val="FFFFFF"/>
            </a:solidFill>
            <a:ln w="14288" cap="sq">
              <a:solidFill>
                <a:srgbClr val="C9D6D8"/>
              </a:solidFill>
              <a:prstDash val="solid"/>
              <a:miter/>
            </a:ln>
          </p:spPr>
        </p:sp>
      </p:grpSp>
      <p:grpSp>
        <p:nvGrpSpPr>
          <p:cNvPr name="Group 25" id="25"/>
          <p:cNvGrpSpPr/>
          <p:nvPr/>
        </p:nvGrpSpPr>
        <p:grpSpPr>
          <a:xfrm rot="0">
            <a:off x="1097280" y="5829300"/>
            <a:ext cx="2537460" cy="795528"/>
            <a:chOff x="0" y="0"/>
            <a:chExt cx="3383280" cy="1060704"/>
          </a:xfrm>
        </p:grpSpPr>
        <p:sp>
          <p:nvSpPr>
            <p:cNvPr name="Freeform 26" id="26"/>
            <p:cNvSpPr/>
            <p:nvPr/>
          </p:nvSpPr>
          <p:spPr>
            <a:xfrm flipH="false" flipV="false" rot="0">
              <a:off x="0" y="0"/>
              <a:ext cx="3383280" cy="1060704"/>
            </a:xfrm>
            <a:custGeom>
              <a:avLst/>
              <a:gdLst/>
              <a:ahLst/>
              <a:cxnLst/>
              <a:rect r="r" b="b" t="t" l="l"/>
              <a:pathLst>
                <a:path h="1060704" w="3383280">
                  <a:moveTo>
                    <a:pt x="0" y="0"/>
                  </a:moveTo>
                  <a:lnTo>
                    <a:pt x="3383280" y="0"/>
                  </a:lnTo>
                  <a:lnTo>
                    <a:pt x="3383280" y="1060704"/>
                  </a:lnTo>
                  <a:lnTo>
                    <a:pt x="0" y="1060704"/>
                  </a:lnTo>
                  <a:close/>
                </a:path>
              </a:pathLst>
            </a:custGeom>
            <a:blipFill>
              <a:blip r:embed="rId3">
                <a:alphaModFix amt="0"/>
              </a:blip>
              <a:stretch>
                <a:fillRect l="0" t="-12150" r="0" b="-12150"/>
              </a:stretch>
            </a:blipFill>
          </p:spPr>
        </p:sp>
        <p:sp>
          <p:nvSpPr>
            <p:cNvPr name="TextBox 27" id="27"/>
            <p:cNvSpPr txBox="true"/>
            <p:nvPr/>
          </p:nvSpPr>
          <p:spPr>
            <a:xfrm>
              <a:off x="0" y="-38100"/>
              <a:ext cx="3383280" cy="1098804"/>
            </a:xfrm>
            <a:prstGeom prst="rect">
              <a:avLst/>
            </a:prstGeom>
          </p:spPr>
          <p:txBody>
            <a:bodyPr anchor="ctr" rtlCol="false" tIns="0" lIns="0" bIns="0" rIns="0"/>
            <a:lstStyle/>
            <a:p>
              <a:pPr algn="ctr">
                <a:lnSpc>
                  <a:spcPts val="2429"/>
                </a:lnSpc>
              </a:pPr>
              <a:r>
                <a:rPr lang="en-US" sz="2024">
                  <a:solidFill>
                    <a:srgbClr val="1B2B34"/>
                  </a:solidFill>
                  <a:latin typeface="Calibri"/>
                  <a:ea typeface="Calibri"/>
                  <a:cs typeface="Calibri"/>
                  <a:sym typeface="Calibri"/>
                </a:rPr>
                <a:t>Patient &amp; ASHA check-ins</a:t>
              </a:r>
            </a:p>
          </p:txBody>
        </p:sp>
      </p:grpSp>
      <p:grpSp>
        <p:nvGrpSpPr>
          <p:cNvPr name="Group 28" id="28"/>
          <p:cNvGrpSpPr/>
          <p:nvPr/>
        </p:nvGrpSpPr>
        <p:grpSpPr>
          <a:xfrm rot="0">
            <a:off x="1021556" y="6782276"/>
            <a:ext cx="2688908" cy="809816"/>
            <a:chOff x="0" y="0"/>
            <a:chExt cx="3585210" cy="1079754"/>
          </a:xfrm>
        </p:grpSpPr>
        <p:sp>
          <p:nvSpPr>
            <p:cNvPr name="Freeform 29" id="29"/>
            <p:cNvSpPr/>
            <p:nvPr/>
          </p:nvSpPr>
          <p:spPr>
            <a:xfrm flipH="false" flipV="false" rot="0">
              <a:off x="0" y="0"/>
              <a:ext cx="3585210" cy="1079754"/>
            </a:xfrm>
            <a:custGeom>
              <a:avLst/>
              <a:gdLst/>
              <a:ahLst/>
              <a:cxnLst/>
              <a:rect r="r" b="b" t="t" l="l"/>
              <a:pathLst>
                <a:path h="1079754" w="3585210">
                  <a:moveTo>
                    <a:pt x="0" y="111760"/>
                  </a:moveTo>
                  <a:cubicBezTo>
                    <a:pt x="0" y="50038"/>
                    <a:pt x="50038" y="0"/>
                    <a:pt x="111760" y="0"/>
                  </a:cubicBezTo>
                  <a:lnTo>
                    <a:pt x="3473450" y="0"/>
                  </a:lnTo>
                  <a:cubicBezTo>
                    <a:pt x="3535172" y="0"/>
                    <a:pt x="3585210" y="50038"/>
                    <a:pt x="3585210" y="111760"/>
                  </a:cubicBezTo>
                  <a:lnTo>
                    <a:pt x="3585210" y="967994"/>
                  </a:lnTo>
                  <a:cubicBezTo>
                    <a:pt x="3585210" y="1029716"/>
                    <a:pt x="3535172" y="1079754"/>
                    <a:pt x="3473450" y="1079754"/>
                  </a:cubicBezTo>
                  <a:lnTo>
                    <a:pt x="111760" y="1079754"/>
                  </a:lnTo>
                  <a:cubicBezTo>
                    <a:pt x="50038" y="1079754"/>
                    <a:pt x="0" y="1029716"/>
                    <a:pt x="0" y="967994"/>
                  </a:cubicBezTo>
                  <a:close/>
                </a:path>
              </a:pathLst>
            </a:custGeom>
            <a:solidFill>
              <a:srgbClr val="FFFFFF"/>
            </a:solidFill>
            <a:ln w="14288" cap="sq">
              <a:solidFill>
                <a:srgbClr val="C9D6D8"/>
              </a:solidFill>
              <a:prstDash val="solid"/>
              <a:miter/>
            </a:ln>
          </p:spPr>
        </p:sp>
      </p:grpSp>
      <p:grpSp>
        <p:nvGrpSpPr>
          <p:cNvPr name="Group 30" id="30"/>
          <p:cNvGrpSpPr/>
          <p:nvPr/>
        </p:nvGrpSpPr>
        <p:grpSpPr>
          <a:xfrm rot="0">
            <a:off x="1097280" y="6789420"/>
            <a:ext cx="2537460" cy="795528"/>
            <a:chOff x="0" y="0"/>
            <a:chExt cx="3383280" cy="1060704"/>
          </a:xfrm>
        </p:grpSpPr>
        <p:sp>
          <p:nvSpPr>
            <p:cNvPr name="Freeform 31" id="31"/>
            <p:cNvSpPr/>
            <p:nvPr/>
          </p:nvSpPr>
          <p:spPr>
            <a:xfrm flipH="false" flipV="false" rot="0">
              <a:off x="0" y="0"/>
              <a:ext cx="3383280" cy="1060704"/>
            </a:xfrm>
            <a:custGeom>
              <a:avLst/>
              <a:gdLst/>
              <a:ahLst/>
              <a:cxnLst/>
              <a:rect r="r" b="b" t="t" l="l"/>
              <a:pathLst>
                <a:path h="1060704" w="3383280">
                  <a:moveTo>
                    <a:pt x="0" y="0"/>
                  </a:moveTo>
                  <a:lnTo>
                    <a:pt x="3383280" y="0"/>
                  </a:lnTo>
                  <a:lnTo>
                    <a:pt x="3383280" y="1060704"/>
                  </a:lnTo>
                  <a:lnTo>
                    <a:pt x="0" y="1060704"/>
                  </a:lnTo>
                  <a:close/>
                </a:path>
              </a:pathLst>
            </a:custGeom>
            <a:blipFill>
              <a:blip r:embed="rId3">
                <a:alphaModFix amt="0"/>
              </a:blip>
              <a:stretch>
                <a:fillRect l="0" t="-12150" r="0" b="-12150"/>
              </a:stretch>
            </a:blipFill>
          </p:spPr>
        </p:sp>
        <p:sp>
          <p:nvSpPr>
            <p:cNvPr name="TextBox 32" id="32"/>
            <p:cNvSpPr txBox="true"/>
            <p:nvPr/>
          </p:nvSpPr>
          <p:spPr>
            <a:xfrm>
              <a:off x="0" y="-38100"/>
              <a:ext cx="3383280" cy="1098804"/>
            </a:xfrm>
            <a:prstGeom prst="rect">
              <a:avLst/>
            </a:prstGeom>
          </p:spPr>
          <p:txBody>
            <a:bodyPr anchor="ctr" rtlCol="false" tIns="0" lIns="0" bIns="0" rIns="0"/>
            <a:lstStyle/>
            <a:p>
              <a:pPr algn="ctr">
                <a:lnSpc>
                  <a:spcPts val="2429"/>
                </a:lnSpc>
              </a:pPr>
              <a:r>
                <a:rPr lang="en-US" sz="2024">
                  <a:solidFill>
                    <a:srgbClr val="1B2B34"/>
                  </a:solidFill>
                  <a:latin typeface="Calibri"/>
                  <a:ea typeface="Calibri"/>
                  <a:cs typeface="Calibri"/>
                  <a:sym typeface="Calibri"/>
                </a:rPr>
                <a:t>Lab results</a:t>
              </a:r>
            </a:p>
          </p:txBody>
        </p:sp>
      </p:grpSp>
      <p:grpSp>
        <p:nvGrpSpPr>
          <p:cNvPr name="Group 33" id="33"/>
          <p:cNvGrpSpPr/>
          <p:nvPr/>
        </p:nvGrpSpPr>
        <p:grpSpPr>
          <a:xfrm rot="0">
            <a:off x="4173855" y="1910715"/>
            <a:ext cx="3105150" cy="6808470"/>
            <a:chOff x="0" y="0"/>
            <a:chExt cx="4140200" cy="9077960"/>
          </a:xfrm>
        </p:grpSpPr>
        <p:sp>
          <p:nvSpPr>
            <p:cNvPr name="Freeform 34" id="34"/>
            <p:cNvSpPr/>
            <p:nvPr/>
          </p:nvSpPr>
          <p:spPr>
            <a:xfrm flipH="false" flipV="false" rot="0">
              <a:off x="0" y="0"/>
              <a:ext cx="4140200" cy="9077961"/>
            </a:xfrm>
            <a:custGeom>
              <a:avLst/>
              <a:gdLst/>
              <a:ahLst/>
              <a:cxnLst/>
              <a:rect r="r" b="b" t="t" l="l"/>
              <a:pathLst>
                <a:path h="9077961" w="4140200">
                  <a:moveTo>
                    <a:pt x="0" y="147193"/>
                  </a:moveTo>
                  <a:cubicBezTo>
                    <a:pt x="0" y="65913"/>
                    <a:pt x="65913" y="0"/>
                    <a:pt x="147193" y="0"/>
                  </a:cubicBezTo>
                  <a:lnTo>
                    <a:pt x="3993007" y="0"/>
                  </a:lnTo>
                  <a:cubicBezTo>
                    <a:pt x="4074287" y="0"/>
                    <a:pt x="4140200" y="65913"/>
                    <a:pt x="4140200" y="147193"/>
                  </a:cubicBezTo>
                  <a:lnTo>
                    <a:pt x="4140200" y="8930767"/>
                  </a:lnTo>
                  <a:cubicBezTo>
                    <a:pt x="4140200" y="9012048"/>
                    <a:pt x="4074287" y="9077961"/>
                    <a:pt x="3993007" y="9077961"/>
                  </a:cubicBezTo>
                  <a:lnTo>
                    <a:pt x="147193" y="9077961"/>
                  </a:lnTo>
                  <a:cubicBezTo>
                    <a:pt x="65913" y="9077960"/>
                    <a:pt x="0" y="9012047"/>
                    <a:pt x="0" y="8930767"/>
                  </a:cubicBezTo>
                  <a:close/>
                </a:path>
              </a:pathLst>
            </a:custGeom>
            <a:solidFill>
              <a:srgbClr val="EEF5F5"/>
            </a:solidFill>
            <a:ln w="19050" cap="sq">
              <a:solidFill>
                <a:srgbClr val="EEF5F5"/>
              </a:solidFill>
              <a:prstDash val="solid"/>
              <a:miter/>
            </a:ln>
          </p:spPr>
        </p:sp>
      </p:grpSp>
      <p:sp>
        <p:nvSpPr>
          <p:cNvPr name="TextBox 35" id="35"/>
          <p:cNvSpPr txBox="true"/>
          <p:nvPr/>
        </p:nvSpPr>
        <p:spPr>
          <a:xfrm rot="0">
            <a:off x="4389120" y="2078355"/>
            <a:ext cx="2674620" cy="428625"/>
          </a:xfrm>
          <a:prstGeom prst="rect">
            <a:avLst/>
          </a:prstGeom>
        </p:spPr>
        <p:txBody>
          <a:bodyPr anchor="t" rtlCol="false" tIns="0" lIns="0" bIns="0" rIns="0">
            <a:spAutoFit/>
          </a:bodyPr>
          <a:lstStyle/>
          <a:p>
            <a:pPr algn="ctr">
              <a:lnSpc>
                <a:spcPts val="3059"/>
              </a:lnSpc>
            </a:pPr>
            <a:r>
              <a:rPr lang="en-US" sz="2549" b="1">
                <a:solidFill>
                  <a:srgbClr val="0B4F5C"/>
                </a:solidFill>
                <a:latin typeface="Calibri"/>
                <a:ea typeface="Calibri"/>
                <a:cs typeface="Calibri"/>
                <a:sym typeface="Calibri"/>
              </a:rPr>
              <a:t>Trust layer</a:t>
            </a:r>
          </a:p>
        </p:txBody>
      </p:sp>
      <p:grpSp>
        <p:nvGrpSpPr>
          <p:cNvPr name="Group 36" id="36"/>
          <p:cNvGrpSpPr/>
          <p:nvPr/>
        </p:nvGrpSpPr>
        <p:grpSpPr>
          <a:xfrm rot="0">
            <a:off x="4381976" y="2941796"/>
            <a:ext cx="2688908" cy="809816"/>
            <a:chOff x="0" y="0"/>
            <a:chExt cx="3585210" cy="1079754"/>
          </a:xfrm>
        </p:grpSpPr>
        <p:sp>
          <p:nvSpPr>
            <p:cNvPr name="Freeform 37" id="37"/>
            <p:cNvSpPr/>
            <p:nvPr/>
          </p:nvSpPr>
          <p:spPr>
            <a:xfrm flipH="false" flipV="false" rot="0">
              <a:off x="0" y="0"/>
              <a:ext cx="3585210" cy="1079754"/>
            </a:xfrm>
            <a:custGeom>
              <a:avLst/>
              <a:gdLst/>
              <a:ahLst/>
              <a:cxnLst/>
              <a:rect r="r" b="b" t="t" l="l"/>
              <a:pathLst>
                <a:path h="1079754" w="3585210">
                  <a:moveTo>
                    <a:pt x="0" y="111760"/>
                  </a:moveTo>
                  <a:cubicBezTo>
                    <a:pt x="0" y="50038"/>
                    <a:pt x="50038" y="0"/>
                    <a:pt x="111760" y="0"/>
                  </a:cubicBezTo>
                  <a:lnTo>
                    <a:pt x="3473450" y="0"/>
                  </a:lnTo>
                  <a:cubicBezTo>
                    <a:pt x="3535172" y="0"/>
                    <a:pt x="3585210" y="50038"/>
                    <a:pt x="3585210" y="111760"/>
                  </a:cubicBezTo>
                  <a:lnTo>
                    <a:pt x="3585210" y="967994"/>
                  </a:lnTo>
                  <a:cubicBezTo>
                    <a:pt x="3585210" y="1029716"/>
                    <a:pt x="3535172" y="1079754"/>
                    <a:pt x="3473450" y="1079754"/>
                  </a:cubicBezTo>
                  <a:lnTo>
                    <a:pt x="111760" y="1079754"/>
                  </a:lnTo>
                  <a:cubicBezTo>
                    <a:pt x="50038" y="1079754"/>
                    <a:pt x="0" y="1029716"/>
                    <a:pt x="0" y="967994"/>
                  </a:cubicBezTo>
                  <a:close/>
                </a:path>
              </a:pathLst>
            </a:custGeom>
            <a:solidFill>
              <a:srgbClr val="FFFFFF"/>
            </a:solidFill>
            <a:ln w="14288" cap="sq">
              <a:solidFill>
                <a:srgbClr val="C9D6D8"/>
              </a:solidFill>
              <a:prstDash val="solid"/>
              <a:miter/>
            </a:ln>
          </p:spPr>
        </p:sp>
      </p:grpSp>
      <p:grpSp>
        <p:nvGrpSpPr>
          <p:cNvPr name="Group 38" id="38"/>
          <p:cNvGrpSpPr/>
          <p:nvPr/>
        </p:nvGrpSpPr>
        <p:grpSpPr>
          <a:xfrm rot="0">
            <a:off x="4457700" y="2948940"/>
            <a:ext cx="2537460" cy="795528"/>
            <a:chOff x="0" y="0"/>
            <a:chExt cx="3383280" cy="1060704"/>
          </a:xfrm>
        </p:grpSpPr>
        <p:sp>
          <p:nvSpPr>
            <p:cNvPr name="Freeform 39" id="39"/>
            <p:cNvSpPr/>
            <p:nvPr/>
          </p:nvSpPr>
          <p:spPr>
            <a:xfrm flipH="false" flipV="false" rot="0">
              <a:off x="0" y="0"/>
              <a:ext cx="3383280" cy="1060704"/>
            </a:xfrm>
            <a:custGeom>
              <a:avLst/>
              <a:gdLst/>
              <a:ahLst/>
              <a:cxnLst/>
              <a:rect r="r" b="b" t="t" l="l"/>
              <a:pathLst>
                <a:path h="1060704" w="3383280">
                  <a:moveTo>
                    <a:pt x="0" y="0"/>
                  </a:moveTo>
                  <a:lnTo>
                    <a:pt x="3383280" y="0"/>
                  </a:lnTo>
                  <a:lnTo>
                    <a:pt x="3383280" y="1060704"/>
                  </a:lnTo>
                  <a:lnTo>
                    <a:pt x="0" y="1060704"/>
                  </a:lnTo>
                  <a:close/>
                </a:path>
              </a:pathLst>
            </a:custGeom>
            <a:blipFill>
              <a:blip r:embed="rId3">
                <a:alphaModFix amt="0"/>
              </a:blip>
              <a:stretch>
                <a:fillRect l="0" t="-12150" r="0" b="-12150"/>
              </a:stretch>
            </a:blipFill>
          </p:spPr>
        </p:sp>
        <p:sp>
          <p:nvSpPr>
            <p:cNvPr name="TextBox 40" id="40"/>
            <p:cNvSpPr txBox="true"/>
            <p:nvPr/>
          </p:nvSpPr>
          <p:spPr>
            <a:xfrm>
              <a:off x="0" y="-38100"/>
              <a:ext cx="3383280" cy="1098804"/>
            </a:xfrm>
            <a:prstGeom prst="rect">
              <a:avLst/>
            </a:prstGeom>
          </p:spPr>
          <p:txBody>
            <a:bodyPr anchor="ctr" rtlCol="false" tIns="0" lIns="0" bIns="0" rIns="0"/>
            <a:lstStyle/>
            <a:p>
              <a:pPr algn="ctr">
                <a:lnSpc>
                  <a:spcPts val="2429"/>
                </a:lnSpc>
              </a:pPr>
              <a:r>
                <a:rPr lang="en-US" sz="2024">
                  <a:solidFill>
                    <a:srgbClr val="1B2B34"/>
                  </a:solidFill>
                  <a:latin typeface="Calibri"/>
                  <a:ea typeface="Calibri"/>
                  <a:cs typeface="Calibri"/>
                  <a:sym typeface="Calibri"/>
                </a:rPr>
                <a:t>Data-integrity gate</a:t>
              </a:r>
            </a:p>
          </p:txBody>
        </p:sp>
      </p:grpSp>
      <p:grpSp>
        <p:nvGrpSpPr>
          <p:cNvPr name="Group 41" id="41"/>
          <p:cNvGrpSpPr/>
          <p:nvPr/>
        </p:nvGrpSpPr>
        <p:grpSpPr>
          <a:xfrm rot="0">
            <a:off x="4381976" y="3901916"/>
            <a:ext cx="2688908" cy="809816"/>
            <a:chOff x="0" y="0"/>
            <a:chExt cx="3585210" cy="1079754"/>
          </a:xfrm>
        </p:grpSpPr>
        <p:sp>
          <p:nvSpPr>
            <p:cNvPr name="Freeform 42" id="42"/>
            <p:cNvSpPr/>
            <p:nvPr/>
          </p:nvSpPr>
          <p:spPr>
            <a:xfrm flipH="false" flipV="false" rot="0">
              <a:off x="0" y="0"/>
              <a:ext cx="3585210" cy="1079754"/>
            </a:xfrm>
            <a:custGeom>
              <a:avLst/>
              <a:gdLst/>
              <a:ahLst/>
              <a:cxnLst/>
              <a:rect r="r" b="b" t="t" l="l"/>
              <a:pathLst>
                <a:path h="1079754" w="3585210">
                  <a:moveTo>
                    <a:pt x="0" y="111760"/>
                  </a:moveTo>
                  <a:cubicBezTo>
                    <a:pt x="0" y="50038"/>
                    <a:pt x="50038" y="0"/>
                    <a:pt x="111760" y="0"/>
                  </a:cubicBezTo>
                  <a:lnTo>
                    <a:pt x="3473450" y="0"/>
                  </a:lnTo>
                  <a:cubicBezTo>
                    <a:pt x="3535172" y="0"/>
                    <a:pt x="3585210" y="50038"/>
                    <a:pt x="3585210" y="111760"/>
                  </a:cubicBezTo>
                  <a:lnTo>
                    <a:pt x="3585210" y="967994"/>
                  </a:lnTo>
                  <a:cubicBezTo>
                    <a:pt x="3585210" y="1029716"/>
                    <a:pt x="3535172" y="1079754"/>
                    <a:pt x="3473450" y="1079754"/>
                  </a:cubicBezTo>
                  <a:lnTo>
                    <a:pt x="111760" y="1079754"/>
                  </a:lnTo>
                  <a:cubicBezTo>
                    <a:pt x="50038" y="1079754"/>
                    <a:pt x="0" y="1029716"/>
                    <a:pt x="0" y="967994"/>
                  </a:cubicBezTo>
                  <a:close/>
                </a:path>
              </a:pathLst>
            </a:custGeom>
            <a:solidFill>
              <a:srgbClr val="FFFFFF"/>
            </a:solidFill>
            <a:ln w="14288" cap="sq">
              <a:solidFill>
                <a:srgbClr val="C9D6D8"/>
              </a:solidFill>
              <a:prstDash val="solid"/>
              <a:miter/>
            </a:ln>
          </p:spPr>
        </p:sp>
      </p:grpSp>
      <p:grpSp>
        <p:nvGrpSpPr>
          <p:cNvPr name="Group 43" id="43"/>
          <p:cNvGrpSpPr/>
          <p:nvPr/>
        </p:nvGrpSpPr>
        <p:grpSpPr>
          <a:xfrm rot="0">
            <a:off x="4457700" y="3909060"/>
            <a:ext cx="2537460" cy="795528"/>
            <a:chOff x="0" y="0"/>
            <a:chExt cx="3383280" cy="1060704"/>
          </a:xfrm>
        </p:grpSpPr>
        <p:sp>
          <p:nvSpPr>
            <p:cNvPr name="Freeform 44" id="44"/>
            <p:cNvSpPr/>
            <p:nvPr/>
          </p:nvSpPr>
          <p:spPr>
            <a:xfrm flipH="false" flipV="false" rot="0">
              <a:off x="0" y="0"/>
              <a:ext cx="3383280" cy="1060704"/>
            </a:xfrm>
            <a:custGeom>
              <a:avLst/>
              <a:gdLst/>
              <a:ahLst/>
              <a:cxnLst/>
              <a:rect r="r" b="b" t="t" l="l"/>
              <a:pathLst>
                <a:path h="1060704" w="3383280">
                  <a:moveTo>
                    <a:pt x="0" y="0"/>
                  </a:moveTo>
                  <a:lnTo>
                    <a:pt x="3383280" y="0"/>
                  </a:lnTo>
                  <a:lnTo>
                    <a:pt x="3383280" y="1060704"/>
                  </a:lnTo>
                  <a:lnTo>
                    <a:pt x="0" y="1060704"/>
                  </a:lnTo>
                  <a:close/>
                </a:path>
              </a:pathLst>
            </a:custGeom>
            <a:blipFill>
              <a:blip r:embed="rId3">
                <a:alphaModFix amt="0"/>
              </a:blip>
              <a:stretch>
                <a:fillRect l="0" t="-12150" r="0" b="-12150"/>
              </a:stretch>
            </a:blipFill>
          </p:spPr>
        </p:sp>
        <p:sp>
          <p:nvSpPr>
            <p:cNvPr name="TextBox 45" id="45"/>
            <p:cNvSpPr txBox="true"/>
            <p:nvPr/>
          </p:nvSpPr>
          <p:spPr>
            <a:xfrm>
              <a:off x="0" y="-38100"/>
              <a:ext cx="3383280" cy="1098804"/>
            </a:xfrm>
            <a:prstGeom prst="rect">
              <a:avLst/>
            </a:prstGeom>
          </p:spPr>
          <p:txBody>
            <a:bodyPr anchor="ctr" rtlCol="false" tIns="0" lIns="0" bIns="0" rIns="0"/>
            <a:lstStyle/>
            <a:p>
              <a:pPr algn="ctr">
                <a:lnSpc>
                  <a:spcPts val="2429"/>
                </a:lnSpc>
              </a:pPr>
              <a:r>
                <a:rPr lang="en-US" sz="2024">
                  <a:solidFill>
                    <a:srgbClr val="1B2B34"/>
                  </a:solidFill>
                  <a:latin typeface="Calibri"/>
                  <a:ea typeface="Calibri"/>
                  <a:cs typeface="Calibri"/>
                  <a:sym typeface="Calibri"/>
                </a:rPr>
                <a:t>ABDM-style consent</a:t>
              </a:r>
            </a:p>
          </p:txBody>
        </p:sp>
      </p:grpSp>
      <p:grpSp>
        <p:nvGrpSpPr>
          <p:cNvPr name="Group 46" id="46"/>
          <p:cNvGrpSpPr/>
          <p:nvPr/>
        </p:nvGrpSpPr>
        <p:grpSpPr>
          <a:xfrm rot="0">
            <a:off x="4381976" y="4862036"/>
            <a:ext cx="2688908" cy="809816"/>
            <a:chOff x="0" y="0"/>
            <a:chExt cx="3585210" cy="1079754"/>
          </a:xfrm>
        </p:grpSpPr>
        <p:sp>
          <p:nvSpPr>
            <p:cNvPr name="Freeform 47" id="47"/>
            <p:cNvSpPr/>
            <p:nvPr/>
          </p:nvSpPr>
          <p:spPr>
            <a:xfrm flipH="false" flipV="false" rot="0">
              <a:off x="0" y="0"/>
              <a:ext cx="3585210" cy="1079754"/>
            </a:xfrm>
            <a:custGeom>
              <a:avLst/>
              <a:gdLst/>
              <a:ahLst/>
              <a:cxnLst/>
              <a:rect r="r" b="b" t="t" l="l"/>
              <a:pathLst>
                <a:path h="1079754" w="3585210">
                  <a:moveTo>
                    <a:pt x="0" y="111760"/>
                  </a:moveTo>
                  <a:cubicBezTo>
                    <a:pt x="0" y="50038"/>
                    <a:pt x="50038" y="0"/>
                    <a:pt x="111760" y="0"/>
                  </a:cubicBezTo>
                  <a:lnTo>
                    <a:pt x="3473450" y="0"/>
                  </a:lnTo>
                  <a:cubicBezTo>
                    <a:pt x="3535172" y="0"/>
                    <a:pt x="3585210" y="50038"/>
                    <a:pt x="3585210" y="111760"/>
                  </a:cubicBezTo>
                  <a:lnTo>
                    <a:pt x="3585210" y="967994"/>
                  </a:lnTo>
                  <a:cubicBezTo>
                    <a:pt x="3585210" y="1029716"/>
                    <a:pt x="3535172" y="1079754"/>
                    <a:pt x="3473450" y="1079754"/>
                  </a:cubicBezTo>
                  <a:lnTo>
                    <a:pt x="111760" y="1079754"/>
                  </a:lnTo>
                  <a:cubicBezTo>
                    <a:pt x="50038" y="1079754"/>
                    <a:pt x="0" y="1029716"/>
                    <a:pt x="0" y="967994"/>
                  </a:cubicBezTo>
                  <a:close/>
                </a:path>
              </a:pathLst>
            </a:custGeom>
            <a:solidFill>
              <a:srgbClr val="FFFFFF"/>
            </a:solidFill>
            <a:ln w="14288" cap="sq">
              <a:solidFill>
                <a:srgbClr val="C9D6D8"/>
              </a:solidFill>
              <a:prstDash val="solid"/>
              <a:miter/>
            </a:ln>
          </p:spPr>
        </p:sp>
      </p:grpSp>
      <p:grpSp>
        <p:nvGrpSpPr>
          <p:cNvPr name="Group 48" id="48"/>
          <p:cNvGrpSpPr/>
          <p:nvPr/>
        </p:nvGrpSpPr>
        <p:grpSpPr>
          <a:xfrm rot="0">
            <a:off x="4457700" y="4869180"/>
            <a:ext cx="2537460" cy="795528"/>
            <a:chOff x="0" y="0"/>
            <a:chExt cx="3383280" cy="1060704"/>
          </a:xfrm>
        </p:grpSpPr>
        <p:sp>
          <p:nvSpPr>
            <p:cNvPr name="Freeform 49" id="49"/>
            <p:cNvSpPr/>
            <p:nvPr/>
          </p:nvSpPr>
          <p:spPr>
            <a:xfrm flipH="false" flipV="false" rot="0">
              <a:off x="0" y="0"/>
              <a:ext cx="3383280" cy="1060704"/>
            </a:xfrm>
            <a:custGeom>
              <a:avLst/>
              <a:gdLst/>
              <a:ahLst/>
              <a:cxnLst/>
              <a:rect r="r" b="b" t="t" l="l"/>
              <a:pathLst>
                <a:path h="1060704" w="3383280">
                  <a:moveTo>
                    <a:pt x="0" y="0"/>
                  </a:moveTo>
                  <a:lnTo>
                    <a:pt x="3383280" y="0"/>
                  </a:lnTo>
                  <a:lnTo>
                    <a:pt x="3383280" y="1060704"/>
                  </a:lnTo>
                  <a:lnTo>
                    <a:pt x="0" y="1060704"/>
                  </a:lnTo>
                  <a:close/>
                </a:path>
              </a:pathLst>
            </a:custGeom>
            <a:blipFill>
              <a:blip r:embed="rId3">
                <a:alphaModFix amt="0"/>
              </a:blip>
              <a:stretch>
                <a:fillRect l="0" t="-12150" r="0" b="-12150"/>
              </a:stretch>
            </a:blipFill>
          </p:spPr>
        </p:sp>
        <p:sp>
          <p:nvSpPr>
            <p:cNvPr name="TextBox 50" id="50"/>
            <p:cNvSpPr txBox="true"/>
            <p:nvPr/>
          </p:nvSpPr>
          <p:spPr>
            <a:xfrm>
              <a:off x="0" y="-38100"/>
              <a:ext cx="3383280" cy="1098804"/>
            </a:xfrm>
            <a:prstGeom prst="rect">
              <a:avLst/>
            </a:prstGeom>
          </p:spPr>
          <p:txBody>
            <a:bodyPr anchor="ctr" rtlCol="false" tIns="0" lIns="0" bIns="0" rIns="0"/>
            <a:lstStyle/>
            <a:p>
              <a:pPr algn="ctr">
                <a:lnSpc>
                  <a:spcPts val="2429"/>
                </a:lnSpc>
              </a:pPr>
              <a:r>
                <a:rPr lang="en-US" sz="2024">
                  <a:solidFill>
                    <a:srgbClr val="1B2B34"/>
                  </a:solidFill>
                  <a:latin typeface="Calibri"/>
                  <a:ea typeface="Calibri"/>
                  <a:cs typeface="Calibri"/>
                  <a:sym typeface="Calibri"/>
                </a:rPr>
                <a:t>Role-based access (6)</a:t>
              </a:r>
            </a:p>
          </p:txBody>
        </p:sp>
      </p:grpSp>
      <p:grpSp>
        <p:nvGrpSpPr>
          <p:cNvPr name="Group 51" id="51"/>
          <p:cNvGrpSpPr/>
          <p:nvPr/>
        </p:nvGrpSpPr>
        <p:grpSpPr>
          <a:xfrm rot="0">
            <a:off x="4381976" y="5822156"/>
            <a:ext cx="2688908" cy="809816"/>
            <a:chOff x="0" y="0"/>
            <a:chExt cx="3585210" cy="1079754"/>
          </a:xfrm>
        </p:grpSpPr>
        <p:sp>
          <p:nvSpPr>
            <p:cNvPr name="Freeform 52" id="52"/>
            <p:cNvSpPr/>
            <p:nvPr/>
          </p:nvSpPr>
          <p:spPr>
            <a:xfrm flipH="false" flipV="false" rot="0">
              <a:off x="0" y="0"/>
              <a:ext cx="3585210" cy="1079754"/>
            </a:xfrm>
            <a:custGeom>
              <a:avLst/>
              <a:gdLst/>
              <a:ahLst/>
              <a:cxnLst/>
              <a:rect r="r" b="b" t="t" l="l"/>
              <a:pathLst>
                <a:path h="1079754" w="3585210">
                  <a:moveTo>
                    <a:pt x="0" y="111760"/>
                  </a:moveTo>
                  <a:cubicBezTo>
                    <a:pt x="0" y="50038"/>
                    <a:pt x="50038" y="0"/>
                    <a:pt x="111760" y="0"/>
                  </a:cubicBezTo>
                  <a:lnTo>
                    <a:pt x="3473450" y="0"/>
                  </a:lnTo>
                  <a:cubicBezTo>
                    <a:pt x="3535172" y="0"/>
                    <a:pt x="3585210" y="50038"/>
                    <a:pt x="3585210" y="111760"/>
                  </a:cubicBezTo>
                  <a:lnTo>
                    <a:pt x="3585210" y="967994"/>
                  </a:lnTo>
                  <a:cubicBezTo>
                    <a:pt x="3585210" y="1029716"/>
                    <a:pt x="3535172" y="1079754"/>
                    <a:pt x="3473450" y="1079754"/>
                  </a:cubicBezTo>
                  <a:lnTo>
                    <a:pt x="111760" y="1079754"/>
                  </a:lnTo>
                  <a:cubicBezTo>
                    <a:pt x="50038" y="1079754"/>
                    <a:pt x="0" y="1029716"/>
                    <a:pt x="0" y="967994"/>
                  </a:cubicBezTo>
                  <a:close/>
                </a:path>
              </a:pathLst>
            </a:custGeom>
            <a:solidFill>
              <a:srgbClr val="FFFFFF"/>
            </a:solidFill>
            <a:ln w="14288" cap="sq">
              <a:solidFill>
                <a:srgbClr val="C9D6D8"/>
              </a:solidFill>
              <a:prstDash val="solid"/>
              <a:miter/>
            </a:ln>
          </p:spPr>
        </p:sp>
      </p:grpSp>
      <p:grpSp>
        <p:nvGrpSpPr>
          <p:cNvPr name="Group 53" id="53"/>
          <p:cNvGrpSpPr/>
          <p:nvPr/>
        </p:nvGrpSpPr>
        <p:grpSpPr>
          <a:xfrm rot="0">
            <a:off x="4457700" y="5829300"/>
            <a:ext cx="2537460" cy="795528"/>
            <a:chOff x="0" y="0"/>
            <a:chExt cx="3383280" cy="1060704"/>
          </a:xfrm>
        </p:grpSpPr>
        <p:sp>
          <p:nvSpPr>
            <p:cNvPr name="Freeform 54" id="54"/>
            <p:cNvSpPr/>
            <p:nvPr/>
          </p:nvSpPr>
          <p:spPr>
            <a:xfrm flipH="false" flipV="false" rot="0">
              <a:off x="0" y="0"/>
              <a:ext cx="3383280" cy="1060704"/>
            </a:xfrm>
            <a:custGeom>
              <a:avLst/>
              <a:gdLst/>
              <a:ahLst/>
              <a:cxnLst/>
              <a:rect r="r" b="b" t="t" l="l"/>
              <a:pathLst>
                <a:path h="1060704" w="3383280">
                  <a:moveTo>
                    <a:pt x="0" y="0"/>
                  </a:moveTo>
                  <a:lnTo>
                    <a:pt x="3383280" y="0"/>
                  </a:lnTo>
                  <a:lnTo>
                    <a:pt x="3383280" y="1060704"/>
                  </a:lnTo>
                  <a:lnTo>
                    <a:pt x="0" y="1060704"/>
                  </a:lnTo>
                  <a:close/>
                </a:path>
              </a:pathLst>
            </a:custGeom>
            <a:blipFill>
              <a:blip r:embed="rId3">
                <a:alphaModFix amt="0"/>
              </a:blip>
              <a:stretch>
                <a:fillRect l="0" t="-12150" r="0" b="-12150"/>
              </a:stretch>
            </a:blipFill>
          </p:spPr>
        </p:sp>
        <p:sp>
          <p:nvSpPr>
            <p:cNvPr name="TextBox 55" id="55"/>
            <p:cNvSpPr txBox="true"/>
            <p:nvPr/>
          </p:nvSpPr>
          <p:spPr>
            <a:xfrm>
              <a:off x="0" y="-38100"/>
              <a:ext cx="3383280" cy="1098804"/>
            </a:xfrm>
            <a:prstGeom prst="rect">
              <a:avLst/>
            </a:prstGeom>
          </p:spPr>
          <p:txBody>
            <a:bodyPr anchor="ctr" rtlCol="false" tIns="0" lIns="0" bIns="0" rIns="0"/>
            <a:lstStyle/>
            <a:p>
              <a:pPr algn="ctr">
                <a:lnSpc>
                  <a:spcPts val="2429"/>
                </a:lnSpc>
              </a:pPr>
              <a:r>
                <a:rPr lang="en-US" sz="2024">
                  <a:solidFill>
                    <a:srgbClr val="1B2B34"/>
                  </a:solidFill>
                  <a:latin typeface="Calibri"/>
                  <a:ea typeface="Calibri"/>
                  <a:cs typeface="Calibri"/>
                  <a:sym typeface="Calibri"/>
                </a:rPr>
                <a:t>HMAC audit chain</a:t>
              </a:r>
            </a:p>
          </p:txBody>
        </p:sp>
      </p:grpSp>
      <p:grpSp>
        <p:nvGrpSpPr>
          <p:cNvPr name="Group 56" id="56"/>
          <p:cNvGrpSpPr/>
          <p:nvPr/>
        </p:nvGrpSpPr>
        <p:grpSpPr>
          <a:xfrm rot="0">
            <a:off x="4381976" y="6782276"/>
            <a:ext cx="2688908" cy="809816"/>
            <a:chOff x="0" y="0"/>
            <a:chExt cx="3585210" cy="1079754"/>
          </a:xfrm>
        </p:grpSpPr>
        <p:sp>
          <p:nvSpPr>
            <p:cNvPr name="Freeform 57" id="57"/>
            <p:cNvSpPr/>
            <p:nvPr/>
          </p:nvSpPr>
          <p:spPr>
            <a:xfrm flipH="false" flipV="false" rot="0">
              <a:off x="0" y="0"/>
              <a:ext cx="3585210" cy="1079754"/>
            </a:xfrm>
            <a:custGeom>
              <a:avLst/>
              <a:gdLst/>
              <a:ahLst/>
              <a:cxnLst/>
              <a:rect r="r" b="b" t="t" l="l"/>
              <a:pathLst>
                <a:path h="1079754" w="3585210">
                  <a:moveTo>
                    <a:pt x="0" y="111760"/>
                  </a:moveTo>
                  <a:cubicBezTo>
                    <a:pt x="0" y="50038"/>
                    <a:pt x="50038" y="0"/>
                    <a:pt x="111760" y="0"/>
                  </a:cubicBezTo>
                  <a:lnTo>
                    <a:pt x="3473450" y="0"/>
                  </a:lnTo>
                  <a:cubicBezTo>
                    <a:pt x="3535172" y="0"/>
                    <a:pt x="3585210" y="50038"/>
                    <a:pt x="3585210" y="111760"/>
                  </a:cubicBezTo>
                  <a:lnTo>
                    <a:pt x="3585210" y="967994"/>
                  </a:lnTo>
                  <a:cubicBezTo>
                    <a:pt x="3585210" y="1029716"/>
                    <a:pt x="3535172" y="1079754"/>
                    <a:pt x="3473450" y="1079754"/>
                  </a:cubicBezTo>
                  <a:lnTo>
                    <a:pt x="111760" y="1079754"/>
                  </a:lnTo>
                  <a:cubicBezTo>
                    <a:pt x="50038" y="1079754"/>
                    <a:pt x="0" y="1029716"/>
                    <a:pt x="0" y="967994"/>
                  </a:cubicBezTo>
                  <a:close/>
                </a:path>
              </a:pathLst>
            </a:custGeom>
            <a:solidFill>
              <a:srgbClr val="FFFFFF"/>
            </a:solidFill>
            <a:ln w="14288" cap="sq">
              <a:solidFill>
                <a:srgbClr val="C9D6D8"/>
              </a:solidFill>
              <a:prstDash val="solid"/>
              <a:miter/>
            </a:ln>
          </p:spPr>
        </p:sp>
      </p:grpSp>
      <p:grpSp>
        <p:nvGrpSpPr>
          <p:cNvPr name="Group 58" id="58"/>
          <p:cNvGrpSpPr/>
          <p:nvPr/>
        </p:nvGrpSpPr>
        <p:grpSpPr>
          <a:xfrm rot="0">
            <a:off x="4457700" y="6789420"/>
            <a:ext cx="2537460" cy="795528"/>
            <a:chOff x="0" y="0"/>
            <a:chExt cx="3383280" cy="1060704"/>
          </a:xfrm>
        </p:grpSpPr>
        <p:sp>
          <p:nvSpPr>
            <p:cNvPr name="Freeform 59" id="59"/>
            <p:cNvSpPr/>
            <p:nvPr/>
          </p:nvSpPr>
          <p:spPr>
            <a:xfrm flipH="false" flipV="false" rot="0">
              <a:off x="0" y="0"/>
              <a:ext cx="3383280" cy="1060704"/>
            </a:xfrm>
            <a:custGeom>
              <a:avLst/>
              <a:gdLst/>
              <a:ahLst/>
              <a:cxnLst/>
              <a:rect r="r" b="b" t="t" l="l"/>
              <a:pathLst>
                <a:path h="1060704" w="3383280">
                  <a:moveTo>
                    <a:pt x="0" y="0"/>
                  </a:moveTo>
                  <a:lnTo>
                    <a:pt x="3383280" y="0"/>
                  </a:lnTo>
                  <a:lnTo>
                    <a:pt x="3383280" y="1060704"/>
                  </a:lnTo>
                  <a:lnTo>
                    <a:pt x="0" y="1060704"/>
                  </a:lnTo>
                  <a:close/>
                </a:path>
              </a:pathLst>
            </a:custGeom>
            <a:blipFill>
              <a:blip r:embed="rId3">
                <a:alphaModFix amt="0"/>
              </a:blip>
              <a:stretch>
                <a:fillRect l="0" t="-12150" r="0" b="-12150"/>
              </a:stretch>
            </a:blipFill>
          </p:spPr>
        </p:sp>
        <p:sp>
          <p:nvSpPr>
            <p:cNvPr name="TextBox 60" id="60"/>
            <p:cNvSpPr txBox="true"/>
            <p:nvPr/>
          </p:nvSpPr>
          <p:spPr>
            <a:xfrm>
              <a:off x="0" y="-38100"/>
              <a:ext cx="3383280" cy="1098804"/>
            </a:xfrm>
            <a:prstGeom prst="rect">
              <a:avLst/>
            </a:prstGeom>
          </p:spPr>
          <p:txBody>
            <a:bodyPr anchor="ctr" rtlCol="false" tIns="0" lIns="0" bIns="0" rIns="0"/>
            <a:lstStyle/>
            <a:p>
              <a:pPr algn="ctr">
                <a:lnSpc>
                  <a:spcPts val="2429"/>
                </a:lnSpc>
              </a:pPr>
              <a:r>
                <a:rPr lang="en-US" sz="2024">
                  <a:solidFill>
                    <a:srgbClr val="1B2B34"/>
                  </a:solidFill>
                  <a:latin typeface="Calibri"/>
                  <a:ea typeface="Calibri"/>
                  <a:cs typeface="Calibri"/>
                  <a:sym typeface="Calibri"/>
                </a:rPr>
                <a:t>Ed25519 checkpoints</a:t>
              </a:r>
            </a:p>
          </p:txBody>
        </p:sp>
      </p:grpSp>
      <p:grpSp>
        <p:nvGrpSpPr>
          <p:cNvPr name="Group 61" id="61"/>
          <p:cNvGrpSpPr/>
          <p:nvPr/>
        </p:nvGrpSpPr>
        <p:grpSpPr>
          <a:xfrm rot="0">
            <a:off x="7534275" y="1910715"/>
            <a:ext cx="3105150" cy="6808470"/>
            <a:chOff x="0" y="0"/>
            <a:chExt cx="4140200" cy="9077960"/>
          </a:xfrm>
        </p:grpSpPr>
        <p:sp>
          <p:nvSpPr>
            <p:cNvPr name="Freeform 62" id="62"/>
            <p:cNvSpPr/>
            <p:nvPr/>
          </p:nvSpPr>
          <p:spPr>
            <a:xfrm flipH="false" flipV="false" rot="0">
              <a:off x="0" y="0"/>
              <a:ext cx="4140200" cy="9077961"/>
            </a:xfrm>
            <a:custGeom>
              <a:avLst/>
              <a:gdLst/>
              <a:ahLst/>
              <a:cxnLst/>
              <a:rect r="r" b="b" t="t" l="l"/>
              <a:pathLst>
                <a:path h="9077961" w="4140200">
                  <a:moveTo>
                    <a:pt x="0" y="147193"/>
                  </a:moveTo>
                  <a:cubicBezTo>
                    <a:pt x="0" y="65913"/>
                    <a:pt x="65913" y="0"/>
                    <a:pt x="147193" y="0"/>
                  </a:cubicBezTo>
                  <a:lnTo>
                    <a:pt x="3993007" y="0"/>
                  </a:lnTo>
                  <a:cubicBezTo>
                    <a:pt x="4074287" y="0"/>
                    <a:pt x="4140200" y="65913"/>
                    <a:pt x="4140200" y="147193"/>
                  </a:cubicBezTo>
                  <a:lnTo>
                    <a:pt x="4140200" y="8930767"/>
                  </a:lnTo>
                  <a:cubicBezTo>
                    <a:pt x="4140200" y="9012048"/>
                    <a:pt x="4074287" y="9077961"/>
                    <a:pt x="3993007" y="9077961"/>
                  </a:cubicBezTo>
                  <a:lnTo>
                    <a:pt x="147193" y="9077961"/>
                  </a:lnTo>
                  <a:cubicBezTo>
                    <a:pt x="65913" y="9077960"/>
                    <a:pt x="0" y="9012047"/>
                    <a:pt x="0" y="8930767"/>
                  </a:cubicBezTo>
                  <a:close/>
                </a:path>
              </a:pathLst>
            </a:custGeom>
            <a:solidFill>
              <a:srgbClr val="0B4F5C"/>
            </a:solidFill>
            <a:ln w="19050" cap="sq">
              <a:solidFill>
                <a:srgbClr val="0B4F5C"/>
              </a:solidFill>
              <a:prstDash val="solid"/>
              <a:miter/>
            </a:ln>
          </p:spPr>
        </p:sp>
      </p:grpSp>
      <p:sp>
        <p:nvSpPr>
          <p:cNvPr name="TextBox 63" id="63"/>
          <p:cNvSpPr txBox="true"/>
          <p:nvPr/>
        </p:nvSpPr>
        <p:spPr>
          <a:xfrm rot="0">
            <a:off x="7749540" y="2078355"/>
            <a:ext cx="2674620" cy="428625"/>
          </a:xfrm>
          <a:prstGeom prst="rect">
            <a:avLst/>
          </a:prstGeom>
        </p:spPr>
        <p:txBody>
          <a:bodyPr anchor="t" rtlCol="false" tIns="0" lIns="0" bIns="0" rIns="0">
            <a:spAutoFit/>
          </a:bodyPr>
          <a:lstStyle/>
          <a:p>
            <a:pPr algn="ctr">
              <a:lnSpc>
                <a:spcPts val="3059"/>
              </a:lnSpc>
            </a:pPr>
            <a:r>
              <a:rPr lang="en-US" sz="2549" b="1">
                <a:solidFill>
                  <a:srgbClr val="FFFFFF"/>
                </a:solidFill>
                <a:latin typeface="Calibri"/>
                <a:ea typeface="Calibri"/>
                <a:cs typeface="Calibri"/>
                <a:sym typeface="Calibri"/>
              </a:rPr>
              <a:t>Twin engine</a:t>
            </a:r>
          </a:p>
        </p:txBody>
      </p:sp>
      <p:grpSp>
        <p:nvGrpSpPr>
          <p:cNvPr name="Group 64" id="64"/>
          <p:cNvGrpSpPr/>
          <p:nvPr/>
        </p:nvGrpSpPr>
        <p:grpSpPr>
          <a:xfrm rot="0">
            <a:off x="7742396" y="2941796"/>
            <a:ext cx="2688908" cy="809816"/>
            <a:chOff x="0" y="0"/>
            <a:chExt cx="3585210" cy="1079754"/>
          </a:xfrm>
        </p:grpSpPr>
        <p:sp>
          <p:nvSpPr>
            <p:cNvPr name="Freeform 65" id="65"/>
            <p:cNvSpPr/>
            <p:nvPr/>
          </p:nvSpPr>
          <p:spPr>
            <a:xfrm flipH="false" flipV="false" rot="0">
              <a:off x="0" y="0"/>
              <a:ext cx="3585210" cy="1079754"/>
            </a:xfrm>
            <a:custGeom>
              <a:avLst/>
              <a:gdLst/>
              <a:ahLst/>
              <a:cxnLst/>
              <a:rect r="r" b="b" t="t" l="l"/>
              <a:pathLst>
                <a:path h="1079754" w="3585210">
                  <a:moveTo>
                    <a:pt x="0" y="111760"/>
                  </a:moveTo>
                  <a:cubicBezTo>
                    <a:pt x="0" y="50038"/>
                    <a:pt x="50038" y="0"/>
                    <a:pt x="111760" y="0"/>
                  </a:cubicBezTo>
                  <a:lnTo>
                    <a:pt x="3473450" y="0"/>
                  </a:lnTo>
                  <a:cubicBezTo>
                    <a:pt x="3535172" y="0"/>
                    <a:pt x="3585210" y="50038"/>
                    <a:pt x="3585210" y="111760"/>
                  </a:cubicBezTo>
                  <a:lnTo>
                    <a:pt x="3585210" y="967994"/>
                  </a:lnTo>
                  <a:cubicBezTo>
                    <a:pt x="3585210" y="1029716"/>
                    <a:pt x="3535172" y="1079754"/>
                    <a:pt x="3473450" y="1079754"/>
                  </a:cubicBezTo>
                  <a:lnTo>
                    <a:pt x="111760" y="1079754"/>
                  </a:lnTo>
                  <a:cubicBezTo>
                    <a:pt x="50038" y="1079754"/>
                    <a:pt x="0" y="1029716"/>
                    <a:pt x="0" y="967994"/>
                  </a:cubicBezTo>
                  <a:close/>
                </a:path>
              </a:pathLst>
            </a:custGeom>
            <a:solidFill>
              <a:srgbClr val="FFFFFF"/>
            </a:solidFill>
            <a:ln w="14288" cap="sq">
              <a:solidFill>
                <a:srgbClr val="C9D6D8"/>
              </a:solidFill>
              <a:prstDash val="solid"/>
              <a:miter/>
            </a:ln>
          </p:spPr>
        </p:sp>
      </p:grpSp>
      <p:grpSp>
        <p:nvGrpSpPr>
          <p:cNvPr name="Group 66" id="66"/>
          <p:cNvGrpSpPr/>
          <p:nvPr/>
        </p:nvGrpSpPr>
        <p:grpSpPr>
          <a:xfrm rot="0">
            <a:off x="7818120" y="2948940"/>
            <a:ext cx="2537460" cy="795528"/>
            <a:chOff x="0" y="0"/>
            <a:chExt cx="3383280" cy="1060704"/>
          </a:xfrm>
        </p:grpSpPr>
        <p:sp>
          <p:nvSpPr>
            <p:cNvPr name="Freeform 67" id="67"/>
            <p:cNvSpPr/>
            <p:nvPr/>
          </p:nvSpPr>
          <p:spPr>
            <a:xfrm flipH="false" flipV="false" rot="0">
              <a:off x="0" y="0"/>
              <a:ext cx="3383280" cy="1060704"/>
            </a:xfrm>
            <a:custGeom>
              <a:avLst/>
              <a:gdLst/>
              <a:ahLst/>
              <a:cxnLst/>
              <a:rect r="r" b="b" t="t" l="l"/>
              <a:pathLst>
                <a:path h="1060704" w="3383280">
                  <a:moveTo>
                    <a:pt x="0" y="0"/>
                  </a:moveTo>
                  <a:lnTo>
                    <a:pt x="3383280" y="0"/>
                  </a:lnTo>
                  <a:lnTo>
                    <a:pt x="3383280" y="1060704"/>
                  </a:lnTo>
                  <a:lnTo>
                    <a:pt x="0" y="1060704"/>
                  </a:lnTo>
                  <a:close/>
                </a:path>
              </a:pathLst>
            </a:custGeom>
            <a:blipFill>
              <a:blip r:embed="rId3">
                <a:alphaModFix amt="0"/>
              </a:blip>
              <a:stretch>
                <a:fillRect l="0" t="-12150" r="0" b="-12150"/>
              </a:stretch>
            </a:blipFill>
          </p:spPr>
        </p:sp>
        <p:sp>
          <p:nvSpPr>
            <p:cNvPr name="TextBox 68" id="68"/>
            <p:cNvSpPr txBox="true"/>
            <p:nvPr/>
          </p:nvSpPr>
          <p:spPr>
            <a:xfrm>
              <a:off x="0" y="-38100"/>
              <a:ext cx="3383280" cy="1098804"/>
            </a:xfrm>
            <a:prstGeom prst="rect">
              <a:avLst/>
            </a:prstGeom>
          </p:spPr>
          <p:txBody>
            <a:bodyPr anchor="ctr" rtlCol="false" tIns="0" lIns="0" bIns="0" rIns="0"/>
            <a:lstStyle/>
            <a:p>
              <a:pPr algn="ctr">
                <a:lnSpc>
                  <a:spcPts val="2429"/>
                </a:lnSpc>
              </a:pPr>
              <a:r>
                <a:rPr lang="en-US" sz="2024">
                  <a:solidFill>
                    <a:srgbClr val="1B2B34"/>
                  </a:solidFill>
                  <a:latin typeface="Calibri"/>
                  <a:ea typeface="Calibri"/>
                  <a:cs typeface="Calibri"/>
                  <a:sym typeface="Calibri"/>
                </a:rPr>
                <a:t>Heat → sweat (ISO 7933)</a:t>
              </a:r>
            </a:p>
          </p:txBody>
        </p:sp>
      </p:grpSp>
      <p:grpSp>
        <p:nvGrpSpPr>
          <p:cNvPr name="Group 69" id="69"/>
          <p:cNvGrpSpPr/>
          <p:nvPr/>
        </p:nvGrpSpPr>
        <p:grpSpPr>
          <a:xfrm rot="0">
            <a:off x="7742396" y="3901916"/>
            <a:ext cx="2688908" cy="809816"/>
            <a:chOff x="0" y="0"/>
            <a:chExt cx="3585210" cy="1079754"/>
          </a:xfrm>
        </p:grpSpPr>
        <p:sp>
          <p:nvSpPr>
            <p:cNvPr name="Freeform 70" id="70"/>
            <p:cNvSpPr/>
            <p:nvPr/>
          </p:nvSpPr>
          <p:spPr>
            <a:xfrm flipH="false" flipV="false" rot="0">
              <a:off x="0" y="0"/>
              <a:ext cx="3585210" cy="1079754"/>
            </a:xfrm>
            <a:custGeom>
              <a:avLst/>
              <a:gdLst/>
              <a:ahLst/>
              <a:cxnLst/>
              <a:rect r="r" b="b" t="t" l="l"/>
              <a:pathLst>
                <a:path h="1079754" w="3585210">
                  <a:moveTo>
                    <a:pt x="0" y="111760"/>
                  </a:moveTo>
                  <a:cubicBezTo>
                    <a:pt x="0" y="50038"/>
                    <a:pt x="50038" y="0"/>
                    <a:pt x="111760" y="0"/>
                  </a:cubicBezTo>
                  <a:lnTo>
                    <a:pt x="3473450" y="0"/>
                  </a:lnTo>
                  <a:cubicBezTo>
                    <a:pt x="3535172" y="0"/>
                    <a:pt x="3585210" y="50038"/>
                    <a:pt x="3585210" y="111760"/>
                  </a:cubicBezTo>
                  <a:lnTo>
                    <a:pt x="3585210" y="967994"/>
                  </a:lnTo>
                  <a:cubicBezTo>
                    <a:pt x="3585210" y="1029716"/>
                    <a:pt x="3535172" y="1079754"/>
                    <a:pt x="3473450" y="1079754"/>
                  </a:cubicBezTo>
                  <a:lnTo>
                    <a:pt x="111760" y="1079754"/>
                  </a:lnTo>
                  <a:cubicBezTo>
                    <a:pt x="50038" y="1079754"/>
                    <a:pt x="0" y="1029716"/>
                    <a:pt x="0" y="967994"/>
                  </a:cubicBezTo>
                  <a:close/>
                </a:path>
              </a:pathLst>
            </a:custGeom>
            <a:solidFill>
              <a:srgbClr val="FFFFFF"/>
            </a:solidFill>
            <a:ln w="14288" cap="sq">
              <a:solidFill>
                <a:srgbClr val="C9D6D8"/>
              </a:solidFill>
              <a:prstDash val="solid"/>
              <a:miter/>
            </a:ln>
          </p:spPr>
        </p:sp>
      </p:grpSp>
      <p:grpSp>
        <p:nvGrpSpPr>
          <p:cNvPr name="Group 71" id="71"/>
          <p:cNvGrpSpPr/>
          <p:nvPr/>
        </p:nvGrpSpPr>
        <p:grpSpPr>
          <a:xfrm rot="0">
            <a:off x="7818120" y="3909060"/>
            <a:ext cx="2537460" cy="795528"/>
            <a:chOff x="0" y="0"/>
            <a:chExt cx="3383280" cy="1060704"/>
          </a:xfrm>
        </p:grpSpPr>
        <p:sp>
          <p:nvSpPr>
            <p:cNvPr name="Freeform 72" id="72"/>
            <p:cNvSpPr/>
            <p:nvPr/>
          </p:nvSpPr>
          <p:spPr>
            <a:xfrm flipH="false" flipV="false" rot="0">
              <a:off x="0" y="0"/>
              <a:ext cx="3383280" cy="1060704"/>
            </a:xfrm>
            <a:custGeom>
              <a:avLst/>
              <a:gdLst/>
              <a:ahLst/>
              <a:cxnLst/>
              <a:rect r="r" b="b" t="t" l="l"/>
              <a:pathLst>
                <a:path h="1060704" w="3383280">
                  <a:moveTo>
                    <a:pt x="0" y="0"/>
                  </a:moveTo>
                  <a:lnTo>
                    <a:pt x="3383280" y="0"/>
                  </a:lnTo>
                  <a:lnTo>
                    <a:pt x="3383280" y="1060704"/>
                  </a:lnTo>
                  <a:lnTo>
                    <a:pt x="0" y="1060704"/>
                  </a:lnTo>
                  <a:close/>
                </a:path>
              </a:pathLst>
            </a:custGeom>
            <a:blipFill>
              <a:blip r:embed="rId3">
                <a:alphaModFix amt="0"/>
              </a:blip>
              <a:stretch>
                <a:fillRect l="0" t="-12150" r="0" b="-12150"/>
              </a:stretch>
            </a:blipFill>
          </p:spPr>
        </p:sp>
        <p:sp>
          <p:nvSpPr>
            <p:cNvPr name="TextBox 73" id="73"/>
            <p:cNvSpPr txBox="true"/>
            <p:nvPr/>
          </p:nvSpPr>
          <p:spPr>
            <a:xfrm>
              <a:off x="0" y="-38100"/>
              <a:ext cx="3383280" cy="1098804"/>
            </a:xfrm>
            <a:prstGeom prst="rect">
              <a:avLst/>
            </a:prstGeom>
          </p:spPr>
          <p:txBody>
            <a:bodyPr anchor="ctr" rtlCol="false" tIns="0" lIns="0" bIns="0" rIns="0"/>
            <a:lstStyle/>
            <a:p>
              <a:pPr algn="ctr">
                <a:lnSpc>
                  <a:spcPts val="2429"/>
                </a:lnSpc>
              </a:pPr>
              <a:r>
                <a:rPr lang="en-US" sz="2024">
                  <a:solidFill>
                    <a:srgbClr val="1B2B34"/>
                  </a:solidFill>
                  <a:latin typeface="Calibri"/>
                  <a:ea typeface="Calibri"/>
                  <a:cs typeface="Calibri"/>
                  <a:sym typeface="Calibri"/>
                </a:rPr>
                <a:t>Body water → kidney</a:t>
              </a:r>
            </a:p>
          </p:txBody>
        </p:sp>
      </p:grpSp>
      <p:grpSp>
        <p:nvGrpSpPr>
          <p:cNvPr name="Group 74" id="74"/>
          <p:cNvGrpSpPr/>
          <p:nvPr/>
        </p:nvGrpSpPr>
        <p:grpSpPr>
          <a:xfrm rot="0">
            <a:off x="7742396" y="4862036"/>
            <a:ext cx="2688908" cy="809816"/>
            <a:chOff x="0" y="0"/>
            <a:chExt cx="3585210" cy="1079754"/>
          </a:xfrm>
        </p:grpSpPr>
        <p:sp>
          <p:nvSpPr>
            <p:cNvPr name="Freeform 75" id="75"/>
            <p:cNvSpPr/>
            <p:nvPr/>
          </p:nvSpPr>
          <p:spPr>
            <a:xfrm flipH="false" flipV="false" rot="0">
              <a:off x="0" y="0"/>
              <a:ext cx="3585210" cy="1079754"/>
            </a:xfrm>
            <a:custGeom>
              <a:avLst/>
              <a:gdLst/>
              <a:ahLst/>
              <a:cxnLst/>
              <a:rect r="r" b="b" t="t" l="l"/>
              <a:pathLst>
                <a:path h="1079754" w="3585210">
                  <a:moveTo>
                    <a:pt x="0" y="111760"/>
                  </a:moveTo>
                  <a:cubicBezTo>
                    <a:pt x="0" y="50038"/>
                    <a:pt x="50038" y="0"/>
                    <a:pt x="111760" y="0"/>
                  </a:cubicBezTo>
                  <a:lnTo>
                    <a:pt x="3473450" y="0"/>
                  </a:lnTo>
                  <a:cubicBezTo>
                    <a:pt x="3535172" y="0"/>
                    <a:pt x="3585210" y="50038"/>
                    <a:pt x="3585210" y="111760"/>
                  </a:cubicBezTo>
                  <a:lnTo>
                    <a:pt x="3585210" y="967994"/>
                  </a:lnTo>
                  <a:cubicBezTo>
                    <a:pt x="3585210" y="1029716"/>
                    <a:pt x="3535172" y="1079754"/>
                    <a:pt x="3473450" y="1079754"/>
                  </a:cubicBezTo>
                  <a:lnTo>
                    <a:pt x="111760" y="1079754"/>
                  </a:lnTo>
                  <a:cubicBezTo>
                    <a:pt x="50038" y="1079754"/>
                    <a:pt x="0" y="1029716"/>
                    <a:pt x="0" y="967994"/>
                  </a:cubicBezTo>
                  <a:close/>
                </a:path>
              </a:pathLst>
            </a:custGeom>
            <a:solidFill>
              <a:srgbClr val="FFFFFF"/>
            </a:solidFill>
            <a:ln w="14288" cap="sq">
              <a:solidFill>
                <a:srgbClr val="C9D6D8"/>
              </a:solidFill>
              <a:prstDash val="solid"/>
              <a:miter/>
            </a:ln>
          </p:spPr>
        </p:sp>
      </p:grpSp>
      <p:grpSp>
        <p:nvGrpSpPr>
          <p:cNvPr name="Group 76" id="76"/>
          <p:cNvGrpSpPr/>
          <p:nvPr/>
        </p:nvGrpSpPr>
        <p:grpSpPr>
          <a:xfrm rot="0">
            <a:off x="7818120" y="4869180"/>
            <a:ext cx="2537460" cy="795528"/>
            <a:chOff x="0" y="0"/>
            <a:chExt cx="3383280" cy="1060704"/>
          </a:xfrm>
        </p:grpSpPr>
        <p:sp>
          <p:nvSpPr>
            <p:cNvPr name="Freeform 77" id="77"/>
            <p:cNvSpPr/>
            <p:nvPr/>
          </p:nvSpPr>
          <p:spPr>
            <a:xfrm flipH="false" flipV="false" rot="0">
              <a:off x="0" y="0"/>
              <a:ext cx="3383280" cy="1060704"/>
            </a:xfrm>
            <a:custGeom>
              <a:avLst/>
              <a:gdLst/>
              <a:ahLst/>
              <a:cxnLst/>
              <a:rect r="r" b="b" t="t" l="l"/>
              <a:pathLst>
                <a:path h="1060704" w="3383280">
                  <a:moveTo>
                    <a:pt x="0" y="0"/>
                  </a:moveTo>
                  <a:lnTo>
                    <a:pt x="3383280" y="0"/>
                  </a:lnTo>
                  <a:lnTo>
                    <a:pt x="3383280" y="1060704"/>
                  </a:lnTo>
                  <a:lnTo>
                    <a:pt x="0" y="1060704"/>
                  </a:lnTo>
                  <a:close/>
                </a:path>
              </a:pathLst>
            </a:custGeom>
            <a:blipFill>
              <a:blip r:embed="rId3">
                <a:alphaModFix amt="0"/>
              </a:blip>
              <a:stretch>
                <a:fillRect l="0" t="-12150" r="0" b="-12150"/>
              </a:stretch>
            </a:blipFill>
          </p:spPr>
        </p:sp>
        <p:sp>
          <p:nvSpPr>
            <p:cNvPr name="TextBox 78" id="78"/>
            <p:cNvSpPr txBox="true"/>
            <p:nvPr/>
          </p:nvSpPr>
          <p:spPr>
            <a:xfrm>
              <a:off x="0" y="-38100"/>
              <a:ext cx="3383280" cy="1098804"/>
            </a:xfrm>
            <a:prstGeom prst="rect">
              <a:avLst/>
            </a:prstGeom>
          </p:spPr>
          <p:txBody>
            <a:bodyPr anchor="ctr" rtlCol="false" tIns="0" lIns="0" bIns="0" rIns="0"/>
            <a:lstStyle/>
            <a:p>
              <a:pPr algn="ctr">
                <a:lnSpc>
                  <a:spcPts val="2429"/>
                </a:lnSpc>
              </a:pPr>
              <a:r>
                <a:rPr lang="en-US" sz="2024">
                  <a:solidFill>
                    <a:srgbClr val="1B2B34"/>
                  </a:solidFill>
                  <a:latin typeface="Calibri"/>
                  <a:ea typeface="Calibri"/>
                  <a:cs typeface="Calibri"/>
                  <a:sym typeface="Calibri"/>
                </a:rPr>
                <a:t>Creatinine kinetics</a:t>
              </a:r>
            </a:p>
          </p:txBody>
        </p:sp>
      </p:grpSp>
      <p:grpSp>
        <p:nvGrpSpPr>
          <p:cNvPr name="Group 79" id="79"/>
          <p:cNvGrpSpPr/>
          <p:nvPr/>
        </p:nvGrpSpPr>
        <p:grpSpPr>
          <a:xfrm rot="0">
            <a:off x="7742396" y="5822156"/>
            <a:ext cx="2688908" cy="809816"/>
            <a:chOff x="0" y="0"/>
            <a:chExt cx="3585210" cy="1079754"/>
          </a:xfrm>
        </p:grpSpPr>
        <p:sp>
          <p:nvSpPr>
            <p:cNvPr name="Freeform 80" id="80"/>
            <p:cNvSpPr/>
            <p:nvPr/>
          </p:nvSpPr>
          <p:spPr>
            <a:xfrm flipH="false" flipV="false" rot="0">
              <a:off x="0" y="0"/>
              <a:ext cx="3585210" cy="1079754"/>
            </a:xfrm>
            <a:custGeom>
              <a:avLst/>
              <a:gdLst/>
              <a:ahLst/>
              <a:cxnLst/>
              <a:rect r="r" b="b" t="t" l="l"/>
              <a:pathLst>
                <a:path h="1079754" w="3585210">
                  <a:moveTo>
                    <a:pt x="0" y="111760"/>
                  </a:moveTo>
                  <a:cubicBezTo>
                    <a:pt x="0" y="50038"/>
                    <a:pt x="50038" y="0"/>
                    <a:pt x="111760" y="0"/>
                  </a:cubicBezTo>
                  <a:lnTo>
                    <a:pt x="3473450" y="0"/>
                  </a:lnTo>
                  <a:cubicBezTo>
                    <a:pt x="3535172" y="0"/>
                    <a:pt x="3585210" y="50038"/>
                    <a:pt x="3585210" y="111760"/>
                  </a:cubicBezTo>
                  <a:lnTo>
                    <a:pt x="3585210" y="967994"/>
                  </a:lnTo>
                  <a:cubicBezTo>
                    <a:pt x="3585210" y="1029716"/>
                    <a:pt x="3535172" y="1079754"/>
                    <a:pt x="3473450" y="1079754"/>
                  </a:cubicBezTo>
                  <a:lnTo>
                    <a:pt x="111760" y="1079754"/>
                  </a:lnTo>
                  <a:cubicBezTo>
                    <a:pt x="50038" y="1079754"/>
                    <a:pt x="0" y="1029716"/>
                    <a:pt x="0" y="967994"/>
                  </a:cubicBezTo>
                  <a:close/>
                </a:path>
              </a:pathLst>
            </a:custGeom>
            <a:solidFill>
              <a:srgbClr val="FFFFFF"/>
            </a:solidFill>
            <a:ln w="14288" cap="sq">
              <a:solidFill>
                <a:srgbClr val="C9D6D8"/>
              </a:solidFill>
              <a:prstDash val="solid"/>
              <a:miter/>
            </a:ln>
          </p:spPr>
        </p:sp>
      </p:grpSp>
      <p:grpSp>
        <p:nvGrpSpPr>
          <p:cNvPr name="Group 81" id="81"/>
          <p:cNvGrpSpPr/>
          <p:nvPr/>
        </p:nvGrpSpPr>
        <p:grpSpPr>
          <a:xfrm rot="0">
            <a:off x="7818120" y="5829300"/>
            <a:ext cx="2537460" cy="795528"/>
            <a:chOff x="0" y="0"/>
            <a:chExt cx="3383280" cy="1060704"/>
          </a:xfrm>
        </p:grpSpPr>
        <p:sp>
          <p:nvSpPr>
            <p:cNvPr name="Freeform 82" id="82"/>
            <p:cNvSpPr/>
            <p:nvPr/>
          </p:nvSpPr>
          <p:spPr>
            <a:xfrm flipH="false" flipV="false" rot="0">
              <a:off x="0" y="0"/>
              <a:ext cx="3383280" cy="1060704"/>
            </a:xfrm>
            <a:custGeom>
              <a:avLst/>
              <a:gdLst/>
              <a:ahLst/>
              <a:cxnLst/>
              <a:rect r="r" b="b" t="t" l="l"/>
              <a:pathLst>
                <a:path h="1060704" w="3383280">
                  <a:moveTo>
                    <a:pt x="0" y="0"/>
                  </a:moveTo>
                  <a:lnTo>
                    <a:pt x="3383280" y="0"/>
                  </a:lnTo>
                  <a:lnTo>
                    <a:pt x="3383280" y="1060704"/>
                  </a:lnTo>
                  <a:lnTo>
                    <a:pt x="0" y="1060704"/>
                  </a:lnTo>
                  <a:close/>
                </a:path>
              </a:pathLst>
            </a:custGeom>
            <a:blipFill>
              <a:blip r:embed="rId3">
                <a:alphaModFix amt="0"/>
              </a:blip>
              <a:stretch>
                <a:fillRect l="0" t="-12150" r="0" b="-12150"/>
              </a:stretch>
            </a:blipFill>
          </p:spPr>
        </p:sp>
        <p:sp>
          <p:nvSpPr>
            <p:cNvPr name="TextBox 83" id="83"/>
            <p:cNvSpPr txBox="true"/>
            <p:nvPr/>
          </p:nvSpPr>
          <p:spPr>
            <a:xfrm>
              <a:off x="0" y="-38100"/>
              <a:ext cx="3383280" cy="1098804"/>
            </a:xfrm>
            <a:prstGeom prst="rect">
              <a:avLst/>
            </a:prstGeom>
          </p:spPr>
          <p:txBody>
            <a:bodyPr anchor="ctr" rtlCol="false" tIns="0" lIns="0" bIns="0" rIns="0"/>
            <a:lstStyle/>
            <a:p>
              <a:pPr algn="ctr">
                <a:lnSpc>
                  <a:spcPts val="2429"/>
                </a:lnSpc>
              </a:pPr>
              <a:r>
                <a:rPr lang="en-US" sz="2024">
                  <a:solidFill>
                    <a:srgbClr val="1B2B34"/>
                  </a:solidFill>
                  <a:latin typeface="Calibri"/>
                  <a:ea typeface="Calibri"/>
                  <a:cs typeface="Calibri"/>
                  <a:sym typeface="Calibri"/>
                </a:rPr>
                <a:t>UKF personal twin</a:t>
              </a:r>
            </a:p>
          </p:txBody>
        </p:sp>
      </p:grpSp>
      <p:grpSp>
        <p:nvGrpSpPr>
          <p:cNvPr name="Group 84" id="84"/>
          <p:cNvGrpSpPr/>
          <p:nvPr/>
        </p:nvGrpSpPr>
        <p:grpSpPr>
          <a:xfrm rot="0">
            <a:off x="7742396" y="6782276"/>
            <a:ext cx="2688908" cy="809816"/>
            <a:chOff x="0" y="0"/>
            <a:chExt cx="3585210" cy="1079754"/>
          </a:xfrm>
        </p:grpSpPr>
        <p:sp>
          <p:nvSpPr>
            <p:cNvPr name="Freeform 85" id="85"/>
            <p:cNvSpPr/>
            <p:nvPr/>
          </p:nvSpPr>
          <p:spPr>
            <a:xfrm flipH="false" flipV="false" rot="0">
              <a:off x="0" y="0"/>
              <a:ext cx="3585210" cy="1079754"/>
            </a:xfrm>
            <a:custGeom>
              <a:avLst/>
              <a:gdLst/>
              <a:ahLst/>
              <a:cxnLst/>
              <a:rect r="r" b="b" t="t" l="l"/>
              <a:pathLst>
                <a:path h="1079754" w="3585210">
                  <a:moveTo>
                    <a:pt x="0" y="111760"/>
                  </a:moveTo>
                  <a:cubicBezTo>
                    <a:pt x="0" y="50038"/>
                    <a:pt x="50038" y="0"/>
                    <a:pt x="111760" y="0"/>
                  </a:cubicBezTo>
                  <a:lnTo>
                    <a:pt x="3473450" y="0"/>
                  </a:lnTo>
                  <a:cubicBezTo>
                    <a:pt x="3535172" y="0"/>
                    <a:pt x="3585210" y="50038"/>
                    <a:pt x="3585210" y="111760"/>
                  </a:cubicBezTo>
                  <a:lnTo>
                    <a:pt x="3585210" y="967994"/>
                  </a:lnTo>
                  <a:cubicBezTo>
                    <a:pt x="3585210" y="1029716"/>
                    <a:pt x="3535172" y="1079754"/>
                    <a:pt x="3473450" y="1079754"/>
                  </a:cubicBezTo>
                  <a:lnTo>
                    <a:pt x="111760" y="1079754"/>
                  </a:lnTo>
                  <a:cubicBezTo>
                    <a:pt x="50038" y="1079754"/>
                    <a:pt x="0" y="1029716"/>
                    <a:pt x="0" y="967994"/>
                  </a:cubicBezTo>
                  <a:close/>
                </a:path>
              </a:pathLst>
            </a:custGeom>
            <a:solidFill>
              <a:srgbClr val="FFFFFF"/>
            </a:solidFill>
            <a:ln w="14288" cap="sq">
              <a:solidFill>
                <a:srgbClr val="C9D6D8"/>
              </a:solidFill>
              <a:prstDash val="solid"/>
              <a:miter/>
            </a:ln>
          </p:spPr>
        </p:sp>
      </p:grpSp>
      <p:grpSp>
        <p:nvGrpSpPr>
          <p:cNvPr name="Group 86" id="86"/>
          <p:cNvGrpSpPr/>
          <p:nvPr/>
        </p:nvGrpSpPr>
        <p:grpSpPr>
          <a:xfrm rot="0">
            <a:off x="7818120" y="6789420"/>
            <a:ext cx="2537460" cy="795528"/>
            <a:chOff x="0" y="0"/>
            <a:chExt cx="3383280" cy="1060704"/>
          </a:xfrm>
        </p:grpSpPr>
        <p:sp>
          <p:nvSpPr>
            <p:cNvPr name="Freeform 87" id="87"/>
            <p:cNvSpPr/>
            <p:nvPr/>
          </p:nvSpPr>
          <p:spPr>
            <a:xfrm flipH="false" flipV="false" rot="0">
              <a:off x="0" y="0"/>
              <a:ext cx="3383280" cy="1060704"/>
            </a:xfrm>
            <a:custGeom>
              <a:avLst/>
              <a:gdLst/>
              <a:ahLst/>
              <a:cxnLst/>
              <a:rect r="r" b="b" t="t" l="l"/>
              <a:pathLst>
                <a:path h="1060704" w="3383280">
                  <a:moveTo>
                    <a:pt x="0" y="0"/>
                  </a:moveTo>
                  <a:lnTo>
                    <a:pt x="3383280" y="0"/>
                  </a:lnTo>
                  <a:lnTo>
                    <a:pt x="3383280" y="1060704"/>
                  </a:lnTo>
                  <a:lnTo>
                    <a:pt x="0" y="1060704"/>
                  </a:lnTo>
                  <a:close/>
                </a:path>
              </a:pathLst>
            </a:custGeom>
            <a:blipFill>
              <a:blip r:embed="rId3">
                <a:alphaModFix amt="0"/>
              </a:blip>
              <a:stretch>
                <a:fillRect l="0" t="-12150" r="0" b="-12150"/>
              </a:stretch>
            </a:blipFill>
          </p:spPr>
        </p:sp>
        <p:sp>
          <p:nvSpPr>
            <p:cNvPr name="TextBox 88" id="88"/>
            <p:cNvSpPr txBox="true"/>
            <p:nvPr/>
          </p:nvSpPr>
          <p:spPr>
            <a:xfrm>
              <a:off x="0" y="-38100"/>
              <a:ext cx="3383280" cy="1098804"/>
            </a:xfrm>
            <a:prstGeom prst="rect">
              <a:avLst/>
            </a:prstGeom>
          </p:spPr>
          <p:txBody>
            <a:bodyPr anchor="ctr" rtlCol="false" tIns="0" lIns="0" bIns="0" rIns="0"/>
            <a:lstStyle/>
            <a:p>
              <a:pPr algn="ctr">
                <a:lnSpc>
                  <a:spcPts val="2429"/>
                </a:lnSpc>
              </a:pPr>
              <a:r>
                <a:rPr lang="en-US" sz="2024">
                  <a:solidFill>
                    <a:srgbClr val="1B2B34"/>
                  </a:solidFill>
                  <a:latin typeface="Calibri"/>
                  <a:ea typeface="Calibri"/>
                  <a:cs typeface="Calibri"/>
                  <a:sym typeface="Calibri"/>
                </a:rPr>
                <a:t>Monte-Carlo 72-h risk</a:t>
              </a:r>
            </a:p>
          </p:txBody>
        </p:sp>
      </p:grpSp>
      <p:grpSp>
        <p:nvGrpSpPr>
          <p:cNvPr name="Group 89" id="89"/>
          <p:cNvGrpSpPr/>
          <p:nvPr/>
        </p:nvGrpSpPr>
        <p:grpSpPr>
          <a:xfrm rot="0">
            <a:off x="10894695" y="1910715"/>
            <a:ext cx="3105150" cy="6808470"/>
            <a:chOff x="0" y="0"/>
            <a:chExt cx="4140200" cy="9077960"/>
          </a:xfrm>
        </p:grpSpPr>
        <p:sp>
          <p:nvSpPr>
            <p:cNvPr name="Freeform 90" id="90"/>
            <p:cNvSpPr/>
            <p:nvPr/>
          </p:nvSpPr>
          <p:spPr>
            <a:xfrm flipH="false" flipV="false" rot="0">
              <a:off x="0" y="0"/>
              <a:ext cx="4140200" cy="9077961"/>
            </a:xfrm>
            <a:custGeom>
              <a:avLst/>
              <a:gdLst/>
              <a:ahLst/>
              <a:cxnLst/>
              <a:rect r="r" b="b" t="t" l="l"/>
              <a:pathLst>
                <a:path h="9077961" w="4140200">
                  <a:moveTo>
                    <a:pt x="0" y="147193"/>
                  </a:moveTo>
                  <a:cubicBezTo>
                    <a:pt x="0" y="65913"/>
                    <a:pt x="65913" y="0"/>
                    <a:pt x="147193" y="0"/>
                  </a:cubicBezTo>
                  <a:lnTo>
                    <a:pt x="3993007" y="0"/>
                  </a:lnTo>
                  <a:cubicBezTo>
                    <a:pt x="4074287" y="0"/>
                    <a:pt x="4140200" y="65913"/>
                    <a:pt x="4140200" y="147193"/>
                  </a:cubicBezTo>
                  <a:lnTo>
                    <a:pt x="4140200" y="8930767"/>
                  </a:lnTo>
                  <a:cubicBezTo>
                    <a:pt x="4140200" y="9012048"/>
                    <a:pt x="4074287" y="9077961"/>
                    <a:pt x="3993007" y="9077961"/>
                  </a:cubicBezTo>
                  <a:lnTo>
                    <a:pt x="147193" y="9077961"/>
                  </a:lnTo>
                  <a:cubicBezTo>
                    <a:pt x="65913" y="9077960"/>
                    <a:pt x="0" y="9012047"/>
                    <a:pt x="0" y="8930767"/>
                  </a:cubicBezTo>
                  <a:close/>
                </a:path>
              </a:pathLst>
            </a:custGeom>
            <a:solidFill>
              <a:srgbClr val="0E7C86"/>
            </a:solidFill>
            <a:ln w="19050" cap="sq">
              <a:solidFill>
                <a:srgbClr val="0E7C86"/>
              </a:solidFill>
              <a:prstDash val="solid"/>
              <a:miter/>
            </a:ln>
          </p:spPr>
        </p:sp>
      </p:grpSp>
      <p:sp>
        <p:nvSpPr>
          <p:cNvPr name="TextBox 91" id="91"/>
          <p:cNvSpPr txBox="true"/>
          <p:nvPr/>
        </p:nvSpPr>
        <p:spPr>
          <a:xfrm rot="0">
            <a:off x="11109960" y="2078355"/>
            <a:ext cx="2674620" cy="428625"/>
          </a:xfrm>
          <a:prstGeom prst="rect">
            <a:avLst/>
          </a:prstGeom>
        </p:spPr>
        <p:txBody>
          <a:bodyPr anchor="t" rtlCol="false" tIns="0" lIns="0" bIns="0" rIns="0">
            <a:spAutoFit/>
          </a:bodyPr>
          <a:lstStyle/>
          <a:p>
            <a:pPr algn="ctr">
              <a:lnSpc>
                <a:spcPts val="3059"/>
              </a:lnSpc>
            </a:pPr>
            <a:r>
              <a:rPr lang="en-US" sz="2549" b="1">
                <a:solidFill>
                  <a:srgbClr val="FFFFFF"/>
                </a:solidFill>
                <a:latin typeface="Calibri"/>
                <a:ea typeface="Calibri"/>
                <a:cs typeface="Calibri"/>
                <a:sym typeface="Calibri"/>
              </a:rPr>
              <a:t>Decisions</a:t>
            </a:r>
          </a:p>
        </p:txBody>
      </p:sp>
      <p:grpSp>
        <p:nvGrpSpPr>
          <p:cNvPr name="Group 92" id="92"/>
          <p:cNvGrpSpPr/>
          <p:nvPr/>
        </p:nvGrpSpPr>
        <p:grpSpPr>
          <a:xfrm rot="0">
            <a:off x="11102816" y="2941796"/>
            <a:ext cx="2688908" cy="809816"/>
            <a:chOff x="0" y="0"/>
            <a:chExt cx="3585210" cy="1079754"/>
          </a:xfrm>
        </p:grpSpPr>
        <p:sp>
          <p:nvSpPr>
            <p:cNvPr name="Freeform 93" id="93"/>
            <p:cNvSpPr/>
            <p:nvPr/>
          </p:nvSpPr>
          <p:spPr>
            <a:xfrm flipH="false" flipV="false" rot="0">
              <a:off x="0" y="0"/>
              <a:ext cx="3585210" cy="1079754"/>
            </a:xfrm>
            <a:custGeom>
              <a:avLst/>
              <a:gdLst/>
              <a:ahLst/>
              <a:cxnLst/>
              <a:rect r="r" b="b" t="t" l="l"/>
              <a:pathLst>
                <a:path h="1079754" w="3585210">
                  <a:moveTo>
                    <a:pt x="0" y="111760"/>
                  </a:moveTo>
                  <a:cubicBezTo>
                    <a:pt x="0" y="50038"/>
                    <a:pt x="50038" y="0"/>
                    <a:pt x="111760" y="0"/>
                  </a:cubicBezTo>
                  <a:lnTo>
                    <a:pt x="3473450" y="0"/>
                  </a:lnTo>
                  <a:cubicBezTo>
                    <a:pt x="3535172" y="0"/>
                    <a:pt x="3585210" y="50038"/>
                    <a:pt x="3585210" y="111760"/>
                  </a:cubicBezTo>
                  <a:lnTo>
                    <a:pt x="3585210" y="967994"/>
                  </a:lnTo>
                  <a:cubicBezTo>
                    <a:pt x="3585210" y="1029716"/>
                    <a:pt x="3535172" y="1079754"/>
                    <a:pt x="3473450" y="1079754"/>
                  </a:cubicBezTo>
                  <a:lnTo>
                    <a:pt x="111760" y="1079754"/>
                  </a:lnTo>
                  <a:cubicBezTo>
                    <a:pt x="50038" y="1079754"/>
                    <a:pt x="0" y="1029716"/>
                    <a:pt x="0" y="967994"/>
                  </a:cubicBezTo>
                  <a:close/>
                </a:path>
              </a:pathLst>
            </a:custGeom>
            <a:solidFill>
              <a:srgbClr val="FFFFFF"/>
            </a:solidFill>
            <a:ln w="14288" cap="sq">
              <a:solidFill>
                <a:srgbClr val="C9D6D8"/>
              </a:solidFill>
              <a:prstDash val="solid"/>
              <a:miter/>
            </a:ln>
          </p:spPr>
        </p:sp>
      </p:grpSp>
      <p:grpSp>
        <p:nvGrpSpPr>
          <p:cNvPr name="Group 94" id="94"/>
          <p:cNvGrpSpPr/>
          <p:nvPr/>
        </p:nvGrpSpPr>
        <p:grpSpPr>
          <a:xfrm rot="0">
            <a:off x="11178540" y="2948940"/>
            <a:ext cx="2537460" cy="795528"/>
            <a:chOff x="0" y="0"/>
            <a:chExt cx="3383280" cy="1060704"/>
          </a:xfrm>
        </p:grpSpPr>
        <p:sp>
          <p:nvSpPr>
            <p:cNvPr name="Freeform 95" id="95"/>
            <p:cNvSpPr/>
            <p:nvPr/>
          </p:nvSpPr>
          <p:spPr>
            <a:xfrm flipH="false" flipV="false" rot="0">
              <a:off x="0" y="0"/>
              <a:ext cx="3383280" cy="1060704"/>
            </a:xfrm>
            <a:custGeom>
              <a:avLst/>
              <a:gdLst/>
              <a:ahLst/>
              <a:cxnLst/>
              <a:rect r="r" b="b" t="t" l="l"/>
              <a:pathLst>
                <a:path h="1060704" w="3383280">
                  <a:moveTo>
                    <a:pt x="0" y="0"/>
                  </a:moveTo>
                  <a:lnTo>
                    <a:pt x="3383280" y="0"/>
                  </a:lnTo>
                  <a:lnTo>
                    <a:pt x="3383280" y="1060704"/>
                  </a:lnTo>
                  <a:lnTo>
                    <a:pt x="0" y="1060704"/>
                  </a:lnTo>
                  <a:close/>
                </a:path>
              </a:pathLst>
            </a:custGeom>
            <a:blipFill>
              <a:blip r:embed="rId3">
                <a:alphaModFix amt="0"/>
              </a:blip>
              <a:stretch>
                <a:fillRect l="0" t="-12150" r="0" b="-12150"/>
              </a:stretch>
            </a:blipFill>
          </p:spPr>
        </p:sp>
        <p:sp>
          <p:nvSpPr>
            <p:cNvPr name="TextBox 96" id="96"/>
            <p:cNvSpPr txBox="true"/>
            <p:nvPr/>
          </p:nvSpPr>
          <p:spPr>
            <a:xfrm>
              <a:off x="0" y="-38100"/>
              <a:ext cx="3383280" cy="1098804"/>
            </a:xfrm>
            <a:prstGeom prst="rect">
              <a:avLst/>
            </a:prstGeom>
          </p:spPr>
          <p:txBody>
            <a:bodyPr anchor="ctr" rtlCol="false" tIns="0" lIns="0" bIns="0" rIns="0"/>
            <a:lstStyle/>
            <a:p>
              <a:pPr algn="ctr">
                <a:lnSpc>
                  <a:spcPts val="2429"/>
                </a:lnSpc>
              </a:pPr>
              <a:r>
                <a:rPr lang="en-US" sz="2024">
                  <a:solidFill>
                    <a:srgbClr val="1B2B34"/>
                  </a:solidFill>
                  <a:latin typeface="Calibri"/>
                  <a:ea typeface="Calibri"/>
                  <a:cs typeface="Calibri"/>
                  <a:sym typeface="Calibri"/>
                </a:rPr>
                <a:t>LightGBM + calibration</a:t>
              </a:r>
            </a:p>
          </p:txBody>
        </p:sp>
      </p:grpSp>
      <p:grpSp>
        <p:nvGrpSpPr>
          <p:cNvPr name="Group 97" id="97"/>
          <p:cNvGrpSpPr/>
          <p:nvPr/>
        </p:nvGrpSpPr>
        <p:grpSpPr>
          <a:xfrm rot="0">
            <a:off x="11102816" y="3901916"/>
            <a:ext cx="2688908" cy="809816"/>
            <a:chOff x="0" y="0"/>
            <a:chExt cx="3585210" cy="1079754"/>
          </a:xfrm>
        </p:grpSpPr>
        <p:sp>
          <p:nvSpPr>
            <p:cNvPr name="Freeform 98" id="98"/>
            <p:cNvSpPr/>
            <p:nvPr/>
          </p:nvSpPr>
          <p:spPr>
            <a:xfrm flipH="false" flipV="false" rot="0">
              <a:off x="0" y="0"/>
              <a:ext cx="3585210" cy="1079754"/>
            </a:xfrm>
            <a:custGeom>
              <a:avLst/>
              <a:gdLst/>
              <a:ahLst/>
              <a:cxnLst/>
              <a:rect r="r" b="b" t="t" l="l"/>
              <a:pathLst>
                <a:path h="1079754" w="3585210">
                  <a:moveTo>
                    <a:pt x="0" y="111760"/>
                  </a:moveTo>
                  <a:cubicBezTo>
                    <a:pt x="0" y="50038"/>
                    <a:pt x="50038" y="0"/>
                    <a:pt x="111760" y="0"/>
                  </a:cubicBezTo>
                  <a:lnTo>
                    <a:pt x="3473450" y="0"/>
                  </a:lnTo>
                  <a:cubicBezTo>
                    <a:pt x="3535172" y="0"/>
                    <a:pt x="3585210" y="50038"/>
                    <a:pt x="3585210" y="111760"/>
                  </a:cubicBezTo>
                  <a:lnTo>
                    <a:pt x="3585210" y="967994"/>
                  </a:lnTo>
                  <a:cubicBezTo>
                    <a:pt x="3585210" y="1029716"/>
                    <a:pt x="3535172" y="1079754"/>
                    <a:pt x="3473450" y="1079754"/>
                  </a:cubicBezTo>
                  <a:lnTo>
                    <a:pt x="111760" y="1079754"/>
                  </a:lnTo>
                  <a:cubicBezTo>
                    <a:pt x="50038" y="1079754"/>
                    <a:pt x="0" y="1029716"/>
                    <a:pt x="0" y="967994"/>
                  </a:cubicBezTo>
                  <a:close/>
                </a:path>
              </a:pathLst>
            </a:custGeom>
            <a:solidFill>
              <a:srgbClr val="FFFFFF"/>
            </a:solidFill>
            <a:ln w="14288" cap="sq">
              <a:solidFill>
                <a:srgbClr val="C9D6D8"/>
              </a:solidFill>
              <a:prstDash val="solid"/>
              <a:miter/>
            </a:ln>
          </p:spPr>
        </p:sp>
      </p:grpSp>
      <p:grpSp>
        <p:nvGrpSpPr>
          <p:cNvPr name="Group 99" id="99"/>
          <p:cNvGrpSpPr/>
          <p:nvPr/>
        </p:nvGrpSpPr>
        <p:grpSpPr>
          <a:xfrm rot="0">
            <a:off x="11178540" y="3909060"/>
            <a:ext cx="2537460" cy="795528"/>
            <a:chOff x="0" y="0"/>
            <a:chExt cx="3383280" cy="1060704"/>
          </a:xfrm>
        </p:grpSpPr>
        <p:sp>
          <p:nvSpPr>
            <p:cNvPr name="Freeform 100" id="100"/>
            <p:cNvSpPr/>
            <p:nvPr/>
          </p:nvSpPr>
          <p:spPr>
            <a:xfrm flipH="false" flipV="false" rot="0">
              <a:off x="0" y="0"/>
              <a:ext cx="3383280" cy="1060704"/>
            </a:xfrm>
            <a:custGeom>
              <a:avLst/>
              <a:gdLst/>
              <a:ahLst/>
              <a:cxnLst/>
              <a:rect r="r" b="b" t="t" l="l"/>
              <a:pathLst>
                <a:path h="1060704" w="3383280">
                  <a:moveTo>
                    <a:pt x="0" y="0"/>
                  </a:moveTo>
                  <a:lnTo>
                    <a:pt x="3383280" y="0"/>
                  </a:lnTo>
                  <a:lnTo>
                    <a:pt x="3383280" y="1060704"/>
                  </a:lnTo>
                  <a:lnTo>
                    <a:pt x="0" y="1060704"/>
                  </a:lnTo>
                  <a:close/>
                </a:path>
              </a:pathLst>
            </a:custGeom>
            <a:blipFill>
              <a:blip r:embed="rId3">
                <a:alphaModFix amt="0"/>
              </a:blip>
              <a:stretch>
                <a:fillRect l="0" t="-12150" r="0" b="-12150"/>
              </a:stretch>
            </a:blipFill>
          </p:spPr>
        </p:sp>
        <p:sp>
          <p:nvSpPr>
            <p:cNvPr name="TextBox 101" id="101"/>
            <p:cNvSpPr txBox="true"/>
            <p:nvPr/>
          </p:nvSpPr>
          <p:spPr>
            <a:xfrm>
              <a:off x="0" y="-38100"/>
              <a:ext cx="3383280" cy="1098804"/>
            </a:xfrm>
            <a:prstGeom prst="rect">
              <a:avLst/>
            </a:prstGeom>
          </p:spPr>
          <p:txBody>
            <a:bodyPr anchor="ctr" rtlCol="false" tIns="0" lIns="0" bIns="0" rIns="0"/>
            <a:lstStyle/>
            <a:p>
              <a:pPr algn="ctr">
                <a:lnSpc>
                  <a:spcPts val="2429"/>
                </a:lnSpc>
              </a:pPr>
              <a:r>
                <a:rPr lang="en-US" sz="2024">
                  <a:solidFill>
                    <a:srgbClr val="1B2B34"/>
                  </a:solidFill>
                  <a:latin typeface="Calibri"/>
                  <a:ea typeface="Calibri"/>
                  <a:cs typeface="Calibri"/>
                  <a:sym typeface="Calibri"/>
                </a:rPr>
                <a:t>Alert policy</a:t>
              </a:r>
            </a:p>
          </p:txBody>
        </p:sp>
      </p:grpSp>
      <p:grpSp>
        <p:nvGrpSpPr>
          <p:cNvPr name="Group 102" id="102"/>
          <p:cNvGrpSpPr/>
          <p:nvPr/>
        </p:nvGrpSpPr>
        <p:grpSpPr>
          <a:xfrm rot="0">
            <a:off x="11102816" y="4862036"/>
            <a:ext cx="2688908" cy="809816"/>
            <a:chOff x="0" y="0"/>
            <a:chExt cx="3585210" cy="1079754"/>
          </a:xfrm>
        </p:grpSpPr>
        <p:sp>
          <p:nvSpPr>
            <p:cNvPr name="Freeform 103" id="103"/>
            <p:cNvSpPr/>
            <p:nvPr/>
          </p:nvSpPr>
          <p:spPr>
            <a:xfrm flipH="false" flipV="false" rot="0">
              <a:off x="0" y="0"/>
              <a:ext cx="3585210" cy="1079754"/>
            </a:xfrm>
            <a:custGeom>
              <a:avLst/>
              <a:gdLst/>
              <a:ahLst/>
              <a:cxnLst/>
              <a:rect r="r" b="b" t="t" l="l"/>
              <a:pathLst>
                <a:path h="1079754" w="3585210">
                  <a:moveTo>
                    <a:pt x="0" y="111760"/>
                  </a:moveTo>
                  <a:cubicBezTo>
                    <a:pt x="0" y="50038"/>
                    <a:pt x="50038" y="0"/>
                    <a:pt x="111760" y="0"/>
                  </a:cubicBezTo>
                  <a:lnTo>
                    <a:pt x="3473450" y="0"/>
                  </a:lnTo>
                  <a:cubicBezTo>
                    <a:pt x="3535172" y="0"/>
                    <a:pt x="3585210" y="50038"/>
                    <a:pt x="3585210" y="111760"/>
                  </a:cubicBezTo>
                  <a:lnTo>
                    <a:pt x="3585210" y="967994"/>
                  </a:lnTo>
                  <a:cubicBezTo>
                    <a:pt x="3585210" y="1029716"/>
                    <a:pt x="3535172" y="1079754"/>
                    <a:pt x="3473450" y="1079754"/>
                  </a:cubicBezTo>
                  <a:lnTo>
                    <a:pt x="111760" y="1079754"/>
                  </a:lnTo>
                  <a:cubicBezTo>
                    <a:pt x="50038" y="1079754"/>
                    <a:pt x="0" y="1029716"/>
                    <a:pt x="0" y="967994"/>
                  </a:cubicBezTo>
                  <a:close/>
                </a:path>
              </a:pathLst>
            </a:custGeom>
            <a:solidFill>
              <a:srgbClr val="FFFFFF"/>
            </a:solidFill>
            <a:ln w="14288" cap="sq">
              <a:solidFill>
                <a:srgbClr val="C9D6D8"/>
              </a:solidFill>
              <a:prstDash val="solid"/>
              <a:miter/>
            </a:ln>
          </p:spPr>
        </p:sp>
      </p:grpSp>
      <p:grpSp>
        <p:nvGrpSpPr>
          <p:cNvPr name="Group 104" id="104"/>
          <p:cNvGrpSpPr/>
          <p:nvPr/>
        </p:nvGrpSpPr>
        <p:grpSpPr>
          <a:xfrm rot="0">
            <a:off x="11178540" y="4869180"/>
            <a:ext cx="2537460" cy="795528"/>
            <a:chOff x="0" y="0"/>
            <a:chExt cx="3383280" cy="1060704"/>
          </a:xfrm>
        </p:grpSpPr>
        <p:sp>
          <p:nvSpPr>
            <p:cNvPr name="Freeform 105" id="105"/>
            <p:cNvSpPr/>
            <p:nvPr/>
          </p:nvSpPr>
          <p:spPr>
            <a:xfrm flipH="false" flipV="false" rot="0">
              <a:off x="0" y="0"/>
              <a:ext cx="3383280" cy="1060704"/>
            </a:xfrm>
            <a:custGeom>
              <a:avLst/>
              <a:gdLst/>
              <a:ahLst/>
              <a:cxnLst/>
              <a:rect r="r" b="b" t="t" l="l"/>
              <a:pathLst>
                <a:path h="1060704" w="3383280">
                  <a:moveTo>
                    <a:pt x="0" y="0"/>
                  </a:moveTo>
                  <a:lnTo>
                    <a:pt x="3383280" y="0"/>
                  </a:lnTo>
                  <a:lnTo>
                    <a:pt x="3383280" y="1060704"/>
                  </a:lnTo>
                  <a:lnTo>
                    <a:pt x="0" y="1060704"/>
                  </a:lnTo>
                  <a:close/>
                </a:path>
              </a:pathLst>
            </a:custGeom>
            <a:blipFill>
              <a:blip r:embed="rId3">
                <a:alphaModFix amt="0"/>
              </a:blip>
              <a:stretch>
                <a:fillRect l="0" t="-12150" r="0" b="-12150"/>
              </a:stretch>
            </a:blipFill>
          </p:spPr>
        </p:sp>
        <p:sp>
          <p:nvSpPr>
            <p:cNvPr name="TextBox 106" id="106"/>
            <p:cNvSpPr txBox="true"/>
            <p:nvPr/>
          </p:nvSpPr>
          <p:spPr>
            <a:xfrm>
              <a:off x="0" y="-38100"/>
              <a:ext cx="3383280" cy="1098804"/>
            </a:xfrm>
            <a:prstGeom prst="rect">
              <a:avLst/>
            </a:prstGeom>
          </p:spPr>
          <p:txBody>
            <a:bodyPr anchor="ctr" rtlCol="false" tIns="0" lIns="0" bIns="0" rIns="0"/>
            <a:lstStyle/>
            <a:p>
              <a:pPr algn="ctr">
                <a:lnSpc>
                  <a:spcPts val="2429"/>
                </a:lnSpc>
              </a:pPr>
              <a:r>
                <a:rPr lang="en-US" sz="2024">
                  <a:solidFill>
                    <a:srgbClr val="1B2B34"/>
                  </a:solidFill>
                  <a:latin typeface="Calibri"/>
                  <a:ea typeface="Calibri"/>
                  <a:cs typeface="Calibri"/>
                  <a:sym typeface="Calibri"/>
                </a:rPr>
                <a:t>Slow clock (Bayes)</a:t>
              </a:r>
            </a:p>
          </p:txBody>
        </p:sp>
      </p:grpSp>
      <p:grpSp>
        <p:nvGrpSpPr>
          <p:cNvPr name="Group 107" id="107"/>
          <p:cNvGrpSpPr/>
          <p:nvPr/>
        </p:nvGrpSpPr>
        <p:grpSpPr>
          <a:xfrm rot="0">
            <a:off x="11102816" y="5822156"/>
            <a:ext cx="2688908" cy="809816"/>
            <a:chOff x="0" y="0"/>
            <a:chExt cx="3585210" cy="1079754"/>
          </a:xfrm>
        </p:grpSpPr>
        <p:sp>
          <p:nvSpPr>
            <p:cNvPr name="Freeform 108" id="108"/>
            <p:cNvSpPr/>
            <p:nvPr/>
          </p:nvSpPr>
          <p:spPr>
            <a:xfrm flipH="false" flipV="false" rot="0">
              <a:off x="0" y="0"/>
              <a:ext cx="3585210" cy="1079754"/>
            </a:xfrm>
            <a:custGeom>
              <a:avLst/>
              <a:gdLst/>
              <a:ahLst/>
              <a:cxnLst/>
              <a:rect r="r" b="b" t="t" l="l"/>
              <a:pathLst>
                <a:path h="1079754" w="3585210">
                  <a:moveTo>
                    <a:pt x="0" y="111760"/>
                  </a:moveTo>
                  <a:cubicBezTo>
                    <a:pt x="0" y="50038"/>
                    <a:pt x="50038" y="0"/>
                    <a:pt x="111760" y="0"/>
                  </a:cubicBezTo>
                  <a:lnTo>
                    <a:pt x="3473450" y="0"/>
                  </a:lnTo>
                  <a:cubicBezTo>
                    <a:pt x="3535172" y="0"/>
                    <a:pt x="3585210" y="50038"/>
                    <a:pt x="3585210" y="111760"/>
                  </a:cubicBezTo>
                  <a:lnTo>
                    <a:pt x="3585210" y="967994"/>
                  </a:lnTo>
                  <a:cubicBezTo>
                    <a:pt x="3585210" y="1029716"/>
                    <a:pt x="3535172" y="1079754"/>
                    <a:pt x="3473450" y="1079754"/>
                  </a:cubicBezTo>
                  <a:lnTo>
                    <a:pt x="111760" y="1079754"/>
                  </a:lnTo>
                  <a:cubicBezTo>
                    <a:pt x="50038" y="1079754"/>
                    <a:pt x="0" y="1029716"/>
                    <a:pt x="0" y="967994"/>
                  </a:cubicBezTo>
                  <a:close/>
                </a:path>
              </a:pathLst>
            </a:custGeom>
            <a:solidFill>
              <a:srgbClr val="FFFFFF"/>
            </a:solidFill>
            <a:ln w="14288" cap="sq">
              <a:solidFill>
                <a:srgbClr val="C9D6D8"/>
              </a:solidFill>
              <a:prstDash val="solid"/>
              <a:miter/>
            </a:ln>
          </p:spPr>
        </p:sp>
      </p:grpSp>
      <p:grpSp>
        <p:nvGrpSpPr>
          <p:cNvPr name="Group 109" id="109"/>
          <p:cNvGrpSpPr/>
          <p:nvPr/>
        </p:nvGrpSpPr>
        <p:grpSpPr>
          <a:xfrm rot="0">
            <a:off x="11178540" y="5829300"/>
            <a:ext cx="2537460" cy="795528"/>
            <a:chOff x="0" y="0"/>
            <a:chExt cx="3383280" cy="1060704"/>
          </a:xfrm>
        </p:grpSpPr>
        <p:sp>
          <p:nvSpPr>
            <p:cNvPr name="Freeform 110" id="110"/>
            <p:cNvSpPr/>
            <p:nvPr/>
          </p:nvSpPr>
          <p:spPr>
            <a:xfrm flipH="false" flipV="false" rot="0">
              <a:off x="0" y="0"/>
              <a:ext cx="3383280" cy="1060704"/>
            </a:xfrm>
            <a:custGeom>
              <a:avLst/>
              <a:gdLst/>
              <a:ahLst/>
              <a:cxnLst/>
              <a:rect r="r" b="b" t="t" l="l"/>
              <a:pathLst>
                <a:path h="1060704" w="3383280">
                  <a:moveTo>
                    <a:pt x="0" y="0"/>
                  </a:moveTo>
                  <a:lnTo>
                    <a:pt x="3383280" y="0"/>
                  </a:lnTo>
                  <a:lnTo>
                    <a:pt x="3383280" y="1060704"/>
                  </a:lnTo>
                  <a:lnTo>
                    <a:pt x="0" y="1060704"/>
                  </a:lnTo>
                  <a:close/>
                </a:path>
              </a:pathLst>
            </a:custGeom>
            <a:blipFill>
              <a:blip r:embed="rId3">
                <a:alphaModFix amt="0"/>
              </a:blip>
              <a:stretch>
                <a:fillRect l="0" t="-12150" r="0" b="-12150"/>
              </a:stretch>
            </a:blipFill>
          </p:spPr>
        </p:sp>
        <p:sp>
          <p:nvSpPr>
            <p:cNvPr name="TextBox 111" id="111"/>
            <p:cNvSpPr txBox="true"/>
            <p:nvPr/>
          </p:nvSpPr>
          <p:spPr>
            <a:xfrm>
              <a:off x="0" y="-38100"/>
              <a:ext cx="3383280" cy="1098804"/>
            </a:xfrm>
            <a:prstGeom prst="rect">
              <a:avLst/>
            </a:prstGeom>
          </p:spPr>
          <p:txBody>
            <a:bodyPr anchor="ctr" rtlCol="false" tIns="0" lIns="0" bIns="0" rIns="0"/>
            <a:lstStyle/>
            <a:p>
              <a:pPr algn="ctr">
                <a:lnSpc>
                  <a:spcPts val="2429"/>
                </a:lnSpc>
              </a:pPr>
              <a:r>
                <a:rPr lang="en-US" sz="2024">
                  <a:solidFill>
                    <a:srgbClr val="1B2B34"/>
                  </a:solidFill>
                  <a:latin typeface="Calibri"/>
                  <a:ea typeface="Calibri"/>
                  <a:cs typeface="Calibri"/>
                  <a:sym typeface="Calibri"/>
                </a:rPr>
                <a:t>What-if + guardrails</a:t>
              </a:r>
            </a:p>
          </p:txBody>
        </p:sp>
      </p:grpSp>
      <p:grpSp>
        <p:nvGrpSpPr>
          <p:cNvPr name="Group 112" id="112"/>
          <p:cNvGrpSpPr/>
          <p:nvPr/>
        </p:nvGrpSpPr>
        <p:grpSpPr>
          <a:xfrm rot="0">
            <a:off x="11102816" y="6782276"/>
            <a:ext cx="2688908" cy="809816"/>
            <a:chOff x="0" y="0"/>
            <a:chExt cx="3585210" cy="1079754"/>
          </a:xfrm>
        </p:grpSpPr>
        <p:sp>
          <p:nvSpPr>
            <p:cNvPr name="Freeform 113" id="113"/>
            <p:cNvSpPr/>
            <p:nvPr/>
          </p:nvSpPr>
          <p:spPr>
            <a:xfrm flipH="false" flipV="false" rot="0">
              <a:off x="0" y="0"/>
              <a:ext cx="3585210" cy="1079754"/>
            </a:xfrm>
            <a:custGeom>
              <a:avLst/>
              <a:gdLst/>
              <a:ahLst/>
              <a:cxnLst/>
              <a:rect r="r" b="b" t="t" l="l"/>
              <a:pathLst>
                <a:path h="1079754" w="3585210">
                  <a:moveTo>
                    <a:pt x="0" y="111760"/>
                  </a:moveTo>
                  <a:cubicBezTo>
                    <a:pt x="0" y="50038"/>
                    <a:pt x="50038" y="0"/>
                    <a:pt x="111760" y="0"/>
                  </a:cubicBezTo>
                  <a:lnTo>
                    <a:pt x="3473450" y="0"/>
                  </a:lnTo>
                  <a:cubicBezTo>
                    <a:pt x="3535172" y="0"/>
                    <a:pt x="3585210" y="50038"/>
                    <a:pt x="3585210" y="111760"/>
                  </a:cubicBezTo>
                  <a:lnTo>
                    <a:pt x="3585210" y="967994"/>
                  </a:lnTo>
                  <a:cubicBezTo>
                    <a:pt x="3585210" y="1029716"/>
                    <a:pt x="3535172" y="1079754"/>
                    <a:pt x="3473450" y="1079754"/>
                  </a:cubicBezTo>
                  <a:lnTo>
                    <a:pt x="111760" y="1079754"/>
                  </a:lnTo>
                  <a:cubicBezTo>
                    <a:pt x="50038" y="1079754"/>
                    <a:pt x="0" y="1029716"/>
                    <a:pt x="0" y="967994"/>
                  </a:cubicBezTo>
                  <a:close/>
                </a:path>
              </a:pathLst>
            </a:custGeom>
            <a:solidFill>
              <a:srgbClr val="FFFFFF"/>
            </a:solidFill>
            <a:ln w="14288" cap="sq">
              <a:solidFill>
                <a:srgbClr val="C9D6D8"/>
              </a:solidFill>
              <a:prstDash val="solid"/>
              <a:miter/>
            </a:ln>
          </p:spPr>
        </p:sp>
      </p:grpSp>
      <p:grpSp>
        <p:nvGrpSpPr>
          <p:cNvPr name="Group 114" id="114"/>
          <p:cNvGrpSpPr/>
          <p:nvPr/>
        </p:nvGrpSpPr>
        <p:grpSpPr>
          <a:xfrm rot="0">
            <a:off x="11178540" y="6789420"/>
            <a:ext cx="2537460" cy="795528"/>
            <a:chOff x="0" y="0"/>
            <a:chExt cx="3383280" cy="1060704"/>
          </a:xfrm>
        </p:grpSpPr>
        <p:sp>
          <p:nvSpPr>
            <p:cNvPr name="Freeform 115" id="115"/>
            <p:cNvSpPr/>
            <p:nvPr/>
          </p:nvSpPr>
          <p:spPr>
            <a:xfrm flipH="false" flipV="false" rot="0">
              <a:off x="0" y="0"/>
              <a:ext cx="3383280" cy="1060704"/>
            </a:xfrm>
            <a:custGeom>
              <a:avLst/>
              <a:gdLst/>
              <a:ahLst/>
              <a:cxnLst/>
              <a:rect r="r" b="b" t="t" l="l"/>
              <a:pathLst>
                <a:path h="1060704" w="3383280">
                  <a:moveTo>
                    <a:pt x="0" y="0"/>
                  </a:moveTo>
                  <a:lnTo>
                    <a:pt x="3383280" y="0"/>
                  </a:lnTo>
                  <a:lnTo>
                    <a:pt x="3383280" y="1060704"/>
                  </a:lnTo>
                  <a:lnTo>
                    <a:pt x="0" y="1060704"/>
                  </a:lnTo>
                  <a:close/>
                </a:path>
              </a:pathLst>
            </a:custGeom>
            <a:blipFill>
              <a:blip r:embed="rId3">
                <a:alphaModFix amt="0"/>
              </a:blip>
              <a:stretch>
                <a:fillRect l="0" t="-12150" r="0" b="-12150"/>
              </a:stretch>
            </a:blipFill>
          </p:spPr>
        </p:sp>
        <p:sp>
          <p:nvSpPr>
            <p:cNvPr name="TextBox 116" id="116"/>
            <p:cNvSpPr txBox="true"/>
            <p:nvPr/>
          </p:nvSpPr>
          <p:spPr>
            <a:xfrm>
              <a:off x="0" y="-38100"/>
              <a:ext cx="3383280" cy="1098804"/>
            </a:xfrm>
            <a:prstGeom prst="rect">
              <a:avLst/>
            </a:prstGeom>
          </p:spPr>
          <p:txBody>
            <a:bodyPr anchor="ctr" rtlCol="false" tIns="0" lIns="0" bIns="0" rIns="0"/>
            <a:lstStyle/>
            <a:p>
              <a:pPr algn="ctr">
                <a:lnSpc>
                  <a:spcPts val="2429"/>
                </a:lnSpc>
              </a:pPr>
              <a:r>
                <a:rPr lang="en-US" sz="2024">
                  <a:solidFill>
                    <a:srgbClr val="1B2B34"/>
                  </a:solidFill>
                  <a:latin typeface="Calibri"/>
                  <a:ea typeface="Calibri"/>
                  <a:cs typeface="Calibri"/>
                  <a:sym typeface="Calibri"/>
                </a:rPr>
                <a:t>Red flags first</a:t>
              </a:r>
            </a:p>
          </p:txBody>
        </p:sp>
      </p:grpSp>
      <p:grpSp>
        <p:nvGrpSpPr>
          <p:cNvPr name="Group 117" id="117"/>
          <p:cNvGrpSpPr/>
          <p:nvPr/>
        </p:nvGrpSpPr>
        <p:grpSpPr>
          <a:xfrm rot="0">
            <a:off x="14255115" y="1910715"/>
            <a:ext cx="3105150" cy="6808470"/>
            <a:chOff x="0" y="0"/>
            <a:chExt cx="4140200" cy="9077960"/>
          </a:xfrm>
        </p:grpSpPr>
        <p:sp>
          <p:nvSpPr>
            <p:cNvPr name="Freeform 118" id="118"/>
            <p:cNvSpPr/>
            <p:nvPr/>
          </p:nvSpPr>
          <p:spPr>
            <a:xfrm flipH="false" flipV="false" rot="0">
              <a:off x="0" y="0"/>
              <a:ext cx="4140200" cy="9077961"/>
            </a:xfrm>
            <a:custGeom>
              <a:avLst/>
              <a:gdLst/>
              <a:ahLst/>
              <a:cxnLst/>
              <a:rect r="r" b="b" t="t" l="l"/>
              <a:pathLst>
                <a:path h="9077961" w="4140200">
                  <a:moveTo>
                    <a:pt x="0" y="147193"/>
                  </a:moveTo>
                  <a:cubicBezTo>
                    <a:pt x="0" y="65913"/>
                    <a:pt x="65913" y="0"/>
                    <a:pt x="147193" y="0"/>
                  </a:cubicBezTo>
                  <a:lnTo>
                    <a:pt x="3993007" y="0"/>
                  </a:lnTo>
                  <a:cubicBezTo>
                    <a:pt x="4074287" y="0"/>
                    <a:pt x="4140200" y="65913"/>
                    <a:pt x="4140200" y="147193"/>
                  </a:cubicBezTo>
                  <a:lnTo>
                    <a:pt x="4140200" y="8930767"/>
                  </a:lnTo>
                  <a:cubicBezTo>
                    <a:pt x="4140200" y="9012048"/>
                    <a:pt x="4074287" y="9077961"/>
                    <a:pt x="3993007" y="9077961"/>
                  </a:cubicBezTo>
                  <a:lnTo>
                    <a:pt x="147193" y="9077961"/>
                  </a:lnTo>
                  <a:cubicBezTo>
                    <a:pt x="65913" y="9077960"/>
                    <a:pt x="0" y="9012047"/>
                    <a:pt x="0" y="8930767"/>
                  </a:cubicBezTo>
                  <a:close/>
                </a:path>
              </a:pathLst>
            </a:custGeom>
            <a:solidFill>
              <a:srgbClr val="EEF5F5"/>
            </a:solidFill>
            <a:ln w="19050" cap="sq">
              <a:solidFill>
                <a:srgbClr val="EEF5F5"/>
              </a:solidFill>
              <a:prstDash val="solid"/>
              <a:miter/>
            </a:ln>
          </p:spPr>
        </p:sp>
      </p:grpSp>
      <p:sp>
        <p:nvSpPr>
          <p:cNvPr name="TextBox 119" id="119"/>
          <p:cNvSpPr txBox="true"/>
          <p:nvPr/>
        </p:nvSpPr>
        <p:spPr>
          <a:xfrm rot="0">
            <a:off x="14470380" y="2078355"/>
            <a:ext cx="2674620" cy="428625"/>
          </a:xfrm>
          <a:prstGeom prst="rect">
            <a:avLst/>
          </a:prstGeom>
        </p:spPr>
        <p:txBody>
          <a:bodyPr anchor="t" rtlCol="false" tIns="0" lIns="0" bIns="0" rIns="0">
            <a:spAutoFit/>
          </a:bodyPr>
          <a:lstStyle/>
          <a:p>
            <a:pPr algn="ctr">
              <a:lnSpc>
                <a:spcPts val="3059"/>
              </a:lnSpc>
            </a:pPr>
            <a:r>
              <a:rPr lang="en-US" sz="2549" b="1">
                <a:solidFill>
                  <a:srgbClr val="0B4F5C"/>
                </a:solidFill>
                <a:latin typeface="Calibri"/>
                <a:ea typeface="Calibri"/>
                <a:cs typeface="Calibri"/>
                <a:sym typeface="Calibri"/>
              </a:rPr>
              <a:t>Apps &amp; exports</a:t>
            </a:r>
          </a:p>
        </p:txBody>
      </p:sp>
      <p:grpSp>
        <p:nvGrpSpPr>
          <p:cNvPr name="Group 120" id="120"/>
          <p:cNvGrpSpPr/>
          <p:nvPr/>
        </p:nvGrpSpPr>
        <p:grpSpPr>
          <a:xfrm rot="0">
            <a:off x="14463236" y="2941796"/>
            <a:ext cx="2688908" cy="809816"/>
            <a:chOff x="0" y="0"/>
            <a:chExt cx="3585210" cy="1079754"/>
          </a:xfrm>
        </p:grpSpPr>
        <p:sp>
          <p:nvSpPr>
            <p:cNvPr name="Freeform 121" id="121"/>
            <p:cNvSpPr/>
            <p:nvPr/>
          </p:nvSpPr>
          <p:spPr>
            <a:xfrm flipH="false" flipV="false" rot="0">
              <a:off x="0" y="0"/>
              <a:ext cx="3585210" cy="1079754"/>
            </a:xfrm>
            <a:custGeom>
              <a:avLst/>
              <a:gdLst/>
              <a:ahLst/>
              <a:cxnLst/>
              <a:rect r="r" b="b" t="t" l="l"/>
              <a:pathLst>
                <a:path h="1079754" w="3585210">
                  <a:moveTo>
                    <a:pt x="0" y="111760"/>
                  </a:moveTo>
                  <a:cubicBezTo>
                    <a:pt x="0" y="50038"/>
                    <a:pt x="50038" y="0"/>
                    <a:pt x="111760" y="0"/>
                  </a:cubicBezTo>
                  <a:lnTo>
                    <a:pt x="3473450" y="0"/>
                  </a:lnTo>
                  <a:cubicBezTo>
                    <a:pt x="3535172" y="0"/>
                    <a:pt x="3585210" y="50038"/>
                    <a:pt x="3585210" y="111760"/>
                  </a:cubicBezTo>
                  <a:lnTo>
                    <a:pt x="3585210" y="967994"/>
                  </a:lnTo>
                  <a:cubicBezTo>
                    <a:pt x="3585210" y="1029716"/>
                    <a:pt x="3535172" y="1079754"/>
                    <a:pt x="3473450" y="1079754"/>
                  </a:cubicBezTo>
                  <a:lnTo>
                    <a:pt x="111760" y="1079754"/>
                  </a:lnTo>
                  <a:cubicBezTo>
                    <a:pt x="50038" y="1079754"/>
                    <a:pt x="0" y="1029716"/>
                    <a:pt x="0" y="967994"/>
                  </a:cubicBezTo>
                  <a:close/>
                </a:path>
              </a:pathLst>
            </a:custGeom>
            <a:solidFill>
              <a:srgbClr val="FFFFFF"/>
            </a:solidFill>
            <a:ln w="14288" cap="sq">
              <a:solidFill>
                <a:srgbClr val="C9D6D8"/>
              </a:solidFill>
              <a:prstDash val="solid"/>
              <a:miter/>
            </a:ln>
          </p:spPr>
        </p:sp>
      </p:grpSp>
      <p:grpSp>
        <p:nvGrpSpPr>
          <p:cNvPr name="Group 122" id="122"/>
          <p:cNvGrpSpPr/>
          <p:nvPr/>
        </p:nvGrpSpPr>
        <p:grpSpPr>
          <a:xfrm rot="0">
            <a:off x="14538960" y="2948940"/>
            <a:ext cx="2537460" cy="795528"/>
            <a:chOff x="0" y="0"/>
            <a:chExt cx="3383280" cy="1060704"/>
          </a:xfrm>
        </p:grpSpPr>
        <p:sp>
          <p:nvSpPr>
            <p:cNvPr name="Freeform 123" id="123"/>
            <p:cNvSpPr/>
            <p:nvPr/>
          </p:nvSpPr>
          <p:spPr>
            <a:xfrm flipH="false" flipV="false" rot="0">
              <a:off x="0" y="0"/>
              <a:ext cx="3383280" cy="1060704"/>
            </a:xfrm>
            <a:custGeom>
              <a:avLst/>
              <a:gdLst/>
              <a:ahLst/>
              <a:cxnLst/>
              <a:rect r="r" b="b" t="t" l="l"/>
              <a:pathLst>
                <a:path h="1060704" w="3383280">
                  <a:moveTo>
                    <a:pt x="0" y="0"/>
                  </a:moveTo>
                  <a:lnTo>
                    <a:pt x="3383280" y="0"/>
                  </a:lnTo>
                  <a:lnTo>
                    <a:pt x="3383280" y="1060704"/>
                  </a:lnTo>
                  <a:lnTo>
                    <a:pt x="0" y="1060704"/>
                  </a:lnTo>
                  <a:close/>
                </a:path>
              </a:pathLst>
            </a:custGeom>
            <a:blipFill>
              <a:blip r:embed="rId3">
                <a:alphaModFix amt="0"/>
              </a:blip>
              <a:stretch>
                <a:fillRect l="0" t="-12150" r="0" b="-12150"/>
              </a:stretch>
            </a:blipFill>
          </p:spPr>
        </p:sp>
        <p:sp>
          <p:nvSpPr>
            <p:cNvPr name="TextBox 124" id="124"/>
            <p:cNvSpPr txBox="true"/>
            <p:nvPr/>
          </p:nvSpPr>
          <p:spPr>
            <a:xfrm>
              <a:off x="0" y="-38100"/>
              <a:ext cx="3383280" cy="1098804"/>
            </a:xfrm>
            <a:prstGeom prst="rect">
              <a:avLst/>
            </a:prstGeom>
          </p:spPr>
          <p:txBody>
            <a:bodyPr anchor="ctr" rtlCol="false" tIns="0" lIns="0" bIns="0" rIns="0"/>
            <a:lstStyle/>
            <a:p>
              <a:pPr algn="ctr">
                <a:lnSpc>
                  <a:spcPts val="2429"/>
                </a:lnSpc>
              </a:pPr>
              <a:r>
                <a:rPr lang="en-US" sz="2024">
                  <a:solidFill>
                    <a:srgbClr val="1B2B34"/>
                  </a:solidFill>
                  <a:latin typeface="Calibri"/>
                  <a:ea typeface="Calibri"/>
                  <a:cs typeface="Calibri"/>
                  <a:sym typeface="Calibri"/>
                </a:rPr>
                <a:t>Doctor / Patient</a:t>
              </a:r>
            </a:p>
          </p:txBody>
        </p:sp>
      </p:grpSp>
      <p:grpSp>
        <p:nvGrpSpPr>
          <p:cNvPr name="Group 125" id="125"/>
          <p:cNvGrpSpPr/>
          <p:nvPr/>
        </p:nvGrpSpPr>
        <p:grpSpPr>
          <a:xfrm rot="0">
            <a:off x="14463236" y="3901916"/>
            <a:ext cx="2688908" cy="809816"/>
            <a:chOff x="0" y="0"/>
            <a:chExt cx="3585210" cy="1079754"/>
          </a:xfrm>
        </p:grpSpPr>
        <p:sp>
          <p:nvSpPr>
            <p:cNvPr name="Freeform 126" id="126"/>
            <p:cNvSpPr/>
            <p:nvPr/>
          </p:nvSpPr>
          <p:spPr>
            <a:xfrm flipH="false" flipV="false" rot="0">
              <a:off x="0" y="0"/>
              <a:ext cx="3585210" cy="1079754"/>
            </a:xfrm>
            <a:custGeom>
              <a:avLst/>
              <a:gdLst/>
              <a:ahLst/>
              <a:cxnLst/>
              <a:rect r="r" b="b" t="t" l="l"/>
              <a:pathLst>
                <a:path h="1079754" w="3585210">
                  <a:moveTo>
                    <a:pt x="0" y="111760"/>
                  </a:moveTo>
                  <a:cubicBezTo>
                    <a:pt x="0" y="50038"/>
                    <a:pt x="50038" y="0"/>
                    <a:pt x="111760" y="0"/>
                  </a:cubicBezTo>
                  <a:lnTo>
                    <a:pt x="3473450" y="0"/>
                  </a:lnTo>
                  <a:cubicBezTo>
                    <a:pt x="3535172" y="0"/>
                    <a:pt x="3585210" y="50038"/>
                    <a:pt x="3585210" y="111760"/>
                  </a:cubicBezTo>
                  <a:lnTo>
                    <a:pt x="3585210" y="967994"/>
                  </a:lnTo>
                  <a:cubicBezTo>
                    <a:pt x="3585210" y="1029716"/>
                    <a:pt x="3535172" y="1079754"/>
                    <a:pt x="3473450" y="1079754"/>
                  </a:cubicBezTo>
                  <a:lnTo>
                    <a:pt x="111760" y="1079754"/>
                  </a:lnTo>
                  <a:cubicBezTo>
                    <a:pt x="50038" y="1079754"/>
                    <a:pt x="0" y="1029716"/>
                    <a:pt x="0" y="967994"/>
                  </a:cubicBezTo>
                  <a:close/>
                </a:path>
              </a:pathLst>
            </a:custGeom>
            <a:solidFill>
              <a:srgbClr val="FFFFFF"/>
            </a:solidFill>
            <a:ln w="14288" cap="sq">
              <a:solidFill>
                <a:srgbClr val="C9D6D8"/>
              </a:solidFill>
              <a:prstDash val="solid"/>
              <a:miter/>
            </a:ln>
          </p:spPr>
        </p:sp>
      </p:grpSp>
      <p:grpSp>
        <p:nvGrpSpPr>
          <p:cNvPr name="Group 127" id="127"/>
          <p:cNvGrpSpPr/>
          <p:nvPr/>
        </p:nvGrpSpPr>
        <p:grpSpPr>
          <a:xfrm rot="0">
            <a:off x="14538960" y="3909060"/>
            <a:ext cx="2537460" cy="795528"/>
            <a:chOff x="0" y="0"/>
            <a:chExt cx="3383280" cy="1060704"/>
          </a:xfrm>
        </p:grpSpPr>
        <p:sp>
          <p:nvSpPr>
            <p:cNvPr name="Freeform 128" id="128"/>
            <p:cNvSpPr/>
            <p:nvPr/>
          </p:nvSpPr>
          <p:spPr>
            <a:xfrm flipH="false" flipV="false" rot="0">
              <a:off x="0" y="0"/>
              <a:ext cx="3383280" cy="1060704"/>
            </a:xfrm>
            <a:custGeom>
              <a:avLst/>
              <a:gdLst/>
              <a:ahLst/>
              <a:cxnLst/>
              <a:rect r="r" b="b" t="t" l="l"/>
              <a:pathLst>
                <a:path h="1060704" w="3383280">
                  <a:moveTo>
                    <a:pt x="0" y="0"/>
                  </a:moveTo>
                  <a:lnTo>
                    <a:pt x="3383280" y="0"/>
                  </a:lnTo>
                  <a:lnTo>
                    <a:pt x="3383280" y="1060704"/>
                  </a:lnTo>
                  <a:lnTo>
                    <a:pt x="0" y="1060704"/>
                  </a:lnTo>
                  <a:close/>
                </a:path>
              </a:pathLst>
            </a:custGeom>
            <a:blipFill>
              <a:blip r:embed="rId3">
                <a:alphaModFix amt="0"/>
              </a:blip>
              <a:stretch>
                <a:fillRect l="0" t="-12150" r="0" b="-12150"/>
              </a:stretch>
            </a:blipFill>
          </p:spPr>
        </p:sp>
        <p:sp>
          <p:nvSpPr>
            <p:cNvPr name="TextBox 129" id="129"/>
            <p:cNvSpPr txBox="true"/>
            <p:nvPr/>
          </p:nvSpPr>
          <p:spPr>
            <a:xfrm>
              <a:off x="0" y="-38100"/>
              <a:ext cx="3383280" cy="1098804"/>
            </a:xfrm>
            <a:prstGeom prst="rect">
              <a:avLst/>
            </a:prstGeom>
          </p:spPr>
          <p:txBody>
            <a:bodyPr anchor="ctr" rtlCol="false" tIns="0" lIns="0" bIns="0" rIns="0"/>
            <a:lstStyle/>
            <a:p>
              <a:pPr algn="ctr">
                <a:lnSpc>
                  <a:spcPts val="2429"/>
                </a:lnSpc>
              </a:pPr>
              <a:r>
                <a:rPr lang="en-US" sz="2024">
                  <a:solidFill>
                    <a:srgbClr val="1B2B34"/>
                  </a:solidFill>
                  <a:latin typeface="Calibri"/>
                  <a:ea typeface="Calibri"/>
                  <a:cs typeface="Calibri"/>
                  <a:sym typeface="Calibri"/>
                </a:rPr>
                <a:t>ASHA / Lab</a:t>
              </a:r>
            </a:p>
          </p:txBody>
        </p:sp>
      </p:grpSp>
      <p:grpSp>
        <p:nvGrpSpPr>
          <p:cNvPr name="Group 130" id="130"/>
          <p:cNvGrpSpPr/>
          <p:nvPr/>
        </p:nvGrpSpPr>
        <p:grpSpPr>
          <a:xfrm rot="0">
            <a:off x="14463236" y="4862036"/>
            <a:ext cx="2688908" cy="809816"/>
            <a:chOff x="0" y="0"/>
            <a:chExt cx="3585210" cy="1079754"/>
          </a:xfrm>
        </p:grpSpPr>
        <p:sp>
          <p:nvSpPr>
            <p:cNvPr name="Freeform 131" id="131"/>
            <p:cNvSpPr/>
            <p:nvPr/>
          </p:nvSpPr>
          <p:spPr>
            <a:xfrm flipH="false" flipV="false" rot="0">
              <a:off x="0" y="0"/>
              <a:ext cx="3585210" cy="1079754"/>
            </a:xfrm>
            <a:custGeom>
              <a:avLst/>
              <a:gdLst/>
              <a:ahLst/>
              <a:cxnLst/>
              <a:rect r="r" b="b" t="t" l="l"/>
              <a:pathLst>
                <a:path h="1079754" w="3585210">
                  <a:moveTo>
                    <a:pt x="0" y="111760"/>
                  </a:moveTo>
                  <a:cubicBezTo>
                    <a:pt x="0" y="50038"/>
                    <a:pt x="50038" y="0"/>
                    <a:pt x="111760" y="0"/>
                  </a:cubicBezTo>
                  <a:lnTo>
                    <a:pt x="3473450" y="0"/>
                  </a:lnTo>
                  <a:cubicBezTo>
                    <a:pt x="3535172" y="0"/>
                    <a:pt x="3585210" y="50038"/>
                    <a:pt x="3585210" y="111760"/>
                  </a:cubicBezTo>
                  <a:lnTo>
                    <a:pt x="3585210" y="967994"/>
                  </a:lnTo>
                  <a:cubicBezTo>
                    <a:pt x="3585210" y="1029716"/>
                    <a:pt x="3535172" y="1079754"/>
                    <a:pt x="3473450" y="1079754"/>
                  </a:cubicBezTo>
                  <a:lnTo>
                    <a:pt x="111760" y="1079754"/>
                  </a:lnTo>
                  <a:cubicBezTo>
                    <a:pt x="50038" y="1079754"/>
                    <a:pt x="0" y="1029716"/>
                    <a:pt x="0" y="967994"/>
                  </a:cubicBezTo>
                  <a:close/>
                </a:path>
              </a:pathLst>
            </a:custGeom>
            <a:solidFill>
              <a:srgbClr val="FFFFFF"/>
            </a:solidFill>
            <a:ln w="14288" cap="sq">
              <a:solidFill>
                <a:srgbClr val="C9D6D8"/>
              </a:solidFill>
              <a:prstDash val="solid"/>
              <a:miter/>
            </a:ln>
          </p:spPr>
        </p:sp>
      </p:grpSp>
      <p:grpSp>
        <p:nvGrpSpPr>
          <p:cNvPr name="Group 132" id="132"/>
          <p:cNvGrpSpPr/>
          <p:nvPr/>
        </p:nvGrpSpPr>
        <p:grpSpPr>
          <a:xfrm rot="0">
            <a:off x="14538960" y="4869180"/>
            <a:ext cx="2537460" cy="795528"/>
            <a:chOff x="0" y="0"/>
            <a:chExt cx="3383280" cy="1060704"/>
          </a:xfrm>
        </p:grpSpPr>
        <p:sp>
          <p:nvSpPr>
            <p:cNvPr name="Freeform 133" id="133"/>
            <p:cNvSpPr/>
            <p:nvPr/>
          </p:nvSpPr>
          <p:spPr>
            <a:xfrm flipH="false" flipV="false" rot="0">
              <a:off x="0" y="0"/>
              <a:ext cx="3383280" cy="1060704"/>
            </a:xfrm>
            <a:custGeom>
              <a:avLst/>
              <a:gdLst/>
              <a:ahLst/>
              <a:cxnLst/>
              <a:rect r="r" b="b" t="t" l="l"/>
              <a:pathLst>
                <a:path h="1060704" w="3383280">
                  <a:moveTo>
                    <a:pt x="0" y="0"/>
                  </a:moveTo>
                  <a:lnTo>
                    <a:pt x="3383280" y="0"/>
                  </a:lnTo>
                  <a:lnTo>
                    <a:pt x="3383280" y="1060704"/>
                  </a:lnTo>
                  <a:lnTo>
                    <a:pt x="0" y="1060704"/>
                  </a:lnTo>
                  <a:close/>
                </a:path>
              </a:pathLst>
            </a:custGeom>
            <a:blipFill>
              <a:blip r:embed="rId3">
                <a:alphaModFix amt="0"/>
              </a:blip>
              <a:stretch>
                <a:fillRect l="0" t="-12150" r="0" b="-12150"/>
              </a:stretch>
            </a:blipFill>
          </p:spPr>
        </p:sp>
        <p:sp>
          <p:nvSpPr>
            <p:cNvPr name="TextBox 134" id="134"/>
            <p:cNvSpPr txBox="true"/>
            <p:nvPr/>
          </p:nvSpPr>
          <p:spPr>
            <a:xfrm>
              <a:off x="0" y="-38100"/>
              <a:ext cx="3383280" cy="1098804"/>
            </a:xfrm>
            <a:prstGeom prst="rect">
              <a:avLst/>
            </a:prstGeom>
          </p:spPr>
          <p:txBody>
            <a:bodyPr anchor="ctr" rtlCol="false" tIns="0" lIns="0" bIns="0" rIns="0"/>
            <a:lstStyle/>
            <a:p>
              <a:pPr algn="ctr">
                <a:lnSpc>
                  <a:spcPts val="2429"/>
                </a:lnSpc>
              </a:pPr>
              <a:r>
                <a:rPr lang="en-US" sz="2024">
                  <a:solidFill>
                    <a:srgbClr val="1B2B34"/>
                  </a:solidFill>
                  <a:latin typeface="Calibri"/>
                  <a:ea typeface="Calibri"/>
                  <a:cs typeface="Calibri"/>
                  <a:sym typeface="Calibri"/>
                </a:rPr>
                <a:t>Trust Center</a:t>
              </a:r>
            </a:p>
          </p:txBody>
        </p:sp>
      </p:grpSp>
      <p:grpSp>
        <p:nvGrpSpPr>
          <p:cNvPr name="Group 135" id="135"/>
          <p:cNvGrpSpPr/>
          <p:nvPr/>
        </p:nvGrpSpPr>
        <p:grpSpPr>
          <a:xfrm rot="0">
            <a:off x="14463236" y="5822156"/>
            <a:ext cx="2688908" cy="809816"/>
            <a:chOff x="0" y="0"/>
            <a:chExt cx="3585210" cy="1079754"/>
          </a:xfrm>
        </p:grpSpPr>
        <p:sp>
          <p:nvSpPr>
            <p:cNvPr name="Freeform 136" id="136"/>
            <p:cNvSpPr/>
            <p:nvPr/>
          </p:nvSpPr>
          <p:spPr>
            <a:xfrm flipH="false" flipV="false" rot="0">
              <a:off x="0" y="0"/>
              <a:ext cx="3585210" cy="1079754"/>
            </a:xfrm>
            <a:custGeom>
              <a:avLst/>
              <a:gdLst/>
              <a:ahLst/>
              <a:cxnLst/>
              <a:rect r="r" b="b" t="t" l="l"/>
              <a:pathLst>
                <a:path h="1079754" w="3585210">
                  <a:moveTo>
                    <a:pt x="0" y="111760"/>
                  </a:moveTo>
                  <a:cubicBezTo>
                    <a:pt x="0" y="50038"/>
                    <a:pt x="50038" y="0"/>
                    <a:pt x="111760" y="0"/>
                  </a:cubicBezTo>
                  <a:lnTo>
                    <a:pt x="3473450" y="0"/>
                  </a:lnTo>
                  <a:cubicBezTo>
                    <a:pt x="3535172" y="0"/>
                    <a:pt x="3585210" y="50038"/>
                    <a:pt x="3585210" y="111760"/>
                  </a:cubicBezTo>
                  <a:lnTo>
                    <a:pt x="3585210" y="967994"/>
                  </a:lnTo>
                  <a:cubicBezTo>
                    <a:pt x="3585210" y="1029716"/>
                    <a:pt x="3535172" y="1079754"/>
                    <a:pt x="3473450" y="1079754"/>
                  </a:cubicBezTo>
                  <a:lnTo>
                    <a:pt x="111760" y="1079754"/>
                  </a:lnTo>
                  <a:cubicBezTo>
                    <a:pt x="50038" y="1079754"/>
                    <a:pt x="0" y="1029716"/>
                    <a:pt x="0" y="967994"/>
                  </a:cubicBezTo>
                  <a:close/>
                </a:path>
              </a:pathLst>
            </a:custGeom>
            <a:solidFill>
              <a:srgbClr val="FFFFFF"/>
            </a:solidFill>
            <a:ln w="14288" cap="sq">
              <a:solidFill>
                <a:srgbClr val="C9D6D8"/>
              </a:solidFill>
              <a:prstDash val="solid"/>
              <a:miter/>
            </a:ln>
          </p:spPr>
        </p:sp>
      </p:grpSp>
      <p:grpSp>
        <p:nvGrpSpPr>
          <p:cNvPr name="Group 137" id="137"/>
          <p:cNvGrpSpPr/>
          <p:nvPr/>
        </p:nvGrpSpPr>
        <p:grpSpPr>
          <a:xfrm rot="0">
            <a:off x="14538960" y="5829300"/>
            <a:ext cx="2537460" cy="795528"/>
            <a:chOff x="0" y="0"/>
            <a:chExt cx="3383280" cy="1060704"/>
          </a:xfrm>
        </p:grpSpPr>
        <p:sp>
          <p:nvSpPr>
            <p:cNvPr name="Freeform 138" id="138"/>
            <p:cNvSpPr/>
            <p:nvPr/>
          </p:nvSpPr>
          <p:spPr>
            <a:xfrm flipH="false" flipV="false" rot="0">
              <a:off x="0" y="0"/>
              <a:ext cx="3383280" cy="1060704"/>
            </a:xfrm>
            <a:custGeom>
              <a:avLst/>
              <a:gdLst/>
              <a:ahLst/>
              <a:cxnLst/>
              <a:rect r="r" b="b" t="t" l="l"/>
              <a:pathLst>
                <a:path h="1060704" w="3383280">
                  <a:moveTo>
                    <a:pt x="0" y="0"/>
                  </a:moveTo>
                  <a:lnTo>
                    <a:pt x="3383280" y="0"/>
                  </a:lnTo>
                  <a:lnTo>
                    <a:pt x="3383280" y="1060704"/>
                  </a:lnTo>
                  <a:lnTo>
                    <a:pt x="0" y="1060704"/>
                  </a:lnTo>
                  <a:close/>
                </a:path>
              </a:pathLst>
            </a:custGeom>
            <a:blipFill>
              <a:blip r:embed="rId3">
                <a:alphaModFix amt="0"/>
              </a:blip>
              <a:stretch>
                <a:fillRect l="0" t="-12150" r="0" b="-12150"/>
              </a:stretch>
            </a:blipFill>
          </p:spPr>
        </p:sp>
        <p:sp>
          <p:nvSpPr>
            <p:cNvPr name="TextBox 139" id="139"/>
            <p:cNvSpPr txBox="true"/>
            <p:nvPr/>
          </p:nvSpPr>
          <p:spPr>
            <a:xfrm>
              <a:off x="0" y="-38100"/>
              <a:ext cx="3383280" cy="1098804"/>
            </a:xfrm>
            <a:prstGeom prst="rect">
              <a:avLst/>
            </a:prstGeom>
          </p:spPr>
          <p:txBody>
            <a:bodyPr anchor="ctr" rtlCol="false" tIns="0" lIns="0" bIns="0" rIns="0"/>
            <a:lstStyle/>
            <a:p>
              <a:pPr algn="ctr">
                <a:lnSpc>
                  <a:spcPts val="2429"/>
                </a:lnSpc>
              </a:pPr>
              <a:r>
                <a:rPr lang="en-US" sz="2024">
                  <a:solidFill>
                    <a:srgbClr val="1B2B34"/>
                  </a:solidFill>
                  <a:latin typeface="Calibri"/>
                  <a:ea typeface="Calibri"/>
                  <a:cs typeface="Calibri"/>
                  <a:sym typeface="Calibri"/>
                </a:rPr>
                <a:t>Time Machine</a:t>
              </a:r>
            </a:p>
          </p:txBody>
        </p:sp>
      </p:grpSp>
      <p:grpSp>
        <p:nvGrpSpPr>
          <p:cNvPr name="Group 140" id="140"/>
          <p:cNvGrpSpPr/>
          <p:nvPr/>
        </p:nvGrpSpPr>
        <p:grpSpPr>
          <a:xfrm rot="0">
            <a:off x="14463236" y="6782276"/>
            <a:ext cx="2688908" cy="809816"/>
            <a:chOff x="0" y="0"/>
            <a:chExt cx="3585210" cy="1079754"/>
          </a:xfrm>
        </p:grpSpPr>
        <p:sp>
          <p:nvSpPr>
            <p:cNvPr name="Freeform 141" id="141"/>
            <p:cNvSpPr/>
            <p:nvPr/>
          </p:nvSpPr>
          <p:spPr>
            <a:xfrm flipH="false" flipV="false" rot="0">
              <a:off x="0" y="0"/>
              <a:ext cx="3585210" cy="1079754"/>
            </a:xfrm>
            <a:custGeom>
              <a:avLst/>
              <a:gdLst/>
              <a:ahLst/>
              <a:cxnLst/>
              <a:rect r="r" b="b" t="t" l="l"/>
              <a:pathLst>
                <a:path h="1079754" w="3585210">
                  <a:moveTo>
                    <a:pt x="0" y="111760"/>
                  </a:moveTo>
                  <a:cubicBezTo>
                    <a:pt x="0" y="50038"/>
                    <a:pt x="50038" y="0"/>
                    <a:pt x="111760" y="0"/>
                  </a:cubicBezTo>
                  <a:lnTo>
                    <a:pt x="3473450" y="0"/>
                  </a:lnTo>
                  <a:cubicBezTo>
                    <a:pt x="3535172" y="0"/>
                    <a:pt x="3585210" y="50038"/>
                    <a:pt x="3585210" y="111760"/>
                  </a:cubicBezTo>
                  <a:lnTo>
                    <a:pt x="3585210" y="967994"/>
                  </a:lnTo>
                  <a:cubicBezTo>
                    <a:pt x="3585210" y="1029716"/>
                    <a:pt x="3535172" y="1079754"/>
                    <a:pt x="3473450" y="1079754"/>
                  </a:cubicBezTo>
                  <a:lnTo>
                    <a:pt x="111760" y="1079754"/>
                  </a:lnTo>
                  <a:cubicBezTo>
                    <a:pt x="50038" y="1079754"/>
                    <a:pt x="0" y="1029716"/>
                    <a:pt x="0" y="967994"/>
                  </a:cubicBezTo>
                  <a:close/>
                </a:path>
              </a:pathLst>
            </a:custGeom>
            <a:solidFill>
              <a:srgbClr val="FFFFFF"/>
            </a:solidFill>
            <a:ln w="14288" cap="sq">
              <a:solidFill>
                <a:srgbClr val="C9D6D8"/>
              </a:solidFill>
              <a:prstDash val="solid"/>
              <a:miter/>
            </a:ln>
          </p:spPr>
        </p:sp>
      </p:grpSp>
      <p:grpSp>
        <p:nvGrpSpPr>
          <p:cNvPr name="Group 142" id="142"/>
          <p:cNvGrpSpPr/>
          <p:nvPr/>
        </p:nvGrpSpPr>
        <p:grpSpPr>
          <a:xfrm rot="0">
            <a:off x="14538960" y="6789420"/>
            <a:ext cx="2537460" cy="795528"/>
            <a:chOff x="0" y="0"/>
            <a:chExt cx="3383280" cy="1060704"/>
          </a:xfrm>
        </p:grpSpPr>
        <p:sp>
          <p:nvSpPr>
            <p:cNvPr name="Freeform 143" id="143"/>
            <p:cNvSpPr/>
            <p:nvPr/>
          </p:nvSpPr>
          <p:spPr>
            <a:xfrm flipH="false" flipV="false" rot="0">
              <a:off x="0" y="0"/>
              <a:ext cx="3383280" cy="1060704"/>
            </a:xfrm>
            <a:custGeom>
              <a:avLst/>
              <a:gdLst/>
              <a:ahLst/>
              <a:cxnLst/>
              <a:rect r="r" b="b" t="t" l="l"/>
              <a:pathLst>
                <a:path h="1060704" w="3383280">
                  <a:moveTo>
                    <a:pt x="0" y="0"/>
                  </a:moveTo>
                  <a:lnTo>
                    <a:pt x="3383280" y="0"/>
                  </a:lnTo>
                  <a:lnTo>
                    <a:pt x="3383280" y="1060704"/>
                  </a:lnTo>
                  <a:lnTo>
                    <a:pt x="0" y="1060704"/>
                  </a:lnTo>
                  <a:close/>
                </a:path>
              </a:pathLst>
            </a:custGeom>
            <a:blipFill>
              <a:blip r:embed="rId3">
                <a:alphaModFix amt="0"/>
              </a:blip>
              <a:stretch>
                <a:fillRect l="0" t="-12150" r="0" b="-12150"/>
              </a:stretch>
            </a:blipFill>
          </p:spPr>
        </p:sp>
        <p:sp>
          <p:nvSpPr>
            <p:cNvPr name="TextBox 144" id="144"/>
            <p:cNvSpPr txBox="true"/>
            <p:nvPr/>
          </p:nvSpPr>
          <p:spPr>
            <a:xfrm>
              <a:off x="0" y="-38100"/>
              <a:ext cx="3383280" cy="1098804"/>
            </a:xfrm>
            <a:prstGeom prst="rect">
              <a:avLst/>
            </a:prstGeom>
          </p:spPr>
          <p:txBody>
            <a:bodyPr anchor="ctr" rtlCol="false" tIns="0" lIns="0" bIns="0" rIns="0"/>
            <a:lstStyle/>
            <a:p>
              <a:pPr algn="ctr">
                <a:lnSpc>
                  <a:spcPts val="2429"/>
                </a:lnSpc>
              </a:pPr>
              <a:r>
                <a:rPr lang="en-US" sz="2024">
                  <a:solidFill>
                    <a:srgbClr val="1B2B34"/>
                  </a:solidFill>
                  <a:latin typeface="Calibri"/>
                  <a:ea typeface="Calibri"/>
                  <a:cs typeface="Calibri"/>
                  <a:sym typeface="Calibri"/>
                </a:rPr>
                <a:t>FHIR R4 · FastAPI</a:t>
              </a:r>
            </a:p>
          </p:txBody>
        </p:sp>
      </p:grpSp>
      <p:grpSp>
        <p:nvGrpSpPr>
          <p:cNvPr name="Group 145" id="145"/>
          <p:cNvGrpSpPr/>
          <p:nvPr/>
        </p:nvGrpSpPr>
        <p:grpSpPr>
          <a:xfrm rot="0">
            <a:off x="3926967" y="4996815"/>
            <a:ext cx="252222" cy="499110"/>
            <a:chOff x="0" y="0"/>
            <a:chExt cx="336296" cy="665480"/>
          </a:xfrm>
        </p:grpSpPr>
        <p:sp>
          <p:nvSpPr>
            <p:cNvPr name="Freeform 146" id="146"/>
            <p:cNvSpPr/>
            <p:nvPr/>
          </p:nvSpPr>
          <p:spPr>
            <a:xfrm flipH="false" flipV="false" rot="0">
              <a:off x="0" y="0"/>
              <a:ext cx="336296" cy="665480"/>
            </a:xfrm>
            <a:custGeom>
              <a:avLst/>
              <a:gdLst/>
              <a:ahLst/>
              <a:cxnLst/>
              <a:rect r="r" b="b" t="t" l="l"/>
              <a:pathLst>
                <a:path h="665480" w="336296">
                  <a:moveTo>
                    <a:pt x="0" y="166370"/>
                  </a:moveTo>
                  <a:lnTo>
                    <a:pt x="168148" y="166370"/>
                  </a:lnTo>
                  <a:lnTo>
                    <a:pt x="168148" y="0"/>
                  </a:lnTo>
                  <a:lnTo>
                    <a:pt x="336296" y="332740"/>
                  </a:lnTo>
                  <a:lnTo>
                    <a:pt x="168148" y="665480"/>
                  </a:lnTo>
                  <a:lnTo>
                    <a:pt x="168148" y="499110"/>
                  </a:lnTo>
                  <a:lnTo>
                    <a:pt x="0" y="499110"/>
                  </a:lnTo>
                  <a:close/>
                </a:path>
              </a:pathLst>
            </a:custGeom>
            <a:solidFill>
              <a:srgbClr val="5B6C75"/>
            </a:solidFill>
            <a:ln w="19050" cap="sq">
              <a:solidFill>
                <a:srgbClr val="5B6C75"/>
              </a:solidFill>
              <a:prstDash val="solid"/>
              <a:miter/>
            </a:ln>
          </p:spPr>
        </p:sp>
      </p:grpSp>
      <p:grpSp>
        <p:nvGrpSpPr>
          <p:cNvPr name="Group 147" id="147"/>
          <p:cNvGrpSpPr/>
          <p:nvPr/>
        </p:nvGrpSpPr>
        <p:grpSpPr>
          <a:xfrm rot="0">
            <a:off x="7287387" y="4996815"/>
            <a:ext cx="252222" cy="499110"/>
            <a:chOff x="0" y="0"/>
            <a:chExt cx="336296" cy="665480"/>
          </a:xfrm>
        </p:grpSpPr>
        <p:sp>
          <p:nvSpPr>
            <p:cNvPr name="Freeform 148" id="148"/>
            <p:cNvSpPr/>
            <p:nvPr/>
          </p:nvSpPr>
          <p:spPr>
            <a:xfrm flipH="false" flipV="false" rot="0">
              <a:off x="0" y="0"/>
              <a:ext cx="336296" cy="665480"/>
            </a:xfrm>
            <a:custGeom>
              <a:avLst/>
              <a:gdLst/>
              <a:ahLst/>
              <a:cxnLst/>
              <a:rect r="r" b="b" t="t" l="l"/>
              <a:pathLst>
                <a:path h="665480" w="336296">
                  <a:moveTo>
                    <a:pt x="0" y="166370"/>
                  </a:moveTo>
                  <a:lnTo>
                    <a:pt x="168148" y="166370"/>
                  </a:lnTo>
                  <a:lnTo>
                    <a:pt x="168148" y="0"/>
                  </a:lnTo>
                  <a:lnTo>
                    <a:pt x="336296" y="332740"/>
                  </a:lnTo>
                  <a:lnTo>
                    <a:pt x="168148" y="665480"/>
                  </a:lnTo>
                  <a:lnTo>
                    <a:pt x="168148" y="499110"/>
                  </a:lnTo>
                  <a:lnTo>
                    <a:pt x="0" y="499110"/>
                  </a:lnTo>
                  <a:close/>
                </a:path>
              </a:pathLst>
            </a:custGeom>
            <a:solidFill>
              <a:srgbClr val="5B6C75"/>
            </a:solidFill>
            <a:ln w="19050" cap="sq">
              <a:solidFill>
                <a:srgbClr val="5B6C75"/>
              </a:solidFill>
              <a:prstDash val="solid"/>
              <a:miter/>
            </a:ln>
          </p:spPr>
        </p:sp>
      </p:grpSp>
      <p:grpSp>
        <p:nvGrpSpPr>
          <p:cNvPr name="Group 149" id="149"/>
          <p:cNvGrpSpPr/>
          <p:nvPr/>
        </p:nvGrpSpPr>
        <p:grpSpPr>
          <a:xfrm rot="0">
            <a:off x="10647807" y="4996815"/>
            <a:ext cx="252222" cy="499110"/>
            <a:chOff x="0" y="0"/>
            <a:chExt cx="336296" cy="665480"/>
          </a:xfrm>
        </p:grpSpPr>
        <p:sp>
          <p:nvSpPr>
            <p:cNvPr name="Freeform 150" id="150"/>
            <p:cNvSpPr/>
            <p:nvPr/>
          </p:nvSpPr>
          <p:spPr>
            <a:xfrm flipH="false" flipV="false" rot="0">
              <a:off x="0" y="0"/>
              <a:ext cx="336296" cy="665480"/>
            </a:xfrm>
            <a:custGeom>
              <a:avLst/>
              <a:gdLst/>
              <a:ahLst/>
              <a:cxnLst/>
              <a:rect r="r" b="b" t="t" l="l"/>
              <a:pathLst>
                <a:path h="665480" w="336296">
                  <a:moveTo>
                    <a:pt x="0" y="166370"/>
                  </a:moveTo>
                  <a:lnTo>
                    <a:pt x="168148" y="166370"/>
                  </a:lnTo>
                  <a:lnTo>
                    <a:pt x="168148" y="0"/>
                  </a:lnTo>
                  <a:lnTo>
                    <a:pt x="336296" y="332740"/>
                  </a:lnTo>
                  <a:lnTo>
                    <a:pt x="168148" y="665480"/>
                  </a:lnTo>
                  <a:lnTo>
                    <a:pt x="168148" y="499110"/>
                  </a:lnTo>
                  <a:lnTo>
                    <a:pt x="0" y="499110"/>
                  </a:lnTo>
                  <a:close/>
                </a:path>
              </a:pathLst>
            </a:custGeom>
            <a:solidFill>
              <a:srgbClr val="5B6C75"/>
            </a:solidFill>
            <a:ln w="19050" cap="sq">
              <a:solidFill>
                <a:srgbClr val="5B6C75"/>
              </a:solidFill>
              <a:prstDash val="solid"/>
              <a:miter/>
            </a:ln>
          </p:spPr>
        </p:sp>
      </p:grpSp>
      <p:grpSp>
        <p:nvGrpSpPr>
          <p:cNvPr name="Group 151" id="151"/>
          <p:cNvGrpSpPr/>
          <p:nvPr/>
        </p:nvGrpSpPr>
        <p:grpSpPr>
          <a:xfrm rot="0">
            <a:off x="14008227" y="4996815"/>
            <a:ext cx="252222" cy="499110"/>
            <a:chOff x="0" y="0"/>
            <a:chExt cx="336296" cy="665480"/>
          </a:xfrm>
        </p:grpSpPr>
        <p:sp>
          <p:nvSpPr>
            <p:cNvPr name="Freeform 152" id="152"/>
            <p:cNvSpPr/>
            <p:nvPr/>
          </p:nvSpPr>
          <p:spPr>
            <a:xfrm flipH="false" flipV="false" rot="0">
              <a:off x="0" y="0"/>
              <a:ext cx="336296" cy="665480"/>
            </a:xfrm>
            <a:custGeom>
              <a:avLst/>
              <a:gdLst/>
              <a:ahLst/>
              <a:cxnLst/>
              <a:rect r="r" b="b" t="t" l="l"/>
              <a:pathLst>
                <a:path h="665480" w="336296">
                  <a:moveTo>
                    <a:pt x="0" y="166370"/>
                  </a:moveTo>
                  <a:lnTo>
                    <a:pt x="168148" y="166370"/>
                  </a:lnTo>
                  <a:lnTo>
                    <a:pt x="168148" y="0"/>
                  </a:lnTo>
                  <a:lnTo>
                    <a:pt x="336296" y="332740"/>
                  </a:lnTo>
                  <a:lnTo>
                    <a:pt x="168148" y="665480"/>
                  </a:lnTo>
                  <a:lnTo>
                    <a:pt x="168148" y="499110"/>
                  </a:lnTo>
                  <a:lnTo>
                    <a:pt x="0" y="499110"/>
                  </a:lnTo>
                  <a:close/>
                </a:path>
              </a:pathLst>
            </a:custGeom>
            <a:solidFill>
              <a:srgbClr val="5B6C75"/>
            </a:solidFill>
            <a:ln w="19050" cap="sq">
              <a:solidFill>
                <a:srgbClr val="5B6C75"/>
              </a:solidFill>
              <a:prstDash val="solid"/>
              <a:miter/>
            </a:ln>
          </p:spPr>
        </p:sp>
      </p:grpSp>
      <p:sp>
        <p:nvSpPr>
          <p:cNvPr name="TextBox 153" id="153"/>
          <p:cNvSpPr txBox="true"/>
          <p:nvPr/>
        </p:nvSpPr>
        <p:spPr>
          <a:xfrm rot="0">
            <a:off x="822960" y="8945880"/>
            <a:ext cx="16596360" cy="571500"/>
          </a:xfrm>
          <a:prstGeom prst="rect">
            <a:avLst/>
          </a:prstGeom>
        </p:spPr>
        <p:txBody>
          <a:bodyPr anchor="t" rtlCol="false" tIns="0" lIns="0" bIns="0" rIns="0">
            <a:spAutoFit/>
          </a:bodyPr>
          <a:lstStyle/>
          <a:p>
            <a:pPr algn="l">
              <a:lnSpc>
                <a:spcPts val="2159"/>
              </a:lnSpc>
            </a:pPr>
            <a:r>
              <a:rPr lang="en-US" sz="1799" i="1">
                <a:solidFill>
                  <a:srgbClr val="5B6C75"/>
                </a:solidFill>
                <a:latin typeface="Calibri"/>
                <a:ea typeface="Calibri"/>
                <a:cs typeface="Calibri"/>
                <a:sym typeface="Calibri"/>
              </a:rPr>
              <a:t>Python 3.12 · Streamlit UI calls one services layer that enforces role + consent + audit on every read; the same services sit behind FastAPI. Full diagram: deliverables/architecture.pdf.</a:t>
            </a:r>
          </a:p>
        </p:txBody>
      </p:sp>
      <p:sp>
        <p:nvSpPr>
          <p:cNvPr name="TextBox 154" id="154"/>
          <p:cNvSpPr txBox="true"/>
          <p:nvPr/>
        </p:nvSpPr>
        <p:spPr>
          <a:xfrm rot="0">
            <a:off x="16962120" y="9530715"/>
            <a:ext cx="640080" cy="342900"/>
          </a:xfrm>
          <a:prstGeom prst="rect">
            <a:avLst/>
          </a:prstGeom>
        </p:spPr>
        <p:txBody>
          <a:bodyPr anchor="t" rtlCol="false" tIns="0" lIns="0" bIns="0" rIns="0">
            <a:spAutoFit/>
          </a:bodyPr>
          <a:lstStyle/>
          <a:p>
            <a:pPr algn="r">
              <a:lnSpc>
                <a:spcPts val="2339"/>
              </a:lnSpc>
            </a:pPr>
            <a:r>
              <a:rPr lang="en-US" sz="1949">
                <a:solidFill>
                  <a:srgbClr val="5B6C75"/>
                </a:solidFill>
                <a:latin typeface="Calibri"/>
                <a:ea typeface="Calibri"/>
                <a:cs typeface="Calibri"/>
                <a:sym typeface="Calibri"/>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05053" y="-768015"/>
            <a:ext cx="16596360" cy="3593431"/>
            <a:chOff x="0" y="0"/>
            <a:chExt cx="22128480" cy="4791241"/>
          </a:xfrm>
        </p:grpSpPr>
        <p:sp>
          <p:nvSpPr>
            <p:cNvPr name="Freeform 3" id="3"/>
            <p:cNvSpPr/>
            <p:nvPr/>
          </p:nvSpPr>
          <p:spPr>
            <a:xfrm flipH="false" flipV="false" rot="0">
              <a:off x="0" y="0"/>
              <a:ext cx="22128480" cy="4791241"/>
            </a:xfrm>
            <a:custGeom>
              <a:avLst/>
              <a:gdLst/>
              <a:ahLst/>
              <a:cxnLst/>
              <a:rect r="r" b="b" t="t" l="l"/>
              <a:pathLst>
                <a:path h="4791241" w="22128480">
                  <a:moveTo>
                    <a:pt x="0" y="0"/>
                  </a:moveTo>
                  <a:lnTo>
                    <a:pt x="22128480" y="0"/>
                  </a:lnTo>
                  <a:lnTo>
                    <a:pt x="22128480" y="4791241"/>
                  </a:lnTo>
                  <a:lnTo>
                    <a:pt x="0" y="4791241"/>
                  </a:lnTo>
                  <a:close/>
                </a:path>
              </a:pathLst>
            </a:custGeom>
            <a:blipFill>
              <a:blip r:embed="rId3">
                <a:alphaModFix amt="0"/>
              </a:blip>
              <a:stretch>
                <a:fillRect l="0" t="-73770" r="0" b="-6214"/>
              </a:stretch>
            </a:blipFill>
          </p:spPr>
        </p:sp>
        <p:sp>
          <p:nvSpPr>
            <p:cNvPr name="TextBox 4" id="4"/>
            <p:cNvSpPr txBox="true"/>
            <p:nvPr/>
          </p:nvSpPr>
          <p:spPr>
            <a:xfrm>
              <a:off x="0" y="-9525"/>
              <a:ext cx="22128480" cy="4800766"/>
            </a:xfrm>
            <a:prstGeom prst="rect">
              <a:avLst/>
            </a:prstGeom>
          </p:spPr>
          <p:txBody>
            <a:bodyPr anchor="ctr" rtlCol="false" tIns="0" lIns="0" bIns="0" rIns="0"/>
            <a:lstStyle/>
            <a:p>
              <a:pPr algn="l">
                <a:lnSpc>
                  <a:spcPts val="5879"/>
                </a:lnSpc>
              </a:pPr>
              <a:r>
                <a:rPr lang="en-US" sz="4899" b="1">
                  <a:solidFill>
                    <a:srgbClr val="0B4F5C"/>
                  </a:solidFill>
                  <a:latin typeface="Cambria"/>
                  <a:ea typeface="Cambria"/>
                  <a:cs typeface="Cambria"/>
                  <a:sym typeface="Cambria"/>
                </a:rPr>
                <a:t>Mechanism: from today's weather to tomorrow's kidney</a:t>
              </a:r>
            </a:p>
          </p:txBody>
        </p:sp>
      </p:grpSp>
      <p:grpSp>
        <p:nvGrpSpPr>
          <p:cNvPr name="Group 5" id="5"/>
          <p:cNvGrpSpPr/>
          <p:nvPr/>
        </p:nvGrpSpPr>
        <p:grpSpPr>
          <a:xfrm rot="0">
            <a:off x="813435" y="2047875"/>
            <a:ext cx="3036570" cy="4682490"/>
            <a:chOff x="0" y="0"/>
            <a:chExt cx="4048760" cy="6243320"/>
          </a:xfrm>
        </p:grpSpPr>
        <p:sp>
          <p:nvSpPr>
            <p:cNvPr name="Freeform 6" id="6"/>
            <p:cNvSpPr/>
            <p:nvPr/>
          </p:nvSpPr>
          <p:spPr>
            <a:xfrm flipH="false" flipV="false" rot="0">
              <a:off x="0" y="0"/>
              <a:ext cx="4048760" cy="6243320"/>
            </a:xfrm>
            <a:custGeom>
              <a:avLst/>
              <a:gdLst/>
              <a:ahLst/>
              <a:cxnLst/>
              <a:rect r="r" b="b" t="t" l="l"/>
              <a:pathLst>
                <a:path h="6243320" w="4048760">
                  <a:moveTo>
                    <a:pt x="0" y="147193"/>
                  </a:moveTo>
                  <a:cubicBezTo>
                    <a:pt x="0" y="65913"/>
                    <a:pt x="65913" y="0"/>
                    <a:pt x="147193" y="0"/>
                  </a:cubicBezTo>
                  <a:lnTo>
                    <a:pt x="3901567" y="0"/>
                  </a:lnTo>
                  <a:cubicBezTo>
                    <a:pt x="3982847" y="0"/>
                    <a:pt x="4048760" y="65913"/>
                    <a:pt x="4048760" y="147193"/>
                  </a:cubicBezTo>
                  <a:lnTo>
                    <a:pt x="4048760" y="6096127"/>
                  </a:lnTo>
                  <a:cubicBezTo>
                    <a:pt x="4048760" y="6177407"/>
                    <a:pt x="3982847" y="6243320"/>
                    <a:pt x="3901567" y="6243320"/>
                  </a:cubicBezTo>
                  <a:lnTo>
                    <a:pt x="147193" y="6243320"/>
                  </a:lnTo>
                  <a:cubicBezTo>
                    <a:pt x="65913" y="6243320"/>
                    <a:pt x="0" y="6177407"/>
                    <a:pt x="0" y="6096127"/>
                  </a:cubicBezTo>
                  <a:close/>
                </a:path>
              </a:pathLst>
            </a:custGeom>
            <a:solidFill>
              <a:srgbClr val="EEF5F5"/>
            </a:solidFill>
            <a:ln w="19050" cap="sq">
              <a:solidFill>
                <a:srgbClr val="EEF5F5"/>
              </a:solidFill>
              <a:prstDash val="solid"/>
              <a:miter/>
            </a:ln>
          </p:spPr>
        </p:sp>
      </p:grpSp>
      <p:grpSp>
        <p:nvGrpSpPr>
          <p:cNvPr name="Group 7" id="7"/>
          <p:cNvGrpSpPr/>
          <p:nvPr/>
        </p:nvGrpSpPr>
        <p:grpSpPr>
          <a:xfrm rot="0">
            <a:off x="1773555" y="2322195"/>
            <a:ext cx="1116330" cy="1116330"/>
            <a:chOff x="0" y="0"/>
            <a:chExt cx="1488440" cy="1488440"/>
          </a:xfrm>
        </p:grpSpPr>
        <p:sp>
          <p:nvSpPr>
            <p:cNvPr name="Freeform 8" id="8"/>
            <p:cNvSpPr/>
            <p:nvPr/>
          </p:nvSpPr>
          <p:spPr>
            <a:xfrm flipH="false" flipV="false" rot="0">
              <a:off x="0" y="0"/>
              <a:ext cx="1488440" cy="1488440"/>
            </a:xfrm>
            <a:custGeom>
              <a:avLst/>
              <a:gdLst/>
              <a:ahLst/>
              <a:cxnLst/>
              <a:rect r="r" b="b" t="t" l="l"/>
              <a:pathLst>
                <a:path h="1488440" w="1488440">
                  <a:moveTo>
                    <a:pt x="0" y="744220"/>
                  </a:moveTo>
                  <a:cubicBezTo>
                    <a:pt x="0" y="333248"/>
                    <a:pt x="333248" y="0"/>
                    <a:pt x="744220" y="0"/>
                  </a:cubicBezTo>
                  <a:cubicBezTo>
                    <a:pt x="1155192" y="0"/>
                    <a:pt x="1488440" y="333248"/>
                    <a:pt x="1488440" y="744220"/>
                  </a:cubicBezTo>
                  <a:cubicBezTo>
                    <a:pt x="1488440" y="1155192"/>
                    <a:pt x="1155192" y="1488440"/>
                    <a:pt x="744220" y="1488440"/>
                  </a:cubicBezTo>
                  <a:cubicBezTo>
                    <a:pt x="333248" y="1488440"/>
                    <a:pt x="0" y="1155192"/>
                    <a:pt x="0" y="744220"/>
                  </a:cubicBezTo>
                  <a:close/>
                </a:path>
              </a:pathLst>
            </a:custGeom>
            <a:solidFill>
              <a:srgbClr val="0E7C86"/>
            </a:solidFill>
            <a:ln w="19050" cap="sq">
              <a:solidFill>
                <a:srgbClr val="0E7C86"/>
              </a:solidFill>
              <a:prstDash val="solid"/>
              <a:miter/>
            </a:ln>
          </p:spPr>
        </p:sp>
      </p:grpSp>
      <p:grpSp>
        <p:nvGrpSpPr>
          <p:cNvPr name="Group 9" id="9"/>
          <p:cNvGrpSpPr/>
          <p:nvPr/>
        </p:nvGrpSpPr>
        <p:grpSpPr>
          <a:xfrm rot="0">
            <a:off x="2057400" y="2606040"/>
            <a:ext cx="548640" cy="548640"/>
            <a:chOff x="0" y="0"/>
            <a:chExt cx="731520" cy="731520"/>
          </a:xfrm>
        </p:grpSpPr>
        <p:sp>
          <p:nvSpPr>
            <p:cNvPr name="Freeform 10" id="10" descr="preencode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4"/>
              <a:stretch>
                <a:fillRect l="0" t="0" r="0" b="0"/>
              </a:stretch>
            </a:blipFill>
          </p:spPr>
        </p:sp>
      </p:grpSp>
      <p:sp>
        <p:nvSpPr>
          <p:cNvPr name="TextBox 11" id="11"/>
          <p:cNvSpPr txBox="true"/>
          <p:nvPr/>
        </p:nvSpPr>
        <p:spPr>
          <a:xfrm rot="0">
            <a:off x="1028700" y="3568065"/>
            <a:ext cx="2606040" cy="485775"/>
          </a:xfrm>
          <a:prstGeom prst="rect">
            <a:avLst/>
          </a:prstGeom>
        </p:spPr>
        <p:txBody>
          <a:bodyPr anchor="t" rtlCol="false" tIns="0" lIns="0" bIns="0" rIns="0">
            <a:spAutoFit/>
          </a:bodyPr>
          <a:lstStyle/>
          <a:p>
            <a:pPr algn="ctr">
              <a:lnSpc>
                <a:spcPts val="3359"/>
              </a:lnSpc>
            </a:pPr>
            <a:r>
              <a:rPr lang="en-US" sz="2799" b="1">
                <a:solidFill>
                  <a:srgbClr val="0B4F5C"/>
                </a:solidFill>
                <a:latin typeface="Calibri"/>
                <a:ea typeface="Calibri"/>
                <a:cs typeface="Calibri"/>
                <a:sym typeface="Calibri"/>
              </a:rPr>
              <a:t>Heat → sweat</a:t>
            </a:r>
          </a:p>
        </p:txBody>
      </p:sp>
      <p:sp>
        <p:nvSpPr>
          <p:cNvPr name="TextBox 12" id="12"/>
          <p:cNvSpPr txBox="true"/>
          <p:nvPr/>
        </p:nvSpPr>
        <p:spPr>
          <a:xfrm rot="0">
            <a:off x="1069848" y="4341495"/>
            <a:ext cx="2537460" cy="1419225"/>
          </a:xfrm>
          <a:prstGeom prst="rect">
            <a:avLst/>
          </a:prstGeom>
        </p:spPr>
        <p:txBody>
          <a:bodyPr anchor="t" rtlCol="false" tIns="0" lIns="0" bIns="0" rIns="0">
            <a:spAutoFit/>
          </a:bodyPr>
          <a:lstStyle/>
          <a:p>
            <a:pPr algn="l">
              <a:lnSpc>
                <a:spcPts val="2729"/>
              </a:lnSpc>
            </a:pPr>
            <a:r>
              <a:rPr lang="en-US" sz="2274">
                <a:solidFill>
                  <a:srgbClr val="1B2B34"/>
                </a:solidFill>
                <a:latin typeface="Calibri"/>
                <a:ea typeface="Calibri"/>
                <a:cs typeface="Calibri"/>
                <a:sym typeface="Calibri"/>
              </a:rPr>
              <a:t>ISO 7933 predicted-heat-strain model × the person's learned sweat rate</a:t>
            </a:r>
          </a:p>
        </p:txBody>
      </p:sp>
      <p:grpSp>
        <p:nvGrpSpPr>
          <p:cNvPr name="Group 13" id="13"/>
          <p:cNvGrpSpPr/>
          <p:nvPr/>
        </p:nvGrpSpPr>
        <p:grpSpPr>
          <a:xfrm rot="0">
            <a:off x="3858387" y="4036695"/>
            <a:ext cx="320802" cy="430530"/>
            <a:chOff x="0" y="0"/>
            <a:chExt cx="427736" cy="574040"/>
          </a:xfrm>
        </p:grpSpPr>
        <p:sp>
          <p:nvSpPr>
            <p:cNvPr name="Freeform 14" id="14"/>
            <p:cNvSpPr/>
            <p:nvPr/>
          </p:nvSpPr>
          <p:spPr>
            <a:xfrm flipH="false" flipV="false" rot="0">
              <a:off x="0" y="0"/>
              <a:ext cx="427736" cy="574040"/>
            </a:xfrm>
            <a:custGeom>
              <a:avLst/>
              <a:gdLst/>
              <a:ahLst/>
              <a:cxnLst/>
              <a:rect r="r" b="b" t="t" l="l"/>
              <a:pathLst>
                <a:path h="574040" w="427736">
                  <a:moveTo>
                    <a:pt x="0" y="143510"/>
                  </a:moveTo>
                  <a:lnTo>
                    <a:pt x="213868" y="143510"/>
                  </a:lnTo>
                  <a:lnTo>
                    <a:pt x="213868" y="0"/>
                  </a:lnTo>
                  <a:lnTo>
                    <a:pt x="427736" y="287020"/>
                  </a:lnTo>
                  <a:lnTo>
                    <a:pt x="213868" y="574040"/>
                  </a:lnTo>
                  <a:lnTo>
                    <a:pt x="213868" y="430530"/>
                  </a:lnTo>
                  <a:lnTo>
                    <a:pt x="0" y="430530"/>
                  </a:lnTo>
                  <a:close/>
                </a:path>
              </a:pathLst>
            </a:custGeom>
            <a:solidFill>
              <a:srgbClr val="5B6C75"/>
            </a:solidFill>
            <a:ln w="19050" cap="sq">
              <a:solidFill>
                <a:srgbClr val="5B6C75"/>
              </a:solidFill>
              <a:prstDash val="solid"/>
              <a:miter/>
            </a:ln>
          </p:spPr>
        </p:sp>
      </p:grpSp>
      <p:grpSp>
        <p:nvGrpSpPr>
          <p:cNvPr name="Group 15" id="15"/>
          <p:cNvGrpSpPr/>
          <p:nvPr/>
        </p:nvGrpSpPr>
        <p:grpSpPr>
          <a:xfrm rot="0">
            <a:off x="4201287" y="2047875"/>
            <a:ext cx="3036570" cy="4682490"/>
            <a:chOff x="0" y="0"/>
            <a:chExt cx="4048760" cy="6243320"/>
          </a:xfrm>
        </p:grpSpPr>
        <p:sp>
          <p:nvSpPr>
            <p:cNvPr name="Freeform 16" id="16"/>
            <p:cNvSpPr/>
            <p:nvPr/>
          </p:nvSpPr>
          <p:spPr>
            <a:xfrm flipH="false" flipV="false" rot="0">
              <a:off x="0" y="0"/>
              <a:ext cx="4048760" cy="6243320"/>
            </a:xfrm>
            <a:custGeom>
              <a:avLst/>
              <a:gdLst/>
              <a:ahLst/>
              <a:cxnLst/>
              <a:rect r="r" b="b" t="t" l="l"/>
              <a:pathLst>
                <a:path h="6243320" w="4048760">
                  <a:moveTo>
                    <a:pt x="0" y="147193"/>
                  </a:moveTo>
                  <a:cubicBezTo>
                    <a:pt x="0" y="65913"/>
                    <a:pt x="65913" y="0"/>
                    <a:pt x="147193" y="0"/>
                  </a:cubicBezTo>
                  <a:lnTo>
                    <a:pt x="3901567" y="0"/>
                  </a:lnTo>
                  <a:cubicBezTo>
                    <a:pt x="3982847" y="0"/>
                    <a:pt x="4048760" y="65913"/>
                    <a:pt x="4048760" y="147193"/>
                  </a:cubicBezTo>
                  <a:lnTo>
                    <a:pt x="4048760" y="6096127"/>
                  </a:lnTo>
                  <a:cubicBezTo>
                    <a:pt x="4048760" y="6177407"/>
                    <a:pt x="3982847" y="6243320"/>
                    <a:pt x="3901567" y="6243320"/>
                  </a:cubicBezTo>
                  <a:lnTo>
                    <a:pt x="147193" y="6243320"/>
                  </a:lnTo>
                  <a:cubicBezTo>
                    <a:pt x="65913" y="6243320"/>
                    <a:pt x="0" y="6177407"/>
                    <a:pt x="0" y="6096127"/>
                  </a:cubicBezTo>
                  <a:close/>
                </a:path>
              </a:pathLst>
            </a:custGeom>
            <a:solidFill>
              <a:srgbClr val="EEF5F5"/>
            </a:solidFill>
            <a:ln w="19050" cap="sq">
              <a:solidFill>
                <a:srgbClr val="EEF5F5"/>
              </a:solidFill>
              <a:prstDash val="solid"/>
              <a:miter/>
            </a:ln>
          </p:spPr>
        </p:sp>
      </p:grpSp>
      <p:grpSp>
        <p:nvGrpSpPr>
          <p:cNvPr name="Group 17" id="17"/>
          <p:cNvGrpSpPr/>
          <p:nvPr/>
        </p:nvGrpSpPr>
        <p:grpSpPr>
          <a:xfrm rot="0">
            <a:off x="5161407" y="2322195"/>
            <a:ext cx="1116330" cy="1116330"/>
            <a:chOff x="0" y="0"/>
            <a:chExt cx="1488440" cy="1488440"/>
          </a:xfrm>
        </p:grpSpPr>
        <p:sp>
          <p:nvSpPr>
            <p:cNvPr name="Freeform 18" id="18"/>
            <p:cNvSpPr/>
            <p:nvPr/>
          </p:nvSpPr>
          <p:spPr>
            <a:xfrm flipH="false" flipV="false" rot="0">
              <a:off x="0" y="0"/>
              <a:ext cx="1488440" cy="1488440"/>
            </a:xfrm>
            <a:custGeom>
              <a:avLst/>
              <a:gdLst/>
              <a:ahLst/>
              <a:cxnLst/>
              <a:rect r="r" b="b" t="t" l="l"/>
              <a:pathLst>
                <a:path h="1488440" w="1488440">
                  <a:moveTo>
                    <a:pt x="0" y="744220"/>
                  </a:moveTo>
                  <a:cubicBezTo>
                    <a:pt x="0" y="333248"/>
                    <a:pt x="333248" y="0"/>
                    <a:pt x="744220" y="0"/>
                  </a:cubicBezTo>
                  <a:cubicBezTo>
                    <a:pt x="1155192" y="0"/>
                    <a:pt x="1488440" y="333248"/>
                    <a:pt x="1488440" y="744220"/>
                  </a:cubicBezTo>
                  <a:cubicBezTo>
                    <a:pt x="1488440" y="1155192"/>
                    <a:pt x="1155192" y="1488440"/>
                    <a:pt x="744220" y="1488440"/>
                  </a:cubicBezTo>
                  <a:cubicBezTo>
                    <a:pt x="333248" y="1488440"/>
                    <a:pt x="0" y="1155192"/>
                    <a:pt x="0" y="744220"/>
                  </a:cubicBezTo>
                  <a:close/>
                </a:path>
              </a:pathLst>
            </a:custGeom>
            <a:solidFill>
              <a:srgbClr val="0E7C86"/>
            </a:solidFill>
            <a:ln w="19050" cap="sq">
              <a:solidFill>
                <a:srgbClr val="0E7C86"/>
              </a:solidFill>
              <a:prstDash val="solid"/>
              <a:miter/>
            </a:ln>
          </p:spPr>
        </p:sp>
      </p:grpSp>
      <p:grpSp>
        <p:nvGrpSpPr>
          <p:cNvPr name="Group 19" id="19"/>
          <p:cNvGrpSpPr/>
          <p:nvPr/>
        </p:nvGrpSpPr>
        <p:grpSpPr>
          <a:xfrm rot="0">
            <a:off x="5445252" y="2606040"/>
            <a:ext cx="548640" cy="548640"/>
            <a:chOff x="0" y="0"/>
            <a:chExt cx="731520" cy="731520"/>
          </a:xfrm>
        </p:grpSpPr>
        <p:sp>
          <p:nvSpPr>
            <p:cNvPr name="Freeform 20" id="20" descr="preencode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5"/>
              <a:stretch>
                <a:fillRect l="0" t="0" r="0" b="0"/>
              </a:stretch>
            </a:blipFill>
          </p:spPr>
        </p:sp>
      </p:grpSp>
      <p:sp>
        <p:nvSpPr>
          <p:cNvPr name="TextBox 21" id="21"/>
          <p:cNvSpPr txBox="true"/>
          <p:nvPr/>
        </p:nvSpPr>
        <p:spPr>
          <a:xfrm rot="0">
            <a:off x="4416552" y="3568065"/>
            <a:ext cx="2606040" cy="904875"/>
          </a:xfrm>
          <a:prstGeom prst="rect">
            <a:avLst/>
          </a:prstGeom>
        </p:spPr>
        <p:txBody>
          <a:bodyPr anchor="t" rtlCol="false" tIns="0" lIns="0" bIns="0" rIns="0">
            <a:spAutoFit/>
          </a:bodyPr>
          <a:lstStyle/>
          <a:p>
            <a:pPr algn="ctr">
              <a:lnSpc>
                <a:spcPts val="3359"/>
              </a:lnSpc>
            </a:pPr>
            <a:r>
              <a:rPr lang="en-US" sz="2799" b="1">
                <a:solidFill>
                  <a:srgbClr val="0B4F5C"/>
                </a:solidFill>
                <a:latin typeface="Calibri"/>
                <a:ea typeface="Calibri"/>
                <a:cs typeface="Calibri"/>
                <a:sym typeface="Calibri"/>
              </a:rPr>
              <a:t>Two water deficits</a:t>
            </a:r>
          </a:p>
        </p:txBody>
      </p:sp>
      <p:sp>
        <p:nvSpPr>
          <p:cNvPr name="TextBox 22" id="22"/>
          <p:cNvSpPr txBox="true"/>
          <p:nvPr/>
        </p:nvSpPr>
        <p:spPr>
          <a:xfrm rot="0">
            <a:off x="4457700" y="4341495"/>
            <a:ext cx="2537460" cy="1419225"/>
          </a:xfrm>
          <a:prstGeom prst="rect">
            <a:avLst/>
          </a:prstGeom>
        </p:spPr>
        <p:txBody>
          <a:bodyPr anchor="t" rtlCol="false" tIns="0" lIns="0" bIns="0" rIns="0">
            <a:spAutoFit/>
          </a:bodyPr>
          <a:lstStyle/>
          <a:p>
            <a:pPr algn="l">
              <a:lnSpc>
                <a:spcPts val="2729"/>
              </a:lnSpc>
            </a:pPr>
            <a:r>
              <a:rPr lang="en-US" sz="2274">
                <a:solidFill>
                  <a:srgbClr val="1B2B34"/>
                </a:solidFill>
                <a:latin typeface="Calibri"/>
                <a:ea typeface="Calibri"/>
                <a:cs typeface="Calibri"/>
                <a:sym typeface="Calibri"/>
              </a:rPr>
              <a:t>Total water (seen by the scale) and extracellular water (felt by the kidney)</a:t>
            </a:r>
          </a:p>
        </p:txBody>
      </p:sp>
      <p:grpSp>
        <p:nvGrpSpPr>
          <p:cNvPr name="Group 23" id="23"/>
          <p:cNvGrpSpPr/>
          <p:nvPr/>
        </p:nvGrpSpPr>
        <p:grpSpPr>
          <a:xfrm rot="0">
            <a:off x="7246239" y="4036695"/>
            <a:ext cx="320802" cy="430530"/>
            <a:chOff x="0" y="0"/>
            <a:chExt cx="427736" cy="574040"/>
          </a:xfrm>
        </p:grpSpPr>
        <p:sp>
          <p:nvSpPr>
            <p:cNvPr name="Freeform 24" id="24"/>
            <p:cNvSpPr/>
            <p:nvPr/>
          </p:nvSpPr>
          <p:spPr>
            <a:xfrm flipH="false" flipV="false" rot="0">
              <a:off x="0" y="0"/>
              <a:ext cx="427736" cy="574040"/>
            </a:xfrm>
            <a:custGeom>
              <a:avLst/>
              <a:gdLst/>
              <a:ahLst/>
              <a:cxnLst/>
              <a:rect r="r" b="b" t="t" l="l"/>
              <a:pathLst>
                <a:path h="574040" w="427736">
                  <a:moveTo>
                    <a:pt x="0" y="143510"/>
                  </a:moveTo>
                  <a:lnTo>
                    <a:pt x="213868" y="143510"/>
                  </a:lnTo>
                  <a:lnTo>
                    <a:pt x="213868" y="0"/>
                  </a:lnTo>
                  <a:lnTo>
                    <a:pt x="427736" y="287020"/>
                  </a:lnTo>
                  <a:lnTo>
                    <a:pt x="213868" y="574040"/>
                  </a:lnTo>
                  <a:lnTo>
                    <a:pt x="213868" y="430530"/>
                  </a:lnTo>
                  <a:lnTo>
                    <a:pt x="0" y="430530"/>
                  </a:lnTo>
                  <a:close/>
                </a:path>
              </a:pathLst>
            </a:custGeom>
            <a:solidFill>
              <a:srgbClr val="5B6C75"/>
            </a:solidFill>
            <a:ln w="19050" cap="sq">
              <a:solidFill>
                <a:srgbClr val="5B6C75"/>
              </a:solidFill>
              <a:prstDash val="solid"/>
              <a:miter/>
            </a:ln>
          </p:spPr>
        </p:sp>
      </p:grpSp>
      <p:grpSp>
        <p:nvGrpSpPr>
          <p:cNvPr name="Group 25" id="25"/>
          <p:cNvGrpSpPr/>
          <p:nvPr/>
        </p:nvGrpSpPr>
        <p:grpSpPr>
          <a:xfrm rot="0">
            <a:off x="7589139" y="2047875"/>
            <a:ext cx="3036570" cy="4682490"/>
            <a:chOff x="0" y="0"/>
            <a:chExt cx="4048760" cy="6243320"/>
          </a:xfrm>
        </p:grpSpPr>
        <p:sp>
          <p:nvSpPr>
            <p:cNvPr name="Freeform 26" id="26"/>
            <p:cNvSpPr/>
            <p:nvPr/>
          </p:nvSpPr>
          <p:spPr>
            <a:xfrm flipH="false" flipV="false" rot="0">
              <a:off x="0" y="0"/>
              <a:ext cx="4048760" cy="6243320"/>
            </a:xfrm>
            <a:custGeom>
              <a:avLst/>
              <a:gdLst/>
              <a:ahLst/>
              <a:cxnLst/>
              <a:rect r="r" b="b" t="t" l="l"/>
              <a:pathLst>
                <a:path h="6243320" w="4048760">
                  <a:moveTo>
                    <a:pt x="0" y="147193"/>
                  </a:moveTo>
                  <a:cubicBezTo>
                    <a:pt x="0" y="65913"/>
                    <a:pt x="65913" y="0"/>
                    <a:pt x="147193" y="0"/>
                  </a:cubicBezTo>
                  <a:lnTo>
                    <a:pt x="3901567" y="0"/>
                  </a:lnTo>
                  <a:cubicBezTo>
                    <a:pt x="3982847" y="0"/>
                    <a:pt x="4048760" y="65913"/>
                    <a:pt x="4048760" y="147193"/>
                  </a:cubicBezTo>
                  <a:lnTo>
                    <a:pt x="4048760" y="6096127"/>
                  </a:lnTo>
                  <a:cubicBezTo>
                    <a:pt x="4048760" y="6177407"/>
                    <a:pt x="3982847" y="6243320"/>
                    <a:pt x="3901567" y="6243320"/>
                  </a:cubicBezTo>
                  <a:lnTo>
                    <a:pt x="147193" y="6243320"/>
                  </a:lnTo>
                  <a:cubicBezTo>
                    <a:pt x="65913" y="6243320"/>
                    <a:pt x="0" y="6177407"/>
                    <a:pt x="0" y="6096127"/>
                  </a:cubicBezTo>
                  <a:close/>
                </a:path>
              </a:pathLst>
            </a:custGeom>
            <a:solidFill>
              <a:srgbClr val="EEF5F5"/>
            </a:solidFill>
            <a:ln w="19050" cap="sq">
              <a:solidFill>
                <a:srgbClr val="EEF5F5"/>
              </a:solidFill>
              <a:prstDash val="solid"/>
              <a:miter/>
            </a:ln>
          </p:spPr>
        </p:sp>
      </p:grpSp>
      <p:grpSp>
        <p:nvGrpSpPr>
          <p:cNvPr name="Group 27" id="27"/>
          <p:cNvGrpSpPr/>
          <p:nvPr/>
        </p:nvGrpSpPr>
        <p:grpSpPr>
          <a:xfrm rot="0">
            <a:off x="8549259" y="2322195"/>
            <a:ext cx="1116330" cy="1116330"/>
            <a:chOff x="0" y="0"/>
            <a:chExt cx="1488440" cy="1488440"/>
          </a:xfrm>
        </p:grpSpPr>
        <p:sp>
          <p:nvSpPr>
            <p:cNvPr name="Freeform 28" id="28"/>
            <p:cNvSpPr/>
            <p:nvPr/>
          </p:nvSpPr>
          <p:spPr>
            <a:xfrm flipH="false" flipV="false" rot="0">
              <a:off x="0" y="0"/>
              <a:ext cx="1488440" cy="1488440"/>
            </a:xfrm>
            <a:custGeom>
              <a:avLst/>
              <a:gdLst/>
              <a:ahLst/>
              <a:cxnLst/>
              <a:rect r="r" b="b" t="t" l="l"/>
              <a:pathLst>
                <a:path h="1488440" w="1488440">
                  <a:moveTo>
                    <a:pt x="0" y="744220"/>
                  </a:moveTo>
                  <a:cubicBezTo>
                    <a:pt x="0" y="333248"/>
                    <a:pt x="333248" y="0"/>
                    <a:pt x="744220" y="0"/>
                  </a:cubicBezTo>
                  <a:cubicBezTo>
                    <a:pt x="1155192" y="0"/>
                    <a:pt x="1488440" y="333248"/>
                    <a:pt x="1488440" y="744220"/>
                  </a:cubicBezTo>
                  <a:cubicBezTo>
                    <a:pt x="1488440" y="1155192"/>
                    <a:pt x="1155192" y="1488440"/>
                    <a:pt x="744220" y="1488440"/>
                  </a:cubicBezTo>
                  <a:cubicBezTo>
                    <a:pt x="333248" y="1488440"/>
                    <a:pt x="0" y="1155192"/>
                    <a:pt x="0" y="744220"/>
                  </a:cubicBezTo>
                  <a:close/>
                </a:path>
              </a:pathLst>
            </a:custGeom>
            <a:solidFill>
              <a:srgbClr val="0E7C86"/>
            </a:solidFill>
            <a:ln w="19050" cap="sq">
              <a:solidFill>
                <a:srgbClr val="0E7C86"/>
              </a:solidFill>
              <a:prstDash val="solid"/>
              <a:miter/>
            </a:ln>
          </p:spPr>
        </p:sp>
      </p:grpSp>
      <p:grpSp>
        <p:nvGrpSpPr>
          <p:cNvPr name="Group 29" id="29"/>
          <p:cNvGrpSpPr/>
          <p:nvPr/>
        </p:nvGrpSpPr>
        <p:grpSpPr>
          <a:xfrm rot="0">
            <a:off x="8833104" y="2606040"/>
            <a:ext cx="548640" cy="548640"/>
            <a:chOff x="0" y="0"/>
            <a:chExt cx="731520" cy="731520"/>
          </a:xfrm>
        </p:grpSpPr>
        <p:sp>
          <p:nvSpPr>
            <p:cNvPr name="Freeform 30" id="30" descr="preencode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6"/>
              <a:stretch>
                <a:fillRect l="0" t="0" r="0" b="0"/>
              </a:stretch>
            </a:blipFill>
          </p:spPr>
        </p:sp>
      </p:grpSp>
      <p:sp>
        <p:nvSpPr>
          <p:cNvPr name="TextBox 31" id="31"/>
          <p:cNvSpPr txBox="true"/>
          <p:nvPr/>
        </p:nvSpPr>
        <p:spPr>
          <a:xfrm rot="0">
            <a:off x="7804404" y="3568065"/>
            <a:ext cx="2606040" cy="485775"/>
          </a:xfrm>
          <a:prstGeom prst="rect">
            <a:avLst/>
          </a:prstGeom>
        </p:spPr>
        <p:txBody>
          <a:bodyPr anchor="t" rtlCol="false" tIns="0" lIns="0" bIns="0" rIns="0">
            <a:spAutoFit/>
          </a:bodyPr>
          <a:lstStyle/>
          <a:p>
            <a:pPr algn="ctr">
              <a:lnSpc>
                <a:spcPts val="3359"/>
              </a:lnSpc>
            </a:pPr>
            <a:r>
              <a:rPr lang="en-US" sz="2799" b="1">
                <a:solidFill>
                  <a:srgbClr val="0B4F5C"/>
                </a:solidFill>
                <a:latin typeface="Calibri"/>
                <a:ea typeface="Calibri"/>
                <a:cs typeface="Calibri"/>
                <a:sym typeface="Calibri"/>
              </a:rPr>
              <a:t>Kidney filtration</a:t>
            </a:r>
          </a:p>
        </p:txBody>
      </p:sp>
      <p:sp>
        <p:nvSpPr>
          <p:cNvPr name="TextBox 32" id="32"/>
          <p:cNvSpPr txBox="true"/>
          <p:nvPr/>
        </p:nvSpPr>
        <p:spPr>
          <a:xfrm rot="0">
            <a:off x="7845552" y="4341495"/>
            <a:ext cx="2537460" cy="1762125"/>
          </a:xfrm>
          <a:prstGeom prst="rect">
            <a:avLst/>
          </a:prstGeom>
        </p:spPr>
        <p:txBody>
          <a:bodyPr anchor="t" rtlCol="false" tIns="0" lIns="0" bIns="0" rIns="0">
            <a:spAutoFit/>
          </a:bodyPr>
          <a:lstStyle/>
          <a:p>
            <a:pPr algn="l">
              <a:lnSpc>
                <a:spcPts val="2729"/>
              </a:lnSpc>
            </a:pPr>
            <a:r>
              <a:rPr lang="en-US" sz="2274">
                <a:solidFill>
                  <a:srgbClr val="1B2B34"/>
                </a:solidFill>
                <a:latin typeface="Calibri"/>
                <a:ea typeface="Calibri"/>
                <a:cs typeface="Calibri"/>
                <a:sym typeface="Calibri"/>
              </a:rPr>
              <a:t>Autoregulation curve; painkiller, BP pill and water pill effects with real wear-off times</a:t>
            </a:r>
          </a:p>
        </p:txBody>
      </p:sp>
      <p:grpSp>
        <p:nvGrpSpPr>
          <p:cNvPr name="Group 33" id="33"/>
          <p:cNvGrpSpPr/>
          <p:nvPr/>
        </p:nvGrpSpPr>
        <p:grpSpPr>
          <a:xfrm rot="0">
            <a:off x="10634091" y="4036695"/>
            <a:ext cx="320802" cy="430530"/>
            <a:chOff x="0" y="0"/>
            <a:chExt cx="427736" cy="574040"/>
          </a:xfrm>
        </p:grpSpPr>
        <p:sp>
          <p:nvSpPr>
            <p:cNvPr name="Freeform 34" id="34"/>
            <p:cNvSpPr/>
            <p:nvPr/>
          </p:nvSpPr>
          <p:spPr>
            <a:xfrm flipH="false" flipV="false" rot="0">
              <a:off x="0" y="0"/>
              <a:ext cx="427736" cy="574040"/>
            </a:xfrm>
            <a:custGeom>
              <a:avLst/>
              <a:gdLst/>
              <a:ahLst/>
              <a:cxnLst/>
              <a:rect r="r" b="b" t="t" l="l"/>
              <a:pathLst>
                <a:path h="574040" w="427736">
                  <a:moveTo>
                    <a:pt x="0" y="143510"/>
                  </a:moveTo>
                  <a:lnTo>
                    <a:pt x="213868" y="143510"/>
                  </a:lnTo>
                  <a:lnTo>
                    <a:pt x="213868" y="0"/>
                  </a:lnTo>
                  <a:lnTo>
                    <a:pt x="427736" y="287020"/>
                  </a:lnTo>
                  <a:lnTo>
                    <a:pt x="213868" y="574040"/>
                  </a:lnTo>
                  <a:lnTo>
                    <a:pt x="213868" y="430530"/>
                  </a:lnTo>
                  <a:lnTo>
                    <a:pt x="0" y="430530"/>
                  </a:lnTo>
                  <a:close/>
                </a:path>
              </a:pathLst>
            </a:custGeom>
            <a:solidFill>
              <a:srgbClr val="5B6C75"/>
            </a:solidFill>
            <a:ln w="19050" cap="sq">
              <a:solidFill>
                <a:srgbClr val="5B6C75"/>
              </a:solidFill>
              <a:prstDash val="solid"/>
              <a:miter/>
            </a:ln>
          </p:spPr>
        </p:sp>
      </p:grpSp>
      <p:grpSp>
        <p:nvGrpSpPr>
          <p:cNvPr name="Group 35" id="35"/>
          <p:cNvGrpSpPr/>
          <p:nvPr/>
        </p:nvGrpSpPr>
        <p:grpSpPr>
          <a:xfrm rot="0">
            <a:off x="10976991" y="2047875"/>
            <a:ext cx="3036570" cy="4682490"/>
            <a:chOff x="0" y="0"/>
            <a:chExt cx="4048760" cy="6243320"/>
          </a:xfrm>
        </p:grpSpPr>
        <p:sp>
          <p:nvSpPr>
            <p:cNvPr name="Freeform 36" id="36"/>
            <p:cNvSpPr/>
            <p:nvPr/>
          </p:nvSpPr>
          <p:spPr>
            <a:xfrm flipH="false" flipV="false" rot="0">
              <a:off x="0" y="0"/>
              <a:ext cx="4048760" cy="6243320"/>
            </a:xfrm>
            <a:custGeom>
              <a:avLst/>
              <a:gdLst/>
              <a:ahLst/>
              <a:cxnLst/>
              <a:rect r="r" b="b" t="t" l="l"/>
              <a:pathLst>
                <a:path h="6243320" w="4048760">
                  <a:moveTo>
                    <a:pt x="0" y="147193"/>
                  </a:moveTo>
                  <a:cubicBezTo>
                    <a:pt x="0" y="65913"/>
                    <a:pt x="65913" y="0"/>
                    <a:pt x="147193" y="0"/>
                  </a:cubicBezTo>
                  <a:lnTo>
                    <a:pt x="3901567" y="0"/>
                  </a:lnTo>
                  <a:cubicBezTo>
                    <a:pt x="3982847" y="0"/>
                    <a:pt x="4048760" y="65913"/>
                    <a:pt x="4048760" y="147193"/>
                  </a:cubicBezTo>
                  <a:lnTo>
                    <a:pt x="4048760" y="6096127"/>
                  </a:lnTo>
                  <a:cubicBezTo>
                    <a:pt x="4048760" y="6177407"/>
                    <a:pt x="3982847" y="6243320"/>
                    <a:pt x="3901567" y="6243320"/>
                  </a:cubicBezTo>
                  <a:lnTo>
                    <a:pt x="147193" y="6243320"/>
                  </a:lnTo>
                  <a:cubicBezTo>
                    <a:pt x="65913" y="6243320"/>
                    <a:pt x="0" y="6177407"/>
                    <a:pt x="0" y="6096127"/>
                  </a:cubicBezTo>
                  <a:close/>
                </a:path>
              </a:pathLst>
            </a:custGeom>
            <a:solidFill>
              <a:srgbClr val="EEF5F5"/>
            </a:solidFill>
            <a:ln w="19050" cap="sq">
              <a:solidFill>
                <a:srgbClr val="EEF5F5"/>
              </a:solidFill>
              <a:prstDash val="solid"/>
              <a:miter/>
            </a:ln>
          </p:spPr>
        </p:sp>
      </p:grpSp>
      <p:grpSp>
        <p:nvGrpSpPr>
          <p:cNvPr name="Group 37" id="37"/>
          <p:cNvGrpSpPr/>
          <p:nvPr/>
        </p:nvGrpSpPr>
        <p:grpSpPr>
          <a:xfrm rot="0">
            <a:off x="11937111" y="2322195"/>
            <a:ext cx="1116330" cy="1116330"/>
            <a:chOff x="0" y="0"/>
            <a:chExt cx="1488440" cy="1488440"/>
          </a:xfrm>
        </p:grpSpPr>
        <p:sp>
          <p:nvSpPr>
            <p:cNvPr name="Freeform 38" id="38"/>
            <p:cNvSpPr/>
            <p:nvPr/>
          </p:nvSpPr>
          <p:spPr>
            <a:xfrm flipH="false" flipV="false" rot="0">
              <a:off x="0" y="0"/>
              <a:ext cx="1488440" cy="1488440"/>
            </a:xfrm>
            <a:custGeom>
              <a:avLst/>
              <a:gdLst/>
              <a:ahLst/>
              <a:cxnLst/>
              <a:rect r="r" b="b" t="t" l="l"/>
              <a:pathLst>
                <a:path h="1488440" w="1488440">
                  <a:moveTo>
                    <a:pt x="0" y="744220"/>
                  </a:moveTo>
                  <a:cubicBezTo>
                    <a:pt x="0" y="333248"/>
                    <a:pt x="333248" y="0"/>
                    <a:pt x="744220" y="0"/>
                  </a:cubicBezTo>
                  <a:cubicBezTo>
                    <a:pt x="1155192" y="0"/>
                    <a:pt x="1488440" y="333248"/>
                    <a:pt x="1488440" y="744220"/>
                  </a:cubicBezTo>
                  <a:cubicBezTo>
                    <a:pt x="1488440" y="1155192"/>
                    <a:pt x="1155192" y="1488440"/>
                    <a:pt x="744220" y="1488440"/>
                  </a:cubicBezTo>
                  <a:cubicBezTo>
                    <a:pt x="333248" y="1488440"/>
                    <a:pt x="0" y="1155192"/>
                    <a:pt x="0" y="744220"/>
                  </a:cubicBezTo>
                  <a:close/>
                </a:path>
              </a:pathLst>
            </a:custGeom>
            <a:solidFill>
              <a:srgbClr val="0E7C86"/>
            </a:solidFill>
            <a:ln w="19050" cap="sq">
              <a:solidFill>
                <a:srgbClr val="0E7C86"/>
              </a:solidFill>
              <a:prstDash val="solid"/>
              <a:miter/>
            </a:ln>
          </p:spPr>
        </p:sp>
      </p:grpSp>
      <p:grpSp>
        <p:nvGrpSpPr>
          <p:cNvPr name="Group 39" id="39"/>
          <p:cNvGrpSpPr/>
          <p:nvPr/>
        </p:nvGrpSpPr>
        <p:grpSpPr>
          <a:xfrm rot="0">
            <a:off x="12220956" y="2606040"/>
            <a:ext cx="548640" cy="548640"/>
            <a:chOff x="0" y="0"/>
            <a:chExt cx="731520" cy="731520"/>
          </a:xfrm>
        </p:grpSpPr>
        <p:sp>
          <p:nvSpPr>
            <p:cNvPr name="Freeform 40" id="40" descr="preencode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7"/>
              <a:stretch>
                <a:fillRect l="0" t="0" r="0" b="0"/>
              </a:stretch>
            </a:blipFill>
          </p:spPr>
        </p:sp>
      </p:grpSp>
      <p:sp>
        <p:nvSpPr>
          <p:cNvPr name="TextBox 41" id="41"/>
          <p:cNvSpPr txBox="true"/>
          <p:nvPr/>
        </p:nvSpPr>
        <p:spPr>
          <a:xfrm rot="0">
            <a:off x="11192256" y="3568065"/>
            <a:ext cx="2606040" cy="485775"/>
          </a:xfrm>
          <a:prstGeom prst="rect">
            <a:avLst/>
          </a:prstGeom>
        </p:spPr>
        <p:txBody>
          <a:bodyPr anchor="t" rtlCol="false" tIns="0" lIns="0" bIns="0" rIns="0">
            <a:spAutoFit/>
          </a:bodyPr>
          <a:lstStyle/>
          <a:p>
            <a:pPr algn="ctr">
              <a:lnSpc>
                <a:spcPts val="3359"/>
              </a:lnSpc>
            </a:pPr>
            <a:r>
              <a:rPr lang="en-US" sz="2799" b="1">
                <a:solidFill>
                  <a:srgbClr val="0B4F5C"/>
                </a:solidFill>
                <a:latin typeface="Calibri"/>
                <a:ea typeface="Calibri"/>
                <a:cs typeface="Calibri"/>
                <a:sym typeface="Calibri"/>
              </a:rPr>
              <a:t>Creatinine</a:t>
            </a:r>
          </a:p>
        </p:txBody>
      </p:sp>
      <p:sp>
        <p:nvSpPr>
          <p:cNvPr name="TextBox 42" id="42"/>
          <p:cNvSpPr txBox="true"/>
          <p:nvPr/>
        </p:nvSpPr>
        <p:spPr>
          <a:xfrm rot="0">
            <a:off x="11233404" y="4341495"/>
            <a:ext cx="2537460" cy="1762125"/>
          </a:xfrm>
          <a:prstGeom prst="rect">
            <a:avLst/>
          </a:prstGeom>
        </p:spPr>
        <p:txBody>
          <a:bodyPr anchor="t" rtlCol="false" tIns="0" lIns="0" bIns="0" rIns="0">
            <a:spAutoFit/>
          </a:bodyPr>
          <a:lstStyle/>
          <a:p>
            <a:pPr algn="l">
              <a:lnSpc>
                <a:spcPts val="2729"/>
              </a:lnSpc>
            </a:pPr>
            <a:r>
              <a:rPr lang="en-US" sz="2274">
                <a:solidFill>
                  <a:srgbClr val="1B2B34"/>
                </a:solidFill>
                <a:latin typeface="Calibri"/>
                <a:ea typeface="Calibri"/>
                <a:cs typeface="Calibri"/>
                <a:sym typeface="Calibri"/>
              </a:rPr>
              <a:t>Mass-conserving kinetics, incl. haemoconcentration; read at 08:00 like a lab</a:t>
            </a:r>
          </a:p>
        </p:txBody>
      </p:sp>
      <p:grpSp>
        <p:nvGrpSpPr>
          <p:cNvPr name="Group 43" id="43"/>
          <p:cNvGrpSpPr/>
          <p:nvPr/>
        </p:nvGrpSpPr>
        <p:grpSpPr>
          <a:xfrm rot="0">
            <a:off x="14021943" y="4036695"/>
            <a:ext cx="320802" cy="430530"/>
            <a:chOff x="0" y="0"/>
            <a:chExt cx="427736" cy="574040"/>
          </a:xfrm>
        </p:grpSpPr>
        <p:sp>
          <p:nvSpPr>
            <p:cNvPr name="Freeform 44" id="44"/>
            <p:cNvSpPr/>
            <p:nvPr/>
          </p:nvSpPr>
          <p:spPr>
            <a:xfrm flipH="false" flipV="false" rot="0">
              <a:off x="0" y="0"/>
              <a:ext cx="427736" cy="574040"/>
            </a:xfrm>
            <a:custGeom>
              <a:avLst/>
              <a:gdLst/>
              <a:ahLst/>
              <a:cxnLst/>
              <a:rect r="r" b="b" t="t" l="l"/>
              <a:pathLst>
                <a:path h="574040" w="427736">
                  <a:moveTo>
                    <a:pt x="0" y="143510"/>
                  </a:moveTo>
                  <a:lnTo>
                    <a:pt x="213868" y="143510"/>
                  </a:lnTo>
                  <a:lnTo>
                    <a:pt x="213868" y="0"/>
                  </a:lnTo>
                  <a:lnTo>
                    <a:pt x="427736" y="287020"/>
                  </a:lnTo>
                  <a:lnTo>
                    <a:pt x="213868" y="574040"/>
                  </a:lnTo>
                  <a:lnTo>
                    <a:pt x="213868" y="430530"/>
                  </a:lnTo>
                  <a:lnTo>
                    <a:pt x="0" y="430530"/>
                  </a:lnTo>
                  <a:close/>
                </a:path>
              </a:pathLst>
            </a:custGeom>
            <a:solidFill>
              <a:srgbClr val="5B6C75"/>
            </a:solidFill>
            <a:ln w="19050" cap="sq">
              <a:solidFill>
                <a:srgbClr val="5B6C75"/>
              </a:solidFill>
              <a:prstDash val="solid"/>
              <a:miter/>
            </a:ln>
          </p:spPr>
        </p:sp>
      </p:grpSp>
      <p:grpSp>
        <p:nvGrpSpPr>
          <p:cNvPr name="Group 45" id="45"/>
          <p:cNvGrpSpPr/>
          <p:nvPr/>
        </p:nvGrpSpPr>
        <p:grpSpPr>
          <a:xfrm rot="0">
            <a:off x="14364843" y="2047875"/>
            <a:ext cx="3036570" cy="4682490"/>
            <a:chOff x="0" y="0"/>
            <a:chExt cx="4048760" cy="6243320"/>
          </a:xfrm>
        </p:grpSpPr>
        <p:sp>
          <p:nvSpPr>
            <p:cNvPr name="Freeform 46" id="46"/>
            <p:cNvSpPr/>
            <p:nvPr/>
          </p:nvSpPr>
          <p:spPr>
            <a:xfrm flipH="false" flipV="false" rot="0">
              <a:off x="0" y="0"/>
              <a:ext cx="4048760" cy="6243320"/>
            </a:xfrm>
            <a:custGeom>
              <a:avLst/>
              <a:gdLst/>
              <a:ahLst/>
              <a:cxnLst/>
              <a:rect r="r" b="b" t="t" l="l"/>
              <a:pathLst>
                <a:path h="6243320" w="4048760">
                  <a:moveTo>
                    <a:pt x="0" y="147193"/>
                  </a:moveTo>
                  <a:cubicBezTo>
                    <a:pt x="0" y="65913"/>
                    <a:pt x="65913" y="0"/>
                    <a:pt x="147193" y="0"/>
                  </a:cubicBezTo>
                  <a:lnTo>
                    <a:pt x="3901567" y="0"/>
                  </a:lnTo>
                  <a:cubicBezTo>
                    <a:pt x="3982847" y="0"/>
                    <a:pt x="4048760" y="65913"/>
                    <a:pt x="4048760" y="147193"/>
                  </a:cubicBezTo>
                  <a:lnTo>
                    <a:pt x="4048760" y="6096127"/>
                  </a:lnTo>
                  <a:cubicBezTo>
                    <a:pt x="4048760" y="6177407"/>
                    <a:pt x="3982847" y="6243320"/>
                    <a:pt x="3901567" y="6243320"/>
                  </a:cubicBezTo>
                  <a:lnTo>
                    <a:pt x="147193" y="6243320"/>
                  </a:lnTo>
                  <a:cubicBezTo>
                    <a:pt x="65913" y="6243320"/>
                    <a:pt x="0" y="6177407"/>
                    <a:pt x="0" y="6096127"/>
                  </a:cubicBezTo>
                  <a:close/>
                </a:path>
              </a:pathLst>
            </a:custGeom>
            <a:solidFill>
              <a:srgbClr val="EEF5F5"/>
            </a:solidFill>
            <a:ln w="19050" cap="sq">
              <a:solidFill>
                <a:srgbClr val="EEF5F5"/>
              </a:solidFill>
              <a:prstDash val="solid"/>
              <a:miter/>
            </a:ln>
          </p:spPr>
        </p:sp>
      </p:grpSp>
      <p:grpSp>
        <p:nvGrpSpPr>
          <p:cNvPr name="Group 47" id="47"/>
          <p:cNvGrpSpPr/>
          <p:nvPr/>
        </p:nvGrpSpPr>
        <p:grpSpPr>
          <a:xfrm rot="0">
            <a:off x="15324963" y="2322195"/>
            <a:ext cx="1116330" cy="1116330"/>
            <a:chOff x="0" y="0"/>
            <a:chExt cx="1488440" cy="1488440"/>
          </a:xfrm>
        </p:grpSpPr>
        <p:sp>
          <p:nvSpPr>
            <p:cNvPr name="Freeform 48" id="48"/>
            <p:cNvSpPr/>
            <p:nvPr/>
          </p:nvSpPr>
          <p:spPr>
            <a:xfrm flipH="false" flipV="false" rot="0">
              <a:off x="0" y="0"/>
              <a:ext cx="1488440" cy="1488440"/>
            </a:xfrm>
            <a:custGeom>
              <a:avLst/>
              <a:gdLst/>
              <a:ahLst/>
              <a:cxnLst/>
              <a:rect r="r" b="b" t="t" l="l"/>
              <a:pathLst>
                <a:path h="1488440" w="1488440">
                  <a:moveTo>
                    <a:pt x="0" y="744220"/>
                  </a:moveTo>
                  <a:cubicBezTo>
                    <a:pt x="0" y="333248"/>
                    <a:pt x="333248" y="0"/>
                    <a:pt x="744220" y="0"/>
                  </a:cubicBezTo>
                  <a:cubicBezTo>
                    <a:pt x="1155192" y="0"/>
                    <a:pt x="1488440" y="333248"/>
                    <a:pt x="1488440" y="744220"/>
                  </a:cubicBezTo>
                  <a:cubicBezTo>
                    <a:pt x="1488440" y="1155192"/>
                    <a:pt x="1155192" y="1488440"/>
                    <a:pt x="744220" y="1488440"/>
                  </a:cubicBezTo>
                  <a:cubicBezTo>
                    <a:pt x="333248" y="1488440"/>
                    <a:pt x="0" y="1155192"/>
                    <a:pt x="0" y="744220"/>
                  </a:cubicBezTo>
                  <a:close/>
                </a:path>
              </a:pathLst>
            </a:custGeom>
            <a:solidFill>
              <a:srgbClr val="D9472B"/>
            </a:solidFill>
            <a:ln w="19050" cap="sq">
              <a:solidFill>
                <a:srgbClr val="D9472B"/>
              </a:solidFill>
              <a:prstDash val="solid"/>
              <a:miter/>
            </a:ln>
          </p:spPr>
        </p:sp>
      </p:grpSp>
      <p:grpSp>
        <p:nvGrpSpPr>
          <p:cNvPr name="Group 49" id="49"/>
          <p:cNvGrpSpPr/>
          <p:nvPr/>
        </p:nvGrpSpPr>
        <p:grpSpPr>
          <a:xfrm rot="0">
            <a:off x="15608808" y="2606040"/>
            <a:ext cx="548640" cy="548640"/>
            <a:chOff x="0" y="0"/>
            <a:chExt cx="731520" cy="731520"/>
          </a:xfrm>
        </p:grpSpPr>
        <p:sp>
          <p:nvSpPr>
            <p:cNvPr name="Freeform 50" id="50" descr="preencode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8"/>
              <a:stretch>
                <a:fillRect l="0" t="0" r="0" b="0"/>
              </a:stretch>
            </a:blipFill>
          </p:spPr>
        </p:sp>
      </p:grpSp>
      <p:sp>
        <p:nvSpPr>
          <p:cNvPr name="TextBox 51" id="51"/>
          <p:cNvSpPr txBox="true"/>
          <p:nvPr/>
        </p:nvSpPr>
        <p:spPr>
          <a:xfrm rot="0">
            <a:off x="14580108" y="3568065"/>
            <a:ext cx="2606040" cy="485775"/>
          </a:xfrm>
          <a:prstGeom prst="rect">
            <a:avLst/>
          </a:prstGeom>
        </p:spPr>
        <p:txBody>
          <a:bodyPr anchor="t" rtlCol="false" tIns="0" lIns="0" bIns="0" rIns="0">
            <a:spAutoFit/>
          </a:bodyPr>
          <a:lstStyle/>
          <a:p>
            <a:pPr algn="ctr">
              <a:lnSpc>
                <a:spcPts val="3359"/>
              </a:lnSpc>
            </a:pPr>
            <a:r>
              <a:rPr lang="en-US" sz="2799" b="1">
                <a:solidFill>
                  <a:srgbClr val="0B4F5C"/>
                </a:solidFill>
                <a:latin typeface="Calibri"/>
                <a:ea typeface="Calibri"/>
                <a:cs typeface="Calibri"/>
                <a:sym typeface="Calibri"/>
              </a:rPr>
              <a:t>72-h risk</a:t>
            </a:r>
          </a:p>
        </p:txBody>
      </p:sp>
      <p:sp>
        <p:nvSpPr>
          <p:cNvPr name="TextBox 52" id="52"/>
          <p:cNvSpPr txBox="true"/>
          <p:nvPr/>
        </p:nvSpPr>
        <p:spPr>
          <a:xfrm rot="0">
            <a:off x="14621256" y="4341495"/>
            <a:ext cx="2537460" cy="1762125"/>
          </a:xfrm>
          <a:prstGeom prst="rect">
            <a:avLst/>
          </a:prstGeom>
        </p:spPr>
        <p:txBody>
          <a:bodyPr anchor="t" rtlCol="false" tIns="0" lIns="0" bIns="0" rIns="0">
            <a:spAutoFit/>
          </a:bodyPr>
          <a:lstStyle/>
          <a:p>
            <a:pPr algn="l">
              <a:lnSpc>
                <a:spcPts val="2729"/>
              </a:lnSpc>
            </a:pPr>
            <a:r>
              <a:rPr lang="en-US" sz="2274">
                <a:solidFill>
                  <a:srgbClr val="1B2B34"/>
                </a:solidFill>
                <a:latin typeface="Calibri"/>
                <a:ea typeface="Calibri"/>
                <a:cs typeface="Calibri"/>
                <a:sym typeface="Calibri"/>
              </a:rPr>
              <a:t>200 Monte-Carlo futures with a noisy weather forecast; risk = share that meets KDIGO</a:t>
            </a:r>
          </a:p>
        </p:txBody>
      </p:sp>
      <p:grpSp>
        <p:nvGrpSpPr>
          <p:cNvPr name="Group 53" id="53"/>
          <p:cNvGrpSpPr/>
          <p:nvPr/>
        </p:nvGrpSpPr>
        <p:grpSpPr>
          <a:xfrm rot="0">
            <a:off x="813435" y="7054215"/>
            <a:ext cx="16615410" cy="1733550"/>
            <a:chOff x="0" y="0"/>
            <a:chExt cx="22153880" cy="2311400"/>
          </a:xfrm>
        </p:grpSpPr>
        <p:sp>
          <p:nvSpPr>
            <p:cNvPr name="Freeform 54" id="54"/>
            <p:cNvSpPr/>
            <p:nvPr/>
          </p:nvSpPr>
          <p:spPr>
            <a:xfrm flipH="false" flipV="false" rot="0">
              <a:off x="0" y="0"/>
              <a:ext cx="22153880" cy="2311400"/>
            </a:xfrm>
            <a:custGeom>
              <a:avLst/>
              <a:gdLst/>
              <a:ahLst/>
              <a:cxnLst/>
              <a:rect r="r" b="b" t="t" l="l"/>
              <a:pathLst>
                <a:path h="2311400" w="22153880">
                  <a:moveTo>
                    <a:pt x="0" y="147955"/>
                  </a:moveTo>
                  <a:cubicBezTo>
                    <a:pt x="0" y="66167"/>
                    <a:pt x="66167" y="0"/>
                    <a:pt x="147955" y="0"/>
                  </a:cubicBezTo>
                  <a:lnTo>
                    <a:pt x="22005925" y="0"/>
                  </a:lnTo>
                  <a:cubicBezTo>
                    <a:pt x="22087585" y="0"/>
                    <a:pt x="22153880" y="66167"/>
                    <a:pt x="22153880" y="147955"/>
                  </a:cubicBezTo>
                  <a:lnTo>
                    <a:pt x="22153880" y="2163445"/>
                  </a:lnTo>
                  <a:cubicBezTo>
                    <a:pt x="22153880" y="2245106"/>
                    <a:pt x="22087712" y="2311400"/>
                    <a:pt x="22005925" y="2311400"/>
                  </a:cubicBezTo>
                  <a:lnTo>
                    <a:pt x="147955" y="2311400"/>
                  </a:lnTo>
                  <a:cubicBezTo>
                    <a:pt x="66167" y="2311400"/>
                    <a:pt x="0" y="2245233"/>
                    <a:pt x="0" y="2163445"/>
                  </a:cubicBezTo>
                  <a:close/>
                </a:path>
              </a:pathLst>
            </a:custGeom>
            <a:solidFill>
              <a:srgbClr val="0B4F5C"/>
            </a:solidFill>
            <a:ln w="19050" cap="sq">
              <a:solidFill>
                <a:srgbClr val="0B4F5C"/>
              </a:solidFill>
              <a:prstDash val="solid"/>
              <a:miter/>
            </a:ln>
          </p:spPr>
        </p:sp>
      </p:grpSp>
      <p:grpSp>
        <p:nvGrpSpPr>
          <p:cNvPr name="Group 55" id="55"/>
          <p:cNvGrpSpPr/>
          <p:nvPr/>
        </p:nvGrpSpPr>
        <p:grpSpPr>
          <a:xfrm rot="0">
            <a:off x="1224915" y="7328535"/>
            <a:ext cx="1184910" cy="1184910"/>
            <a:chOff x="0" y="0"/>
            <a:chExt cx="1579880" cy="1579880"/>
          </a:xfrm>
        </p:grpSpPr>
        <p:sp>
          <p:nvSpPr>
            <p:cNvPr name="Freeform 56" id="56"/>
            <p:cNvSpPr/>
            <p:nvPr/>
          </p:nvSpPr>
          <p:spPr>
            <a:xfrm flipH="false" flipV="false" rot="0">
              <a:off x="0" y="0"/>
              <a:ext cx="1579880" cy="1579880"/>
            </a:xfrm>
            <a:custGeom>
              <a:avLst/>
              <a:gdLst/>
              <a:ahLst/>
              <a:cxnLst/>
              <a:rect r="r" b="b" t="t" l="l"/>
              <a:pathLst>
                <a:path h="1579880" w="1579880">
                  <a:moveTo>
                    <a:pt x="0" y="789940"/>
                  </a:moveTo>
                  <a:cubicBezTo>
                    <a:pt x="0" y="353695"/>
                    <a:pt x="353695" y="0"/>
                    <a:pt x="789940" y="0"/>
                  </a:cubicBezTo>
                  <a:cubicBezTo>
                    <a:pt x="1226185" y="0"/>
                    <a:pt x="1579880" y="353695"/>
                    <a:pt x="1579880" y="789940"/>
                  </a:cubicBezTo>
                  <a:cubicBezTo>
                    <a:pt x="1579880" y="1226185"/>
                    <a:pt x="1226185" y="1579880"/>
                    <a:pt x="789940" y="1579880"/>
                  </a:cubicBezTo>
                  <a:cubicBezTo>
                    <a:pt x="353695" y="1579880"/>
                    <a:pt x="0" y="1226185"/>
                    <a:pt x="0" y="789940"/>
                  </a:cubicBezTo>
                  <a:close/>
                </a:path>
              </a:pathLst>
            </a:custGeom>
            <a:solidFill>
              <a:srgbClr val="0E7C86"/>
            </a:solidFill>
            <a:ln w="19050" cap="sq">
              <a:solidFill>
                <a:srgbClr val="0E7C86"/>
              </a:solidFill>
              <a:prstDash val="solid"/>
              <a:miter/>
            </a:ln>
          </p:spPr>
        </p:sp>
      </p:grpSp>
      <p:grpSp>
        <p:nvGrpSpPr>
          <p:cNvPr name="Group 57" id="57"/>
          <p:cNvGrpSpPr/>
          <p:nvPr/>
        </p:nvGrpSpPr>
        <p:grpSpPr>
          <a:xfrm rot="0">
            <a:off x="1525905" y="7629525"/>
            <a:ext cx="582930" cy="582930"/>
            <a:chOff x="0" y="0"/>
            <a:chExt cx="777240" cy="777240"/>
          </a:xfrm>
        </p:grpSpPr>
        <p:sp>
          <p:nvSpPr>
            <p:cNvPr name="Freeform 58" id="58" descr="preencoded.png"/>
            <p:cNvSpPr/>
            <p:nvPr/>
          </p:nvSpPr>
          <p:spPr>
            <a:xfrm flipH="false" flipV="false" rot="0">
              <a:off x="0" y="0"/>
              <a:ext cx="777240" cy="777240"/>
            </a:xfrm>
            <a:custGeom>
              <a:avLst/>
              <a:gdLst/>
              <a:ahLst/>
              <a:cxnLst/>
              <a:rect r="r" b="b" t="t" l="l"/>
              <a:pathLst>
                <a:path h="777240" w="777240">
                  <a:moveTo>
                    <a:pt x="0" y="0"/>
                  </a:moveTo>
                  <a:lnTo>
                    <a:pt x="777240" y="0"/>
                  </a:lnTo>
                  <a:lnTo>
                    <a:pt x="777240" y="777240"/>
                  </a:lnTo>
                  <a:lnTo>
                    <a:pt x="0" y="777240"/>
                  </a:lnTo>
                  <a:lnTo>
                    <a:pt x="0" y="0"/>
                  </a:lnTo>
                  <a:close/>
                </a:path>
              </a:pathLst>
            </a:custGeom>
            <a:blipFill>
              <a:blip r:embed="rId9"/>
              <a:stretch>
                <a:fillRect l="0" t="0" r="0" b="0"/>
              </a:stretch>
            </a:blipFill>
          </p:spPr>
        </p:sp>
      </p:grpSp>
      <p:grpSp>
        <p:nvGrpSpPr>
          <p:cNvPr name="Group 59" id="59"/>
          <p:cNvGrpSpPr/>
          <p:nvPr/>
        </p:nvGrpSpPr>
        <p:grpSpPr>
          <a:xfrm rot="0">
            <a:off x="2674620" y="7200900"/>
            <a:ext cx="14401800" cy="1440180"/>
            <a:chOff x="0" y="0"/>
            <a:chExt cx="19202400" cy="1920240"/>
          </a:xfrm>
        </p:grpSpPr>
        <p:sp>
          <p:nvSpPr>
            <p:cNvPr name="Freeform 60" id="60"/>
            <p:cNvSpPr/>
            <p:nvPr/>
          </p:nvSpPr>
          <p:spPr>
            <a:xfrm flipH="false" flipV="false" rot="0">
              <a:off x="0" y="0"/>
              <a:ext cx="19202400" cy="1920240"/>
            </a:xfrm>
            <a:custGeom>
              <a:avLst/>
              <a:gdLst/>
              <a:ahLst/>
              <a:cxnLst/>
              <a:rect r="r" b="b" t="t" l="l"/>
              <a:pathLst>
                <a:path h="1920240" w="19202400">
                  <a:moveTo>
                    <a:pt x="0" y="0"/>
                  </a:moveTo>
                  <a:lnTo>
                    <a:pt x="19202400" y="0"/>
                  </a:lnTo>
                  <a:lnTo>
                    <a:pt x="19202400" y="1920240"/>
                  </a:lnTo>
                  <a:lnTo>
                    <a:pt x="0" y="1920240"/>
                  </a:lnTo>
                  <a:close/>
                </a:path>
              </a:pathLst>
            </a:custGeom>
            <a:blipFill>
              <a:blip r:embed="rId3">
                <a:alphaModFix amt="0"/>
              </a:blip>
              <a:stretch>
                <a:fillRect l="0" t="-144850" r="0" b="-144850"/>
              </a:stretch>
            </a:blipFill>
          </p:spPr>
        </p:sp>
        <p:sp>
          <p:nvSpPr>
            <p:cNvPr name="TextBox 61" id="61"/>
            <p:cNvSpPr txBox="true"/>
            <p:nvPr/>
          </p:nvSpPr>
          <p:spPr>
            <a:xfrm>
              <a:off x="0" y="-47625"/>
              <a:ext cx="19202400" cy="1967865"/>
            </a:xfrm>
            <a:prstGeom prst="rect">
              <a:avLst/>
            </a:prstGeom>
          </p:spPr>
          <p:txBody>
            <a:bodyPr anchor="ctr" rtlCol="false" tIns="0" lIns="0" bIns="0" rIns="0"/>
            <a:lstStyle/>
            <a:p>
              <a:pPr algn="l">
                <a:lnSpc>
                  <a:spcPts val="2999"/>
                </a:lnSpc>
              </a:pPr>
              <a:r>
                <a:rPr lang="en-US" sz="2499" b="1">
                  <a:solidFill>
                    <a:srgbClr val="FFFFFF"/>
                  </a:solidFill>
                  <a:latin typeface="Calibri"/>
                  <a:ea typeface="Calibri"/>
                  <a:cs typeface="Calibri"/>
                  <a:sym typeface="Calibri"/>
                </a:rPr>
                <a:t>Every morning the loop closes: </a:t>
              </a:r>
              <a:r>
                <a:rPr lang="en-US" sz="2499">
                  <a:solidFill>
                    <a:srgbClr val="BFE3E5"/>
                  </a:solidFill>
                  <a:latin typeface="Calibri"/>
                  <a:ea typeface="Calibri"/>
                  <a:cs typeface="Calibri"/>
                  <a:sym typeface="Calibri"/>
                </a:rPr>
                <a:t>the twin predicts today's weight and heart rate, compares them with the real readings, corrects its hidden state and learns the person's sweat rate. A lab result resets creatinine. Then a calibrated LightGBM model turns the twin's state into the alert.</a:t>
              </a:r>
            </a:p>
          </p:txBody>
        </p:sp>
      </p:grpSp>
      <p:sp>
        <p:nvSpPr>
          <p:cNvPr name="TextBox 62" id="62"/>
          <p:cNvSpPr txBox="true"/>
          <p:nvPr/>
        </p:nvSpPr>
        <p:spPr>
          <a:xfrm rot="0">
            <a:off x="16962120" y="9540240"/>
            <a:ext cx="640080" cy="342900"/>
          </a:xfrm>
          <a:prstGeom prst="rect">
            <a:avLst/>
          </a:prstGeom>
        </p:spPr>
        <p:txBody>
          <a:bodyPr anchor="t" rtlCol="false" tIns="0" lIns="0" bIns="0" rIns="0">
            <a:spAutoFit/>
          </a:bodyPr>
          <a:lstStyle/>
          <a:p>
            <a:pPr algn="r">
              <a:lnSpc>
                <a:spcPts val="2459"/>
              </a:lnSpc>
            </a:pPr>
            <a:r>
              <a:rPr lang="en-US" sz="2049">
                <a:solidFill>
                  <a:srgbClr val="5B6C75"/>
                </a:solidFill>
                <a:latin typeface="Calibri"/>
                <a:ea typeface="Calibri"/>
                <a:cs typeface="Calibri"/>
                <a:sym typeface="Calibri"/>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18769" y="-678781"/>
            <a:ext cx="16596360" cy="3593431"/>
            <a:chOff x="0" y="0"/>
            <a:chExt cx="22128480" cy="4791241"/>
          </a:xfrm>
        </p:grpSpPr>
        <p:sp>
          <p:nvSpPr>
            <p:cNvPr name="Freeform 3" id="3"/>
            <p:cNvSpPr/>
            <p:nvPr/>
          </p:nvSpPr>
          <p:spPr>
            <a:xfrm flipH="false" flipV="false" rot="0">
              <a:off x="0" y="0"/>
              <a:ext cx="22128480" cy="4791241"/>
            </a:xfrm>
            <a:custGeom>
              <a:avLst/>
              <a:gdLst/>
              <a:ahLst/>
              <a:cxnLst/>
              <a:rect r="r" b="b" t="t" l="l"/>
              <a:pathLst>
                <a:path h="4791241" w="22128480">
                  <a:moveTo>
                    <a:pt x="0" y="0"/>
                  </a:moveTo>
                  <a:lnTo>
                    <a:pt x="22128480" y="0"/>
                  </a:lnTo>
                  <a:lnTo>
                    <a:pt x="22128480" y="4791241"/>
                  </a:lnTo>
                  <a:lnTo>
                    <a:pt x="0" y="4791241"/>
                  </a:lnTo>
                  <a:close/>
                </a:path>
              </a:pathLst>
            </a:custGeom>
            <a:blipFill>
              <a:blip r:embed="rId3">
                <a:alphaModFix amt="0"/>
              </a:blip>
              <a:stretch>
                <a:fillRect l="0" t="-73770" r="0" b="-6214"/>
              </a:stretch>
            </a:blipFill>
          </p:spPr>
        </p:sp>
        <p:sp>
          <p:nvSpPr>
            <p:cNvPr name="TextBox 4" id="4"/>
            <p:cNvSpPr txBox="true"/>
            <p:nvPr/>
          </p:nvSpPr>
          <p:spPr>
            <a:xfrm>
              <a:off x="0" y="-9525"/>
              <a:ext cx="22128480" cy="4800766"/>
            </a:xfrm>
            <a:prstGeom prst="rect">
              <a:avLst/>
            </a:prstGeom>
          </p:spPr>
          <p:txBody>
            <a:bodyPr anchor="ctr" rtlCol="false" tIns="0" lIns="0" bIns="0" rIns="0"/>
            <a:lstStyle/>
            <a:p>
              <a:pPr algn="l">
                <a:lnSpc>
                  <a:spcPts val="5879"/>
                </a:lnSpc>
              </a:pPr>
              <a:r>
                <a:rPr lang="en-US" sz="4899" b="1">
                  <a:solidFill>
                    <a:srgbClr val="0B4F5C"/>
                  </a:solidFill>
                  <a:latin typeface="Cambria"/>
                  <a:ea typeface="Cambria"/>
                  <a:cs typeface="Cambria"/>
                  <a:sym typeface="Cambria"/>
                </a:rPr>
                <a:t>A day with VrikkaTwin</a:t>
              </a:r>
            </a:p>
          </p:txBody>
        </p:sp>
      </p:grpSp>
      <p:grpSp>
        <p:nvGrpSpPr>
          <p:cNvPr name="Group 5" id="5"/>
          <p:cNvGrpSpPr/>
          <p:nvPr/>
        </p:nvGrpSpPr>
        <p:grpSpPr>
          <a:xfrm rot="0">
            <a:off x="813435" y="2047875"/>
            <a:ext cx="5299710" cy="3036570"/>
            <a:chOff x="0" y="0"/>
            <a:chExt cx="7066280" cy="4048760"/>
          </a:xfrm>
        </p:grpSpPr>
        <p:sp>
          <p:nvSpPr>
            <p:cNvPr name="Freeform 6" id="6"/>
            <p:cNvSpPr/>
            <p:nvPr/>
          </p:nvSpPr>
          <p:spPr>
            <a:xfrm flipH="false" flipV="false" rot="0">
              <a:off x="0" y="0"/>
              <a:ext cx="7066280" cy="4048760"/>
            </a:xfrm>
            <a:custGeom>
              <a:avLst/>
              <a:gdLst/>
              <a:ahLst/>
              <a:cxnLst/>
              <a:rect r="r" b="b" t="t" l="l"/>
              <a:pathLst>
                <a:path h="4048760" w="7066280">
                  <a:moveTo>
                    <a:pt x="0" y="147193"/>
                  </a:moveTo>
                  <a:cubicBezTo>
                    <a:pt x="0" y="65913"/>
                    <a:pt x="65913" y="0"/>
                    <a:pt x="147193" y="0"/>
                  </a:cubicBezTo>
                  <a:lnTo>
                    <a:pt x="6919087" y="0"/>
                  </a:lnTo>
                  <a:cubicBezTo>
                    <a:pt x="7000367" y="0"/>
                    <a:pt x="7066280" y="65913"/>
                    <a:pt x="7066280" y="147193"/>
                  </a:cubicBezTo>
                  <a:lnTo>
                    <a:pt x="7066280" y="3901567"/>
                  </a:lnTo>
                  <a:cubicBezTo>
                    <a:pt x="7066280" y="3982847"/>
                    <a:pt x="7000367" y="4048760"/>
                    <a:pt x="6919087" y="4048760"/>
                  </a:cubicBezTo>
                  <a:lnTo>
                    <a:pt x="147193" y="4048760"/>
                  </a:lnTo>
                  <a:cubicBezTo>
                    <a:pt x="65913" y="4048760"/>
                    <a:pt x="0" y="3982847"/>
                    <a:pt x="0" y="3901567"/>
                  </a:cubicBezTo>
                  <a:close/>
                </a:path>
              </a:pathLst>
            </a:custGeom>
            <a:solidFill>
              <a:srgbClr val="EEF5F5"/>
            </a:solidFill>
            <a:ln w="19050" cap="sq">
              <a:solidFill>
                <a:srgbClr val="EEF5F5"/>
              </a:solidFill>
              <a:prstDash val="solid"/>
              <a:miter/>
            </a:ln>
          </p:spPr>
        </p:sp>
      </p:grpSp>
      <p:grpSp>
        <p:nvGrpSpPr>
          <p:cNvPr name="Group 7" id="7"/>
          <p:cNvGrpSpPr/>
          <p:nvPr/>
        </p:nvGrpSpPr>
        <p:grpSpPr>
          <a:xfrm rot="0">
            <a:off x="1156335" y="2390775"/>
            <a:ext cx="1047750" cy="1047750"/>
            <a:chOff x="0" y="0"/>
            <a:chExt cx="1397000" cy="1397000"/>
          </a:xfrm>
        </p:grpSpPr>
        <p:sp>
          <p:nvSpPr>
            <p:cNvPr name="Freeform 8" id="8"/>
            <p:cNvSpPr/>
            <p:nvPr/>
          </p:nvSpPr>
          <p:spPr>
            <a:xfrm flipH="false" flipV="false" rot="0">
              <a:off x="0" y="0"/>
              <a:ext cx="1397000" cy="1397000"/>
            </a:xfrm>
            <a:custGeom>
              <a:avLst/>
              <a:gdLst/>
              <a:ahLst/>
              <a:cxnLst/>
              <a:rect r="r" b="b" t="t" l="l"/>
              <a:pathLst>
                <a:path h="1397000" w="1397000">
                  <a:moveTo>
                    <a:pt x="0" y="698500"/>
                  </a:moveTo>
                  <a:cubicBezTo>
                    <a:pt x="0" y="312674"/>
                    <a:pt x="312674" y="0"/>
                    <a:pt x="698500" y="0"/>
                  </a:cubicBezTo>
                  <a:cubicBezTo>
                    <a:pt x="1084326" y="0"/>
                    <a:pt x="1397000" y="312674"/>
                    <a:pt x="1397000" y="698500"/>
                  </a:cubicBezTo>
                  <a:cubicBezTo>
                    <a:pt x="1397000" y="1084326"/>
                    <a:pt x="1084326" y="1397000"/>
                    <a:pt x="698500" y="1397000"/>
                  </a:cubicBezTo>
                  <a:cubicBezTo>
                    <a:pt x="312674" y="1397000"/>
                    <a:pt x="0" y="1084326"/>
                    <a:pt x="0" y="698500"/>
                  </a:cubicBezTo>
                  <a:close/>
                </a:path>
              </a:pathLst>
            </a:custGeom>
            <a:solidFill>
              <a:srgbClr val="0E7C86"/>
            </a:solidFill>
            <a:ln w="19050" cap="sq">
              <a:solidFill>
                <a:srgbClr val="0E7C86"/>
              </a:solidFill>
              <a:prstDash val="solid"/>
              <a:miter/>
            </a:ln>
          </p:spPr>
        </p:sp>
      </p:grpSp>
      <p:grpSp>
        <p:nvGrpSpPr>
          <p:cNvPr name="Group 9" id="9"/>
          <p:cNvGrpSpPr/>
          <p:nvPr/>
        </p:nvGrpSpPr>
        <p:grpSpPr>
          <a:xfrm rot="0">
            <a:off x="1423035" y="2657475"/>
            <a:ext cx="514350" cy="514350"/>
            <a:chOff x="0" y="0"/>
            <a:chExt cx="685800" cy="685800"/>
          </a:xfrm>
        </p:grpSpPr>
        <p:sp>
          <p:nvSpPr>
            <p:cNvPr name="Freeform 10" id="10" descr="preencoded.png"/>
            <p:cNvSpPr/>
            <p:nvPr/>
          </p:nvSpPr>
          <p:spPr>
            <a:xfrm flipH="false" flipV="false" rot="0">
              <a:off x="0" y="0"/>
              <a:ext cx="685800" cy="685800"/>
            </a:xfrm>
            <a:custGeom>
              <a:avLst/>
              <a:gdLst/>
              <a:ahLst/>
              <a:cxnLst/>
              <a:rect r="r" b="b" t="t" l="l"/>
              <a:pathLst>
                <a:path h="685800" w="685800">
                  <a:moveTo>
                    <a:pt x="0" y="0"/>
                  </a:moveTo>
                  <a:lnTo>
                    <a:pt x="685800" y="0"/>
                  </a:lnTo>
                  <a:lnTo>
                    <a:pt x="685800" y="685800"/>
                  </a:lnTo>
                  <a:lnTo>
                    <a:pt x="0" y="685800"/>
                  </a:lnTo>
                  <a:lnTo>
                    <a:pt x="0" y="0"/>
                  </a:lnTo>
                  <a:close/>
                </a:path>
              </a:pathLst>
            </a:custGeom>
            <a:blipFill>
              <a:blip r:embed="rId4"/>
              <a:stretch>
                <a:fillRect l="0" t="0" r="0" b="0"/>
              </a:stretch>
            </a:blipFill>
          </p:spPr>
        </p:sp>
      </p:grpSp>
      <p:sp>
        <p:nvSpPr>
          <p:cNvPr name="TextBox 11" id="11"/>
          <p:cNvSpPr txBox="true"/>
          <p:nvPr/>
        </p:nvSpPr>
        <p:spPr>
          <a:xfrm rot="0">
            <a:off x="2400300" y="2521458"/>
            <a:ext cx="3497580" cy="504825"/>
          </a:xfrm>
          <a:prstGeom prst="rect">
            <a:avLst/>
          </a:prstGeom>
        </p:spPr>
        <p:txBody>
          <a:bodyPr anchor="t" rtlCol="false" tIns="0" lIns="0" bIns="0" rIns="0">
            <a:spAutoFit/>
          </a:bodyPr>
          <a:lstStyle/>
          <a:p>
            <a:pPr algn="l">
              <a:lnSpc>
                <a:spcPts val="3539"/>
              </a:lnSpc>
            </a:pPr>
            <a:r>
              <a:rPr lang="en-US" sz="2949" b="1">
                <a:solidFill>
                  <a:srgbClr val="0B4F5C"/>
                </a:solidFill>
                <a:latin typeface="Calibri"/>
                <a:ea typeface="Calibri"/>
                <a:cs typeface="Calibri"/>
                <a:sym typeface="Calibri"/>
              </a:rPr>
              <a:t>1 · 07:00</a:t>
            </a:r>
          </a:p>
        </p:txBody>
      </p:sp>
      <p:sp>
        <p:nvSpPr>
          <p:cNvPr name="TextBox 12" id="12"/>
          <p:cNvSpPr txBox="true"/>
          <p:nvPr/>
        </p:nvSpPr>
        <p:spPr>
          <a:xfrm rot="0">
            <a:off x="1165860" y="3587115"/>
            <a:ext cx="4663440" cy="790575"/>
          </a:xfrm>
          <a:prstGeom prst="rect">
            <a:avLst/>
          </a:prstGeom>
        </p:spPr>
        <p:txBody>
          <a:bodyPr anchor="t" rtlCol="false" tIns="0" lIns="0" bIns="0" rIns="0">
            <a:spAutoFit/>
          </a:bodyPr>
          <a:lstStyle/>
          <a:p>
            <a:pPr algn="l">
              <a:lnSpc>
                <a:spcPts val="2999"/>
              </a:lnSpc>
            </a:pPr>
            <a:r>
              <a:rPr lang="en-US" sz="2499">
                <a:solidFill>
                  <a:srgbClr val="1B2B34"/>
                </a:solidFill>
                <a:latin typeface="Calibri"/>
                <a:ea typeface="Calibri"/>
                <a:cs typeface="Calibri"/>
                <a:sym typeface="Calibri"/>
              </a:rPr>
              <a:t>Morning weight, resting HR and check-in arrive (or the ASHA visits)</a:t>
            </a:r>
          </a:p>
        </p:txBody>
      </p:sp>
      <p:grpSp>
        <p:nvGrpSpPr>
          <p:cNvPr name="Group 13" id="13"/>
          <p:cNvGrpSpPr/>
          <p:nvPr/>
        </p:nvGrpSpPr>
        <p:grpSpPr>
          <a:xfrm rot="0">
            <a:off x="6464427" y="2047875"/>
            <a:ext cx="5299710" cy="3036570"/>
            <a:chOff x="0" y="0"/>
            <a:chExt cx="7066280" cy="4048760"/>
          </a:xfrm>
        </p:grpSpPr>
        <p:sp>
          <p:nvSpPr>
            <p:cNvPr name="Freeform 14" id="14"/>
            <p:cNvSpPr/>
            <p:nvPr/>
          </p:nvSpPr>
          <p:spPr>
            <a:xfrm flipH="false" flipV="false" rot="0">
              <a:off x="0" y="0"/>
              <a:ext cx="7066280" cy="4048760"/>
            </a:xfrm>
            <a:custGeom>
              <a:avLst/>
              <a:gdLst/>
              <a:ahLst/>
              <a:cxnLst/>
              <a:rect r="r" b="b" t="t" l="l"/>
              <a:pathLst>
                <a:path h="4048760" w="7066280">
                  <a:moveTo>
                    <a:pt x="0" y="147193"/>
                  </a:moveTo>
                  <a:cubicBezTo>
                    <a:pt x="0" y="65913"/>
                    <a:pt x="65913" y="0"/>
                    <a:pt x="147193" y="0"/>
                  </a:cubicBezTo>
                  <a:lnTo>
                    <a:pt x="6919087" y="0"/>
                  </a:lnTo>
                  <a:cubicBezTo>
                    <a:pt x="7000367" y="0"/>
                    <a:pt x="7066280" y="65913"/>
                    <a:pt x="7066280" y="147193"/>
                  </a:cubicBezTo>
                  <a:lnTo>
                    <a:pt x="7066280" y="3901567"/>
                  </a:lnTo>
                  <a:cubicBezTo>
                    <a:pt x="7066280" y="3982847"/>
                    <a:pt x="7000367" y="4048760"/>
                    <a:pt x="6919087" y="4048760"/>
                  </a:cubicBezTo>
                  <a:lnTo>
                    <a:pt x="147193" y="4048760"/>
                  </a:lnTo>
                  <a:cubicBezTo>
                    <a:pt x="65913" y="4048760"/>
                    <a:pt x="0" y="3982847"/>
                    <a:pt x="0" y="3901567"/>
                  </a:cubicBezTo>
                  <a:close/>
                </a:path>
              </a:pathLst>
            </a:custGeom>
            <a:solidFill>
              <a:srgbClr val="EEF5F5"/>
            </a:solidFill>
            <a:ln w="19050" cap="sq">
              <a:solidFill>
                <a:srgbClr val="EEF5F5"/>
              </a:solidFill>
              <a:prstDash val="solid"/>
              <a:miter/>
            </a:ln>
          </p:spPr>
        </p:sp>
      </p:grpSp>
      <p:grpSp>
        <p:nvGrpSpPr>
          <p:cNvPr name="Group 15" id="15"/>
          <p:cNvGrpSpPr/>
          <p:nvPr/>
        </p:nvGrpSpPr>
        <p:grpSpPr>
          <a:xfrm rot="0">
            <a:off x="6807327" y="2390775"/>
            <a:ext cx="1047750" cy="1047750"/>
            <a:chOff x="0" y="0"/>
            <a:chExt cx="1397000" cy="1397000"/>
          </a:xfrm>
        </p:grpSpPr>
        <p:sp>
          <p:nvSpPr>
            <p:cNvPr name="Freeform 16" id="16"/>
            <p:cNvSpPr/>
            <p:nvPr/>
          </p:nvSpPr>
          <p:spPr>
            <a:xfrm flipH="false" flipV="false" rot="0">
              <a:off x="0" y="0"/>
              <a:ext cx="1397000" cy="1397000"/>
            </a:xfrm>
            <a:custGeom>
              <a:avLst/>
              <a:gdLst/>
              <a:ahLst/>
              <a:cxnLst/>
              <a:rect r="r" b="b" t="t" l="l"/>
              <a:pathLst>
                <a:path h="1397000" w="1397000">
                  <a:moveTo>
                    <a:pt x="0" y="698500"/>
                  </a:moveTo>
                  <a:cubicBezTo>
                    <a:pt x="0" y="312674"/>
                    <a:pt x="312674" y="0"/>
                    <a:pt x="698500" y="0"/>
                  </a:cubicBezTo>
                  <a:cubicBezTo>
                    <a:pt x="1084326" y="0"/>
                    <a:pt x="1397000" y="312674"/>
                    <a:pt x="1397000" y="698500"/>
                  </a:cubicBezTo>
                  <a:cubicBezTo>
                    <a:pt x="1397000" y="1084326"/>
                    <a:pt x="1084326" y="1397000"/>
                    <a:pt x="698500" y="1397000"/>
                  </a:cubicBezTo>
                  <a:cubicBezTo>
                    <a:pt x="312674" y="1397000"/>
                    <a:pt x="0" y="1084326"/>
                    <a:pt x="0" y="698500"/>
                  </a:cubicBezTo>
                  <a:close/>
                </a:path>
              </a:pathLst>
            </a:custGeom>
            <a:solidFill>
              <a:srgbClr val="0E7C86"/>
            </a:solidFill>
            <a:ln w="19050" cap="sq">
              <a:solidFill>
                <a:srgbClr val="0E7C86"/>
              </a:solidFill>
              <a:prstDash val="solid"/>
              <a:miter/>
            </a:ln>
          </p:spPr>
        </p:sp>
      </p:grpSp>
      <p:grpSp>
        <p:nvGrpSpPr>
          <p:cNvPr name="Group 17" id="17"/>
          <p:cNvGrpSpPr/>
          <p:nvPr/>
        </p:nvGrpSpPr>
        <p:grpSpPr>
          <a:xfrm rot="0">
            <a:off x="7074027" y="2657475"/>
            <a:ext cx="514350" cy="514350"/>
            <a:chOff x="0" y="0"/>
            <a:chExt cx="685800" cy="685800"/>
          </a:xfrm>
        </p:grpSpPr>
        <p:sp>
          <p:nvSpPr>
            <p:cNvPr name="Freeform 18" id="18" descr="preencoded.png"/>
            <p:cNvSpPr/>
            <p:nvPr/>
          </p:nvSpPr>
          <p:spPr>
            <a:xfrm flipH="false" flipV="false" rot="0">
              <a:off x="0" y="0"/>
              <a:ext cx="685800" cy="685800"/>
            </a:xfrm>
            <a:custGeom>
              <a:avLst/>
              <a:gdLst/>
              <a:ahLst/>
              <a:cxnLst/>
              <a:rect r="r" b="b" t="t" l="l"/>
              <a:pathLst>
                <a:path h="685800" w="685800">
                  <a:moveTo>
                    <a:pt x="0" y="0"/>
                  </a:moveTo>
                  <a:lnTo>
                    <a:pt x="685800" y="0"/>
                  </a:lnTo>
                  <a:lnTo>
                    <a:pt x="685800" y="685800"/>
                  </a:lnTo>
                  <a:lnTo>
                    <a:pt x="0" y="685800"/>
                  </a:lnTo>
                  <a:lnTo>
                    <a:pt x="0" y="0"/>
                  </a:lnTo>
                  <a:close/>
                </a:path>
              </a:pathLst>
            </a:custGeom>
            <a:blipFill>
              <a:blip r:embed="rId5"/>
              <a:stretch>
                <a:fillRect l="0" t="0" r="0" b="0"/>
              </a:stretch>
            </a:blipFill>
          </p:spPr>
        </p:sp>
      </p:grpSp>
      <p:sp>
        <p:nvSpPr>
          <p:cNvPr name="TextBox 19" id="19"/>
          <p:cNvSpPr txBox="true"/>
          <p:nvPr/>
        </p:nvSpPr>
        <p:spPr>
          <a:xfrm rot="0">
            <a:off x="8051292" y="2521458"/>
            <a:ext cx="3497580" cy="504825"/>
          </a:xfrm>
          <a:prstGeom prst="rect">
            <a:avLst/>
          </a:prstGeom>
        </p:spPr>
        <p:txBody>
          <a:bodyPr anchor="t" rtlCol="false" tIns="0" lIns="0" bIns="0" rIns="0">
            <a:spAutoFit/>
          </a:bodyPr>
          <a:lstStyle/>
          <a:p>
            <a:pPr algn="l">
              <a:lnSpc>
                <a:spcPts val="3539"/>
              </a:lnSpc>
            </a:pPr>
            <a:r>
              <a:rPr lang="en-US" sz="2949" b="1">
                <a:solidFill>
                  <a:srgbClr val="0B4F5C"/>
                </a:solidFill>
                <a:latin typeface="Calibri"/>
                <a:ea typeface="Calibri"/>
                <a:cs typeface="Calibri"/>
                <a:sym typeface="Calibri"/>
              </a:rPr>
              <a:t>2 · 08:00</a:t>
            </a:r>
          </a:p>
        </p:txBody>
      </p:sp>
      <p:sp>
        <p:nvSpPr>
          <p:cNvPr name="TextBox 20" id="20"/>
          <p:cNvSpPr txBox="true"/>
          <p:nvPr/>
        </p:nvSpPr>
        <p:spPr>
          <a:xfrm rot="0">
            <a:off x="6816852" y="3587115"/>
            <a:ext cx="4663440" cy="790575"/>
          </a:xfrm>
          <a:prstGeom prst="rect">
            <a:avLst/>
          </a:prstGeom>
        </p:spPr>
        <p:txBody>
          <a:bodyPr anchor="t" rtlCol="false" tIns="0" lIns="0" bIns="0" rIns="0">
            <a:spAutoFit/>
          </a:bodyPr>
          <a:lstStyle/>
          <a:p>
            <a:pPr algn="l">
              <a:lnSpc>
                <a:spcPts val="2999"/>
              </a:lnSpc>
            </a:pPr>
            <a:r>
              <a:rPr lang="en-US" sz="2499">
                <a:solidFill>
                  <a:srgbClr val="1B2B34"/>
                </a:solidFill>
                <a:latin typeface="Calibri"/>
                <a:ea typeface="Calibri"/>
                <a:cs typeface="Calibri"/>
                <a:sym typeface="Calibri"/>
              </a:rPr>
              <a:t>The twin updates Riya's hidden state and creatinine estimate</a:t>
            </a:r>
          </a:p>
        </p:txBody>
      </p:sp>
      <p:grpSp>
        <p:nvGrpSpPr>
          <p:cNvPr name="Group 21" id="21"/>
          <p:cNvGrpSpPr/>
          <p:nvPr/>
        </p:nvGrpSpPr>
        <p:grpSpPr>
          <a:xfrm rot="0">
            <a:off x="12115419" y="2047875"/>
            <a:ext cx="5299710" cy="3036570"/>
            <a:chOff x="0" y="0"/>
            <a:chExt cx="7066280" cy="4048760"/>
          </a:xfrm>
        </p:grpSpPr>
        <p:sp>
          <p:nvSpPr>
            <p:cNvPr name="Freeform 22" id="22"/>
            <p:cNvSpPr/>
            <p:nvPr/>
          </p:nvSpPr>
          <p:spPr>
            <a:xfrm flipH="false" flipV="false" rot="0">
              <a:off x="0" y="0"/>
              <a:ext cx="7066280" cy="4048760"/>
            </a:xfrm>
            <a:custGeom>
              <a:avLst/>
              <a:gdLst/>
              <a:ahLst/>
              <a:cxnLst/>
              <a:rect r="r" b="b" t="t" l="l"/>
              <a:pathLst>
                <a:path h="4048760" w="7066280">
                  <a:moveTo>
                    <a:pt x="0" y="147193"/>
                  </a:moveTo>
                  <a:cubicBezTo>
                    <a:pt x="0" y="65913"/>
                    <a:pt x="65913" y="0"/>
                    <a:pt x="147193" y="0"/>
                  </a:cubicBezTo>
                  <a:lnTo>
                    <a:pt x="6919087" y="0"/>
                  </a:lnTo>
                  <a:cubicBezTo>
                    <a:pt x="7000367" y="0"/>
                    <a:pt x="7066280" y="65913"/>
                    <a:pt x="7066280" y="147193"/>
                  </a:cubicBezTo>
                  <a:lnTo>
                    <a:pt x="7066280" y="3901567"/>
                  </a:lnTo>
                  <a:cubicBezTo>
                    <a:pt x="7066280" y="3982847"/>
                    <a:pt x="7000367" y="4048760"/>
                    <a:pt x="6919087" y="4048760"/>
                  </a:cubicBezTo>
                  <a:lnTo>
                    <a:pt x="147193" y="4048760"/>
                  </a:lnTo>
                  <a:cubicBezTo>
                    <a:pt x="65913" y="4048760"/>
                    <a:pt x="0" y="3982847"/>
                    <a:pt x="0" y="3901567"/>
                  </a:cubicBezTo>
                  <a:close/>
                </a:path>
              </a:pathLst>
            </a:custGeom>
            <a:solidFill>
              <a:srgbClr val="EEF5F5"/>
            </a:solidFill>
            <a:ln w="19050" cap="sq">
              <a:solidFill>
                <a:srgbClr val="EEF5F5"/>
              </a:solidFill>
              <a:prstDash val="solid"/>
              <a:miter/>
            </a:ln>
          </p:spPr>
        </p:sp>
      </p:grpSp>
      <p:grpSp>
        <p:nvGrpSpPr>
          <p:cNvPr name="Group 23" id="23"/>
          <p:cNvGrpSpPr/>
          <p:nvPr/>
        </p:nvGrpSpPr>
        <p:grpSpPr>
          <a:xfrm rot="0">
            <a:off x="12458319" y="2390775"/>
            <a:ext cx="1047750" cy="1047750"/>
            <a:chOff x="0" y="0"/>
            <a:chExt cx="1397000" cy="1397000"/>
          </a:xfrm>
        </p:grpSpPr>
        <p:sp>
          <p:nvSpPr>
            <p:cNvPr name="Freeform 24" id="24"/>
            <p:cNvSpPr/>
            <p:nvPr/>
          </p:nvSpPr>
          <p:spPr>
            <a:xfrm flipH="false" flipV="false" rot="0">
              <a:off x="0" y="0"/>
              <a:ext cx="1397000" cy="1397000"/>
            </a:xfrm>
            <a:custGeom>
              <a:avLst/>
              <a:gdLst/>
              <a:ahLst/>
              <a:cxnLst/>
              <a:rect r="r" b="b" t="t" l="l"/>
              <a:pathLst>
                <a:path h="1397000" w="1397000">
                  <a:moveTo>
                    <a:pt x="0" y="698500"/>
                  </a:moveTo>
                  <a:cubicBezTo>
                    <a:pt x="0" y="312674"/>
                    <a:pt x="312674" y="0"/>
                    <a:pt x="698500" y="0"/>
                  </a:cubicBezTo>
                  <a:cubicBezTo>
                    <a:pt x="1084326" y="0"/>
                    <a:pt x="1397000" y="312674"/>
                    <a:pt x="1397000" y="698500"/>
                  </a:cubicBezTo>
                  <a:cubicBezTo>
                    <a:pt x="1397000" y="1084326"/>
                    <a:pt x="1084326" y="1397000"/>
                    <a:pt x="698500" y="1397000"/>
                  </a:cubicBezTo>
                  <a:cubicBezTo>
                    <a:pt x="312674" y="1397000"/>
                    <a:pt x="0" y="1084326"/>
                    <a:pt x="0" y="698500"/>
                  </a:cubicBezTo>
                  <a:close/>
                </a:path>
              </a:pathLst>
            </a:custGeom>
            <a:solidFill>
              <a:srgbClr val="0E7C86"/>
            </a:solidFill>
            <a:ln w="19050" cap="sq">
              <a:solidFill>
                <a:srgbClr val="0E7C86"/>
              </a:solidFill>
              <a:prstDash val="solid"/>
              <a:miter/>
            </a:ln>
          </p:spPr>
        </p:sp>
      </p:grpSp>
      <p:grpSp>
        <p:nvGrpSpPr>
          <p:cNvPr name="Group 25" id="25"/>
          <p:cNvGrpSpPr/>
          <p:nvPr/>
        </p:nvGrpSpPr>
        <p:grpSpPr>
          <a:xfrm rot="0">
            <a:off x="12725019" y="2657475"/>
            <a:ext cx="514350" cy="514350"/>
            <a:chOff x="0" y="0"/>
            <a:chExt cx="685800" cy="685800"/>
          </a:xfrm>
        </p:grpSpPr>
        <p:sp>
          <p:nvSpPr>
            <p:cNvPr name="Freeform 26" id="26" descr="preencoded.png"/>
            <p:cNvSpPr/>
            <p:nvPr/>
          </p:nvSpPr>
          <p:spPr>
            <a:xfrm flipH="false" flipV="false" rot="0">
              <a:off x="0" y="0"/>
              <a:ext cx="685800" cy="685800"/>
            </a:xfrm>
            <a:custGeom>
              <a:avLst/>
              <a:gdLst/>
              <a:ahLst/>
              <a:cxnLst/>
              <a:rect r="r" b="b" t="t" l="l"/>
              <a:pathLst>
                <a:path h="685800" w="685800">
                  <a:moveTo>
                    <a:pt x="0" y="0"/>
                  </a:moveTo>
                  <a:lnTo>
                    <a:pt x="685800" y="0"/>
                  </a:lnTo>
                  <a:lnTo>
                    <a:pt x="685800" y="685800"/>
                  </a:lnTo>
                  <a:lnTo>
                    <a:pt x="0" y="685800"/>
                  </a:lnTo>
                  <a:lnTo>
                    <a:pt x="0" y="0"/>
                  </a:lnTo>
                  <a:close/>
                </a:path>
              </a:pathLst>
            </a:custGeom>
            <a:blipFill>
              <a:blip r:embed="rId6"/>
              <a:stretch>
                <a:fillRect l="0" t="0" r="0" b="0"/>
              </a:stretch>
            </a:blipFill>
          </p:spPr>
        </p:sp>
      </p:grpSp>
      <p:sp>
        <p:nvSpPr>
          <p:cNvPr name="TextBox 27" id="27"/>
          <p:cNvSpPr txBox="true"/>
          <p:nvPr/>
        </p:nvSpPr>
        <p:spPr>
          <a:xfrm rot="0">
            <a:off x="13702284" y="2521458"/>
            <a:ext cx="3497580" cy="504825"/>
          </a:xfrm>
          <a:prstGeom prst="rect">
            <a:avLst/>
          </a:prstGeom>
        </p:spPr>
        <p:txBody>
          <a:bodyPr anchor="t" rtlCol="false" tIns="0" lIns="0" bIns="0" rIns="0">
            <a:spAutoFit/>
          </a:bodyPr>
          <a:lstStyle/>
          <a:p>
            <a:pPr algn="l">
              <a:lnSpc>
                <a:spcPts val="3539"/>
              </a:lnSpc>
            </a:pPr>
            <a:r>
              <a:rPr lang="en-US" sz="2949" b="1">
                <a:solidFill>
                  <a:srgbClr val="0B4F5C"/>
                </a:solidFill>
                <a:latin typeface="Calibri"/>
                <a:ea typeface="Calibri"/>
                <a:cs typeface="Calibri"/>
                <a:sym typeface="Calibri"/>
              </a:rPr>
              <a:t>3 · 09:00</a:t>
            </a:r>
          </a:p>
        </p:txBody>
      </p:sp>
      <p:sp>
        <p:nvSpPr>
          <p:cNvPr name="TextBox 28" id="28"/>
          <p:cNvSpPr txBox="true"/>
          <p:nvPr/>
        </p:nvSpPr>
        <p:spPr>
          <a:xfrm rot="0">
            <a:off x="12467844" y="3587115"/>
            <a:ext cx="4663440" cy="790575"/>
          </a:xfrm>
          <a:prstGeom prst="rect">
            <a:avLst/>
          </a:prstGeom>
        </p:spPr>
        <p:txBody>
          <a:bodyPr anchor="t" rtlCol="false" tIns="0" lIns="0" bIns="0" rIns="0">
            <a:spAutoFit/>
          </a:bodyPr>
          <a:lstStyle/>
          <a:p>
            <a:pPr algn="l">
              <a:lnSpc>
                <a:spcPts val="2999"/>
              </a:lnSpc>
            </a:pPr>
            <a:r>
              <a:rPr lang="en-US" sz="2499">
                <a:solidFill>
                  <a:srgbClr val="1B2B34"/>
                </a:solidFill>
                <a:latin typeface="Calibri"/>
                <a:ea typeface="Calibri"/>
                <a:cs typeface="Calibri"/>
                <a:sym typeface="Calibri"/>
              </a:rPr>
              <a:t>Risk for the next 72 h; red flags are checked first</a:t>
            </a:r>
          </a:p>
        </p:txBody>
      </p:sp>
      <p:grpSp>
        <p:nvGrpSpPr>
          <p:cNvPr name="Group 29" id="29"/>
          <p:cNvGrpSpPr/>
          <p:nvPr/>
        </p:nvGrpSpPr>
        <p:grpSpPr>
          <a:xfrm rot="0">
            <a:off x="813435" y="5476875"/>
            <a:ext cx="5299710" cy="3036570"/>
            <a:chOff x="0" y="0"/>
            <a:chExt cx="7066280" cy="4048760"/>
          </a:xfrm>
        </p:grpSpPr>
        <p:sp>
          <p:nvSpPr>
            <p:cNvPr name="Freeform 30" id="30"/>
            <p:cNvSpPr/>
            <p:nvPr/>
          </p:nvSpPr>
          <p:spPr>
            <a:xfrm flipH="false" flipV="false" rot="0">
              <a:off x="0" y="0"/>
              <a:ext cx="7066280" cy="4048760"/>
            </a:xfrm>
            <a:custGeom>
              <a:avLst/>
              <a:gdLst/>
              <a:ahLst/>
              <a:cxnLst/>
              <a:rect r="r" b="b" t="t" l="l"/>
              <a:pathLst>
                <a:path h="4048760" w="7066280">
                  <a:moveTo>
                    <a:pt x="0" y="147193"/>
                  </a:moveTo>
                  <a:cubicBezTo>
                    <a:pt x="0" y="65913"/>
                    <a:pt x="65913" y="0"/>
                    <a:pt x="147193" y="0"/>
                  </a:cubicBezTo>
                  <a:lnTo>
                    <a:pt x="6919087" y="0"/>
                  </a:lnTo>
                  <a:cubicBezTo>
                    <a:pt x="7000367" y="0"/>
                    <a:pt x="7066280" y="65913"/>
                    <a:pt x="7066280" y="147193"/>
                  </a:cubicBezTo>
                  <a:lnTo>
                    <a:pt x="7066280" y="3901567"/>
                  </a:lnTo>
                  <a:cubicBezTo>
                    <a:pt x="7066280" y="3982847"/>
                    <a:pt x="7000367" y="4048760"/>
                    <a:pt x="6919087" y="4048760"/>
                  </a:cubicBezTo>
                  <a:lnTo>
                    <a:pt x="147193" y="4048760"/>
                  </a:lnTo>
                  <a:cubicBezTo>
                    <a:pt x="65913" y="4048760"/>
                    <a:pt x="0" y="3982847"/>
                    <a:pt x="0" y="3901567"/>
                  </a:cubicBezTo>
                  <a:close/>
                </a:path>
              </a:pathLst>
            </a:custGeom>
            <a:solidFill>
              <a:srgbClr val="EEF5F5"/>
            </a:solidFill>
            <a:ln w="19050" cap="sq">
              <a:solidFill>
                <a:srgbClr val="EEF5F5"/>
              </a:solidFill>
              <a:prstDash val="solid"/>
              <a:miter/>
            </a:ln>
          </p:spPr>
        </p:sp>
      </p:grpSp>
      <p:grpSp>
        <p:nvGrpSpPr>
          <p:cNvPr name="Group 31" id="31"/>
          <p:cNvGrpSpPr/>
          <p:nvPr/>
        </p:nvGrpSpPr>
        <p:grpSpPr>
          <a:xfrm rot="0">
            <a:off x="1156335" y="5819775"/>
            <a:ext cx="1047750" cy="1047750"/>
            <a:chOff x="0" y="0"/>
            <a:chExt cx="1397000" cy="1397000"/>
          </a:xfrm>
        </p:grpSpPr>
        <p:sp>
          <p:nvSpPr>
            <p:cNvPr name="Freeform 32" id="32"/>
            <p:cNvSpPr/>
            <p:nvPr/>
          </p:nvSpPr>
          <p:spPr>
            <a:xfrm flipH="false" flipV="false" rot="0">
              <a:off x="0" y="0"/>
              <a:ext cx="1397000" cy="1397000"/>
            </a:xfrm>
            <a:custGeom>
              <a:avLst/>
              <a:gdLst/>
              <a:ahLst/>
              <a:cxnLst/>
              <a:rect r="r" b="b" t="t" l="l"/>
              <a:pathLst>
                <a:path h="1397000" w="1397000">
                  <a:moveTo>
                    <a:pt x="0" y="698500"/>
                  </a:moveTo>
                  <a:cubicBezTo>
                    <a:pt x="0" y="312674"/>
                    <a:pt x="312674" y="0"/>
                    <a:pt x="698500" y="0"/>
                  </a:cubicBezTo>
                  <a:cubicBezTo>
                    <a:pt x="1084326" y="0"/>
                    <a:pt x="1397000" y="312674"/>
                    <a:pt x="1397000" y="698500"/>
                  </a:cubicBezTo>
                  <a:cubicBezTo>
                    <a:pt x="1397000" y="1084326"/>
                    <a:pt x="1084326" y="1397000"/>
                    <a:pt x="698500" y="1397000"/>
                  </a:cubicBezTo>
                  <a:cubicBezTo>
                    <a:pt x="312674" y="1397000"/>
                    <a:pt x="0" y="1084326"/>
                    <a:pt x="0" y="698500"/>
                  </a:cubicBezTo>
                  <a:close/>
                </a:path>
              </a:pathLst>
            </a:custGeom>
            <a:solidFill>
              <a:srgbClr val="0E7C86"/>
            </a:solidFill>
            <a:ln w="19050" cap="sq">
              <a:solidFill>
                <a:srgbClr val="0E7C86"/>
              </a:solidFill>
              <a:prstDash val="solid"/>
              <a:miter/>
            </a:ln>
          </p:spPr>
        </p:sp>
      </p:grpSp>
      <p:grpSp>
        <p:nvGrpSpPr>
          <p:cNvPr name="Group 33" id="33"/>
          <p:cNvGrpSpPr/>
          <p:nvPr/>
        </p:nvGrpSpPr>
        <p:grpSpPr>
          <a:xfrm rot="0">
            <a:off x="1423035" y="6086475"/>
            <a:ext cx="514350" cy="514350"/>
            <a:chOff x="0" y="0"/>
            <a:chExt cx="685800" cy="685800"/>
          </a:xfrm>
        </p:grpSpPr>
        <p:sp>
          <p:nvSpPr>
            <p:cNvPr name="Freeform 34" id="34" descr="preencoded.png"/>
            <p:cNvSpPr/>
            <p:nvPr/>
          </p:nvSpPr>
          <p:spPr>
            <a:xfrm flipH="false" flipV="false" rot="0">
              <a:off x="0" y="0"/>
              <a:ext cx="685800" cy="685800"/>
            </a:xfrm>
            <a:custGeom>
              <a:avLst/>
              <a:gdLst/>
              <a:ahLst/>
              <a:cxnLst/>
              <a:rect r="r" b="b" t="t" l="l"/>
              <a:pathLst>
                <a:path h="685800" w="685800">
                  <a:moveTo>
                    <a:pt x="0" y="0"/>
                  </a:moveTo>
                  <a:lnTo>
                    <a:pt x="685800" y="0"/>
                  </a:lnTo>
                  <a:lnTo>
                    <a:pt x="685800" y="685800"/>
                  </a:lnTo>
                  <a:lnTo>
                    <a:pt x="0" y="685800"/>
                  </a:lnTo>
                  <a:lnTo>
                    <a:pt x="0" y="0"/>
                  </a:lnTo>
                  <a:close/>
                </a:path>
              </a:pathLst>
            </a:custGeom>
            <a:blipFill>
              <a:blip r:embed="rId7"/>
              <a:stretch>
                <a:fillRect l="0" t="0" r="0" b="0"/>
              </a:stretch>
            </a:blipFill>
          </p:spPr>
        </p:sp>
      </p:grpSp>
      <p:sp>
        <p:nvSpPr>
          <p:cNvPr name="TextBox 35" id="35"/>
          <p:cNvSpPr txBox="true"/>
          <p:nvPr/>
        </p:nvSpPr>
        <p:spPr>
          <a:xfrm rot="0">
            <a:off x="2400300" y="5950458"/>
            <a:ext cx="3497580" cy="504825"/>
          </a:xfrm>
          <a:prstGeom prst="rect">
            <a:avLst/>
          </a:prstGeom>
        </p:spPr>
        <p:txBody>
          <a:bodyPr anchor="t" rtlCol="false" tIns="0" lIns="0" bIns="0" rIns="0">
            <a:spAutoFit/>
          </a:bodyPr>
          <a:lstStyle/>
          <a:p>
            <a:pPr algn="l">
              <a:lnSpc>
                <a:spcPts val="3539"/>
              </a:lnSpc>
            </a:pPr>
            <a:r>
              <a:rPr lang="en-US" sz="2949" b="1">
                <a:solidFill>
                  <a:srgbClr val="0B4F5C"/>
                </a:solidFill>
                <a:latin typeface="Calibri"/>
                <a:ea typeface="Calibri"/>
                <a:cs typeface="Calibri"/>
                <a:sym typeface="Calibri"/>
              </a:rPr>
              <a:t>4 · Morning</a:t>
            </a:r>
          </a:p>
        </p:txBody>
      </p:sp>
      <p:sp>
        <p:nvSpPr>
          <p:cNvPr name="TextBox 36" id="36"/>
          <p:cNvSpPr txBox="true"/>
          <p:nvPr/>
        </p:nvSpPr>
        <p:spPr>
          <a:xfrm rot="0">
            <a:off x="1165860" y="7016115"/>
            <a:ext cx="4663440" cy="1162050"/>
          </a:xfrm>
          <a:prstGeom prst="rect">
            <a:avLst/>
          </a:prstGeom>
        </p:spPr>
        <p:txBody>
          <a:bodyPr anchor="t" rtlCol="false" tIns="0" lIns="0" bIns="0" rIns="0">
            <a:spAutoFit/>
          </a:bodyPr>
          <a:lstStyle/>
          <a:p>
            <a:pPr algn="l">
              <a:lnSpc>
                <a:spcPts val="2999"/>
              </a:lnSpc>
            </a:pPr>
            <a:r>
              <a:rPr lang="en-US" sz="2499">
                <a:solidFill>
                  <a:srgbClr val="1B2B34"/>
                </a:solidFill>
                <a:latin typeface="Calibri"/>
                <a:ea typeface="Calibri"/>
                <a:cs typeface="Calibri"/>
                <a:sym typeface="Calibri"/>
              </a:rPr>
              <a:t>Doctor sees the sorted list, the reasons and tomorrow's Kidney Weather</a:t>
            </a:r>
          </a:p>
        </p:txBody>
      </p:sp>
      <p:grpSp>
        <p:nvGrpSpPr>
          <p:cNvPr name="Group 37" id="37"/>
          <p:cNvGrpSpPr/>
          <p:nvPr/>
        </p:nvGrpSpPr>
        <p:grpSpPr>
          <a:xfrm rot="0">
            <a:off x="6464427" y="5476875"/>
            <a:ext cx="5299710" cy="3036570"/>
            <a:chOff x="0" y="0"/>
            <a:chExt cx="7066280" cy="4048760"/>
          </a:xfrm>
        </p:grpSpPr>
        <p:sp>
          <p:nvSpPr>
            <p:cNvPr name="Freeform 38" id="38"/>
            <p:cNvSpPr/>
            <p:nvPr/>
          </p:nvSpPr>
          <p:spPr>
            <a:xfrm flipH="false" flipV="false" rot="0">
              <a:off x="0" y="0"/>
              <a:ext cx="7066280" cy="4048760"/>
            </a:xfrm>
            <a:custGeom>
              <a:avLst/>
              <a:gdLst/>
              <a:ahLst/>
              <a:cxnLst/>
              <a:rect r="r" b="b" t="t" l="l"/>
              <a:pathLst>
                <a:path h="4048760" w="7066280">
                  <a:moveTo>
                    <a:pt x="0" y="147193"/>
                  </a:moveTo>
                  <a:cubicBezTo>
                    <a:pt x="0" y="65913"/>
                    <a:pt x="65913" y="0"/>
                    <a:pt x="147193" y="0"/>
                  </a:cubicBezTo>
                  <a:lnTo>
                    <a:pt x="6919087" y="0"/>
                  </a:lnTo>
                  <a:cubicBezTo>
                    <a:pt x="7000367" y="0"/>
                    <a:pt x="7066280" y="65913"/>
                    <a:pt x="7066280" y="147193"/>
                  </a:cubicBezTo>
                  <a:lnTo>
                    <a:pt x="7066280" y="3901567"/>
                  </a:lnTo>
                  <a:cubicBezTo>
                    <a:pt x="7066280" y="3982847"/>
                    <a:pt x="7000367" y="4048760"/>
                    <a:pt x="6919087" y="4048760"/>
                  </a:cubicBezTo>
                  <a:lnTo>
                    <a:pt x="147193" y="4048760"/>
                  </a:lnTo>
                  <a:cubicBezTo>
                    <a:pt x="65913" y="4048760"/>
                    <a:pt x="0" y="3982847"/>
                    <a:pt x="0" y="3901567"/>
                  </a:cubicBezTo>
                  <a:close/>
                </a:path>
              </a:pathLst>
            </a:custGeom>
            <a:solidFill>
              <a:srgbClr val="EEF5F5"/>
            </a:solidFill>
            <a:ln w="19050" cap="sq">
              <a:solidFill>
                <a:srgbClr val="EEF5F5"/>
              </a:solidFill>
              <a:prstDash val="solid"/>
              <a:miter/>
            </a:ln>
          </p:spPr>
        </p:sp>
      </p:grpSp>
      <p:grpSp>
        <p:nvGrpSpPr>
          <p:cNvPr name="Group 39" id="39"/>
          <p:cNvGrpSpPr/>
          <p:nvPr/>
        </p:nvGrpSpPr>
        <p:grpSpPr>
          <a:xfrm rot="0">
            <a:off x="6807327" y="5819775"/>
            <a:ext cx="1047750" cy="1047750"/>
            <a:chOff x="0" y="0"/>
            <a:chExt cx="1397000" cy="1397000"/>
          </a:xfrm>
        </p:grpSpPr>
        <p:sp>
          <p:nvSpPr>
            <p:cNvPr name="Freeform 40" id="40"/>
            <p:cNvSpPr/>
            <p:nvPr/>
          </p:nvSpPr>
          <p:spPr>
            <a:xfrm flipH="false" flipV="false" rot="0">
              <a:off x="0" y="0"/>
              <a:ext cx="1397000" cy="1397000"/>
            </a:xfrm>
            <a:custGeom>
              <a:avLst/>
              <a:gdLst/>
              <a:ahLst/>
              <a:cxnLst/>
              <a:rect r="r" b="b" t="t" l="l"/>
              <a:pathLst>
                <a:path h="1397000" w="1397000">
                  <a:moveTo>
                    <a:pt x="0" y="698500"/>
                  </a:moveTo>
                  <a:cubicBezTo>
                    <a:pt x="0" y="312674"/>
                    <a:pt x="312674" y="0"/>
                    <a:pt x="698500" y="0"/>
                  </a:cubicBezTo>
                  <a:cubicBezTo>
                    <a:pt x="1084326" y="0"/>
                    <a:pt x="1397000" y="312674"/>
                    <a:pt x="1397000" y="698500"/>
                  </a:cubicBezTo>
                  <a:cubicBezTo>
                    <a:pt x="1397000" y="1084326"/>
                    <a:pt x="1084326" y="1397000"/>
                    <a:pt x="698500" y="1397000"/>
                  </a:cubicBezTo>
                  <a:cubicBezTo>
                    <a:pt x="312674" y="1397000"/>
                    <a:pt x="0" y="1084326"/>
                    <a:pt x="0" y="698500"/>
                  </a:cubicBezTo>
                  <a:close/>
                </a:path>
              </a:pathLst>
            </a:custGeom>
            <a:solidFill>
              <a:srgbClr val="0E7C86"/>
            </a:solidFill>
            <a:ln w="19050" cap="sq">
              <a:solidFill>
                <a:srgbClr val="0E7C86"/>
              </a:solidFill>
              <a:prstDash val="solid"/>
              <a:miter/>
            </a:ln>
          </p:spPr>
        </p:sp>
      </p:grpSp>
      <p:grpSp>
        <p:nvGrpSpPr>
          <p:cNvPr name="Group 41" id="41"/>
          <p:cNvGrpSpPr/>
          <p:nvPr/>
        </p:nvGrpSpPr>
        <p:grpSpPr>
          <a:xfrm rot="0">
            <a:off x="7074027" y="6086475"/>
            <a:ext cx="514350" cy="514350"/>
            <a:chOff x="0" y="0"/>
            <a:chExt cx="685800" cy="685800"/>
          </a:xfrm>
        </p:grpSpPr>
        <p:sp>
          <p:nvSpPr>
            <p:cNvPr name="Freeform 42" id="42" descr="preencoded.png"/>
            <p:cNvSpPr/>
            <p:nvPr/>
          </p:nvSpPr>
          <p:spPr>
            <a:xfrm flipH="false" flipV="false" rot="0">
              <a:off x="0" y="0"/>
              <a:ext cx="685800" cy="685800"/>
            </a:xfrm>
            <a:custGeom>
              <a:avLst/>
              <a:gdLst/>
              <a:ahLst/>
              <a:cxnLst/>
              <a:rect r="r" b="b" t="t" l="l"/>
              <a:pathLst>
                <a:path h="685800" w="685800">
                  <a:moveTo>
                    <a:pt x="0" y="0"/>
                  </a:moveTo>
                  <a:lnTo>
                    <a:pt x="685800" y="0"/>
                  </a:lnTo>
                  <a:lnTo>
                    <a:pt x="685800" y="685800"/>
                  </a:lnTo>
                  <a:lnTo>
                    <a:pt x="0" y="685800"/>
                  </a:lnTo>
                  <a:lnTo>
                    <a:pt x="0" y="0"/>
                  </a:lnTo>
                  <a:close/>
                </a:path>
              </a:pathLst>
            </a:custGeom>
            <a:blipFill>
              <a:blip r:embed="rId8"/>
              <a:stretch>
                <a:fillRect l="0" t="0" r="0" b="0"/>
              </a:stretch>
            </a:blipFill>
          </p:spPr>
        </p:sp>
      </p:grpSp>
      <p:sp>
        <p:nvSpPr>
          <p:cNvPr name="TextBox 43" id="43"/>
          <p:cNvSpPr txBox="true"/>
          <p:nvPr/>
        </p:nvSpPr>
        <p:spPr>
          <a:xfrm rot="0">
            <a:off x="8051292" y="5950458"/>
            <a:ext cx="3497580" cy="504825"/>
          </a:xfrm>
          <a:prstGeom prst="rect">
            <a:avLst/>
          </a:prstGeom>
        </p:spPr>
        <p:txBody>
          <a:bodyPr anchor="t" rtlCol="false" tIns="0" lIns="0" bIns="0" rIns="0">
            <a:spAutoFit/>
          </a:bodyPr>
          <a:lstStyle/>
          <a:p>
            <a:pPr algn="l">
              <a:lnSpc>
                <a:spcPts val="3539"/>
              </a:lnSpc>
            </a:pPr>
            <a:r>
              <a:rPr lang="en-US" sz="2949" b="1">
                <a:solidFill>
                  <a:srgbClr val="0B4F5C"/>
                </a:solidFill>
                <a:latin typeface="Calibri"/>
                <a:ea typeface="Calibri"/>
                <a:cs typeface="Calibri"/>
                <a:sym typeface="Calibri"/>
              </a:rPr>
              <a:t>5 · Review</a:t>
            </a:r>
          </a:p>
        </p:txBody>
      </p:sp>
      <p:sp>
        <p:nvSpPr>
          <p:cNvPr name="TextBox 44" id="44"/>
          <p:cNvSpPr txBox="true"/>
          <p:nvPr/>
        </p:nvSpPr>
        <p:spPr>
          <a:xfrm rot="0">
            <a:off x="6816852" y="7016115"/>
            <a:ext cx="4663440" cy="790575"/>
          </a:xfrm>
          <a:prstGeom prst="rect">
            <a:avLst/>
          </a:prstGeom>
        </p:spPr>
        <p:txBody>
          <a:bodyPr anchor="t" rtlCol="false" tIns="0" lIns="0" bIns="0" rIns="0">
            <a:spAutoFit/>
          </a:bodyPr>
          <a:lstStyle/>
          <a:p>
            <a:pPr algn="l">
              <a:lnSpc>
                <a:spcPts val="2999"/>
              </a:lnSpc>
            </a:pPr>
            <a:r>
              <a:rPr lang="en-US" sz="2499">
                <a:solidFill>
                  <a:srgbClr val="1B2B34"/>
                </a:solidFill>
                <a:latin typeface="Calibri"/>
                <a:ea typeface="Calibri"/>
                <a:cs typeface="Calibri"/>
                <a:sym typeface="Calibri"/>
              </a:rPr>
              <a:t>Doctor tries changes on the twin: painkiller swap, ORS, pauses</a:t>
            </a:r>
          </a:p>
        </p:txBody>
      </p:sp>
      <p:grpSp>
        <p:nvGrpSpPr>
          <p:cNvPr name="Group 45" id="45"/>
          <p:cNvGrpSpPr/>
          <p:nvPr/>
        </p:nvGrpSpPr>
        <p:grpSpPr>
          <a:xfrm rot="0">
            <a:off x="12115419" y="5476875"/>
            <a:ext cx="5299710" cy="3036570"/>
            <a:chOff x="0" y="0"/>
            <a:chExt cx="7066280" cy="4048760"/>
          </a:xfrm>
        </p:grpSpPr>
        <p:sp>
          <p:nvSpPr>
            <p:cNvPr name="Freeform 46" id="46"/>
            <p:cNvSpPr/>
            <p:nvPr/>
          </p:nvSpPr>
          <p:spPr>
            <a:xfrm flipH="false" flipV="false" rot="0">
              <a:off x="0" y="0"/>
              <a:ext cx="7066280" cy="4048760"/>
            </a:xfrm>
            <a:custGeom>
              <a:avLst/>
              <a:gdLst/>
              <a:ahLst/>
              <a:cxnLst/>
              <a:rect r="r" b="b" t="t" l="l"/>
              <a:pathLst>
                <a:path h="4048760" w="7066280">
                  <a:moveTo>
                    <a:pt x="0" y="147193"/>
                  </a:moveTo>
                  <a:cubicBezTo>
                    <a:pt x="0" y="65913"/>
                    <a:pt x="65913" y="0"/>
                    <a:pt x="147193" y="0"/>
                  </a:cubicBezTo>
                  <a:lnTo>
                    <a:pt x="6919087" y="0"/>
                  </a:lnTo>
                  <a:cubicBezTo>
                    <a:pt x="7000367" y="0"/>
                    <a:pt x="7066280" y="65913"/>
                    <a:pt x="7066280" y="147193"/>
                  </a:cubicBezTo>
                  <a:lnTo>
                    <a:pt x="7066280" y="3901567"/>
                  </a:lnTo>
                  <a:cubicBezTo>
                    <a:pt x="7066280" y="3982847"/>
                    <a:pt x="7000367" y="4048760"/>
                    <a:pt x="6919087" y="4048760"/>
                  </a:cubicBezTo>
                  <a:lnTo>
                    <a:pt x="147193" y="4048760"/>
                  </a:lnTo>
                  <a:cubicBezTo>
                    <a:pt x="65913" y="4048760"/>
                    <a:pt x="0" y="3982847"/>
                    <a:pt x="0" y="3901567"/>
                  </a:cubicBezTo>
                  <a:close/>
                </a:path>
              </a:pathLst>
            </a:custGeom>
            <a:solidFill>
              <a:srgbClr val="EEF5F5"/>
            </a:solidFill>
            <a:ln w="19050" cap="sq">
              <a:solidFill>
                <a:srgbClr val="EEF5F5"/>
              </a:solidFill>
              <a:prstDash val="solid"/>
              <a:miter/>
            </a:ln>
          </p:spPr>
        </p:sp>
      </p:grpSp>
      <p:grpSp>
        <p:nvGrpSpPr>
          <p:cNvPr name="Group 47" id="47"/>
          <p:cNvGrpSpPr/>
          <p:nvPr/>
        </p:nvGrpSpPr>
        <p:grpSpPr>
          <a:xfrm rot="0">
            <a:off x="12458319" y="5819775"/>
            <a:ext cx="1047750" cy="1047750"/>
            <a:chOff x="0" y="0"/>
            <a:chExt cx="1397000" cy="1397000"/>
          </a:xfrm>
        </p:grpSpPr>
        <p:sp>
          <p:nvSpPr>
            <p:cNvPr name="Freeform 48" id="48"/>
            <p:cNvSpPr/>
            <p:nvPr/>
          </p:nvSpPr>
          <p:spPr>
            <a:xfrm flipH="false" flipV="false" rot="0">
              <a:off x="0" y="0"/>
              <a:ext cx="1397000" cy="1397000"/>
            </a:xfrm>
            <a:custGeom>
              <a:avLst/>
              <a:gdLst/>
              <a:ahLst/>
              <a:cxnLst/>
              <a:rect r="r" b="b" t="t" l="l"/>
              <a:pathLst>
                <a:path h="1397000" w="1397000">
                  <a:moveTo>
                    <a:pt x="0" y="698500"/>
                  </a:moveTo>
                  <a:cubicBezTo>
                    <a:pt x="0" y="312674"/>
                    <a:pt x="312674" y="0"/>
                    <a:pt x="698500" y="0"/>
                  </a:cubicBezTo>
                  <a:cubicBezTo>
                    <a:pt x="1084326" y="0"/>
                    <a:pt x="1397000" y="312674"/>
                    <a:pt x="1397000" y="698500"/>
                  </a:cubicBezTo>
                  <a:cubicBezTo>
                    <a:pt x="1397000" y="1084326"/>
                    <a:pt x="1084326" y="1397000"/>
                    <a:pt x="698500" y="1397000"/>
                  </a:cubicBezTo>
                  <a:cubicBezTo>
                    <a:pt x="312674" y="1397000"/>
                    <a:pt x="0" y="1084326"/>
                    <a:pt x="0" y="698500"/>
                  </a:cubicBezTo>
                  <a:close/>
                </a:path>
              </a:pathLst>
            </a:custGeom>
            <a:solidFill>
              <a:srgbClr val="0E7C86"/>
            </a:solidFill>
            <a:ln w="19050" cap="sq">
              <a:solidFill>
                <a:srgbClr val="0E7C86"/>
              </a:solidFill>
              <a:prstDash val="solid"/>
              <a:miter/>
            </a:ln>
          </p:spPr>
        </p:sp>
      </p:grpSp>
      <p:grpSp>
        <p:nvGrpSpPr>
          <p:cNvPr name="Group 49" id="49"/>
          <p:cNvGrpSpPr/>
          <p:nvPr/>
        </p:nvGrpSpPr>
        <p:grpSpPr>
          <a:xfrm rot="0">
            <a:off x="12725019" y="6086475"/>
            <a:ext cx="514350" cy="514350"/>
            <a:chOff x="0" y="0"/>
            <a:chExt cx="685800" cy="685800"/>
          </a:xfrm>
        </p:grpSpPr>
        <p:sp>
          <p:nvSpPr>
            <p:cNvPr name="Freeform 50" id="50" descr="preencoded.png"/>
            <p:cNvSpPr/>
            <p:nvPr/>
          </p:nvSpPr>
          <p:spPr>
            <a:xfrm flipH="false" flipV="false" rot="0">
              <a:off x="0" y="0"/>
              <a:ext cx="685800" cy="685800"/>
            </a:xfrm>
            <a:custGeom>
              <a:avLst/>
              <a:gdLst/>
              <a:ahLst/>
              <a:cxnLst/>
              <a:rect r="r" b="b" t="t" l="l"/>
              <a:pathLst>
                <a:path h="685800" w="685800">
                  <a:moveTo>
                    <a:pt x="0" y="0"/>
                  </a:moveTo>
                  <a:lnTo>
                    <a:pt x="685800" y="0"/>
                  </a:lnTo>
                  <a:lnTo>
                    <a:pt x="685800" y="685800"/>
                  </a:lnTo>
                  <a:lnTo>
                    <a:pt x="0" y="685800"/>
                  </a:lnTo>
                  <a:lnTo>
                    <a:pt x="0" y="0"/>
                  </a:lnTo>
                  <a:close/>
                </a:path>
              </a:pathLst>
            </a:custGeom>
            <a:blipFill>
              <a:blip r:embed="rId9"/>
              <a:stretch>
                <a:fillRect l="0" t="0" r="0" b="0"/>
              </a:stretch>
            </a:blipFill>
          </p:spPr>
        </p:sp>
      </p:grpSp>
      <p:sp>
        <p:nvSpPr>
          <p:cNvPr name="TextBox 51" id="51"/>
          <p:cNvSpPr txBox="true"/>
          <p:nvPr/>
        </p:nvSpPr>
        <p:spPr>
          <a:xfrm rot="0">
            <a:off x="13702284" y="5950458"/>
            <a:ext cx="3497580" cy="504825"/>
          </a:xfrm>
          <a:prstGeom prst="rect">
            <a:avLst/>
          </a:prstGeom>
        </p:spPr>
        <p:txBody>
          <a:bodyPr anchor="t" rtlCol="false" tIns="0" lIns="0" bIns="0" rIns="0">
            <a:spAutoFit/>
          </a:bodyPr>
          <a:lstStyle/>
          <a:p>
            <a:pPr algn="l">
              <a:lnSpc>
                <a:spcPts val="3539"/>
              </a:lnSpc>
            </a:pPr>
            <a:r>
              <a:rPr lang="en-US" sz="2949" b="1">
                <a:solidFill>
                  <a:srgbClr val="0B4F5C"/>
                </a:solidFill>
                <a:latin typeface="Calibri"/>
                <a:ea typeface="Calibri"/>
                <a:cs typeface="Calibri"/>
                <a:sym typeface="Calibri"/>
              </a:rPr>
              <a:t>6 · Same day</a:t>
            </a:r>
          </a:p>
        </p:txBody>
      </p:sp>
      <p:sp>
        <p:nvSpPr>
          <p:cNvPr name="TextBox 52" id="52"/>
          <p:cNvSpPr txBox="true"/>
          <p:nvPr/>
        </p:nvSpPr>
        <p:spPr>
          <a:xfrm rot="0">
            <a:off x="12467844" y="7016115"/>
            <a:ext cx="4663440" cy="790575"/>
          </a:xfrm>
          <a:prstGeom prst="rect">
            <a:avLst/>
          </a:prstGeom>
        </p:spPr>
        <p:txBody>
          <a:bodyPr anchor="t" rtlCol="false" tIns="0" lIns="0" bIns="0" rIns="0">
            <a:spAutoFit/>
          </a:bodyPr>
          <a:lstStyle/>
          <a:p>
            <a:pPr algn="l">
              <a:lnSpc>
                <a:spcPts val="2999"/>
              </a:lnSpc>
            </a:pPr>
            <a:r>
              <a:rPr lang="en-US" sz="2499">
                <a:solidFill>
                  <a:srgbClr val="1B2B34"/>
                </a:solidFill>
                <a:latin typeface="Calibri"/>
                <a:ea typeface="Calibri"/>
                <a:cs typeface="Calibri"/>
                <a:sym typeface="Calibri"/>
              </a:rPr>
              <a:t>One click orders a home kidney test; the lab result resets the twin</a:t>
            </a:r>
          </a:p>
        </p:txBody>
      </p:sp>
      <p:sp>
        <p:nvSpPr>
          <p:cNvPr name="TextBox 53" id="53"/>
          <p:cNvSpPr txBox="true"/>
          <p:nvPr/>
        </p:nvSpPr>
        <p:spPr>
          <a:xfrm rot="0">
            <a:off x="16962120" y="9540240"/>
            <a:ext cx="640080" cy="342900"/>
          </a:xfrm>
          <a:prstGeom prst="rect">
            <a:avLst/>
          </a:prstGeom>
        </p:spPr>
        <p:txBody>
          <a:bodyPr anchor="t" rtlCol="false" tIns="0" lIns="0" bIns="0" rIns="0">
            <a:spAutoFit/>
          </a:bodyPr>
          <a:lstStyle/>
          <a:p>
            <a:pPr algn="r">
              <a:lnSpc>
                <a:spcPts val="2459"/>
              </a:lnSpc>
            </a:pPr>
            <a:r>
              <a:rPr lang="en-US" sz="2049">
                <a:solidFill>
                  <a:srgbClr val="5B6C75"/>
                </a:solidFill>
                <a:latin typeface="Calibri"/>
                <a:ea typeface="Calibri"/>
                <a:cs typeface="Calibri"/>
                <a:sym typeface="Calibri"/>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B4F5C"/>
        </a:solidFill>
      </p:bgPr>
    </p:bg>
    <p:spTree>
      <p:nvGrpSpPr>
        <p:cNvPr id="1" name=""/>
        <p:cNvGrpSpPr/>
        <p:nvPr/>
      </p:nvGrpSpPr>
      <p:grpSpPr>
        <a:xfrm>
          <a:off x="0" y="0"/>
          <a:ext cx="0" cy="0"/>
          <a:chOff x="0" y="0"/>
          <a:chExt cx="0" cy="0"/>
        </a:xfrm>
      </p:grpSpPr>
      <p:grpSp>
        <p:nvGrpSpPr>
          <p:cNvPr name="Group 2" id="2"/>
          <p:cNvGrpSpPr/>
          <p:nvPr/>
        </p:nvGrpSpPr>
        <p:grpSpPr>
          <a:xfrm rot="0">
            <a:off x="822960" y="750898"/>
            <a:ext cx="14401800" cy="4617407"/>
            <a:chOff x="0" y="0"/>
            <a:chExt cx="19202400" cy="6156542"/>
          </a:xfrm>
        </p:grpSpPr>
        <p:sp>
          <p:nvSpPr>
            <p:cNvPr name="Freeform 3" id="3"/>
            <p:cNvSpPr/>
            <p:nvPr/>
          </p:nvSpPr>
          <p:spPr>
            <a:xfrm flipH="false" flipV="false" rot="0">
              <a:off x="0" y="0"/>
              <a:ext cx="19202400" cy="6156542"/>
            </a:xfrm>
            <a:custGeom>
              <a:avLst/>
              <a:gdLst/>
              <a:ahLst/>
              <a:cxnLst/>
              <a:rect r="r" b="b" t="t" l="l"/>
              <a:pathLst>
                <a:path h="6156542" w="19202400">
                  <a:moveTo>
                    <a:pt x="0" y="0"/>
                  </a:moveTo>
                  <a:lnTo>
                    <a:pt x="19202400" y="0"/>
                  </a:lnTo>
                  <a:lnTo>
                    <a:pt x="19202400" y="6156542"/>
                  </a:lnTo>
                  <a:lnTo>
                    <a:pt x="0" y="6156542"/>
                  </a:lnTo>
                  <a:close/>
                </a:path>
              </a:pathLst>
            </a:custGeom>
            <a:blipFill>
              <a:blip r:embed="rId3">
                <a:alphaModFix amt="0"/>
              </a:blip>
              <a:stretch>
                <a:fillRect l="0" t="-41466" r="0" b="19917"/>
              </a:stretch>
            </a:blipFill>
          </p:spPr>
        </p:sp>
        <p:sp>
          <p:nvSpPr>
            <p:cNvPr name="TextBox 4" id="4"/>
            <p:cNvSpPr txBox="true"/>
            <p:nvPr/>
          </p:nvSpPr>
          <p:spPr>
            <a:xfrm>
              <a:off x="0" y="-19050"/>
              <a:ext cx="19202400" cy="6175592"/>
            </a:xfrm>
            <a:prstGeom prst="rect">
              <a:avLst/>
            </a:prstGeom>
          </p:spPr>
          <p:txBody>
            <a:bodyPr anchor="b" rtlCol="false" tIns="0" lIns="0" bIns="0" rIns="0"/>
            <a:lstStyle/>
            <a:p>
              <a:pPr algn="l">
                <a:lnSpc>
                  <a:spcPts val="7559"/>
                </a:lnSpc>
              </a:pPr>
              <a:r>
                <a:rPr lang="en-US" sz="6299" b="1">
                  <a:solidFill>
                    <a:srgbClr val="FFFFFF"/>
                  </a:solidFill>
                  <a:latin typeface="Cambria"/>
                  <a:ea typeface="Cambria"/>
                  <a:cs typeface="Cambria"/>
                  <a:sym typeface="Cambria"/>
                </a:rPr>
                <a:t>The product, screen by screen</a:t>
              </a:r>
            </a:p>
          </p:txBody>
        </p:sp>
      </p:grpSp>
      <p:sp>
        <p:nvSpPr>
          <p:cNvPr name="TextBox 5" id="5"/>
          <p:cNvSpPr txBox="true"/>
          <p:nvPr/>
        </p:nvSpPr>
        <p:spPr>
          <a:xfrm rot="0">
            <a:off x="822960" y="5488305"/>
            <a:ext cx="14401800" cy="561975"/>
          </a:xfrm>
          <a:prstGeom prst="rect">
            <a:avLst/>
          </a:prstGeom>
        </p:spPr>
        <p:txBody>
          <a:bodyPr anchor="t" rtlCol="false" tIns="0" lIns="0" bIns="0" rIns="0">
            <a:spAutoFit/>
          </a:bodyPr>
          <a:lstStyle/>
          <a:p>
            <a:pPr algn="l">
              <a:lnSpc>
                <a:spcPts val="3959"/>
              </a:lnSpc>
            </a:pPr>
            <a:r>
              <a:rPr lang="en-US" sz="3299">
                <a:solidFill>
                  <a:srgbClr val="BFE3E5"/>
                </a:solidFill>
                <a:latin typeface="Calibri"/>
                <a:ea typeface="Calibri"/>
                <a:cs typeface="Calibri"/>
                <a:sym typeface="Calibri"/>
              </a:rPr>
              <a:t>Real screenshots from our working prototype (synthetic data, fictional personas)</a:t>
            </a:r>
          </a:p>
        </p:txBody>
      </p:sp>
      <p:sp>
        <p:nvSpPr>
          <p:cNvPr name="TextBox 6" id="6"/>
          <p:cNvSpPr txBox="true"/>
          <p:nvPr/>
        </p:nvSpPr>
        <p:spPr>
          <a:xfrm rot="0">
            <a:off x="16962120" y="9530715"/>
            <a:ext cx="640080" cy="342900"/>
          </a:xfrm>
          <a:prstGeom prst="rect">
            <a:avLst/>
          </a:prstGeom>
        </p:spPr>
        <p:txBody>
          <a:bodyPr anchor="t" rtlCol="false" tIns="0" lIns="0" bIns="0" rIns="0">
            <a:spAutoFit/>
          </a:bodyPr>
          <a:lstStyle/>
          <a:p>
            <a:pPr algn="r">
              <a:lnSpc>
                <a:spcPts val="2339"/>
              </a:lnSpc>
            </a:pPr>
            <a:r>
              <a:rPr lang="en-US" sz="1949">
                <a:solidFill>
                  <a:srgbClr val="BFE3E5"/>
                </a:solidFill>
                <a:latin typeface="Calibri"/>
                <a:ea typeface="Calibri"/>
                <a:cs typeface="Calibri"/>
                <a:sym typeface="Calibri"/>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768015"/>
            <a:ext cx="16596360" cy="3593431"/>
            <a:chOff x="0" y="0"/>
            <a:chExt cx="22128480" cy="4791241"/>
          </a:xfrm>
        </p:grpSpPr>
        <p:sp>
          <p:nvSpPr>
            <p:cNvPr name="Freeform 3" id="3"/>
            <p:cNvSpPr/>
            <p:nvPr/>
          </p:nvSpPr>
          <p:spPr>
            <a:xfrm flipH="false" flipV="false" rot="0">
              <a:off x="0" y="0"/>
              <a:ext cx="22128480" cy="4791241"/>
            </a:xfrm>
            <a:custGeom>
              <a:avLst/>
              <a:gdLst/>
              <a:ahLst/>
              <a:cxnLst/>
              <a:rect r="r" b="b" t="t" l="l"/>
              <a:pathLst>
                <a:path h="4791241" w="22128480">
                  <a:moveTo>
                    <a:pt x="0" y="0"/>
                  </a:moveTo>
                  <a:lnTo>
                    <a:pt x="22128480" y="0"/>
                  </a:lnTo>
                  <a:lnTo>
                    <a:pt x="22128480" y="4791241"/>
                  </a:lnTo>
                  <a:lnTo>
                    <a:pt x="0" y="4791241"/>
                  </a:lnTo>
                  <a:close/>
                </a:path>
              </a:pathLst>
            </a:custGeom>
            <a:blipFill>
              <a:blip r:embed="rId3">
                <a:alphaModFix amt="0"/>
              </a:blip>
              <a:stretch>
                <a:fillRect l="0" t="-73770" r="0" b="-6214"/>
              </a:stretch>
            </a:blipFill>
          </p:spPr>
        </p:sp>
        <p:sp>
          <p:nvSpPr>
            <p:cNvPr name="TextBox 4" id="4"/>
            <p:cNvSpPr txBox="true"/>
            <p:nvPr/>
          </p:nvSpPr>
          <p:spPr>
            <a:xfrm>
              <a:off x="0" y="-9525"/>
              <a:ext cx="22128480" cy="4800766"/>
            </a:xfrm>
            <a:prstGeom prst="rect">
              <a:avLst/>
            </a:prstGeom>
          </p:spPr>
          <p:txBody>
            <a:bodyPr anchor="ctr" rtlCol="false" tIns="0" lIns="0" bIns="0" rIns="0"/>
            <a:lstStyle/>
            <a:p>
              <a:pPr algn="l">
                <a:lnSpc>
                  <a:spcPts val="5879"/>
                </a:lnSpc>
              </a:pPr>
              <a:r>
                <a:rPr lang="en-US" sz="4899" b="1">
                  <a:solidFill>
                    <a:srgbClr val="0B4F5C"/>
                  </a:solidFill>
                  <a:latin typeface="Cambria"/>
                  <a:ea typeface="Cambria"/>
                  <a:cs typeface="Cambria"/>
                  <a:sym typeface="Cambria"/>
                </a:rPr>
                <a:t>Doctor Triage: who needs attention today, and why</a:t>
              </a:r>
            </a:p>
          </p:txBody>
        </p:sp>
      </p:grpSp>
      <p:grpSp>
        <p:nvGrpSpPr>
          <p:cNvPr name="Group 5" id="5"/>
          <p:cNvGrpSpPr/>
          <p:nvPr/>
        </p:nvGrpSpPr>
        <p:grpSpPr>
          <a:xfrm rot="0">
            <a:off x="758571" y="1855851"/>
            <a:ext cx="8769858" cy="4449318"/>
            <a:chOff x="0" y="0"/>
            <a:chExt cx="11693144" cy="5932424"/>
          </a:xfrm>
        </p:grpSpPr>
        <p:sp>
          <p:nvSpPr>
            <p:cNvPr name="Freeform 6" id="6"/>
            <p:cNvSpPr/>
            <p:nvPr/>
          </p:nvSpPr>
          <p:spPr>
            <a:xfrm flipH="false" flipV="false" rot="0">
              <a:off x="0" y="0"/>
              <a:ext cx="11693144" cy="5932424"/>
            </a:xfrm>
            <a:custGeom>
              <a:avLst/>
              <a:gdLst/>
              <a:ahLst/>
              <a:cxnLst/>
              <a:rect r="r" b="b" t="t" l="l"/>
              <a:pathLst>
                <a:path h="5932424" w="11693144">
                  <a:moveTo>
                    <a:pt x="0" y="0"/>
                  </a:moveTo>
                  <a:lnTo>
                    <a:pt x="11693144" y="0"/>
                  </a:lnTo>
                  <a:lnTo>
                    <a:pt x="11693144" y="5932424"/>
                  </a:lnTo>
                  <a:lnTo>
                    <a:pt x="0" y="5932424"/>
                  </a:lnTo>
                  <a:close/>
                </a:path>
              </a:pathLst>
            </a:custGeom>
            <a:solidFill>
              <a:srgbClr val="FFFFFF"/>
            </a:solidFill>
            <a:ln w="19050" cap="sq">
              <a:solidFill>
                <a:srgbClr val="C9D6D8"/>
              </a:solidFill>
              <a:prstDash val="solid"/>
              <a:miter/>
            </a:ln>
          </p:spPr>
        </p:sp>
      </p:grpSp>
      <p:grpSp>
        <p:nvGrpSpPr>
          <p:cNvPr name="Group 7" id="7"/>
          <p:cNvGrpSpPr/>
          <p:nvPr/>
        </p:nvGrpSpPr>
        <p:grpSpPr>
          <a:xfrm rot="0">
            <a:off x="822960" y="1920240"/>
            <a:ext cx="8641080" cy="4320540"/>
            <a:chOff x="0" y="0"/>
            <a:chExt cx="11521440" cy="5760720"/>
          </a:xfrm>
        </p:grpSpPr>
        <p:sp>
          <p:nvSpPr>
            <p:cNvPr name="Freeform 8" id="8" descr="Tomorrow's Kidney Weather screenshot"/>
            <p:cNvSpPr/>
            <p:nvPr/>
          </p:nvSpPr>
          <p:spPr>
            <a:xfrm flipH="false" flipV="false" rot="0">
              <a:off x="0" y="0"/>
              <a:ext cx="11521440" cy="5760720"/>
            </a:xfrm>
            <a:custGeom>
              <a:avLst/>
              <a:gdLst/>
              <a:ahLst/>
              <a:cxnLst/>
              <a:rect r="r" b="b" t="t" l="l"/>
              <a:pathLst>
                <a:path h="5760720" w="11521440">
                  <a:moveTo>
                    <a:pt x="0" y="0"/>
                  </a:moveTo>
                  <a:lnTo>
                    <a:pt x="11521440" y="0"/>
                  </a:lnTo>
                  <a:lnTo>
                    <a:pt x="11521440" y="5760720"/>
                  </a:lnTo>
                  <a:lnTo>
                    <a:pt x="0" y="5760720"/>
                  </a:lnTo>
                  <a:lnTo>
                    <a:pt x="0" y="0"/>
                  </a:lnTo>
                  <a:close/>
                </a:path>
              </a:pathLst>
            </a:custGeom>
            <a:blipFill>
              <a:blip r:embed="rId4"/>
              <a:stretch>
                <a:fillRect l="0" t="0" r="0" b="0"/>
              </a:stretch>
            </a:blipFill>
          </p:spPr>
        </p:sp>
      </p:grpSp>
      <p:grpSp>
        <p:nvGrpSpPr>
          <p:cNvPr name="Group 9" id="9"/>
          <p:cNvGrpSpPr/>
          <p:nvPr/>
        </p:nvGrpSpPr>
        <p:grpSpPr>
          <a:xfrm rot="0">
            <a:off x="758571" y="6450711"/>
            <a:ext cx="4997958" cy="2311517"/>
            <a:chOff x="0" y="0"/>
            <a:chExt cx="6663944" cy="3082023"/>
          </a:xfrm>
        </p:grpSpPr>
        <p:sp>
          <p:nvSpPr>
            <p:cNvPr name="Freeform 10" id="10"/>
            <p:cNvSpPr/>
            <p:nvPr/>
          </p:nvSpPr>
          <p:spPr>
            <a:xfrm flipH="false" flipV="false" rot="0">
              <a:off x="0" y="0"/>
              <a:ext cx="6663944" cy="3082036"/>
            </a:xfrm>
            <a:custGeom>
              <a:avLst/>
              <a:gdLst/>
              <a:ahLst/>
              <a:cxnLst/>
              <a:rect r="r" b="b" t="t" l="l"/>
              <a:pathLst>
                <a:path h="3082036" w="6663944">
                  <a:moveTo>
                    <a:pt x="0" y="0"/>
                  </a:moveTo>
                  <a:lnTo>
                    <a:pt x="6663944" y="0"/>
                  </a:lnTo>
                  <a:lnTo>
                    <a:pt x="6663944" y="3082036"/>
                  </a:lnTo>
                  <a:lnTo>
                    <a:pt x="0" y="3082036"/>
                  </a:lnTo>
                  <a:close/>
                </a:path>
              </a:pathLst>
            </a:custGeom>
            <a:solidFill>
              <a:srgbClr val="FFFFFF"/>
            </a:solidFill>
            <a:ln w="19050" cap="sq">
              <a:solidFill>
                <a:srgbClr val="C9D6D8"/>
              </a:solidFill>
              <a:prstDash val="solid"/>
              <a:miter/>
            </a:ln>
          </p:spPr>
        </p:sp>
      </p:grpSp>
      <p:grpSp>
        <p:nvGrpSpPr>
          <p:cNvPr name="Group 11" id="11"/>
          <p:cNvGrpSpPr/>
          <p:nvPr/>
        </p:nvGrpSpPr>
        <p:grpSpPr>
          <a:xfrm rot="0">
            <a:off x="822960" y="6515100"/>
            <a:ext cx="4869180" cy="2182739"/>
            <a:chOff x="0" y="0"/>
            <a:chExt cx="6492240" cy="2910319"/>
          </a:xfrm>
        </p:grpSpPr>
        <p:sp>
          <p:nvSpPr>
            <p:cNvPr name="Freeform 12" id="12" descr="Triage list screenshot"/>
            <p:cNvSpPr/>
            <p:nvPr/>
          </p:nvSpPr>
          <p:spPr>
            <a:xfrm flipH="false" flipV="false" rot="0">
              <a:off x="0" y="0"/>
              <a:ext cx="6492240" cy="2910332"/>
            </a:xfrm>
            <a:custGeom>
              <a:avLst/>
              <a:gdLst/>
              <a:ahLst/>
              <a:cxnLst/>
              <a:rect r="r" b="b" t="t" l="l"/>
              <a:pathLst>
                <a:path h="2910332" w="6492240">
                  <a:moveTo>
                    <a:pt x="0" y="0"/>
                  </a:moveTo>
                  <a:lnTo>
                    <a:pt x="6492240" y="0"/>
                  </a:lnTo>
                  <a:lnTo>
                    <a:pt x="6492240" y="2910332"/>
                  </a:lnTo>
                  <a:lnTo>
                    <a:pt x="0" y="2910332"/>
                  </a:lnTo>
                  <a:lnTo>
                    <a:pt x="0" y="0"/>
                  </a:lnTo>
                  <a:close/>
                </a:path>
              </a:pathLst>
            </a:custGeom>
            <a:blipFill>
              <a:blip r:embed="rId5"/>
              <a:stretch>
                <a:fillRect l="0" t="0" r="0" b="0"/>
              </a:stretch>
            </a:blipFill>
          </p:spPr>
        </p:sp>
      </p:grpSp>
      <p:sp>
        <p:nvSpPr>
          <p:cNvPr name="TextBox 13" id="13"/>
          <p:cNvSpPr txBox="true"/>
          <p:nvPr/>
        </p:nvSpPr>
        <p:spPr>
          <a:xfrm rot="0">
            <a:off x="10081260" y="2000250"/>
            <a:ext cx="7338060" cy="3657600"/>
          </a:xfrm>
          <a:prstGeom prst="rect">
            <a:avLst/>
          </a:prstGeom>
        </p:spPr>
        <p:txBody>
          <a:bodyPr anchor="t" rtlCol="false" tIns="0" lIns="0" bIns="0" rIns="0">
            <a:spAutoFit/>
          </a:bodyPr>
          <a:lstStyle/>
          <a:p>
            <a:pPr algn="l" marL="479582" indent="-239791" lvl="1">
              <a:lnSpc>
                <a:spcPts val="3179"/>
              </a:lnSpc>
              <a:buFont typeface="Arial"/>
              <a:buChar char="•"/>
            </a:pPr>
            <a:r>
              <a:rPr lang="en-US" b="1" sz="2649">
                <a:solidFill>
                  <a:srgbClr val="1B2B34"/>
                </a:solidFill>
                <a:latin typeface="Calibri"/>
                <a:ea typeface="Calibri"/>
                <a:cs typeface="Calibri"/>
                <a:sym typeface="Calibri"/>
              </a:rPr>
              <a:t>Tomorrow's Kidney Weather: </a:t>
            </a:r>
            <a:r>
              <a:rPr lang="en-US" sz="2649">
                <a:solidFill>
                  <a:srgbClr val="1B2B34"/>
                </a:solidFill>
                <a:latin typeface="Calibri"/>
                <a:ea typeface="Calibri"/>
                <a:cs typeface="Calibri"/>
                <a:sym typeface="Calibri"/>
              </a:rPr>
              <a:t>forecast per city with green / amber / red counts, e.g. Delhi 45.6 °C: 685 / 158 / 24 of 867 patients</a:t>
            </a:r>
          </a:p>
          <a:p>
            <a:pPr algn="l" marL="479582" indent="-239791" lvl="1">
              <a:lnSpc>
                <a:spcPts val="3179"/>
              </a:lnSpc>
              <a:buFont typeface="Arial"/>
              <a:buChar char="•"/>
            </a:pPr>
            <a:r>
              <a:rPr lang="en-US" b="1" sz="2649">
                <a:solidFill>
                  <a:srgbClr val="1B2B34"/>
                </a:solidFill>
                <a:latin typeface="Calibri"/>
                <a:ea typeface="Calibri"/>
                <a:cs typeface="Calibri"/>
                <a:sym typeface="Calibri"/>
              </a:rPr>
              <a:t>Suggested home kidney tests today: </a:t>
            </a:r>
            <a:r>
              <a:rPr lang="en-US" sz="2649">
                <a:solidFill>
                  <a:srgbClr val="1B2B34"/>
                </a:solidFill>
                <a:latin typeface="Calibri"/>
                <a:ea typeface="Calibri"/>
                <a:cs typeface="Calibri"/>
                <a:sym typeface="Calibri"/>
              </a:rPr>
              <a:t>every red patient, highest risk first, with the main reason</a:t>
            </a:r>
          </a:p>
          <a:p>
            <a:pPr algn="l" marL="479582" indent="-239791" lvl="1">
              <a:lnSpc>
                <a:spcPts val="3179"/>
              </a:lnSpc>
              <a:buFont typeface="Arial"/>
              <a:buChar char="•"/>
            </a:pPr>
            <a:r>
              <a:rPr lang="en-US" b="1" sz="2649">
                <a:solidFill>
                  <a:srgbClr val="1B2B34"/>
                </a:solidFill>
                <a:latin typeface="Calibri"/>
                <a:ea typeface="Calibri"/>
                <a:cs typeface="Calibri"/>
                <a:sym typeface="Calibri"/>
              </a:rPr>
              <a:t>Never colour alone: </a:t>
            </a:r>
            <a:r>
              <a:rPr lang="en-US" sz="2649">
                <a:solidFill>
                  <a:srgbClr val="1B2B34"/>
                </a:solidFill>
                <a:latin typeface="Calibri"/>
                <a:ea typeface="Calibri"/>
                <a:cs typeface="Calibri"/>
                <a:sym typeface="Calibri"/>
              </a:rPr>
              <a:t>every level has an icon and a word</a:t>
            </a:r>
          </a:p>
          <a:p>
            <a:pPr algn="l" marL="479582" indent="-239791" lvl="1">
              <a:lnSpc>
                <a:spcPts val="3179"/>
              </a:lnSpc>
              <a:buFont typeface="Arial"/>
              <a:buChar char="•"/>
            </a:pPr>
            <a:r>
              <a:rPr lang="en-US" b="1" sz="2649">
                <a:solidFill>
                  <a:srgbClr val="1B2B34"/>
                </a:solidFill>
                <a:latin typeface="Calibri"/>
                <a:ea typeface="Calibri"/>
                <a:cs typeface="Calibri"/>
                <a:sym typeface="Calibri"/>
              </a:rPr>
              <a:t>One click: </a:t>
            </a:r>
            <a:r>
              <a:rPr lang="en-US" sz="2649">
                <a:solidFill>
                  <a:srgbClr val="1B2B34"/>
                </a:solidFill>
                <a:latin typeface="Calibri"/>
                <a:ea typeface="Calibri"/>
                <a:cs typeface="Calibri"/>
                <a:sym typeface="Calibri"/>
              </a:rPr>
              <a:t>order a home test or download a FHIR R4 record</a:t>
            </a:r>
          </a:p>
        </p:txBody>
      </p:sp>
      <p:sp>
        <p:nvSpPr>
          <p:cNvPr name="TextBox 14" id="14"/>
          <p:cNvSpPr txBox="true"/>
          <p:nvPr/>
        </p:nvSpPr>
        <p:spPr>
          <a:xfrm rot="0">
            <a:off x="822960" y="8945880"/>
            <a:ext cx="16596360" cy="323850"/>
          </a:xfrm>
          <a:prstGeom prst="rect">
            <a:avLst/>
          </a:prstGeom>
        </p:spPr>
        <p:txBody>
          <a:bodyPr anchor="t" rtlCol="false" tIns="0" lIns="0" bIns="0" rIns="0">
            <a:spAutoFit/>
          </a:bodyPr>
          <a:lstStyle/>
          <a:p>
            <a:pPr algn="l">
              <a:lnSpc>
                <a:spcPts val="2279"/>
              </a:lnSpc>
            </a:pPr>
            <a:r>
              <a:rPr lang="en-US" sz="1899" i="1">
                <a:solidFill>
                  <a:srgbClr val="5B6C75"/>
                </a:solidFill>
                <a:latin typeface="Calibri"/>
                <a:ea typeface="Calibri"/>
                <a:cs typeface="Calibri"/>
                <a:sym typeface="Calibri"/>
              </a:rPr>
              <a:t>Held-out 2025 test season, mismatched simulator, frozen model M. Demo date 19 May 2025: 65 of 4,962 synthetic patients red, 612 amber.</a:t>
            </a:r>
          </a:p>
        </p:txBody>
      </p:sp>
      <p:sp>
        <p:nvSpPr>
          <p:cNvPr name="TextBox 15" id="15"/>
          <p:cNvSpPr txBox="true"/>
          <p:nvPr/>
        </p:nvSpPr>
        <p:spPr>
          <a:xfrm rot="0">
            <a:off x="16962120" y="9540240"/>
            <a:ext cx="640080" cy="342900"/>
          </a:xfrm>
          <a:prstGeom prst="rect">
            <a:avLst/>
          </a:prstGeom>
        </p:spPr>
        <p:txBody>
          <a:bodyPr anchor="t" rtlCol="false" tIns="0" lIns="0" bIns="0" rIns="0">
            <a:spAutoFit/>
          </a:bodyPr>
          <a:lstStyle/>
          <a:p>
            <a:pPr algn="r">
              <a:lnSpc>
                <a:spcPts val="2459"/>
              </a:lnSpc>
            </a:pPr>
            <a:r>
              <a:rPr lang="en-US" sz="2049">
                <a:solidFill>
                  <a:srgbClr val="5B6C75"/>
                </a:solidFill>
                <a:latin typeface="Calibri"/>
                <a:ea typeface="Calibri"/>
                <a:cs typeface="Calibri"/>
                <a:sym typeface="Calibri"/>
              </a:rPr>
              <a:t>18</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95731" y="-768015"/>
            <a:ext cx="16596360" cy="3593431"/>
            <a:chOff x="0" y="0"/>
            <a:chExt cx="22128480" cy="4791241"/>
          </a:xfrm>
        </p:grpSpPr>
        <p:sp>
          <p:nvSpPr>
            <p:cNvPr name="Freeform 3" id="3"/>
            <p:cNvSpPr/>
            <p:nvPr/>
          </p:nvSpPr>
          <p:spPr>
            <a:xfrm flipH="false" flipV="false" rot="0">
              <a:off x="0" y="0"/>
              <a:ext cx="22128480" cy="4791241"/>
            </a:xfrm>
            <a:custGeom>
              <a:avLst/>
              <a:gdLst/>
              <a:ahLst/>
              <a:cxnLst/>
              <a:rect r="r" b="b" t="t" l="l"/>
              <a:pathLst>
                <a:path h="4791241" w="22128480">
                  <a:moveTo>
                    <a:pt x="0" y="0"/>
                  </a:moveTo>
                  <a:lnTo>
                    <a:pt x="22128480" y="0"/>
                  </a:lnTo>
                  <a:lnTo>
                    <a:pt x="22128480" y="4791241"/>
                  </a:lnTo>
                  <a:lnTo>
                    <a:pt x="0" y="4791241"/>
                  </a:lnTo>
                  <a:close/>
                </a:path>
              </a:pathLst>
            </a:custGeom>
            <a:blipFill>
              <a:blip r:embed="rId3">
                <a:alphaModFix amt="0"/>
              </a:blip>
              <a:stretch>
                <a:fillRect l="0" t="-73770" r="0" b="-6214"/>
              </a:stretch>
            </a:blipFill>
          </p:spPr>
        </p:sp>
        <p:sp>
          <p:nvSpPr>
            <p:cNvPr name="TextBox 4" id="4"/>
            <p:cNvSpPr txBox="true"/>
            <p:nvPr/>
          </p:nvSpPr>
          <p:spPr>
            <a:xfrm>
              <a:off x="0" y="-9525"/>
              <a:ext cx="22128480" cy="4800766"/>
            </a:xfrm>
            <a:prstGeom prst="rect">
              <a:avLst/>
            </a:prstGeom>
          </p:spPr>
          <p:txBody>
            <a:bodyPr anchor="ctr" rtlCol="false" tIns="0" lIns="0" bIns="0" rIns="0"/>
            <a:lstStyle/>
            <a:p>
              <a:pPr algn="l">
                <a:lnSpc>
                  <a:spcPts val="5879"/>
                </a:lnSpc>
              </a:pPr>
              <a:r>
                <a:rPr lang="en-US" sz="4899" b="1">
                  <a:solidFill>
                    <a:srgbClr val="0B4F5C"/>
                  </a:solidFill>
                  <a:latin typeface="Cambria"/>
                  <a:ea typeface="Cambria"/>
                  <a:cs typeface="Cambria"/>
                  <a:sym typeface="Cambria"/>
                </a:rPr>
                <a:t>Patient Twin: try a decision on the virtual patient first</a:t>
              </a:r>
            </a:p>
          </p:txBody>
        </p:sp>
      </p:grpSp>
      <p:grpSp>
        <p:nvGrpSpPr>
          <p:cNvPr name="Group 5" id="5"/>
          <p:cNvGrpSpPr/>
          <p:nvPr/>
        </p:nvGrpSpPr>
        <p:grpSpPr>
          <a:xfrm rot="0">
            <a:off x="758571" y="1924431"/>
            <a:ext cx="9181338" cy="4030742"/>
            <a:chOff x="0" y="0"/>
            <a:chExt cx="12241784" cy="5374322"/>
          </a:xfrm>
        </p:grpSpPr>
        <p:sp>
          <p:nvSpPr>
            <p:cNvPr name="Freeform 6" id="6"/>
            <p:cNvSpPr/>
            <p:nvPr/>
          </p:nvSpPr>
          <p:spPr>
            <a:xfrm flipH="false" flipV="false" rot="0">
              <a:off x="0" y="0"/>
              <a:ext cx="12241784" cy="5374386"/>
            </a:xfrm>
            <a:custGeom>
              <a:avLst/>
              <a:gdLst/>
              <a:ahLst/>
              <a:cxnLst/>
              <a:rect r="r" b="b" t="t" l="l"/>
              <a:pathLst>
                <a:path h="5374386" w="12241784">
                  <a:moveTo>
                    <a:pt x="0" y="0"/>
                  </a:moveTo>
                  <a:lnTo>
                    <a:pt x="12241784" y="0"/>
                  </a:lnTo>
                  <a:lnTo>
                    <a:pt x="12241784" y="5374386"/>
                  </a:lnTo>
                  <a:lnTo>
                    <a:pt x="0" y="5374386"/>
                  </a:lnTo>
                  <a:close/>
                </a:path>
              </a:pathLst>
            </a:custGeom>
            <a:solidFill>
              <a:srgbClr val="FFFFFF"/>
            </a:solidFill>
            <a:ln w="19050" cap="sq">
              <a:solidFill>
                <a:srgbClr val="C9D6D8"/>
              </a:solidFill>
              <a:prstDash val="solid"/>
              <a:miter/>
            </a:ln>
          </p:spPr>
        </p:sp>
      </p:grpSp>
      <p:grpSp>
        <p:nvGrpSpPr>
          <p:cNvPr name="Group 7" id="7"/>
          <p:cNvGrpSpPr/>
          <p:nvPr/>
        </p:nvGrpSpPr>
        <p:grpSpPr>
          <a:xfrm rot="0">
            <a:off x="822960" y="1988820"/>
            <a:ext cx="9052560" cy="3901964"/>
            <a:chOff x="0" y="0"/>
            <a:chExt cx="12070080" cy="5202618"/>
          </a:xfrm>
        </p:grpSpPr>
        <p:sp>
          <p:nvSpPr>
            <p:cNvPr name="Freeform 8" id="8" descr="What-if levers screenshot"/>
            <p:cNvSpPr/>
            <p:nvPr/>
          </p:nvSpPr>
          <p:spPr>
            <a:xfrm flipH="false" flipV="false" rot="0">
              <a:off x="0" y="0"/>
              <a:ext cx="12070080" cy="5202682"/>
            </a:xfrm>
            <a:custGeom>
              <a:avLst/>
              <a:gdLst/>
              <a:ahLst/>
              <a:cxnLst/>
              <a:rect r="r" b="b" t="t" l="l"/>
              <a:pathLst>
                <a:path h="5202682" w="12070080">
                  <a:moveTo>
                    <a:pt x="0" y="0"/>
                  </a:moveTo>
                  <a:lnTo>
                    <a:pt x="12070080" y="0"/>
                  </a:lnTo>
                  <a:lnTo>
                    <a:pt x="12070080" y="5202682"/>
                  </a:lnTo>
                  <a:lnTo>
                    <a:pt x="0" y="5202682"/>
                  </a:lnTo>
                  <a:lnTo>
                    <a:pt x="0" y="0"/>
                  </a:lnTo>
                  <a:close/>
                </a:path>
              </a:pathLst>
            </a:custGeom>
            <a:blipFill>
              <a:blip r:embed="rId4"/>
              <a:stretch>
                <a:fillRect l="0" t="0" r="0" b="1"/>
              </a:stretch>
            </a:blipFill>
          </p:spPr>
        </p:sp>
      </p:grpSp>
      <p:sp>
        <p:nvSpPr>
          <p:cNvPr name="TextBox 9" id="9"/>
          <p:cNvSpPr txBox="true"/>
          <p:nvPr/>
        </p:nvSpPr>
        <p:spPr>
          <a:xfrm rot="0">
            <a:off x="10424160" y="1922145"/>
            <a:ext cx="6995160" cy="533400"/>
          </a:xfrm>
          <a:prstGeom prst="rect">
            <a:avLst/>
          </a:prstGeom>
        </p:spPr>
        <p:txBody>
          <a:bodyPr anchor="t" rtlCol="false" tIns="0" lIns="0" bIns="0" rIns="0">
            <a:spAutoFit/>
          </a:bodyPr>
          <a:lstStyle/>
          <a:p>
            <a:pPr algn="l">
              <a:lnSpc>
                <a:spcPts val="3719"/>
              </a:lnSpc>
            </a:pPr>
            <a:r>
              <a:rPr lang="en-US" sz="3099" b="1">
                <a:solidFill>
                  <a:srgbClr val="0B4F5C"/>
                </a:solidFill>
                <a:latin typeface="Calibri"/>
                <a:ea typeface="Calibri"/>
                <a:cs typeface="Calibri"/>
                <a:sym typeface="Calibri"/>
              </a:rPr>
              <a:t>Riya, day 8 (72-hour risk, synthetic)</a:t>
            </a:r>
          </a:p>
        </p:txBody>
      </p:sp>
      <p:grpSp>
        <p:nvGrpSpPr>
          <p:cNvPr name="Group 10" id="10"/>
          <p:cNvGrpSpPr/>
          <p:nvPr/>
        </p:nvGrpSpPr>
        <p:grpSpPr>
          <a:xfrm rot="0">
            <a:off x="10414635" y="2802255"/>
            <a:ext cx="7014210" cy="842010"/>
            <a:chOff x="0" y="0"/>
            <a:chExt cx="9352280" cy="1122680"/>
          </a:xfrm>
        </p:grpSpPr>
        <p:sp>
          <p:nvSpPr>
            <p:cNvPr name="Freeform 11" id="11"/>
            <p:cNvSpPr/>
            <p:nvPr/>
          </p:nvSpPr>
          <p:spPr>
            <a:xfrm flipH="false" flipV="false" rot="0">
              <a:off x="0" y="0"/>
              <a:ext cx="9352280" cy="1122680"/>
            </a:xfrm>
            <a:custGeom>
              <a:avLst/>
              <a:gdLst/>
              <a:ahLst/>
              <a:cxnLst/>
              <a:rect r="r" b="b" t="t" l="l"/>
              <a:pathLst>
                <a:path h="1122680" w="9352280">
                  <a:moveTo>
                    <a:pt x="0" y="149733"/>
                  </a:moveTo>
                  <a:cubicBezTo>
                    <a:pt x="0" y="67056"/>
                    <a:pt x="67056" y="0"/>
                    <a:pt x="149733" y="0"/>
                  </a:cubicBezTo>
                  <a:lnTo>
                    <a:pt x="9202547" y="0"/>
                  </a:lnTo>
                  <a:cubicBezTo>
                    <a:pt x="9285224" y="0"/>
                    <a:pt x="9352280" y="67056"/>
                    <a:pt x="9352280" y="149733"/>
                  </a:cubicBezTo>
                  <a:lnTo>
                    <a:pt x="9352280" y="972947"/>
                  </a:lnTo>
                  <a:cubicBezTo>
                    <a:pt x="9352280" y="1055624"/>
                    <a:pt x="9285224" y="1122680"/>
                    <a:pt x="9202547" y="1122680"/>
                  </a:cubicBezTo>
                  <a:lnTo>
                    <a:pt x="149733" y="1122680"/>
                  </a:lnTo>
                  <a:cubicBezTo>
                    <a:pt x="67056" y="1122680"/>
                    <a:pt x="0" y="1055624"/>
                    <a:pt x="0" y="972947"/>
                  </a:cubicBezTo>
                  <a:close/>
                </a:path>
              </a:pathLst>
            </a:custGeom>
            <a:solidFill>
              <a:srgbClr val="EEF5F5"/>
            </a:solidFill>
            <a:ln w="19050" cap="sq">
              <a:solidFill>
                <a:srgbClr val="EEF5F5"/>
              </a:solidFill>
              <a:prstDash val="solid"/>
              <a:miter/>
            </a:ln>
          </p:spPr>
        </p:sp>
      </p:grpSp>
      <p:grpSp>
        <p:nvGrpSpPr>
          <p:cNvPr name="Group 12" id="12"/>
          <p:cNvGrpSpPr/>
          <p:nvPr/>
        </p:nvGrpSpPr>
        <p:grpSpPr>
          <a:xfrm rot="0">
            <a:off x="10698480" y="2811780"/>
            <a:ext cx="4937760" cy="822960"/>
            <a:chOff x="0" y="0"/>
            <a:chExt cx="6583680" cy="1097280"/>
          </a:xfrm>
        </p:grpSpPr>
        <p:sp>
          <p:nvSpPr>
            <p:cNvPr name="Freeform 13" id="13"/>
            <p:cNvSpPr/>
            <p:nvPr/>
          </p:nvSpPr>
          <p:spPr>
            <a:xfrm flipH="false" flipV="false" rot="0">
              <a:off x="0" y="0"/>
              <a:ext cx="6583680" cy="1097280"/>
            </a:xfrm>
            <a:custGeom>
              <a:avLst/>
              <a:gdLst/>
              <a:ahLst/>
              <a:cxnLst/>
              <a:rect r="r" b="b" t="t" l="l"/>
              <a:pathLst>
                <a:path h="1097280" w="6583680">
                  <a:moveTo>
                    <a:pt x="0" y="0"/>
                  </a:moveTo>
                  <a:lnTo>
                    <a:pt x="6583680" y="0"/>
                  </a:lnTo>
                  <a:lnTo>
                    <a:pt x="6583680" y="1097280"/>
                  </a:lnTo>
                  <a:lnTo>
                    <a:pt x="0" y="1097280"/>
                  </a:lnTo>
                  <a:close/>
                </a:path>
              </a:pathLst>
            </a:custGeom>
            <a:blipFill>
              <a:blip r:embed="rId3">
                <a:alphaModFix amt="0"/>
              </a:blip>
              <a:stretch>
                <a:fillRect l="0" t="-66910" r="0" b="-66910"/>
              </a:stretch>
            </a:blipFill>
          </p:spPr>
        </p:sp>
        <p:sp>
          <p:nvSpPr>
            <p:cNvPr name="TextBox 14" id="14"/>
            <p:cNvSpPr txBox="true"/>
            <p:nvPr/>
          </p:nvSpPr>
          <p:spPr>
            <a:xfrm>
              <a:off x="0" y="-47625"/>
              <a:ext cx="6583680" cy="1144905"/>
            </a:xfrm>
            <a:prstGeom prst="rect">
              <a:avLst/>
            </a:prstGeom>
          </p:spPr>
          <p:txBody>
            <a:bodyPr anchor="ctr" rtlCol="false" tIns="0" lIns="0" bIns="0" rIns="0"/>
            <a:lstStyle/>
            <a:p>
              <a:pPr algn="l">
                <a:lnSpc>
                  <a:spcPts val="2999"/>
                </a:lnSpc>
              </a:pPr>
              <a:r>
                <a:rPr lang="en-US" sz="2499">
                  <a:solidFill>
                    <a:srgbClr val="1B2B34"/>
                  </a:solidFill>
                  <a:latin typeface="Calibri"/>
                  <a:ea typeface="Calibri"/>
                  <a:cs typeface="Calibri"/>
                  <a:sym typeface="Calibri"/>
                </a:rPr>
                <a:t>Continue as is</a:t>
              </a:r>
            </a:p>
          </p:txBody>
        </p:sp>
      </p:grpSp>
      <p:grpSp>
        <p:nvGrpSpPr>
          <p:cNvPr name="Group 15" id="15"/>
          <p:cNvGrpSpPr/>
          <p:nvPr/>
        </p:nvGrpSpPr>
        <p:grpSpPr>
          <a:xfrm rot="0">
            <a:off x="15499080" y="2811780"/>
            <a:ext cx="1714500" cy="822960"/>
            <a:chOff x="0" y="0"/>
            <a:chExt cx="2286000" cy="1097280"/>
          </a:xfrm>
        </p:grpSpPr>
        <p:sp>
          <p:nvSpPr>
            <p:cNvPr name="Freeform 16" id="16"/>
            <p:cNvSpPr/>
            <p:nvPr/>
          </p:nvSpPr>
          <p:spPr>
            <a:xfrm flipH="false" flipV="false" rot="0">
              <a:off x="0" y="0"/>
              <a:ext cx="2286000" cy="1097280"/>
            </a:xfrm>
            <a:custGeom>
              <a:avLst/>
              <a:gdLst/>
              <a:ahLst/>
              <a:cxnLst/>
              <a:rect r="r" b="b" t="t" l="l"/>
              <a:pathLst>
                <a:path h="1097280" w="2286000">
                  <a:moveTo>
                    <a:pt x="0" y="0"/>
                  </a:moveTo>
                  <a:lnTo>
                    <a:pt x="2286000" y="0"/>
                  </a:lnTo>
                  <a:lnTo>
                    <a:pt x="2286000" y="1097280"/>
                  </a:lnTo>
                  <a:lnTo>
                    <a:pt x="0" y="1097280"/>
                  </a:lnTo>
                  <a:close/>
                </a:path>
              </a:pathLst>
            </a:custGeom>
            <a:blipFill>
              <a:blip r:embed="rId3">
                <a:alphaModFix amt="0"/>
              </a:blip>
              <a:stretch>
                <a:fillRect l="-11585" t="0" r="-11585" b="0"/>
              </a:stretch>
            </a:blipFill>
          </p:spPr>
        </p:sp>
        <p:sp>
          <p:nvSpPr>
            <p:cNvPr name="TextBox 17" id="17"/>
            <p:cNvSpPr txBox="true"/>
            <p:nvPr/>
          </p:nvSpPr>
          <p:spPr>
            <a:xfrm>
              <a:off x="0" y="-66675"/>
              <a:ext cx="2286000" cy="1163955"/>
            </a:xfrm>
            <a:prstGeom prst="rect">
              <a:avLst/>
            </a:prstGeom>
          </p:spPr>
          <p:txBody>
            <a:bodyPr anchor="ctr" rtlCol="false" tIns="0" lIns="0" bIns="0" rIns="0"/>
            <a:lstStyle/>
            <a:p>
              <a:pPr algn="r">
                <a:lnSpc>
                  <a:spcPts val="3719"/>
                </a:lnSpc>
              </a:pPr>
              <a:r>
                <a:rPr lang="en-US" sz="3099" b="1">
                  <a:solidFill>
                    <a:srgbClr val="D9472B"/>
                  </a:solidFill>
                  <a:latin typeface="Calibri"/>
                  <a:ea typeface="Calibri"/>
                  <a:cs typeface="Calibri"/>
                  <a:sym typeface="Calibri"/>
                </a:rPr>
                <a:t>48%</a:t>
              </a:r>
            </a:p>
          </p:txBody>
        </p:sp>
      </p:grpSp>
      <p:grpSp>
        <p:nvGrpSpPr>
          <p:cNvPr name="Group 18" id="18"/>
          <p:cNvGrpSpPr/>
          <p:nvPr/>
        </p:nvGrpSpPr>
        <p:grpSpPr>
          <a:xfrm rot="0">
            <a:off x="10414635" y="3789807"/>
            <a:ext cx="7014210" cy="842010"/>
            <a:chOff x="0" y="0"/>
            <a:chExt cx="9352280" cy="1122680"/>
          </a:xfrm>
        </p:grpSpPr>
        <p:sp>
          <p:nvSpPr>
            <p:cNvPr name="Freeform 19" id="19"/>
            <p:cNvSpPr/>
            <p:nvPr/>
          </p:nvSpPr>
          <p:spPr>
            <a:xfrm flipH="false" flipV="false" rot="0">
              <a:off x="0" y="0"/>
              <a:ext cx="9352280" cy="1122680"/>
            </a:xfrm>
            <a:custGeom>
              <a:avLst/>
              <a:gdLst/>
              <a:ahLst/>
              <a:cxnLst/>
              <a:rect r="r" b="b" t="t" l="l"/>
              <a:pathLst>
                <a:path h="1122680" w="9352280">
                  <a:moveTo>
                    <a:pt x="0" y="149733"/>
                  </a:moveTo>
                  <a:cubicBezTo>
                    <a:pt x="0" y="67056"/>
                    <a:pt x="67056" y="0"/>
                    <a:pt x="149733" y="0"/>
                  </a:cubicBezTo>
                  <a:lnTo>
                    <a:pt x="9202547" y="0"/>
                  </a:lnTo>
                  <a:cubicBezTo>
                    <a:pt x="9285224" y="0"/>
                    <a:pt x="9352280" y="67056"/>
                    <a:pt x="9352280" y="149733"/>
                  </a:cubicBezTo>
                  <a:lnTo>
                    <a:pt x="9352280" y="972947"/>
                  </a:lnTo>
                  <a:cubicBezTo>
                    <a:pt x="9352280" y="1055624"/>
                    <a:pt x="9285224" y="1122680"/>
                    <a:pt x="9202547" y="1122680"/>
                  </a:cubicBezTo>
                  <a:lnTo>
                    <a:pt x="149733" y="1122680"/>
                  </a:lnTo>
                  <a:cubicBezTo>
                    <a:pt x="67056" y="1122680"/>
                    <a:pt x="0" y="1055624"/>
                    <a:pt x="0" y="972947"/>
                  </a:cubicBezTo>
                  <a:close/>
                </a:path>
              </a:pathLst>
            </a:custGeom>
            <a:solidFill>
              <a:srgbClr val="EEF5F5"/>
            </a:solidFill>
            <a:ln w="19050" cap="sq">
              <a:solidFill>
                <a:srgbClr val="EEF5F5"/>
              </a:solidFill>
              <a:prstDash val="solid"/>
              <a:miter/>
            </a:ln>
          </p:spPr>
        </p:sp>
      </p:grpSp>
      <p:grpSp>
        <p:nvGrpSpPr>
          <p:cNvPr name="Group 20" id="20"/>
          <p:cNvGrpSpPr/>
          <p:nvPr/>
        </p:nvGrpSpPr>
        <p:grpSpPr>
          <a:xfrm rot="0">
            <a:off x="10698480" y="3799332"/>
            <a:ext cx="4937760" cy="822960"/>
            <a:chOff x="0" y="0"/>
            <a:chExt cx="6583680" cy="1097280"/>
          </a:xfrm>
        </p:grpSpPr>
        <p:sp>
          <p:nvSpPr>
            <p:cNvPr name="Freeform 21" id="21"/>
            <p:cNvSpPr/>
            <p:nvPr/>
          </p:nvSpPr>
          <p:spPr>
            <a:xfrm flipH="false" flipV="false" rot="0">
              <a:off x="0" y="0"/>
              <a:ext cx="6583680" cy="1097280"/>
            </a:xfrm>
            <a:custGeom>
              <a:avLst/>
              <a:gdLst/>
              <a:ahLst/>
              <a:cxnLst/>
              <a:rect r="r" b="b" t="t" l="l"/>
              <a:pathLst>
                <a:path h="1097280" w="6583680">
                  <a:moveTo>
                    <a:pt x="0" y="0"/>
                  </a:moveTo>
                  <a:lnTo>
                    <a:pt x="6583680" y="0"/>
                  </a:lnTo>
                  <a:lnTo>
                    <a:pt x="6583680" y="1097280"/>
                  </a:lnTo>
                  <a:lnTo>
                    <a:pt x="0" y="1097280"/>
                  </a:lnTo>
                  <a:close/>
                </a:path>
              </a:pathLst>
            </a:custGeom>
            <a:blipFill>
              <a:blip r:embed="rId3">
                <a:alphaModFix amt="0"/>
              </a:blip>
              <a:stretch>
                <a:fillRect l="0" t="-66910" r="0" b="-66910"/>
              </a:stretch>
            </a:blipFill>
          </p:spPr>
        </p:sp>
        <p:sp>
          <p:nvSpPr>
            <p:cNvPr name="TextBox 22" id="22"/>
            <p:cNvSpPr txBox="true"/>
            <p:nvPr/>
          </p:nvSpPr>
          <p:spPr>
            <a:xfrm>
              <a:off x="0" y="-47625"/>
              <a:ext cx="6583680" cy="1144905"/>
            </a:xfrm>
            <a:prstGeom prst="rect">
              <a:avLst/>
            </a:prstGeom>
          </p:spPr>
          <p:txBody>
            <a:bodyPr anchor="ctr" rtlCol="false" tIns="0" lIns="0" bIns="0" rIns="0"/>
            <a:lstStyle/>
            <a:p>
              <a:pPr algn="l">
                <a:lnSpc>
                  <a:spcPts val="2999"/>
                </a:lnSpc>
              </a:pPr>
              <a:r>
                <a:rPr lang="en-US" sz="2499">
                  <a:solidFill>
                    <a:srgbClr val="1B2B34"/>
                  </a:solidFill>
                  <a:latin typeface="Calibri"/>
                  <a:ea typeface="Calibri"/>
                  <a:cs typeface="Calibri"/>
                  <a:sym typeface="Calibri"/>
                </a:rPr>
                <a:t>1 · Swap ibuprofen → paracetamol</a:t>
              </a:r>
            </a:p>
          </p:txBody>
        </p:sp>
      </p:grpSp>
      <p:grpSp>
        <p:nvGrpSpPr>
          <p:cNvPr name="Group 23" id="23"/>
          <p:cNvGrpSpPr/>
          <p:nvPr/>
        </p:nvGrpSpPr>
        <p:grpSpPr>
          <a:xfrm rot="0">
            <a:off x="15499080" y="3799332"/>
            <a:ext cx="1714500" cy="822960"/>
            <a:chOff x="0" y="0"/>
            <a:chExt cx="2286000" cy="1097280"/>
          </a:xfrm>
        </p:grpSpPr>
        <p:sp>
          <p:nvSpPr>
            <p:cNvPr name="Freeform 24" id="24"/>
            <p:cNvSpPr/>
            <p:nvPr/>
          </p:nvSpPr>
          <p:spPr>
            <a:xfrm flipH="false" flipV="false" rot="0">
              <a:off x="0" y="0"/>
              <a:ext cx="2286000" cy="1097280"/>
            </a:xfrm>
            <a:custGeom>
              <a:avLst/>
              <a:gdLst/>
              <a:ahLst/>
              <a:cxnLst/>
              <a:rect r="r" b="b" t="t" l="l"/>
              <a:pathLst>
                <a:path h="1097280" w="2286000">
                  <a:moveTo>
                    <a:pt x="0" y="0"/>
                  </a:moveTo>
                  <a:lnTo>
                    <a:pt x="2286000" y="0"/>
                  </a:lnTo>
                  <a:lnTo>
                    <a:pt x="2286000" y="1097280"/>
                  </a:lnTo>
                  <a:lnTo>
                    <a:pt x="0" y="1097280"/>
                  </a:lnTo>
                  <a:close/>
                </a:path>
              </a:pathLst>
            </a:custGeom>
            <a:blipFill>
              <a:blip r:embed="rId3">
                <a:alphaModFix amt="0"/>
              </a:blip>
              <a:stretch>
                <a:fillRect l="-11585" t="0" r="-11585" b="0"/>
              </a:stretch>
            </a:blipFill>
          </p:spPr>
        </p:sp>
        <p:sp>
          <p:nvSpPr>
            <p:cNvPr name="TextBox 25" id="25"/>
            <p:cNvSpPr txBox="true"/>
            <p:nvPr/>
          </p:nvSpPr>
          <p:spPr>
            <a:xfrm>
              <a:off x="0" y="-66675"/>
              <a:ext cx="2286000" cy="1163955"/>
            </a:xfrm>
            <a:prstGeom prst="rect">
              <a:avLst/>
            </a:prstGeom>
          </p:spPr>
          <p:txBody>
            <a:bodyPr anchor="ctr" rtlCol="false" tIns="0" lIns="0" bIns="0" rIns="0"/>
            <a:lstStyle/>
            <a:p>
              <a:pPr algn="r">
                <a:lnSpc>
                  <a:spcPts val="3719"/>
                </a:lnSpc>
              </a:pPr>
              <a:r>
                <a:rPr lang="en-US" sz="3099" b="1">
                  <a:solidFill>
                    <a:srgbClr val="E9A23B"/>
                  </a:solidFill>
                  <a:latin typeface="Calibri"/>
                  <a:ea typeface="Calibri"/>
                  <a:cs typeface="Calibri"/>
                  <a:sym typeface="Calibri"/>
                </a:rPr>
                <a:t>25.5%</a:t>
              </a:r>
            </a:p>
          </p:txBody>
        </p:sp>
      </p:grpSp>
      <p:grpSp>
        <p:nvGrpSpPr>
          <p:cNvPr name="Group 26" id="26"/>
          <p:cNvGrpSpPr/>
          <p:nvPr/>
        </p:nvGrpSpPr>
        <p:grpSpPr>
          <a:xfrm rot="0">
            <a:off x="10414635" y="4777359"/>
            <a:ext cx="7014210" cy="842010"/>
            <a:chOff x="0" y="0"/>
            <a:chExt cx="9352280" cy="1122680"/>
          </a:xfrm>
        </p:grpSpPr>
        <p:sp>
          <p:nvSpPr>
            <p:cNvPr name="Freeform 27" id="27"/>
            <p:cNvSpPr/>
            <p:nvPr/>
          </p:nvSpPr>
          <p:spPr>
            <a:xfrm flipH="false" flipV="false" rot="0">
              <a:off x="0" y="0"/>
              <a:ext cx="9352280" cy="1122680"/>
            </a:xfrm>
            <a:custGeom>
              <a:avLst/>
              <a:gdLst/>
              <a:ahLst/>
              <a:cxnLst/>
              <a:rect r="r" b="b" t="t" l="l"/>
              <a:pathLst>
                <a:path h="1122680" w="9352280">
                  <a:moveTo>
                    <a:pt x="0" y="149733"/>
                  </a:moveTo>
                  <a:cubicBezTo>
                    <a:pt x="0" y="67056"/>
                    <a:pt x="67056" y="0"/>
                    <a:pt x="149733" y="0"/>
                  </a:cubicBezTo>
                  <a:lnTo>
                    <a:pt x="9202547" y="0"/>
                  </a:lnTo>
                  <a:cubicBezTo>
                    <a:pt x="9285224" y="0"/>
                    <a:pt x="9352280" y="67056"/>
                    <a:pt x="9352280" y="149733"/>
                  </a:cubicBezTo>
                  <a:lnTo>
                    <a:pt x="9352280" y="972947"/>
                  </a:lnTo>
                  <a:cubicBezTo>
                    <a:pt x="9352280" y="1055624"/>
                    <a:pt x="9285224" y="1122680"/>
                    <a:pt x="9202547" y="1122680"/>
                  </a:cubicBezTo>
                  <a:lnTo>
                    <a:pt x="149733" y="1122680"/>
                  </a:lnTo>
                  <a:cubicBezTo>
                    <a:pt x="67056" y="1122680"/>
                    <a:pt x="0" y="1055624"/>
                    <a:pt x="0" y="972947"/>
                  </a:cubicBezTo>
                  <a:close/>
                </a:path>
              </a:pathLst>
            </a:custGeom>
            <a:solidFill>
              <a:srgbClr val="EEF5F5"/>
            </a:solidFill>
            <a:ln w="19050" cap="sq">
              <a:solidFill>
                <a:srgbClr val="EEF5F5"/>
              </a:solidFill>
              <a:prstDash val="solid"/>
              <a:miter/>
            </a:ln>
          </p:spPr>
        </p:sp>
      </p:grpSp>
      <p:grpSp>
        <p:nvGrpSpPr>
          <p:cNvPr name="Group 28" id="28"/>
          <p:cNvGrpSpPr/>
          <p:nvPr/>
        </p:nvGrpSpPr>
        <p:grpSpPr>
          <a:xfrm rot="0">
            <a:off x="10698480" y="4786884"/>
            <a:ext cx="4937760" cy="822960"/>
            <a:chOff x="0" y="0"/>
            <a:chExt cx="6583680" cy="1097280"/>
          </a:xfrm>
        </p:grpSpPr>
        <p:sp>
          <p:nvSpPr>
            <p:cNvPr name="Freeform 29" id="29"/>
            <p:cNvSpPr/>
            <p:nvPr/>
          </p:nvSpPr>
          <p:spPr>
            <a:xfrm flipH="false" flipV="false" rot="0">
              <a:off x="0" y="0"/>
              <a:ext cx="6583680" cy="1097280"/>
            </a:xfrm>
            <a:custGeom>
              <a:avLst/>
              <a:gdLst/>
              <a:ahLst/>
              <a:cxnLst/>
              <a:rect r="r" b="b" t="t" l="l"/>
              <a:pathLst>
                <a:path h="1097280" w="6583680">
                  <a:moveTo>
                    <a:pt x="0" y="0"/>
                  </a:moveTo>
                  <a:lnTo>
                    <a:pt x="6583680" y="0"/>
                  </a:lnTo>
                  <a:lnTo>
                    <a:pt x="6583680" y="1097280"/>
                  </a:lnTo>
                  <a:lnTo>
                    <a:pt x="0" y="1097280"/>
                  </a:lnTo>
                  <a:close/>
                </a:path>
              </a:pathLst>
            </a:custGeom>
            <a:blipFill>
              <a:blip r:embed="rId3">
                <a:alphaModFix amt="0"/>
              </a:blip>
              <a:stretch>
                <a:fillRect l="0" t="-66910" r="0" b="-66910"/>
              </a:stretch>
            </a:blipFill>
          </p:spPr>
        </p:sp>
        <p:sp>
          <p:nvSpPr>
            <p:cNvPr name="TextBox 30" id="30"/>
            <p:cNvSpPr txBox="true"/>
            <p:nvPr/>
          </p:nvSpPr>
          <p:spPr>
            <a:xfrm>
              <a:off x="0" y="-47625"/>
              <a:ext cx="6583680" cy="1144905"/>
            </a:xfrm>
            <a:prstGeom prst="rect">
              <a:avLst/>
            </a:prstGeom>
          </p:spPr>
          <p:txBody>
            <a:bodyPr anchor="ctr" rtlCol="false" tIns="0" lIns="0" bIns="0" rIns="0"/>
            <a:lstStyle/>
            <a:p>
              <a:pPr algn="l">
                <a:lnSpc>
                  <a:spcPts val="2999"/>
                </a:lnSpc>
              </a:pPr>
              <a:r>
                <a:rPr lang="en-US" sz="2499">
                  <a:solidFill>
                    <a:srgbClr val="1B2B34"/>
                  </a:solidFill>
                  <a:latin typeface="Calibri"/>
                  <a:ea typeface="Calibri"/>
                  <a:cs typeface="Calibri"/>
                  <a:sym typeface="Calibri"/>
                </a:rPr>
                <a:t>2 · + ORS 1 L/day</a:t>
              </a:r>
            </a:p>
          </p:txBody>
        </p:sp>
      </p:grpSp>
      <p:grpSp>
        <p:nvGrpSpPr>
          <p:cNvPr name="Group 31" id="31"/>
          <p:cNvGrpSpPr/>
          <p:nvPr/>
        </p:nvGrpSpPr>
        <p:grpSpPr>
          <a:xfrm rot="0">
            <a:off x="15499080" y="4786884"/>
            <a:ext cx="1714500" cy="822960"/>
            <a:chOff x="0" y="0"/>
            <a:chExt cx="2286000" cy="1097280"/>
          </a:xfrm>
        </p:grpSpPr>
        <p:sp>
          <p:nvSpPr>
            <p:cNvPr name="Freeform 32" id="32"/>
            <p:cNvSpPr/>
            <p:nvPr/>
          </p:nvSpPr>
          <p:spPr>
            <a:xfrm flipH="false" flipV="false" rot="0">
              <a:off x="0" y="0"/>
              <a:ext cx="2286000" cy="1097280"/>
            </a:xfrm>
            <a:custGeom>
              <a:avLst/>
              <a:gdLst/>
              <a:ahLst/>
              <a:cxnLst/>
              <a:rect r="r" b="b" t="t" l="l"/>
              <a:pathLst>
                <a:path h="1097280" w="2286000">
                  <a:moveTo>
                    <a:pt x="0" y="0"/>
                  </a:moveTo>
                  <a:lnTo>
                    <a:pt x="2286000" y="0"/>
                  </a:lnTo>
                  <a:lnTo>
                    <a:pt x="2286000" y="1097280"/>
                  </a:lnTo>
                  <a:lnTo>
                    <a:pt x="0" y="1097280"/>
                  </a:lnTo>
                  <a:close/>
                </a:path>
              </a:pathLst>
            </a:custGeom>
            <a:blipFill>
              <a:blip r:embed="rId3">
                <a:alphaModFix amt="0"/>
              </a:blip>
              <a:stretch>
                <a:fillRect l="-11585" t="0" r="-11585" b="0"/>
              </a:stretch>
            </a:blipFill>
          </p:spPr>
        </p:sp>
        <p:sp>
          <p:nvSpPr>
            <p:cNvPr name="TextBox 33" id="33"/>
            <p:cNvSpPr txBox="true"/>
            <p:nvPr/>
          </p:nvSpPr>
          <p:spPr>
            <a:xfrm>
              <a:off x="0" y="-66675"/>
              <a:ext cx="2286000" cy="1163955"/>
            </a:xfrm>
            <a:prstGeom prst="rect">
              <a:avLst/>
            </a:prstGeom>
          </p:spPr>
          <p:txBody>
            <a:bodyPr anchor="ctr" rtlCol="false" tIns="0" lIns="0" bIns="0" rIns="0"/>
            <a:lstStyle/>
            <a:p>
              <a:pPr algn="r">
                <a:lnSpc>
                  <a:spcPts val="3719"/>
                </a:lnSpc>
              </a:pPr>
              <a:r>
                <a:rPr lang="en-US" sz="3099" b="1">
                  <a:solidFill>
                    <a:srgbClr val="2E8B57"/>
                  </a:solidFill>
                  <a:latin typeface="Calibri"/>
                  <a:ea typeface="Calibri"/>
                  <a:cs typeface="Calibri"/>
                  <a:sym typeface="Calibri"/>
                </a:rPr>
                <a:t>1.5%</a:t>
              </a:r>
            </a:p>
          </p:txBody>
        </p:sp>
      </p:grpSp>
      <p:grpSp>
        <p:nvGrpSpPr>
          <p:cNvPr name="Group 34" id="34"/>
          <p:cNvGrpSpPr/>
          <p:nvPr/>
        </p:nvGrpSpPr>
        <p:grpSpPr>
          <a:xfrm rot="0">
            <a:off x="10414635" y="5764911"/>
            <a:ext cx="7014210" cy="842010"/>
            <a:chOff x="0" y="0"/>
            <a:chExt cx="9352280" cy="1122680"/>
          </a:xfrm>
        </p:grpSpPr>
        <p:sp>
          <p:nvSpPr>
            <p:cNvPr name="Freeform 35" id="35"/>
            <p:cNvSpPr/>
            <p:nvPr/>
          </p:nvSpPr>
          <p:spPr>
            <a:xfrm flipH="false" flipV="false" rot="0">
              <a:off x="0" y="0"/>
              <a:ext cx="9352280" cy="1122680"/>
            </a:xfrm>
            <a:custGeom>
              <a:avLst/>
              <a:gdLst/>
              <a:ahLst/>
              <a:cxnLst/>
              <a:rect r="r" b="b" t="t" l="l"/>
              <a:pathLst>
                <a:path h="1122680" w="9352280">
                  <a:moveTo>
                    <a:pt x="0" y="149733"/>
                  </a:moveTo>
                  <a:cubicBezTo>
                    <a:pt x="0" y="67056"/>
                    <a:pt x="67056" y="0"/>
                    <a:pt x="149733" y="0"/>
                  </a:cubicBezTo>
                  <a:lnTo>
                    <a:pt x="9202547" y="0"/>
                  </a:lnTo>
                  <a:cubicBezTo>
                    <a:pt x="9285224" y="0"/>
                    <a:pt x="9352280" y="67056"/>
                    <a:pt x="9352280" y="149733"/>
                  </a:cubicBezTo>
                  <a:lnTo>
                    <a:pt x="9352280" y="972947"/>
                  </a:lnTo>
                  <a:cubicBezTo>
                    <a:pt x="9352280" y="1055624"/>
                    <a:pt x="9285224" y="1122680"/>
                    <a:pt x="9202547" y="1122680"/>
                  </a:cubicBezTo>
                  <a:lnTo>
                    <a:pt x="149733" y="1122680"/>
                  </a:lnTo>
                  <a:cubicBezTo>
                    <a:pt x="67056" y="1122680"/>
                    <a:pt x="0" y="1055624"/>
                    <a:pt x="0" y="972947"/>
                  </a:cubicBezTo>
                  <a:close/>
                </a:path>
              </a:pathLst>
            </a:custGeom>
            <a:solidFill>
              <a:srgbClr val="EEF5F5"/>
            </a:solidFill>
            <a:ln w="19050" cap="sq">
              <a:solidFill>
                <a:srgbClr val="EEF5F5"/>
              </a:solidFill>
              <a:prstDash val="solid"/>
              <a:miter/>
            </a:ln>
          </p:spPr>
        </p:sp>
      </p:grpSp>
      <p:grpSp>
        <p:nvGrpSpPr>
          <p:cNvPr name="Group 36" id="36"/>
          <p:cNvGrpSpPr/>
          <p:nvPr/>
        </p:nvGrpSpPr>
        <p:grpSpPr>
          <a:xfrm rot="0">
            <a:off x="10698480" y="5774436"/>
            <a:ext cx="4937760" cy="822960"/>
            <a:chOff x="0" y="0"/>
            <a:chExt cx="6583680" cy="1097280"/>
          </a:xfrm>
        </p:grpSpPr>
        <p:sp>
          <p:nvSpPr>
            <p:cNvPr name="Freeform 37" id="37"/>
            <p:cNvSpPr/>
            <p:nvPr/>
          </p:nvSpPr>
          <p:spPr>
            <a:xfrm flipH="false" flipV="false" rot="0">
              <a:off x="0" y="0"/>
              <a:ext cx="6583680" cy="1097280"/>
            </a:xfrm>
            <a:custGeom>
              <a:avLst/>
              <a:gdLst/>
              <a:ahLst/>
              <a:cxnLst/>
              <a:rect r="r" b="b" t="t" l="l"/>
              <a:pathLst>
                <a:path h="1097280" w="6583680">
                  <a:moveTo>
                    <a:pt x="0" y="0"/>
                  </a:moveTo>
                  <a:lnTo>
                    <a:pt x="6583680" y="0"/>
                  </a:lnTo>
                  <a:lnTo>
                    <a:pt x="6583680" y="1097280"/>
                  </a:lnTo>
                  <a:lnTo>
                    <a:pt x="0" y="1097280"/>
                  </a:lnTo>
                  <a:close/>
                </a:path>
              </a:pathLst>
            </a:custGeom>
            <a:blipFill>
              <a:blip r:embed="rId3">
                <a:alphaModFix amt="0"/>
              </a:blip>
              <a:stretch>
                <a:fillRect l="0" t="-66910" r="0" b="-66910"/>
              </a:stretch>
            </a:blipFill>
          </p:spPr>
        </p:sp>
        <p:sp>
          <p:nvSpPr>
            <p:cNvPr name="TextBox 38" id="38"/>
            <p:cNvSpPr txBox="true"/>
            <p:nvPr/>
          </p:nvSpPr>
          <p:spPr>
            <a:xfrm>
              <a:off x="0" y="-47625"/>
              <a:ext cx="6583680" cy="1144905"/>
            </a:xfrm>
            <a:prstGeom prst="rect">
              <a:avLst/>
            </a:prstGeom>
          </p:spPr>
          <p:txBody>
            <a:bodyPr anchor="ctr" rtlCol="false" tIns="0" lIns="0" bIns="0" rIns="0"/>
            <a:lstStyle/>
            <a:p>
              <a:pPr algn="l">
                <a:lnSpc>
                  <a:spcPts val="2999"/>
                </a:lnSpc>
              </a:pPr>
              <a:r>
                <a:rPr lang="en-US" sz="2499">
                  <a:solidFill>
                    <a:srgbClr val="1B2B34"/>
                  </a:solidFill>
                  <a:latin typeface="Calibri"/>
                  <a:ea typeface="Calibri"/>
                  <a:cs typeface="Calibri"/>
                  <a:sym typeface="Calibri"/>
                </a:rPr>
                <a:t>3 · + pause ARB &amp; diuretic*</a:t>
              </a:r>
            </a:p>
          </p:txBody>
        </p:sp>
      </p:grpSp>
      <p:grpSp>
        <p:nvGrpSpPr>
          <p:cNvPr name="Group 39" id="39"/>
          <p:cNvGrpSpPr/>
          <p:nvPr/>
        </p:nvGrpSpPr>
        <p:grpSpPr>
          <a:xfrm rot="0">
            <a:off x="15499080" y="5774436"/>
            <a:ext cx="1714500" cy="822960"/>
            <a:chOff x="0" y="0"/>
            <a:chExt cx="2286000" cy="1097280"/>
          </a:xfrm>
        </p:grpSpPr>
        <p:sp>
          <p:nvSpPr>
            <p:cNvPr name="Freeform 40" id="40"/>
            <p:cNvSpPr/>
            <p:nvPr/>
          </p:nvSpPr>
          <p:spPr>
            <a:xfrm flipH="false" flipV="false" rot="0">
              <a:off x="0" y="0"/>
              <a:ext cx="2286000" cy="1097280"/>
            </a:xfrm>
            <a:custGeom>
              <a:avLst/>
              <a:gdLst/>
              <a:ahLst/>
              <a:cxnLst/>
              <a:rect r="r" b="b" t="t" l="l"/>
              <a:pathLst>
                <a:path h="1097280" w="2286000">
                  <a:moveTo>
                    <a:pt x="0" y="0"/>
                  </a:moveTo>
                  <a:lnTo>
                    <a:pt x="2286000" y="0"/>
                  </a:lnTo>
                  <a:lnTo>
                    <a:pt x="2286000" y="1097280"/>
                  </a:lnTo>
                  <a:lnTo>
                    <a:pt x="0" y="1097280"/>
                  </a:lnTo>
                  <a:close/>
                </a:path>
              </a:pathLst>
            </a:custGeom>
            <a:blipFill>
              <a:blip r:embed="rId3">
                <a:alphaModFix amt="0"/>
              </a:blip>
              <a:stretch>
                <a:fillRect l="-11585" t="0" r="-11585" b="0"/>
              </a:stretch>
            </a:blipFill>
          </p:spPr>
        </p:sp>
        <p:sp>
          <p:nvSpPr>
            <p:cNvPr name="TextBox 41" id="41"/>
            <p:cNvSpPr txBox="true"/>
            <p:nvPr/>
          </p:nvSpPr>
          <p:spPr>
            <a:xfrm>
              <a:off x="0" y="-66675"/>
              <a:ext cx="2286000" cy="1163955"/>
            </a:xfrm>
            <a:prstGeom prst="rect">
              <a:avLst/>
            </a:prstGeom>
          </p:spPr>
          <p:txBody>
            <a:bodyPr anchor="ctr" rtlCol="false" tIns="0" lIns="0" bIns="0" rIns="0"/>
            <a:lstStyle/>
            <a:p>
              <a:pPr algn="r">
                <a:lnSpc>
                  <a:spcPts val="3719"/>
                </a:lnSpc>
              </a:pPr>
              <a:r>
                <a:rPr lang="en-US" sz="3099" b="1">
                  <a:solidFill>
                    <a:srgbClr val="2E8B57"/>
                  </a:solidFill>
                  <a:latin typeface="Calibri"/>
                  <a:ea typeface="Calibri"/>
                  <a:cs typeface="Calibri"/>
                  <a:sym typeface="Calibri"/>
                </a:rPr>
                <a:t>&lt;1%</a:t>
              </a:r>
            </a:p>
          </p:txBody>
        </p:sp>
      </p:grpSp>
      <p:grpSp>
        <p:nvGrpSpPr>
          <p:cNvPr name="Group 42" id="42"/>
          <p:cNvGrpSpPr/>
          <p:nvPr/>
        </p:nvGrpSpPr>
        <p:grpSpPr>
          <a:xfrm rot="0">
            <a:off x="10414635" y="6752463"/>
            <a:ext cx="7014210" cy="842010"/>
            <a:chOff x="0" y="0"/>
            <a:chExt cx="9352280" cy="1122680"/>
          </a:xfrm>
        </p:grpSpPr>
        <p:sp>
          <p:nvSpPr>
            <p:cNvPr name="Freeform 43" id="43"/>
            <p:cNvSpPr/>
            <p:nvPr/>
          </p:nvSpPr>
          <p:spPr>
            <a:xfrm flipH="false" flipV="false" rot="0">
              <a:off x="0" y="0"/>
              <a:ext cx="9352280" cy="1122680"/>
            </a:xfrm>
            <a:custGeom>
              <a:avLst/>
              <a:gdLst/>
              <a:ahLst/>
              <a:cxnLst/>
              <a:rect r="r" b="b" t="t" l="l"/>
              <a:pathLst>
                <a:path h="1122680" w="9352280">
                  <a:moveTo>
                    <a:pt x="0" y="149733"/>
                  </a:moveTo>
                  <a:cubicBezTo>
                    <a:pt x="0" y="67056"/>
                    <a:pt x="67056" y="0"/>
                    <a:pt x="149733" y="0"/>
                  </a:cubicBezTo>
                  <a:lnTo>
                    <a:pt x="9202547" y="0"/>
                  </a:lnTo>
                  <a:cubicBezTo>
                    <a:pt x="9285224" y="0"/>
                    <a:pt x="9352280" y="67056"/>
                    <a:pt x="9352280" y="149733"/>
                  </a:cubicBezTo>
                  <a:lnTo>
                    <a:pt x="9352280" y="972947"/>
                  </a:lnTo>
                  <a:cubicBezTo>
                    <a:pt x="9352280" y="1055624"/>
                    <a:pt x="9285224" y="1122680"/>
                    <a:pt x="9202547" y="1122680"/>
                  </a:cubicBezTo>
                  <a:lnTo>
                    <a:pt x="149733" y="1122680"/>
                  </a:lnTo>
                  <a:cubicBezTo>
                    <a:pt x="67056" y="1122680"/>
                    <a:pt x="0" y="1055624"/>
                    <a:pt x="0" y="972947"/>
                  </a:cubicBezTo>
                  <a:close/>
                </a:path>
              </a:pathLst>
            </a:custGeom>
            <a:solidFill>
              <a:srgbClr val="EEF5F5"/>
            </a:solidFill>
            <a:ln w="19050" cap="sq">
              <a:solidFill>
                <a:srgbClr val="EEF5F5"/>
              </a:solidFill>
              <a:prstDash val="solid"/>
              <a:miter/>
            </a:ln>
          </p:spPr>
        </p:sp>
      </p:grpSp>
      <p:grpSp>
        <p:nvGrpSpPr>
          <p:cNvPr name="Group 44" id="44"/>
          <p:cNvGrpSpPr/>
          <p:nvPr/>
        </p:nvGrpSpPr>
        <p:grpSpPr>
          <a:xfrm rot="0">
            <a:off x="10698480" y="6761988"/>
            <a:ext cx="4937760" cy="866198"/>
            <a:chOff x="0" y="0"/>
            <a:chExt cx="6583680" cy="1154930"/>
          </a:xfrm>
        </p:grpSpPr>
        <p:sp>
          <p:nvSpPr>
            <p:cNvPr name="Freeform 45" id="45"/>
            <p:cNvSpPr/>
            <p:nvPr/>
          </p:nvSpPr>
          <p:spPr>
            <a:xfrm flipH="false" flipV="false" rot="0">
              <a:off x="0" y="0"/>
              <a:ext cx="6583680" cy="1154930"/>
            </a:xfrm>
            <a:custGeom>
              <a:avLst/>
              <a:gdLst/>
              <a:ahLst/>
              <a:cxnLst/>
              <a:rect r="r" b="b" t="t" l="l"/>
              <a:pathLst>
                <a:path h="1154930" w="6583680">
                  <a:moveTo>
                    <a:pt x="0" y="0"/>
                  </a:moveTo>
                  <a:lnTo>
                    <a:pt x="6583680" y="0"/>
                  </a:lnTo>
                  <a:lnTo>
                    <a:pt x="6583680" y="1154930"/>
                  </a:lnTo>
                  <a:lnTo>
                    <a:pt x="0" y="1154930"/>
                  </a:lnTo>
                  <a:close/>
                </a:path>
              </a:pathLst>
            </a:custGeom>
            <a:blipFill>
              <a:blip r:embed="rId3">
                <a:alphaModFix amt="0"/>
              </a:blip>
              <a:stretch>
                <a:fillRect l="0" t="-63570" r="0" b="-58578"/>
              </a:stretch>
            </a:blipFill>
          </p:spPr>
        </p:sp>
        <p:sp>
          <p:nvSpPr>
            <p:cNvPr name="TextBox 46" id="46"/>
            <p:cNvSpPr txBox="true"/>
            <p:nvPr/>
          </p:nvSpPr>
          <p:spPr>
            <a:xfrm>
              <a:off x="0" y="-47625"/>
              <a:ext cx="6583680" cy="1202555"/>
            </a:xfrm>
            <a:prstGeom prst="rect">
              <a:avLst/>
            </a:prstGeom>
          </p:spPr>
          <p:txBody>
            <a:bodyPr anchor="ctr" rtlCol="false" tIns="0" lIns="0" bIns="0" rIns="0"/>
            <a:lstStyle/>
            <a:p>
              <a:pPr algn="l">
                <a:lnSpc>
                  <a:spcPts val="2999"/>
                </a:lnSpc>
              </a:pPr>
              <a:r>
                <a:rPr lang="en-US" sz="2499">
                  <a:solidFill>
                    <a:srgbClr val="1B2B34"/>
                  </a:solidFill>
                  <a:latin typeface="Calibri"/>
                  <a:ea typeface="Calibri"/>
                  <a:cs typeface="Calibri"/>
                  <a:sym typeface="Calibri"/>
                </a:rPr>
                <a:t>Same tablets, CYP2C9 poor metaboliser</a:t>
              </a:r>
            </a:p>
          </p:txBody>
        </p:sp>
      </p:grpSp>
      <p:grpSp>
        <p:nvGrpSpPr>
          <p:cNvPr name="Group 47" id="47"/>
          <p:cNvGrpSpPr/>
          <p:nvPr/>
        </p:nvGrpSpPr>
        <p:grpSpPr>
          <a:xfrm rot="0">
            <a:off x="15499080" y="6761988"/>
            <a:ext cx="1714500" cy="822960"/>
            <a:chOff x="0" y="0"/>
            <a:chExt cx="2286000" cy="1097280"/>
          </a:xfrm>
        </p:grpSpPr>
        <p:sp>
          <p:nvSpPr>
            <p:cNvPr name="Freeform 48" id="48"/>
            <p:cNvSpPr/>
            <p:nvPr/>
          </p:nvSpPr>
          <p:spPr>
            <a:xfrm flipH="false" flipV="false" rot="0">
              <a:off x="0" y="0"/>
              <a:ext cx="2286000" cy="1097280"/>
            </a:xfrm>
            <a:custGeom>
              <a:avLst/>
              <a:gdLst/>
              <a:ahLst/>
              <a:cxnLst/>
              <a:rect r="r" b="b" t="t" l="l"/>
              <a:pathLst>
                <a:path h="1097280" w="2286000">
                  <a:moveTo>
                    <a:pt x="0" y="0"/>
                  </a:moveTo>
                  <a:lnTo>
                    <a:pt x="2286000" y="0"/>
                  </a:lnTo>
                  <a:lnTo>
                    <a:pt x="2286000" y="1097280"/>
                  </a:lnTo>
                  <a:lnTo>
                    <a:pt x="0" y="1097280"/>
                  </a:lnTo>
                  <a:close/>
                </a:path>
              </a:pathLst>
            </a:custGeom>
            <a:blipFill>
              <a:blip r:embed="rId3">
                <a:alphaModFix amt="0"/>
              </a:blip>
              <a:stretch>
                <a:fillRect l="-11585" t="0" r="-11585" b="0"/>
              </a:stretch>
            </a:blipFill>
          </p:spPr>
        </p:sp>
        <p:sp>
          <p:nvSpPr>
            <p:cNvPr name="TextBox 49" id="49"/>
            <p:cNvSpPr txBox="true"/>
            <p:nvPr/>
          </p:nvSpPr>
          <p:spPr>
            <a:xfrm>
              <a:off x="0" y="-66675"/>
              <a:ext cx="2286000" cy="1163955"/>
            </a:xfrm>
            <a:prstGeom prst="rect">
              <a:avLst/>
            </a:prstGeom>
          </p:spPr>
          <p:txBody>
            <a:bodyPr anchor="ctr" rtlCol="false" tIns="0" lIns="0" bIns="0" rIns="0"/>
            <a:lstStyle/>
            <a:p>
              <a:pPr algn="r">
                <a:lnSpc>
                  <a:spcPts val="3719"/>
                </a:lnSpc>
              </a:pPr>
              <a:r>
                <a:rPr lang="en-US" sz="3099" b="1">
                  <a:solidFill>
                    <a:srgbClr val="D9472B"/>
                  </a:solidFill>
                  <a:latin typeface="Calibri"/>
                  <a:ea typeface="Calibri"/>
                  <a:cs typeface="Calibri"/>
                  <a:sym typeface="Calibri"/>
                </a:rPr>
                <a:t>55.5%</a:t>
              </a:r>
            </a:p>
          </p:txBody>
        </p:sp>
      </p:grpSp>
      <p:sp>
        <p:nvSpPr>
          <p:cNvPr name="TextBox 50" id="50"/>
          <p:cNvSpPr txBox="true"/>
          <p:nvPr/>
        </p:nvSpPr>
        <p:spPr>
          <a:xfrm rot="0">
            <a:off x="10424160" y="7770495"/>
            <a:ext cx="6995160" cy="1304925"/>
          </a:xfrm>
          <a:prstGeom prst="rect">
            <a:avLst/>
          </a:prstGeom>
        </p:spPr>
        <p:txBody>
          <a:bodyPr anchor="t" rtlCol="false" tIns="0" lIns="0" bIns="0" rIns="0">
            <a:spAutoFit/>
          </a:bodyPr>
          <a:lstStyle/>
          <a:p>
            <a:pPr algn="l">
              <a:lnSpc>
                <a:spcPts val="2549"/>
              </a:lnSpc>
            </a:pPr>
            <a:r>
              <a:rPr lang="en-US" sz="2124" i="1">
                <a:solidFill>
                  <a:srgbClr val="5B6C75"/>
                </a:solidFill>
                <a:latin typeface="Calibri"/>
                <a:ea typeface="Calibri"/>
                <a:cs typeface="Calibri"/>
                <a:sym typeface="Calibri"/>
              </a:rPr>
              <a:t>*Medicine pauses come last: individualised, weak evidence (Think Kidneys 2018), clinician decides. Guardrails block unsafe levers (heart failure, potassium ≥ 5.5, paracetamol ceiling 3 g/day if 65+).</a:t>
            </a:r>
          </a:p>
        </p:txBody>
      </p:sp>
      <p:grpSp>
        <p:nvGrpSpPr>
          <p:cNvPr name="Group 51" id="51"/>
          <p:cNvGrpSpPr/>
          <p:nvPr/>
        </p:nvGrpSpPr>
        <p:grpSpPr>
          <a:xfrm rot="0">
            <a:off x="895731" y="6039231"/>
            <a:ext cx="2734818" cy="2448792"/>
            <a:chOff x="0" y="0"/>
            <a:chExt cx="3646424" cy="3265056"/>
          </a:xfrm>
        </p:grpSpPr>
        <p:sp>
          <p:nvSpPr>
            <p:cNvPr name="Freeform 52" id="52"/>
            <p:cNvSpPr/>
            <p:nvPr/>
          </p:nvSpPr>
          <p:spPr>
            <a:xfrm flipH="false" flipV="false" rot="0">
              <a:off x="0" y="0"/>
              <a:ext cx="3646424" cy="3265043"/>
            </a:xfrm>
            <a:custGeom>
              <a:avLst/>
              <a:gdLst/>
              <a:ahLst/>
              <a:cxnLst/>
              <a:rect r="r" b="b" t="t" l="l"/>
              <a:pathLst>
                <a:path h="3265043" w="3646424">
                  <a:moveTo>
                    <a:pt x="0" y="0"/>
                  </a:moveTo>
                  <a:lnTo>
                    <a:pt x="3646424" y="0"/>
                  </a:lnTo>
                  <a:lnTo>
                    <a:pt x="3646424" y="3265043"/>
                  </a:lnTo>
                  <a:lnTo>
                    <a:pt x="0" y="3265043"/>
                  </a:lnTo>
                  <a:close/>
                </a:path>
              </a:pathLst>
            </a:custGeom>
            <a:solidFill>
              <a:srgbClr val="FFFFFF"/>
            </a:solidFill>
            <a:ln w="19050" cap="sq">
              <a:solidFill>
                <a:srgbClr val="C9D6D8"/>
              </a:solidFill>
              <a:prstDash val="solid"/>
              <a:miter/>
            </a:ln>
          </p:spPr>
        </p:sp>
      </p:grpSp>
      <p:grpSp>
        <p:nvGrpSpPr>
          <p:cNvPr name="Group 53" id="53"/>
          <p:cNvGrpSpPr/>
          <p:nvPr/>
        </p:nvGrpSpPr>
        <p:grpSpPr>
          <a:xfrm rot="0">
            <a:off x="960120" y="6103620"/>
            <a:ext cx="2606040" cy="2320014"/>
            <a:chOff x="0" y="0"/>
            <a:chExt cx="3474720" cy="3093352"/>
          </a:xfrm>
        </p:grpSpPr>
        <p:sp>
          <p:nvSpPr>
            <p:cNvPr name="Freeform 54" id="54" descr="Visit summary screenshot"/>
            <p:cNvSpPr/>
            <p:nvPr/>
          </p:nvSpPr>
          <p:spPr>
            <a:xfrm flipH="false" flipV="false" rot="0">
              <a:off x="0" y="0"/>
              <a:ext cx="3474720" cy="3093339"/>
            </a:xfrm>
            <a:custGeom>
              <a:avLst/>
              <a:gdLst/>
              <a:ahLst/>
              <a:cxnLst/>
              <a:rect r="r" b="b" t="t" l="l"/>
              <a:pathLst>
                <a:path h="3093339" w="3474720">
                  <a:moveTo>
                    <a:pt x="0" y="0"/>
                  </a:moveTo>
                  <a:lnTo>
                    <a:pt x="3474720" y="0"/>
                  </a:lnTo>
                  <a:lnTo>
                    <a:pt x="3474720" y="3093339"/>
                  </a:lnTo>
                  <a:lnTo>
                    <a:pt x="0" y="3093339"/>
                  </a:lnTo>
                  <a:lnTo>
                    <a:pt x="0" y="0"/>
                  </a:lnTo>
                  <a:close/>
                </a:path>
              </a:pathLst>
            </a:custGeom>
            <a:blipFill>
              <a:blip r:embed="rId5"/>
              <a:stretch>
                <a:fillRect l="0" t="0" r="0" b="0"/>
              </a:stretch>
            </a:blipFill>
          </p:spPr>
        </p:sp>
      </p:grpSp>
      <p:sp>
        <p:nvSpPr>
          <p:cNvPr name="TextBox 55" id="55"/>
          <p:cNvSpPr txBox="true"/>
          <p:nvPr/>
        </p:nvSpPr>
        <p:spPr>
          <a:xfrm rot="0">
            <a:off x="3977640" y="6595110"/>
            <a:ext cx="5760720" cy="1114425"/>
          </a:xfrm>
          <a:prstGeom prst="rect">
            <a:avLst/>
          </a:prstGeom>
        </p:spPr>
        <p:txBody>
          <a:bodyPr anchor="t" rtlCol="false" tIns="0" lIns="0" bIns="0" rIns="0">
            <a:spAutoFit/>
          </a:bodyPr>
          <a:lstStyle/>
          <a:p>
            <a:pPr algn="l">
              <a:lnSpc>
                <a:spcPts val="2819"/>
              </a:lnSpc>
            </a:pPr>
            <a:r>
              <a:rPr lang="en-US" sz="2349">
                <a:solidFill>
                  <a:srgbClr val="1B2B34"/>
                </a:solidFill>
                <a:latin typeface="Calibri"/>
                <a:ea typeface="Calibri"/>
                <a:cs typeface="Calibri"/>
                <a:sym typeface="Calibri"/>
              </a:rPr>
              <a:t>One-click printable visit summary in the patient's language (Hindi shown), with the disclaimer.</a:t>
            </a:r>
          </a:p>
        </p:txBody>
      </p:sp>
      <p:sp>
        <p:nvSpPr>
          <p:cNvPr name="TextBox 56" id="56"/>
          <p:cNvSpPr txBox="true"/>
          <p:nvPr/>
        </p:nvSpPr>
        <p:spPr>
          <a:xfrm rot="0">
            <a:off x="758571" y="9265920"/>
            <a:ext cx="16596360" cy="323850"/>
          </a:xfrm>
          <a:prstGeom prst="rect">
            <a:avLst/>
          </a:prstGeom>
        </p:spPr>
        <p:txBody>
          <a:bodyPr anchor="t" rtlCol="false" tIns="0" lIns="0" bIns="0" rIns="0">
            <a:spAutoFit/>
          </a:bodyPr>
          <a:lstStyle/>
          <a:p>
            <a:pPr algn="l">
              <a:lnSpc>
                <a:spcPts val="2279"/>
              </a:lnSpc>
            </a:pPr>
            <a:r>
              <a:rPr lang="en-US" sz="1899" i="1">
                <a:solidFill>
                  <a:srgbClr val="5B6C75"/>
                </a:solidFill>
                <a:latin typeface="Calibri"/>
                <a:ea typeface="Calibri"/>
                <a:cs typeface="Calibri"/>
                <a:sym typeface="Calibri"/>
              </a:rPr>
              <a:t>Source: reports/demo_numbers.json. The patient view never says 'stop your medicine'; it says 'talk to your doctor first'.</a:t>
            </a:r>
          </a:p>
        </p:txBody>
      </p:sp>
      <p:sp>
        <p:nvSpPr>
          <p:cNvPr name="TextBox 57" id="57"/>
          <p:cNvSpPr txBox="true"/>
          <p:nvPr/>
        </p:nvSpPr>
        <p:spPr>
          <a:xfrm rot="0">
            <a:off x="16962120" y="9540240"/>
            <a:ext cx="640080" cy="342900"/>
          </a:xfrm>
          <a:prstGeom prst="rect">
            <a:avLst/>
          </a:prstGeom>
        </p:spPr>
        <p:txBody>
          <a:bodyPr anchor="t" rtlCol="false" tIns="0" lIns="0" bIns="0" rIns="0">
            <a:spAutoFit/>
          </a:bodyPr>
          <a:lstStyle/>
          <a:p>
            <a:pPr algn="r">
              <a:lnSpc>
                <a:spcPts val="2459"/>
              </a:lnSpc>
            </a:pPr>
            <a:r>
              <a:rPr lang="en-US" sz="2049">
                <a:solidFill>
                  <a:srgbClr val="5B6C75"/>
                </a:solidFill>
                <a:latin typeface="Calibri"/>
                <a:ea typeface="Calibri"/>
                <a:cs typeface="Calibri"/>
                <a:sym typeface="Calibri"/>
              </a:rPr>
              <a:t>19</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8571" y="-768015"/>
            <a:ext cx="16596360" cy="3593431"/>
            <a:chOff x="0" y="0"/>
            <a:chExt cx="22128480" cy="4791241"/>
          </a:xfrm>
        </p:grpSpPr>
        <p:sp>
          <p:nvSpPr>
            <p:cNvPr name="Freeform 3" id="3"/>
            <p:cNvSpPr/>
            <p:nvPr/>
          </p:nvSpPr>
          <p:spPr>
            <a:xfrm flipH="false" flipV="false" rot="0">
              <a:off x="0" y="0"/>
              <a:ext cx="22128480" cy="4791241"/>
            </a:xfrm>
            <a:custGeom>
              <a:avLst/>
              <a:gdLst/>
              <a:ahLst/>
              <a:cxnLst/>
              <a:rect r="r" b="b" t="t" l="l"/>
              <a:pathLst>
                <a:path h="4791241" w="22128480">
                  <a:moveTo>
                    <a:pt x="0" y="0"/>
                  </a:moveTo>
                  <a:lnTo>
                    <a:pt x="22128480" y="0"/>
                  </a:lnTo>
                  <a:lnTo>
                    <a:pt x="22128480" y="4791241"/>
                  </a:lnTo>
                  <a:lnTo>
                    <a:pt x="0" y="4791241"/>
                  </a:lnTo>
                  <a:close/>
                </a:path>
              </a:pathLst>
            </a:custGeom>
            <a:blipFill>
              <a:blip r:embed="rId3">
                <a:alphaModFix amt="0"/>
              </a:blip>
              <a:stretch>
                <a:fillRect l="0" t="-73770" r="0" b="-6214"/>
              </a:stretch>
            </a:blipFill>
          </p:spPr>
        </p:sp>
        <p:sp>
          <p:nvSpPr>
            <p:cNvPr name="TextBox 4" id="4"/>
            <p:cNvSpPr txBox="true"/>
            <p:nvPr/>
          </p:nvSpPr>
          <p:spPr>
            <a:xfrm>
              <a:off x="0" y="-9525"/>
              <a:ext cx="22128480" cy="4800766"/>
            </a:xfrm>
            <a:prstGeom prst="rect">
              <a:avLst/>
            </a:prstGeom>
          </p:spPr>
          <p:txBody>
            <a:bodyPr anchor="ctr" rtlCol="false" tIns="0" lIns="0" bIns="0" rIns="0"/>
            <a:lstStyle/>
            <a:p>
              <a:pPr algn="l">
                <a:lnSpc>
                  <a:spcPts val="5879"/>
                </a:lnSpc>
              </a:pPr>
              <a:r>
                <a:rPr lang="en-US" sz="4899" b="1">
                  <a:solidFill>
                    <a:srgbClr val="0B4F5C"/>
                  </a:solidFill>
                  <a:latin typeface="Cambria"/>
                  <a:ea typeface="Cambria"/>
                  <a:cs typeface="Cambria"/>
                  <a:sym typeface="Cambria"/>
                </a:rPr>
                <a:t>Slow clock: what this season means for the next 10 years</a:t>
              </a:r>
            </a:p>
          </p:txBody>
        </p:sp>
      </p:grpSp>
      <p:grpSp>
        <p:nvGrpSpPr>
          <p:cNvPr name="Group 5" id="5"/>
          <p:cNvGrpSpPr/>
          <p:nvPr/>
        </p:nvGrpSpPr>
        <p:grpSpPr>
          <a:xfrm rot="0">
            <a:off x="758571" y="1924431"/>
            <a:ext cx="10278618" cy="4503706"/>
            <a:chOff x="0" y="0"/>
            <a:chExt cx="13704824" cy="6004941"/>
          </a:xfrm>
        </p:grpSpPr>
        <p:sp>
          <p:nvSpPr>
            <p:cNvPr name="Freeform 6" id="6"/>
            <p:cNvSpPr/>
            <p:nvPr/>
          </p:nvSpPr>
          <p:spPr>
            <a:xfrm flipH="false" flipV="false" rot="0">
              <a:off x="0" y="0"/>
              <a:ext cx="13704824" cy="6004941"/>
            </a:xfrm>
            <a:custGeom>
              <a:avLst/>
              <a:gdLst/>
              <a:ahLst/>
              <a:cxnLst/>
              <a:rect r="r" b="b" t="t" l="l"/>
              <a:pathLst>
                <a:path h="6004941" w="13704824">
                  <a:moveTo>
                    <a:pt x="0" y="0"/>
                  </a:moveTo>
                  <a:lnTo>
                    <a:pt x="13704824" y="0"/>
                  </a:lnTo>
                  <a:lnTo>
                    <a:pt x="13704824" y="6004941"/>
                  </a:lnTo>
                  <a:lnTo>
                    <a:pt x="0" y="6004941"/>
                  </a:lnTo>
                  <a:close/>
                </a:path>
              </a:pathLst>
            </a:custGeom>
            <a:solidFill>
              <a:srgbClr val="FFFFFF"/>
            </a:solidFill>
            <a:ln w="19050" cap="sq">
              <a:solidFill>
                <a:srgbClr val="C9D6D8"/>
              </a:solidFill>
              <a:prstDash val="solid"/>
              <a:miter/>
            </a:ln>
          </p:spPr>
        </p:sp>
      </p:grpSp>
      <p:grpSp>
        <p:nvGrpSpPr>
          <p:cNvPr name="Group 7" id="7"/>
          <p:cNvGrpSpPr/>
          <p:nvPr/>
        </p:nvGrpSpPr>
        <p:grpSpPr>
          <a:xfrm rot="0">
            <a:off x="822960" y="1988820"/>
            <a:ext cx="10149840" cy="4374928"/>
            <a:chOff x="0" y="0"/>
            <a:chExt cx="13533120" cy="5833237"/>
          </a:xfrm>
        </p:grpSpPr>
        <p:sp>
          <p:nvSpPr>
            <p:cNvPr name="Freeform 8" id="8" descr="Slow clock screenshot"/>
            <p:cNvSpPr/>
            <p:nvPr/>
          </p:nvSpPr>
          <p:spPr>
            <a:xfrm flipH="false" flipV="false" rot="0">
              <a:off x="0" y="0"/>
              <a:ext cx="13533120" cy="5833237"/>
            </a:xfrm>
            <a:custGeom>
              <a:avLst/>
              <a:gdLst/>
              <a:ahLst/>
              <a:cxnLst/>
              <a:rect r="r" b="b" t="t" l="l"/>
              <a:pathLst>
                <a:path h="5833237" w="13533120">
                  <a:moveTo>
                    <a:pt x="0" y="0"/>
                  </a:moveTo>
                  <a:lnTo>
                    <a:pt x="13533120" y="0"/>
                  </a:lnTo>
                  <a:lnTo>
                    <a:pt x="13533120" y="5833237"/>
                  </a:lnTo>
                  <a:lnTo>
                    <a:pt x="0" y="5833237"/>
                  </a:lnTo>
                  <a:lnTo>
                    <a:pt x="0" y="0"/>
                  </a:lnTo>
                  <a:close/>
                </a:path>
              </a:pathLst>
            </a:custGeom>
            <a:blipFill>
              <a:blip r:embed="rId4"/>
              <a:stretch>
                <a:fillRect l="0" t="0" r="0" b="0"/>
              </a:stretch>
            </a:blipFill>
          </p:spPr>
        </p:sp>
      </p:grpSp>
      <p:sp>
        <p:nvSpPr>
          <p:cNvPr name="TextBox 9" id="9"/>
          <p:cNvSpPr txBox="true"/>
          <p:nvPr/>
        </p:nvSpPr>
        <p:spPr>
          <a:xfrm rot="0">
            <a:off x="11452860" y="2009775"/>
            <a:ext cx="5966460" cy="4343400"/>
          </a:xfrm>
          <a:prstGeom prst="rect">
            <a:avLst/>
          </a:prstGeom>
        </p:spPr>
        <p:txBody>
          <a:bodyPr anchor="t" rtlCol="false" tIns="0" lIns="0" bIns="0" rIns="0">
            <a:spAutoFit/>
          </a:bodyPr>
          <a:lstStyle/>
          <a:p>
            <a:pPr algn="l" marL="466009" indent="-233004" lvl="1">
              <a:lnSpc>
                <a:spcPts val="3089"/>
              </a:lnSpc>
              <a:buFont typeface="Arial"/>
              <a:buChar char="•"/>
            </a:pPr>
            <a:r>
              <a:rPr lang="en-US" b="1" sz="2574">
                <a:solidFill>
                  <a:srgbClr val="1B2B34"/>
                </a:solidFill>
                <a:latin typeface="Calibri"/>
                <a:ea typeface="Calibri"/>
                <a:cs typeface="Calibri"/>
                <a:sym typeface="Calibri"/>
              </a:rPr>
              <a:t>Bayesian eGFR slope </a:t>
            </a:r>
            <a:r>
              <a:rPr lang="en-US" sz="2574">
                <a:solidFill>
                  <a:srgbClr val="1B2B34"/>
                </a:solidFill>
                <a:latin typeface="Calibri"/>
                <a:ea typeface="Calibri"/>
                <a:cs typeface="Calibri"/>
                <a:sym typeface="Calibri"/>
              </a:rPr>
              <a:t>from the patient's own past labs and a group prior</a:t>
            </a:r>
          </a:p>
          <a:p>
            <a:pPr algn="l" marL="466009" indent="-233004" lvl="1">
              <a:lnSpc>
                <a:spcPts val="3089"/>
              </a:lnSpc>
              <a:buFont typeface="Arial"/>
              <a:buChar char="•"/>
            </a:pPr>
            <a:r>
              <a:rPr lang="en-US" b="1" sz="2574">
                <a:solidFill>
                  <a:srgbClr val="1B2B34"/>
                </a:solidFill>
                <a:latin typeface="Calibri"/>
                <a:ea typeface="Calibri"/>
                <a:cs typeface="Calibri"/>
                <a:sym typeface="Calibri"/>
              </a:rPr>
              <a:t>Three scenarios: </a:t>
            </a:r>
            <a:r>
              <a:rPr lang="en-US" sz="2574">
                <a:solidFill>
                  <a:srgbClr val="1B2B34"/>
                </a:solidFill>
                <a:latin typeface="Calibri"/>
                <a:ea typeface="Calibri"/>
                <a:cs typeface="Calibri"/>
                <a:sym typeface="Calibri"/>
              </a:rPr>
              <a:t>continue, one stage-1 injury this season, start an SGLT2 inhibitor</a:t>
            </a:r>
          </a:p>
          <a:p>
            <a:pPr algn="l" marL="466009" indent="-233004" lvl="1">
              <a:lnSpc>
                <a:spcPts val="3089"/>
              </a:lnSpc>
              <a:buFont typeface="Arial"/>
              <a:buChar char="•"/>
            </a:pPr>
            <a:r>
              <a:rPr lang="en-US" b="1" sz="2574">
                <a:solidFill>
                  <a:srgbClr val="1B2B34"/>
                </a:solidFill>
                <a:latin typeface="Calibri"/>
                <a:ea typeface="Calibri"/>
                <a:cs typeface="Calibri"/>
                <a:sym typeface="Calibri"/>
              </a:rPr>
              <a:t>SGLT2 effect from EMPA-KIDNEY: </a:t>
            </a:r>
            <a:r>
              <a:rPr lang="en-US" sz="2574">
                <a:solidFill>
                  <a:srgbClr val="1B2B34"/>
                </a:solidFill>
                <a:latin typeface="Calibri"/>
                <a:ea typeface="Calibri"/>
                <a:cs typeface="Calibri"/>
                <a:sym typeface="Calibri"/>
              </a:rPr>
              <a:t>1.37 mL/min/yr slower decline (95% CI 1.16-1.59)</a:t>
            </a:r>
          </a:p>
          <a:p>
            <a:pPr algn="l" marL="466009" indent="-233004" lvl="1">
              <a:lnSpc>
                <a:spcPts val="3089"/>
              </a:lnSpc>
              <a:buFont typeface="Arial"/>
              <a:buChar char="•"/>
            </a:pPr>
            <a:r>
              <a:rPr lang="en-US" b="1" sz="2574">
                <a:solidFill>
                  <a:srgbClr val="1B2B34"/>
                </a:solidFill>
                <a:latin typeface="Calibri"/>
                <a:ea typeface="Calibri"/>
                <a:cs typeface="Calibri"/>
                <a:sym typeface="Calibri"/>
              </a:rPr>
              <a:t>Always a 10-90% range, </a:t>
            </a:r>
            <a:r>
              <a:rPr lang="en-US" sz="2574">
                <a:solidFill>
                  <a:srgbClr val="1B2B34"/>
                </a:solidFill>
                <a:latin typeface="Calibri"/>
                <a:ea typeface="Calibri"/>
                <a:cs typeface="Calibri"/>
                <a:sym typeface="Calibri"/>
              </a:rPr>
              <a:t>labelled 'projection'; KFRE shown only where valid (eGFR 10-59 + UACR)</a:t>
            </a:r>
          </a:p>
        </p:txBody>
      </p:sp>
      <p:sp>
        <p:nvSpPr>
          <p:cNvPr name="TextBox 10" id="10"/>
          <p:cNvSpPr txBox="true"/>
          <p:nvPr/>
        </p:nvSpPr>
        <p:spPr>
          <a:xfrm rot="0">
            <a:off x="822960" y="8945880"/>
            <a:ext cx="16596360" cy="323850"/>
          </a:xfrm>
          <a:prstGeom prst="rect">
            <a:avLst/>
          </a:prstGeom>
        </p:spPr>
        <p:txBody>
          <a:bodyPr anchor="t" rtlCol="false" tIns="0" lIns="0" bIns="0" rIns="0">
            <a:spAutoFit/>
          </a:bodyPr>
          <a:lstStyle/>
          <a:p>
            <a:pPr algn="l">
              <a:lnSpc>
                <a:spcPts val="2279"/>
              </a:lnSpc>
            </a:pPr>
            <a:r>
              <a:rPr lang="en-US" sz="1899" i="1">
                <a:solidFill>
                  <a:srgbClr val="5B6C75"/>
                </a:solidFill>
                <a:latin typeface="Calibri"/>
                <a:ea typeface="Calibri"/>
                <a:cs typeface="Calibri"/>
                <a:sym typeface="Calibri"/>
              </a:rPr>
              <a:t>The AKI penalty fades over time and is 'associated with', from one Indian diabetic kidney disease cohort (n = 274); extrapolated for non-diabetics.</a:t>
            </a:r>
          </a:p>
        </p:txBody>
      </p:sp>
      <p:sp>
        <p:nvSpPr>
          <p:cNvPr name="TextBox 11" id="11"/>
          <p:cNvSpPr txBox="true"/>
          <p:nvPr/>
        </p:nvSpPr>
        <p:spPr>
          <a:xfrm rot="0">
            <a:off x="16962120" y="9540240"/>
            <a:ext cx="640080" cy="342900"/>
          </a:xfrm>
          <a:prstGeom prst="rect">
            <a:avLst/>
          </a:prstGeom>
        </p:spPr>
        <p:txBody>
          <a:bodyPr anchor="t" rtlCol="false" tIns="0" lIns="0" bIns="0" rIns="0">
            <a:spAutoFit/>
          </a:bodyPr>
          <a:lstStyle/>
          <a:p>
            <a:pPr algn="r">
              <a:lnSpc>
                <a:spcPts val="2459"/>
              </a:lnSpc>
            </a:pPr>
            <a:r>
              <a:rPr lang="en-US" sz="2049">
                <a:solidFill>
                  <a:srgbClr val="5B6C75"/>
                </a:solidFill>
                <a:latin typeface="Calibri"/>
                <a:ea typeface="Calibri"/>
                <a:cs typeface="Calibri"/>
                <a:sym typeface="Calibri"/>
              </a:rPr>
              <a:t>20</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8571" y="-768015"/>
            <a:ext cx="16596360" cy="3593431"/>
            <a:chOff x="0" y="0"/>
            <a:chExt cx="22128480" cy="4791241"/>
          </a:xfrm>
        </p:grpSpPr>
        <p:sp>
          <p:nvSpPr>
            <p:cNvPr name="Freeform 3" id="3"/>
            <p:cNvSpPr/>
            <p:nvPr/>
          </p:nvSpPr>
          <p:spPr>
            <a:xfrm flipH="false" flipV="false" rot="0">
              <a:off x="0" y="0"/>
              <a:ext cx="22128480" cy="4791241"/>
            </a:xfrm>
            <a:custGeom>
              <a:avLst/>
              <a:gdLst/>
              <a:ahLst/>
              <a:cxnLst/>
              <a:rect r="r" b="b" t="t" l="l"/>
              <a:pathLst>
                <a:path h="4791241" w="22128480">
                  <a:moveTo>
                    <a:pt x="0" y="0"/>
                  </a:moveTo>
                  <a:lnTo>
                    <a:pt x="22128480" y="0"/>
                  </a:lnTo>
                  <a:lnTo>
                    <a:pt x="22128480" y="4791241"/>
                  </a:lnTo>
                  <a:lnTo>
                    <a:pt x="0" y="4791241"/>
                  </a:lnTo>
                  <a:close/>
                </a:path>
              </a:pathLst>
            </a:custGeom>
            <a:blipFill>
              <a:blip r:embed="rId3">
                <a:alphaModFix amt="0"/>
              </a:blip>
              <a:stretch>
                <a:fillRect l="0" t="-73770" r="0" b="-6214"/>
              </a:stretch>
            </a:blipFill>
          </p:spPr>
        </p:sp>
        <p:sp>
          <p:nvSpPr>
            <p:cNvPr name="TextBox 4" id="4"/>
            <p:cNvSpPr txBox="true"/>
            <p:nvPr/>
          </p:nvSpPr>
          <p:spPr>
            <a:xfrm>
              <a:off x="0" y="-9525"/>
              <a:ext cx="22128480" cy="4800766"/>
            </a:xfrm>
            <a:prstGeom prst="rect">
              <a:avLst/>
            </a:prstGeom>
          </p:spPr>
          <p:txBody>
            <a:bodyPr anchor="ctr" rtlCol="false" tIns="0" lIns="0" bIns="0" rIns="0"/>
            <a:lstStyle/>
            <a:p>
              <a:pPr algn="l">
                <a:lnSpc>
                  <a:spcPts val="5879"/>
                </a:lnSpc>
              </a:pPr>
              <a:r>
                <a:rPr lang="en-US" sz="4899" b="1">
                  <a:solidFill>
                    <a:srgbClr val="0B4F5C"/>
                  </a:solidFill>
                  <a:latin typeface="Cambria"/>
                  <a:ea typeface="Cambria"/>
                  <a:cs typeface="Cambria"/>
                  <a:sym typeface="Cambria"/>
                </a:rPr>
                <a:t>Patient &amp; family: in their language, with their voice</a:t>
              </a:r>
            </a:p>
          </p:txBody>
        </p:sp>
      </p:grpSp>
      <p:grpSp>
        <p:nvGrpSpPr>
          <p:cNvPr name="Group 5" id="5"/>
          <p:cNvGrpSpPr/>
          <p:nvPr/>
        </p:nvGrpSpPr>
        <p:grpSpPr>
          <a:xfrm rot="0">
            <a:off x="758571" y="1924431"/>
            <a:ext cx="9181338" cy="5591527"/>
            <a:chOff x="0" y="0"/>
            <a:chExt cx="12241784" cy="7455370"/>
          </a:xfrm>
        </p:grpSpPr>
        <p:sp>
          <p:nvSpPr>
            <p:cNvPr name="Freeform 6" id="6"/>
            <p:cNvSpPr/>
            <p:nvPr/>
          </p:nvSpPr>
          <p:spPr>
            <a:xfrm flipH="false" flipV="false" rot="0">
              <a:off x="0" y="0"/>
              <a:ext cx="12241784" cy="7455408"/>
            </a:xfrm>
            <a:custGeom>
              <a:avLst/>
              <a:gdLst/>
              <a:ahLst/>
              <a:cxnLst/>
              <a:rect r="r" b="b" t="t" l="l"/>
              <a:pathLst>
                <a:path h="7455408" w="12241784">
                  <a:moveTo>
                    <a:pt x="0" y="0"/>
                  </a:moveTo>
                  <a:lnTo>
                    <a:pt x="12241784" y="0"/>
                  </a:lnTo>
                  <a:lnTo>
                    <a:pt x="12241784" y="7455408"/>
                  </a:lnTo>
                  <a:lnTo>
                    <a:pt x="0" y="7455408"/>
                  </a:lnTo>
                  <a:close/>
                </a:path>
              </a:pathLst>
            </a:custGeom>
            <a:solidFill>
              <a:srgbClr val="FFFFFF"/>
            </a:solidFill>
            <a:ln w="19050" cap="sq">
              <a:solidFill>
                <a:srgbClr val="C9D6D8"/>
              </a:solidFill>
              <a:prstDash val="solid"/>
              <a:miter/>
            </a:ln>
          </p:spPr>
        </p:sp>
      </p:grpSp>
      <p:grpSp>
        <p:nvGrpSpPr>
          <p:cNvPr name="Group 7" id="7"/>
          <p:cNvGrpSpPr/>
          <p:nvPr/>
        </p:nvGrpSpPr>
        <p:grpSpPr>
          <a:xfrm rot="0">
            <a:off x="822960" y="1988820"/>
            <a:ext cx="9052560" cy="5462749"/>
            <a:chOff x="0" y="0"/>
            <a:chExt cx="12070080" cy="7283666"/>
          </a:xfrm>
        </p:grpSpPr>
        <p:sp>
          <p:nvSpPr>
            <p:cNvPr name="Freeform 8" id="8" descr="Patient and Family Hindi screenshot"/>
            <p:cNvSpPr/>
            <p:nvPr/>
          </p:nvSpPr>
          <p:spPr>
            <a:xfrm flipH="false" flipV="false" rot="0">
              <a:off x="0" y="0"/>
              <a:ext cx="12070080" cy="7283704"/>
            </a:xfrm>
            <a:custGeom>
              <a:avLst/>
              <a:gdLst/>
              <a:ahLst/>
              <a:cxnLst/>
              <a:rect r="r" b="b" t="t" l="l"/>
              <a:pathLst>
                <a:path h="7283704" w="12070080">
                  <a:moveTo>
                    <a:pt x="0" y="0"/>
                  </a:moveTo>
                  <a:lnTo>
                    <a:pt x="12070080" y="0"/>
                  </a:lnTo>
                  <a:lnTo>
                    <a:pt x="12070080" y="7283704"/>
                  </a:lnTo>
                  <a:lnTo>
                    <a:pt x="0" y="7283704"/>
                  </a:lnTo>
                  <a:lnTo>
                    <a:pt x="0" y="0"/>
                  </a:lnTo>
                  <a:close/>
                </a:path>
              </a:pathLst>
            </a:custGeom>
            <a:blipFill>
              <a:blip r:embed="rId4"/>
              <a:stretch>
                <a:fillRect l="0" t="0" r="0" b="0"/>
              </a:stretch>
            </a:blipFill>
          </p:spPr>
        </p:sp>
      </p:grpSp>
      <p:sp>
        <p:nvSpPr>
          <p:cNvPr name="TextBox 9" id="9"/>
          <p:cNvSpPr txBox="true"/>
          <p:nvPr/>
        </p:nvSpPr>
        <p:spPr>
          <a:xfrm rot="0">
            <a:off x="10424160" y="2009775"/>
            <a:ext cx="6995160" cy="4733925"/>
          </a:xfrm>
          <a:prstGeom prst="rect">
            <a:avLst/>
          </a:prstGeom>
        </p:spPr>
        <p:txBody>
          <a:bodyPr anchor="t" rtlCol="false" tIns="0" lIns="0" bIns="0" rIns="0">
            <a:spAutoFit/>
          </a:bodyPr>
          <a:lstStyle/>
          <a:p>
            <a:pPr algn="l" marL="466009" indent="-233004" lvl="1">
              <a:lnSpc>
                <a:spcPts val="3089"/>
              </a:lnSpc>
              <a:buFont typeface="Arial"/>
              <a:buChar char="•"/>
            </a:pPr>
            <a:r>
              <a:rPr lang="en-US" b="1" sz="2574">
                <a:solidFill>
                  <a:srgbClr val="1B2B34"/>
                </a:solidFill>
                <a:latin typeface="Calibri"/>
                <a:ea typeface="Calibri"/>
                <a:cs typeface="Calibri"/>
                <a:sym typeface="Calibri"/>
              </a:rPr>
              <a:t>4 languages: </a:t>
            </a:r>
            <a:r>
              <a:rPr lang="en-US" sz="2574">
                <a:solidFill>
                  <a:srgbClr val="1B2B34"/>
                </a:solidFill>
                <a:latin typeface="Calibri"/>
                <a:ea typeface="Calibri"/>
                <a:cs typeface="Calibri"/>
                <a:sym typeface="Calibri"/>
              </a:rPr>
              <a:t>English, हिन्दी, ಕನ್ನಡ, తెలుగు (Indian translations marked 'draft' until native-speaker review)</a:t>
            </a:r>
          </a:p>
          <a:p>
            <a:pPr algn="l" marL="466009" indent="-233004" lvl="1">
              <a:lnSpc>
                <a:spcPts val="3089"/>
              </a:lnSpc>
              <a:buFont typeface="Arial"/>
              <a:buChar char="•"/>
            </a:pPr>
            <a:r>
              <a:rPr lang="en-US" b="1" sz="2574">
                <a:solidFill>
                  <a:srgbClr val="1B2B34"/>
                </a:solidFill>
                <a:latin typeface="Calibri"/>
                <a:ea typeface="Calibri"/>
                <a:cs typeface="Calibri"/>
                <a:sym typeface="Calibri"/>
              </a:rPr>
              <a:t>Listen button: </a:t>
            </a:r>
            <a:r>
              <a:rPr lang="en-US" sz="2574">
                <a:solidFill>
                  <a:srgbClr val="1B2B34"/>
                </a:solidFill>
                <a:latin typeface="Calibri"/>
                <a:ea typeface="Calibri"/>
                <a:cs typeface="Calibri"/>
                <a:sym typeface="Calibri"/>
              </a:rPr>
              <a:t>28 pre-recorded spoken alerts work offline</a:t>
            </a:r>
          </a:p>
          <a:p>
            <a:pPr algn="l" marL="466009" indent="-233004" lvl="1">
              <a:lnSpc>
                <a:spcPts val="3089"/>
              </a:lnSpc>
              <a:buFont typeface="Arial"/>
              <a:buChar char="•"/>
            </a:pPr>
            <a:r>
              <a:rPr lang="en-US" b="1" sz="2574">
                <a:solidFill>
                  <a:srgbClr val="1B2B34"/>
                </a:solidFill>
                <a:latin typeface="Calibri"/>
                <a:ea typeface="Calibri"/>
                <a:cs typeface="Calibri"/>
                <a:sym typeface="Calibri"/>
              </a:rPr>
              <a:t>Plain words, </a:t>
            </a:r>
            <a:r>
              <a:rPr lang="en-US" sz="2574">
                <a:solidFill>
                  <a:srgbClr val="1B2B34"/>
                </a:solidFill>
                <a:latin typeface="Calibri"/>
                <a:ea typeface="Calibri"/>
                <a:cs typeface="Calibri"/>
                <a:sym typeface="Calibri"/>
              </a:rPr>
              <a:t>never 'AKI'; red / amber / green with an icon and a word</a:t>
            </a:r>
          </a:p>
          <a:p>
            <a:pPr algn="l" marL="466009" indent="-233004" lvl="1">
              <a:lnSpc>
                <a:spcPts val="3089"/>
              </a:lnSpc>
              <a:buFont typeface="Arial"/>
              <a:buChar char="•"/>
            </a:pPr>
            <a:r>
              <a:rPr lang="en-US" b="1" sz="2574">
                <a:solidFill>
                  <a:srgbClr val="1B2B34"/>
                </a:solidFill>
                <a:latin typeface="Calibri"/>
                <a:ea typeface="Calibri"/>
                <a:cs typeface="Calibri"/>
                <a:sym typeface="Calibri"/>
              </a:rPr>
              <a:t>Check-in with red flags first; </a:t>
            </a:r>
            <a:r>
              <a:rPr lang="en-US" sz="2574">
                <a:solidFill>
                  <a:srgbClr val="1B2B34"/>
                </a:solidFill>
                <a:latin typeface="Calibri"/>
                <a:ea typeface="Calibri"/>
                <a:cs typeface="Calibri"/>
                <a:sym typeface="Calibri"/>
              </a:rPr>
              <a:t>types Indian brand names, e.g. 'Combiflam' → ibuprofen + paracetamol</a:t>
            </a:r>
          </a:p>
          <a:p>
            <a:pPr algn="l" marL="466009" indent="-233004" lvl="1">
              <a:lnSpc>
                <a:spcPts val="3089"/>
              </a:lnSpc>
              <a:buFont typeface="Arial"/>
              <a:buChar char="•"/>
            </a:pPr>
            <a:r>
              <a:rPr lang="en-US" b="1" sz="2574">
                <a:solidFill>
                  <a:srgbClr val="1B2B34"/>
                </a:solidFill>
                <a:latin typeface="Calibri"/>
                <a:ea typeface="Calibri"/>
                <a:cs typeface="Calibri"/>
                <a:sym typeface="Calibri"/>
              </a:rPr>
              <a:t>Patient controls consent: </a:t>
            </a:r>
            <a:r>
              <a:rPr lang="en-US" sz="2574">
                <a:solidFill>
                  <a:srgbClr val="1B2B34"/>
                </a:solidFill>
                <a:latin typeface="Calibri"/>
                <a:ea typeface="Calibri"/>
                <a:cs typeface="Calibri"/>
                <a:sym typeface="Calibri"/>
              </a:rPr>
              <a:t>stop sharing with the doctor, ASHA, lab or family in one tap</a:t>
            </a:r>
          </a:p>
        </p:txBody>
      </p:sp>
      <p:sp>
        <p:nvSpPr>
          <p:cNvPr name="TextBox 10" id="10"/>
          <p:cNvSpPr txBox="true"/>
          <p:nvPr/>
        </p:nvSpPr>
        <p:spPr>
          <a:xfrm rot="0">
            <a:off x="16962120" y="9540240"/>
            <a:ext cx="640080" cy="342900"/>
          </a:xfrm>
          <a:prstGeom prst="rect">
            <a:avLst/>
          </a:prstGeom>
        </p:spPr>
        <p:txBody>
          <a:bodyPr anchor="t" rtlCol="false" tIns="0" lIns="0" bIns="0" rIns="0">
            <a:spAutoFit/>
          </a:bodyPr>
          <a:lstStyle/>
          <a:p>
            <a:pPr algn="r">
              <a:lnSpc>
                <a:spcPts val="2459"/>
              </a:lnSpc>
            </a:pPr>
            <a:r>
              <a:rPr lang="en-US" sz="2049">
                <a:solidFill>
                  <a:srgbClr val="5B6C75"/>
                </a:solidFill>
                <a:latin typeface="Calibri"/>
                <a:ea typeface="Calibri"/>
                <a:cs typeface="Calibri"/>
                <a:sym typeface="Calibri"/>
              </a:rPr>
              <a:t>21</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5800" y="-768015"/>
            <a:ext cx="16596360" cy="3593431"/>
            <a:chOff x="0" y="0"/>
            <a:chExt cx="22128480" cy="4791241"/>
          </a:xfrm>
        </p:grpSpPr>
        <p:sp>
          <p:nvSpPr>
            <p:cNvPr name="Freeform 3" id="3"/>
            <p:cNvSpPr/>
            <p:nvPr/>
          </p:nvSpPr>
          <p:spPr>
            <a:xfrm flipH="false" flipV="false" rot="0">
              <a:off x="0" y="0"/>
              <a:ext cx="22128480" cy="4791241"/>
            </a:xfrm>
            <a:custGeom>
              <a:avLst/>
              <a:gdLst/>
              <a:ahLst/>
              <a:cxnLst/>
              <a:rect r="r" b="b" t="t" l="l"/>
              <a:pathLst>
                <a:path h="4791241" w="22128480">
                  <a:moveTo>
                    <a:pt x="0" y="0"/>
                  </a:moveTo>
                  <a:lnTo>
                    <a:pt x="22128480" y="0"/>
                  </a:lnTo>
                  <a:lnTo>
                    <a:pt x="22128480" y="4791241"/>
                  </a:lnTo>
                  <a:lnTo>
                    <a:pt x="0" y="4791241"/>
                  </a:lnTo>
                  <a:close/>
                </a:path>
              </a:pathLst>
            </a:custGeom>
            <a:blipFill>
              <a:blip r:embed="rId3">
                <a:alphaModFix amt="0"/>
              </a:blip>
              <a:stretch>
                <a:fillRect l="0" t="-73770" r="0" b="-6214"/>
              </a:stretch>
            </a:blipFill>
          </p:spPr>
        </p:sp>
        <p:sp>
          <p:nvSpPr>
            <p:cNvPr name="TextBox 4" id="4"/>
            <p:cNvSpPr txBox="true"/>
            <p:nvPr/>
          </p:nvSpPr>
          <p:spPr>
            <a:xfrm>
              <a:off x="0" y="-9525"/>
              <a:ext cx="22128480" cy="4800766"/>
            </a:xfrm>
            <a:prstGeom prst="rect">
              <a:avLst/>
            </a:prstGeom>
          </p:spPr>
          <p:txBody>
            <a:bodyPr anchor="ctr" rtlCol="false" tIns="0" lIns="0" bIns="0" rIns="0"/>
            <a:lstStyle/>
            <a:p>
              <a:pPr algn="l">
                <a:lnSpc>
                  <a:spcPts val="5879"/>
                </a:lnSpc>
              </a:pPr>
              <a:r>
                <a:rPr lang="en-US" sz="4899" b="1">
                  <a:solidFill>
                    <a:srgbClr val="0B4F5C"/>
                  </a:solidFill>
                  <a:latin typeface="Cambria"/>
                  <a:ea typeface="Cambria"/>
                  <a:cs typeface="Cambria"/>
                  <a:sym typeface="Cambria"/>
                </a:rPr>
                <a:t>ASHA Tier 0 and red flags: safety before any score</a:t>
              </a:r>
            </a:p>
          </p:txBody>
        </p:sp>
      </p:grpSp>
      <p:grpSp>
        <p:nvGrpSpPr>
          <p:cNvPr name="Group 5" id="5"/>
          <p:cNvGrpSpPr/>
          <p:nvPr/>
        </p:nvGrpSpPr>
        <p:grpSpPr>
          <a:xfrm rot="0">
            <a:off x="758571" y="1924431"/>
            <a:ext cx="6369558" cy="4863160"/>
            <a:chOff x="0" y="0"/>
            <a:chExt cx="8492744" cy="6484214"/>
          </a:xfrm>
        </p:grpSpPr>
        <p:sp>
          <p:nvSpPr>
            <p:cNvPr name="Freeform 6" id="6"/>
            <p:cNvSpPr/>
            <p:nvPr/>
          </p:nvSpPr>
          <p:spPr>
            <a:xfrm flipH="false" flipV="false" rot="0">
              <a:off x="0" y="0"/>
              <a:ext cx="8492744" cy="6484239"/>
            </a:xfrm>
            <a:custGeom>
              <a:avLst/>
              <a:gdLst/>
              <a:ahLst/>
              <a:cxnLst/>
              <a:rect r="r" b="b" t="t" l="l"/>
              <a:pathLst>
                <a:path h="6484239" w="8492744">
                  <a:moveTo>
                    <a:pt x="0" y="0"/>
                  </a:moveTo>
                  <a:lnTo>
                    <a:pt x="8492744" y="0"/>
                  </a:lnTo>
                  <a:lnTo>
                    <a:pt x="8492744" y="6484239"/>
                  </a:lnTo>
                  <a:lnTo>
                    <a:pt x="0" y="6484239"/>
                  </a:lnTo>
                  <a:close/>
                </a:path>
              </a:pathLst>
            </a:custGeom>
            <a:solidFill>
              <a:srgbClr val="FFFFFF"/>
            </a:solidFill>
            <a:ln w="19050" cap="sq">
              <a:solidFill>
                <a:srgbClr val="C9D6D8"/>
              </a:solidFill>
              <a:prstDash val="solid"/>
              <a:miter/>
            </a:ln>
          </p:spPr>
        </p:sp>
      </p:grpSp>
      <p:grpSp>
        <p:nvGrpSpPr>
          <p:cNvPr name="Group 7" id="7"/>
          <p:cNvGrpSpPr/>
          <p:nvPr/>
        </p:nvGrpSpPr>
        <p:grpSpPr>
          <a:xfrm rot="0">
            <a:off x="822960" y="1988820"/>
            <a:ext cx="6240780" cy="4734382"/>
            <a:chOff x="0" y="0"/>
            <a:chExt cx="8321040" cy="6312510"/>
          </a:xfrm>
        </p:grpSpPr>
        <p:sp>
          <p:nvSpPr>
            <p:cNvPr name="Freeform 8" id="8" descr="ASHA Tier 0 Telugu screenshot"/>
            <p:cNvSpPr/>
            <p:nvPr/>
          </p:nvSpPr>
          <p:spPr>
            <a:xfrm flipH="false" flipV="false" rot="0">
              <a:off x="0" y="0"/>
              <a:ext cx="8321040" cy="6312535"/>
            </a:xfrm>
            <a:custGeom>
              <a:avLst/>
              <a:gdLst/>
              <a:ahLst/>
              <a:cxnLst/>
              <a:rect r="r" b="b" t="t" l="l"/>
              <a:pathLst>
                <a:path h="6312535" w="8321040">
                  <a:moveTo>
                    <a:pt x="0" y="0"/>
                  </a:moveTo>
                  <a:lnTo>
                    <a:pt x="8321040" y="0"/>
                  </a:lnTo>
                  <a:lnTo>
                    <a:pt x="8321040" y="6312535"/>
                  </a:lnTo>
                  <a:lnTo>
                    <a:pt x="0" y="6312535"/>
                  </a:lnTo>
                  <a:lnTo>
                    <a:pt x="0" y="0"/>
                  </a:lnTo>
                  <a:close/>
                </a:path>
              </a:pathLst>
            </a:custGeom>
            <a:blipFill>
              <a:blip r:embed="rId4"/>
              <a:stretch>
                <a:fillRect l="0" t="0" r="0" b="0"/>
              </a:stretch>
            </a:blipFill>
          </p:spPr>
        </p:sp>
      </p:grpSp>
      <p:grpSp>
        <p:nvGrpSpPr>
          <p:cNvPr name="Group 9" id="9"/>
          <p:cNvGrpSpPr/>
          <p:nvPr/>
        </p:nvGrpSpPr>
        <p:grpSpPr>
          <a:xfrm rot="0">
            <a:off x="7410831" y="1924431"/>
            <a:ext cx="6369558" cy="4163768"/>
            <a:chOff x="0" y="0"/>
            <a:chExt cx="8492744" cy="5551691"/>
          </a:xfrm>
        </p:grpSpPr>
        <p:sp>
          <p:nvSpPr>
            <p:cNvPr name="Freeform 10" id="10"/>
            <p:cNvSpPr/>
            <p:nvPr/>
          </p:nvSpPr>
          <p:spPr>
            <a:xfrm flipH="false" flipV="false" rot="0">
              <a:off x="0" y="0"/>
              <a:ext cx="8492744" cy="5551678"/>
            </a:xfrm>
            <a:custGeom>
              <a:avLst/>
              <a:gdLst/>
              <a:ahLst/>
              <a:cxnLst/>
              <a:rect r="r" b="b" t="t" l="l"/>
              <a:pathLst>
                <a:path h="5551678" w="8492744">
                  <a:moveTo>
                    <a:pt x="0" y="0"/>
                  </a:moveTo>
                  <a:lnTo>
                    <a:pt x="8492744" y="0"/>
                  </a:lnTo>
                  <a:lnTo>
                    <a:pt x="8492744" y="5551678"/>
                  </a:lnTo>
                  <a:lnTo>
                    <a:pt x="0" y="5551678"/>
                  </a:lnTo>
                  <a:close/>
                </a:path>
              </a:pathLst>
            </a:custGeom>
            <a:solidFill>
              <a:srgbClr val="FFFFFF"/>
            </a:solidFill>
            <a:ln w="19050" cap="sq">
              <a:solidFill>
                <a:srgbClr val="C9D6D8"/>
              </a:solidFill>
              <a:prstDash val="solid"/>
              <a:miter/>
            </a:ln>
          </p:spPr>
        </p:sp>
      </p:grpSp>
      <p:grpSp>
        <p:nvGrpSpPr>
          <p:cNvPr name="Group 11" id="11"/>
          <p:cNvGrpSpPr/>
          <p:nvPr/>
        </p:nvGrpSpPr>
        <p:grpSpPr>
          <a:xfrm rot="0">
            <a:off x="7475220" y="1988820"/>
            <a:ext cx="6240780" cy="4034990"/>
            <a:chOff x="0" y="0"/>
            <a:chExt cx="8321040" cy="5379987"/>
          </a:xfrm>
        </p:grpSpPr>
        <p:sp>
          <p:nvSpPr>
            <p:cNvPr name="Freeform 12" id="12" descr="Red flag emergency screenshot"/>
            <p:cNvSpPr/>
            <p:nvPr/>
          </p:nvSpPr>
          <p:spPr>
            <a:xfrm flipH="false" flipV="false" rot="0">
              <a:off x="0" y="0"/>
              <a:ext cx="8321040" cy="5379974"/>
            </a:xfrm>
            <a:custGeom>
              <a:avLst/>
              <a:gdLst/>
              <a:ahLst/>
              <a:cxnLst/>
              <a:rect r="r" b="b" t="t" l="l"/>
              <a:pathLst>
                <a:path h="5379974" w="8321040">
                  <a:moveTo>
                    <a:pt x="0" y="0"/>
                  </a:moveTo>
                  <a:lnTo>
                    <a:pt x="8321040" y="0"/>
                  </a:lnTo>
                  <a:lnTo>
                    <a:pt x="8321040" y="5379974"/>
                  </a:lnTo>
                  <a:lnTo>
                    <a:pt x="0" y="5379974"/>
                  </a:lnTo>
                  <a:lnTo>
                    <a:pt x="0" y="0"/>
                  </a:lnTo>
                  <a:close/>
                </a:path>
              </a:pathLst>
            </a:custGeom>
            <a:blipFill>
              <a:blip r:embed="rId5"/>
              <a:stretch>
                <a:fillRect l="0" t="0" r="0" b="0"/>
              </a:stretch>
            </a:blipFill>
          </p:spPr>
        </p:sp>
      </p:grpSp>
      <p:grpSp>
        <p:nvGrpSpPr>
          <p:cNvPr name="Group 13" id="13"/>
          <p:cNvGrpSpPr/>
          <p:nvPr/>
        </p:nvGrpSpPr>
        <p:grpSpPr>
          <a:xfrm rot="0">
            <a:off x="14049375" y="1979295"/>
            <a:ext cx="3379470" cy="6739890"/>
            <a:chOff x="0" y="0"/>
            <a:chExt cx="4505960" cy="8986520"/>
          </a:xfrm>
        </p:grpSpPr>
        <p:sp>
          <p:nvSpPr>
            <p:cNvPr name="Freeform 14" id="14"/>
            <p:cNvSpPr/>
            <p:nvPr/>
          </p:nvSpPr>
          <p:spPr>
            <a:xfrm flipH="false" flipV="false" rot="0">
              <a:off x="0" y="0"/>
              <a:ext cx="4505960" cy="8986520"/>
            </a:xfrm>
            <a:custGeom>
              <a:avLst/>
              <a:gdLst/>
              <a:ahLst/>
              <a:cxnLst/>
              <a:rect r="r" b="b" t="t" l="l"/>
              <a:pathLst>
                <a:path h="8986520" w="4505960">
                  <a:moveTo>
                    <a:pt x="0" y="147066"/>
                  </a:moveTo>
                  <a:cubicBezTo>
                    <a:pt x="0" y="65913"/>
                    <a:pt x="65913" y="0"/>
                    <a:pt x="147066" y="0"/>
                  </a:cubicBezTo>
                  <a:lnTo>
                    <a:pt x="4358894" y="0"/>
                  </a:lnTo>
                  <a:cubicBezTo>
                    <a:pt x="4440174" y="0"/>
                    <a:pt x="4505960" y="65913"/>
                    <a:pt x="4505960" y="147066"/>
                  </a:cubicBezTo>
                  <a:lnTo>
                    <a:pt x="4505960" y="8839454"/>
                  </a:lnTo>
                  <a:cubicBezTo>
                    <a:pt x="4505960" y="8920735"/>
                    <a:pt x="4440047" y="8986520"/>
                    <a:pt x="4358894" y="8986520"/>
                  </a:cubicBezTo>
                  <a:lnTo>
                    <a:pt x="147066" y="8986520"/>
                  </a:lnTo>
                  <a:cubicBezTo>
                    <a:pt x="65913" y="8986520"/>
                    <a:pt x="0" y="8920607"/>
                    <a:pt x="0" y="8839454"/>
                  </a:cubicBezTo>
                  <a:close/>
                </a:path>
              </a:pathLst>
            </a:custGeom>
            <a:solidFill>
              <a:srgbClr val="D9472B"/>
            </a:solidFill>
            <a:ln w="19050" cap="sq">
              <a:solidFill>
                <a:srgbClr val="D9472B"/>
              </a:solidFill>
              <a:prstDash val="solid"/>
              <a:miter/>
            </a:ln>
          </p:spPr>
        </p:sp>
      </p:grpSp>
      <p:grpSp>
        <p:nvGrpSpPr>
          <p:cNvPr name="Group 15" id="15"/>
          <p:cNvGrpSpPr/>
          <p:nvPr/>
        </p:nvGrpSpPr>
        <p:grpSpPr>
          <a:xfrm rot="0">
            <a:off x="15146655" y="2322195"/>
            <a:ext cx="1184910" cy="1184910"/>
            <a:chOff x="0" y="0"/>
            <a:chExt cx="1579880" cy="1579880"/>
          </a:xfrm>
        </p:grpSpPr>
        <p:sp>
          <p:nvSpPr>
            <p:cNvPr name="Freeform 16" id="16"/>
            <p:cNvSpPr/>
            <p:nvPr/>
          </p:nvSpPr>
          <p:spPr>
            <a:xfrm flipH="false" flipV="false" rot="0">
              <a:off x="0" y="0"/>
              <a:ext cx="1579880" cy="1579880"/>
            </a:xfrm>
            <a:custGeom>
              <a:avLst/>
              <a:gdLst/>
              <a:ahLst/>
              <a:cxnLst/>
              <a:rect r="r" b="b" t="t" l="l"/>
              <a:pathLst>
                <a:path h="1579880" w="1579880">
                  <a:moveTo>
                    <a:pt x="0" y="789940"/>
                  </a:moveTo>
                  <a:cubicBezTo>
                    <a:pt x="0" y="353695"/>
                    <a:pt x="353695" y="0"/>
                    <a:pt x="789940" y="0"/>
                  </a:cubicBezTo>
                  <a:cubicBezTo>
                    <a:pt x="1226185" y="0"/>
                    <a:pt x="1579880" y="353695"/>
                    <a:pt x="1579880" y="789940"/>
                  </a:cubicBezTo>
                  <a:cubicBezTo>
                    <a:pt x="1579880" y="1226185"/>
                    <a:pt x="1226185" y="1579880"/>
                    <a:pt x="789940" y="1579880"/>
                  </a:cubicBezTo>
                  <a:cubicBezTo>
                    <a:pt x="353695" y="1579880"/>
                    <a:pt x="0" y="1226185"/>
                    <a:pt x="0" y="789940"/>
                  </a:cubicBezTo>
                  <a:close/>
                </a:path>
              </a:pathLst>
            </a:custGeom>
            <a:solidFill>
              <a:srgbClr val="0B4F5C"/>
            </a:solidFill>
            <a:ln w="19050" cap="sq">
              <a:solidFill>
                <a:srgbClr val="0B4F5C"/>
              </a:solidFill>
              <a:prstDash val="solid"/>
              <a:miter/>
            </a:ln>
          </p:spPr>
        </p:sp>
      </p:grpSp>
      <p:grpSp>
        <p:nvGrpSpPr>
          <p:cNvPr name="Group 17" id="17"/>
          <p:cNvGrpSpPr/>
          <p:nvPr/>
        </p:nvGrpSpPr>
        <p:grpSpPr>
          <a:xfrm rot="0">
            <a:off x="15447645" y="2623185"/>
            <a:ext cx="582930" cy="582930"/>
            <a:chOff x="0" y="0"/>
            <a:chExt cx="777240" cy="777240"/>
          </a:xfrm>
        </p:grpSpPr>
        <p:sp>
          <p:nvSpPr>
            <p:cNvPr name="Freeform 18" id="18" descr="preencoded.png"/>
            <p:cNvSpPr/>
            <p:nvPr/>
          </p:nvSpPr>
          <p:spPr>
            <a:xfrm flipH="false" flipV="false" rot="0">
              <a:off x="0" y="0"/>
              <a:ext cx="777240" cy="777240"/>
            </a:xfrm>
            <a:custGeom>
              <a:avLst/>
              <a:gdLst/>
              <a:ahLst/>
              <a:cxnLst/>
              <a:rect r="r" b="b" t="t" l="l"/>
              <a:pathLst>
                <a:path h="777240" w="777240">
                  <a:moveTo>
                    <a:pt x="0" y="0"/>
                  </a:moveTo>
                  <a:lnTo>
                    <a:pt x="777240" y="0"/>
                  </a:lnTo>
                  <a:lnTo>
                    <a:pt x="777240" y="777240"/>
                  </a:lnTo>
                  <a:lnTo>
                    <a:pt x="0" y="777240"/>
                  </a:lnTo>
                  <a:lnTo>
                    <a:pt x="0" y="0"/>
                  </a:lnTo>
                  <a:close/>
                </a:path>
              </a:pathLst>
            </a:custGeom>
            <a:blipFill>
              <a:blip r:embed="rId6"/>
              <a:stretch>
                <a:fillRect l="0" t="0" r="0" b="0"/>
              </a:stretch>
            </a:blipFill>
          </p:spPr>
        </p:sp>
      </p:grpSp>
      <p:sp>
        <p:nvSpPr>
          <p:cNvPr name="TextBox 19" id="19"/>
          <p:cNvSpPr txBox="true"/>
          <p:nvPr/>
        </p:nvSpPr>
        <p:spPr>
          <a:xfrm rot="0">
            <a:off x="14264640" y="3636645"/>
            <a:ext cx="2948940" cy="485775"/>
          </a:xfrm>
          <a:prstGeom prst="rect">
            <a:avLst/>
          </a:prstGeom>
        </p:spPr>
        <p:txBody>
          <a:bodyPr anchor="t" rtlCol="false" tIns="0" lIns="0" bIns="0" rIns="0">
            <a:spAutoFit/>
          </a:bodyPr>
          <a:lstStyle/>
          <a:p>
            <a:pPr algn="ctr">
              <a:lnSpc>
                <a:spcPts val="3359"/>
              </a:lnSpc>
            </a:pPr>
            <a:r>
              <a:rPr lang="en-US" sz="2799" b="1">
                <a:solidFill>
                  <a:srgbClr val="FFFFFF"/>
                </a:solidFill>
                <a:latin typeface="Calibri"/>
                <a:ea typeface="Calibri"/>
                <a:cs typeface="Calibri"/>
                <a:sym typeface="Calibri"/>
              </a:rPr>
              <a:t>Possible heatstroke</a:t>
            </a:r>
          </a:p>
        </p:txBody>
      </p:sp>
      <p:sp>
        <p:nvSpPr>
          <p:cNvPr name="TextBox 20" id="20"/>
          <p:cNvSpPr txBox="true"/>
          <p:nvPr/>
        </p:nvSpPr>
        <p:spPr>
          <a:xfrm rot="0">
            <a:off x="14264640" y="4400550"/>
            <a:ext cx="2948940" cy="2524125"/>
          </a:xfrm>
          <a:prstGeom prst="rect">
            <a:avLst/>
          </a:prstGeom>
        </p:spPr>
        <p:txBody>
          <a:bodyPr anchor="t" rtlCol="false" tIns="0" lIns="0" bIns="0" rIns="0">
            <a:spAutoFit/>
          </a:bodyPr>
          <a:lstStyle/>
          <a:p>
            <a:pPr algn="l">
              <a:lnSpc>
                <a:spcPts val="2819"/>
              </a:lnSpc>
            </a:pPr>
            <a:r>
              <a:rPr lang="en-US" sz="2349">
                <a:solidFill>
                  <a:srgbClr val="FFFFFF"/>
                </a:solidFill>
                <a:latin typeface="Calibri"/>
                <a:ea typeface="Calibri"/>
                <a:cs typeface="Calibri"/>
                <a:sym typeface="Calibri"/>
              </a:rPr>
              <a:t>Confusion, fainting, seizure, unresponsive or ≥40 °C → call 108 / 112, cool the person, nothing by mouth if not fully awake. No kidney score is shown.</a:t>
            </a:r>
          </a:p>
        </p:txBody>
      </p:sp>
      <p:sp>
        <p:nvSpPr>
          <p:cNvPr name="TextBox 21" id="21"/>
          <p:cNvSpPr txBox="true"/>
          <p:nvPr/>
        </p:nvSpPr>
        <p:spPr>
          <a:xfrm rot="0">
            <a:off x="822960" y="8945880"/>
            <a:ext cx="16596360" cy="609600"/>
          </a:xfrm>
          <a:prstGeom prst="rect">
            <a:avLst/>
          </a:prstGeom>
        </p:spPr>
        <p:txBody>
          <a:bodyPr anchor="t" rtlCol="false" tIns="0" lIns="0" bIns="0" rIns="0">
            <a:spAutoFit/>
          </a:bodyPr>
          <a:lstStyle/>
          <a:p>
            <a:pPr algn="l">
              <a:lnSpc>
                <a:spcPts val="2279"/>
              </a:lnSpc>
            </a:pPr>
            <a:r>
              <a:rPr lang="en-US" sz="1899" i="1">
                <a:solidFill>
                  <a:srgbClr val="5B6C75"/>
                </a:solidFill>
                <a:latin typeface="Calibri"/>
                <a:ea typeface="Calibri"/>
                <a:cs typeface="Calibri"/>
                <a:sym typeface="Calibri"/>
              </a:rPr>
              <a:t>Heatstroke definition and first aid follow India's National Action Plan on Heat Related Illnesses (NCDC/MoHFW). Two URGENT messages (no urine 12 h; cola-coloured urine with muscle pain) await clinician review of wording.</a:t>
            </a:r>
          </a:p>
        </p:txBody>
      </p:sp>
      <p:sp>
        <p:nvSpPr>
          <p:cNvPr name="TextBox 22" id="22"/>
          <p:cNvSpPr txBox="true"/>
          <p:nvPr/>
        </p:nvSpPr>
        <p:spPr>
          <a:xfrm rot="0">
            <a:off x="16962120" y="9540240"/>
            <a:ext cx="640080" cy="342900"/>
          </a:xfrm>
          <a:prstGeom prst="rect">
            <a:avLst/>
          </a:prstGeom>
        </p:spPr>
        <p:txBody>
          <a:bodyPr anchor="t" rtlCol="false" tIns="0" lIns="0" bIns="0" rIns="0">
            <a:spAutoFit/>
          </a:bodyPr>
          <a:lstStyle/>
          <a:p>
            <a:pPr algn="r">
              <a:lnSpc>
                <a:spcPts val="2459"/>
              </a:lnSpc>
            </a:pPr>
            <a:r>
              <a:rPr lang="en-US" sz="2049">
                <a:solidFill>
                  <a:srgbClr val="5B6C75"/>
                </a:solidFill>
                <a:latin typeface="Calibri"/>
                <a:ea typeface="Calibri"/>
                <a:cs typeface="Calibri"/>
                <a:sym typeface="Calibri"/>
              </a:rPr>
              <a:t>22</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45820" y="-910048"/>
            <a:ext cx="16596360" cy="3593431"/>
            <a:chOff x="0" y="0"/>
            <a:chExt cx="22128480" cy="4791241"/>
          </a:xfrm>
        </p:grpSpPr>
        <p:sp>
          <p:nvSpPr>
            <p:cNvPr name="Freeform 3" id="3"/>
            <p:cNvSpPr/>
            <p:nvPr/>
          </p:nvSpPr>
          <p:spPr>
            <a:xfrm flipH="false" flipV="false" rot="0">
              <a:off x="0" y="0"/>
              <a:ext cx="22128480" cy="4791241"/>
            </a:xfrm>
            <a:custGeom>
              <a:avLst/>
              <a:gdLst/>
              <a:ahLst/>
              <a:cxnLst/>
              <a:rect r="r" b="b" t="t" l="l"/>
              <a:pathLst>
                <a:path h="4791241" w="22128480">
                  <a:moveTo>
                    <a:pt x="0" y="0"/>
                  </a:moveTo>
                  <a:lnTo>
                    <a:pt x="22128480" y="0"/>
                  </a:lnTo>
                  <a:lnTo>
                    <a:pt x="22128480" y="4791241"/>
                  </a:lnTo>
                  <a:lnTo>
                    <a:pt x="0" y="4791241"/>
                  </a:lnTo>
                  <a:close/>
                </a:path>
              </a:pathLst>
            </a:custGeom>
            <a:blipFill>
              <a:blip r:embed="rId3">
                <a:alphaModFix amt="0"/>
              </a:blip>
              <a:stretch>
                <a:fillRect l="0" t="-73770" r="0" b="-6214"/>
              </a:stretch>
            </a:blipFill>
          </p:spPr>
        </p:sp>
        <p:sp>
          <p:nvSpPr>
            <p:cNvPr name="TextBox 4" id="4"/>
            <p:cNvSpPr txBox="true"/>
            <p:nvPr/>
          </p:nvSpPr>
          <p:spPr>
            <a:xfrm>
              <a:off x="0" y="-9525"/>
              <a:ext cx="22128480" cy="4800766"/>
            </a:xfrm>
            <a:prstGeom prst="rect">
              <a:avLst/>
            </a:prstGeom>
          </p:spPr>
          <p:txBody>
            <a:bodyPr anchor="ctr" rtlCol="false" tIns="0" lIns="0" bIns="0" rIns="0"/>
            <a:lstStyle/>
            <a:p>
              <a:pPr algn="l">
                <a:lnSpc>
                  <a:spcPts val="5879"/>
                </a:lnSpc>
              </a:pPr>
              <a:r>
                <a:rPr lang="en-US" sz="4899" b="1">
                  <a:solidFill>
                    <a:srgbClr val="0B4F5C"/>
                  </a:solidFill>
                  <a:latin typeface="Cambria"/>
                  <a:ea typeface="Cambria"/>
                  <a:cs typeface="Cambria"/>
                  <a:sym typeface="Cambria"/>
                </a:rPr>
                <a:t>Trust Center: privacy you can demonstrate</a:t>
              </a:r>
            </a:p>
          </p:txBody>
        </p:sp>
      </p:grpSp>
      <p:grpSp>
        <p:nvGrpSpPr>
          <p:cNvPr name="Group 5" id="5"/>
          <p:cNvGrpSpPr/>
          <p:nvPr/>
        </p:nvGrpSpPr>
        <p:grpSpPr>
          <a:xfrm rot="0">
            <a:off x="758571" y="1924431"/>
            <a:ext cx="8769858" cy="2475281"/>
            <a:chOff x="0" y="0"/>
            <a:chExt cx="11693144" cy="3300374"/>
          </a:xfrm>
        </p:grpSpPr>
        <p:sp>
          <p:nvSpPr>
            <p:cNvPr name="Freeform 6" id="6"/>
            <p:cNvSpPr/>
            <p:nvPr/>
          </p:nvSpPr>
          <p:spPr>
            <a:xfrm flipH="false" flipV="false" rot="0">
              <a:off x="0" y="0"/>
              <a:ext cx="11693144" cy="3300349"/>
            </a:xfrm>
            <a:custGeom>
              <a:avLst/>
              <a:gdLst/>
              <a:ahLst/>
              <a:cxnLst/>
              <a:rect r="r" b="b" t="t" l="l"/>
              <a:pathLst>
                <a:path h="3300349" w="11693144">
                  <a:moveTo>
                    <a:pt x="0" y="0"/>
                  </a:moveTo>
                  <a:lnTo>
                    <a:pt x="11693144" y="0"/>
                  </a:lnTo>
                  <a:lnTo>
                    <a:pt x="11693144" y="3300349"/>
                  </a:lnTo>
                  <a:lnTo>
                    <a:pt x="0" y="3300349"/>
                  </a:lnTo>
                  <a:close/>
                </a:path>
              </a:pathLst>
            </a:custGeom>
            <a:solidFill>
              <a:srgbClr val="FFFFFF"/>
            </a:solidFill>
            <a:ln w="19050" cap="sq">
              <a:solidFill>
                <a:srgbClr val="C9D6D8"/>
              </a:solidFill>
              <a:prstDash val="solid"/>
              <a:miter/>
            </a:ln>
          </p:spPr>
        </p:sp>
      </p:grpSp>
      <p:grpSp>
        <p:nvGrpSpPr>
          <p:cNvPr name="Group 7" id="7"/>
          <p:cNvGrpSpPr/>
          <p:nvPr/>
        </p:nvGrpSpPr>
        <p:grpSpPr>
          <a:xfrm rot="0">
            <a:off x="822960" y="1988820"/>
            <a:ext cx="8641080" cy="2346503"/>
            <a:chOff x="0" y="0"/>
            <a:chExt cx="11521440" cy="3128670"/>
          </a:xfrm>
        </p:grpSpPr>
        <p:sp>
          <p:nvSpPr>
            <p:cNvPr name="Freeform 8" id="8" descr="Consent revoked screenshot"/>
            <p:cNvSpPr/>
            <p:nvPr/>
          </p:nvSpPr>
          <p:spPr>
            <a:xfrm flipH="false" flipV="false" rot="0">
              <a:off x="0" y="0"/>
              <a:ext cx="11521440" cy="3128645"/>
            </a:xfrm>
            <a:custGeom>
              <a:avLst/>
              <a:gdLst/>
              <a:ahLst/>
              <a:cxnLst/>
              <a:rect r="r" b="b" t="t" l="l"/>
              <a:pathLst>
                <a:path h="3128645" w="11521440">
                  <a:moveTo>
                    <a:pt x="0" y="0"/>
                  </a:moveTo>
                  <a:lnTo>
                    <a:pt x="11521440" y="0"/>
                  </a:lnTo>
                  <a:lnTo>
                    <a:pt x="11521440" y="3128645"/>
                  </a:lnTo>
                  <a:lnTo>
                    <a:pt x="0" y="3128645"/>
                  </a:lnTo>
                  <a:lnTo>
                    <a:pt x="0" y="0"/>
                  </a:lnTo>
                  <a:close/>
                </a:path>
              </a:pathLst>
            </a:custGeom>
            <a:blipFill>
              <a:blip r:embed="rId4"/>
              <a:stretch>
                <a:fillRect l="0" t="0" r="0" b="0"/>
              </a:stretch>
            </a:blipFill>
          </p:spPr>
        </p:sp>
      </p:grpSp>
      <p:grpSp>
        <p:nvGrpSpPr>
          <p:cNvPr name="Group 9" id="9"/>
          <p:cNvGrpSpPr/>
          <p:nvPr/>
        </p:nvGrpSpPr>
        <p:grpSpPr>
          <a:xfrm rot="0">
            <a:off x="758571" y="4530471"/>
            <a:ext cx="8769858" cy="3406426"/>
            <a:chOff x="0" y="0"/>
            <a:chExt cx="11693144" cy="4541901"/>
          </a:xfrm>
        </p:grpSpPr>
        <p:sp>
          <p:nvSpPr>
            <p:cNvPr name="Freeform 10" id="10"/>
            <p:cNvSpPr/>
            <p:nvPr/>
          </p:nvSpPr>
          <p:spPr>
            <a:xfrm flipH="false" flipV="false" rot="0">
              <a:off x="0" y="0"/>
              <a:ext cx="11693144" cy="4541901"/>
            </a:xfrm>
            <a:custGeom>
              <a:avLst/>
              <a:gdLst/>
              <a:ahLst/>
              <a:cxnLst/>
              <a:rect r="r" b="b" t="t" l="l"/>
              <a:pathLst>
                <a:path h="4541901" w="11693144">
                  <a:moveTo>
                    <a:pt x="0" y="0"/>
                  </a:moveTo>
                  <a:lnTo>
                    <a:pt x="11693144" y="0"/>
                  </a:lnTo>
                  <a:lnTo>
                    <a:pt x="11693144" y="4541901"/>
                  </a:lnTo>
                  <a:lnTo>
                    <a:pt x="0" y="4541901"/>
                  </a:lnTo>
                  <a:close/>
                </a:path>
              </a:pathLst>
            </a:custGeom>
            <a:solidFill>
              <a:srgbClr val="FFFFFF"/>
            </a:solidFill>
            <a:ln w="19050" cap="sq">
              <a:solidFill>
                <a:srgbClr val="C9D6D8"/>
              </a:solidFill>
              <a:prstDash val="solid"/>
              <a:miter/>
            </a:ln>
          </p:spPr>
        </p:sp>
      </p:grpSp>
      <p:grpSp>
        <p:nvGrpSpPr>
          <p:cNvPr name="Group 11" id="11"/>
          <p:cNvGrpSpPr/>
          <p:nvPr/>
        </p:nvGrpSpPr>
        <p:grpSpPr>
          <a:xfrm rot="0">
            <a:off x="822960" y="4594860"/>
            <a:ext cx="8641080" cy="3277648"/>
            <a:chOff x="0" y="0"/>
            <a:chExt cx="11521440" cy="4370197"/>
          </a:xfrm>
        </p:grpSpPr>
        <p:sp>
          <p:nvSpPr>
            <p:cNvPr name="Freeform 12" id="12" descr="Tamper demo screenshot"/>
            <p:cNvSpPr/>
            <p:nvPr/>
          </p:nvSpPr>
          <p:spPr>
            <a:xfrm flipH="false" flipV="false" rot="0">
              <a:off x="0" y="0"/>
              <a:ext cx="11521440" cy="4370197"/>
            </a:xfrm>
            <a:custGeom>
              <a:avLst/>
              <a:gdLst/>
              <a:ahLst/>
              <a:cxnLst/>
              <a:rect r="r" b="b" t="t" l="l"/>
              <a:pathLst>
                <a:path h="4370197" w="11521440">
                  <a:moveTo>
                    <a:pt x="0" y="0"/>
                  </a:moveTo>
                  <a:lnTo>
                    <a:pt x="11521440" y="0"/>
                  </a:lnTo>
                  <a:lnTo>
                    <a:pt x="11521440" y="4370197"/>
                  </a:lnTo>
                  <a:lnTo>
                    <a:pt x="0" y="4370197"/>
                  </a:lnTo>
                  <a:lnTo>
                    <a:pt x="0" y="0"/>
                  </a:lnTo>
                  <a:close/>
                </a:path>
              </a:pathLst>
            </a:custGeom>
            <a:blipFill>
              <a:blip r:embed="rId5"/>
              <a:stretch>
                <a:fillRect l="0" t="0" r="0" b="0"/>
              </a:stretch>
            </a:blipFill>
          </p:spPr>
        </p:sp>
      </p:grpSp>
      <p:grpSp>
        <p:nvGrpSpPr>
          <p:cNvPr name="Group 13" id="13"/>
          <p:cNvGrpSpPr/>
          <p:nvPr/>
        </p:nvGrpSpPr>
        <p:grpSpPr>
          <a:xfrm rot="0">
            <a:off x="10071735" y="1979295"/>
            <a:ext cx="1006602" cy="1006602"/>
            <a:chOff x="0" y="0"/>
            <a:chExt cx="1342136" cy="1342136"/>
          </a:xfrm>
        </p:grpSpPr>
        <p:sp>
          <p:nvSpPr>
            <p:cNvPr name="Freeform 14" id="14"/>
            <p:cNvSpPr/>
            <p:nvPr/>
          </p:nvSpPr>
          <p:spPr>
            <a:xfrm flipH="false" flipV="false" rot="0">
              <a:off x="0" y="0"/>
              <a:ext cx="1342136" cy="1342136"/>
            </a:xfrm>
            <a:custGeom>
              <a:avLst/>
              <a:gdLst/>
              <a:ahLst/>
              <a:cxnLst/>
              <a:rect r="r" b="b" t="t" l="l"/>
              <a:pathLst>
                <a:path h="1342136" w="1342136">
                  <a:moveTo>
                    <a:pt x="0" y="671068"/>
                  </a:moveTo>
                  <a:cubicBezTo>
                    <a:pt x="0" y="300482"/>
                    <a:pt x="300482" y="0"/>
                    <a:pt x="671068" y="0"/>
                  </a:cubicBezTo>
                  <a:cubicBezTo>
                    <a:pt x="1041654" y="0"/>
                    <a:pt x="1342136" y="300482"/>
                    <a:pt x="1342136" y="671068"/>
                  </a:cubicBezTo>
                  <a:cubicBezTo>
                    <a:pt x="1342136" y="1041654"/>
                    <a:pt x="1041654" y="1342136"/>
                    <a:pt x="671068" y="1342136"/>
                  </a:cubicBezTo>
                  <a:cubicBezTo>
                    <a:pt x="300482" y="1342136"/>
                    <a:pt x="0" y="1041654"/>
                    <a:pt x="0" y="671068"/>
                  </a:cubicBezTo>
                  <a:close/>
                </a:path>
              </a:pathLst>
            </a:custGeom>
            <a:solidFill>
              <a:srgbClr val="0E7C86"/>
            </a:solidFill>
            <a:ln w="19050" cap="sq">
              <a:solidFill>
                <a:srgbClr val="0E7C86"/>
              </a:solidFill>
              <a:prstDash val="solid"/>
              <a:miter/>
            </a:ln>
          </p:spPr>
        </p:sp>
      </p:grpSp>
      <p:grpSp>
        <p:nvGrpSpPr>
          <p:cNvPr name="Group 15" id="15"/>
          <p:cNvGrpSpPr/>
          <p:nvPr/>
        </p:nvGrpSpPr>
        <p:grpSpPr>
          <a:xfrm rot="0">
            <a:off x="10328148" y="2235708"/>
            <a:ext cx="493776" cy="493776"/>
            <a:chOff x="0" y="0"/>
            <a:chExt cx="658368" cy="658368"/>
          </a:xfrm>
        </p:grpSpPr>
        <p:sp>
          <p:nvSpPr>
            <p:cNvPr name="Freeform 16" id="16" descr="preencoded.png"/>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lnTo>
                    <a:pt x="0" y="0"/>
                  </a:lnTo>
                  <a:close/>
                </a:path>
              </a:pathLst>
            </a:custGeom>
            <a:blipFill>
              <a:blip r:embed="rId6"/>
              <a:stretch>
                <a:fillRect l="0" t="0" r="0" b="0"/>
              </a:stretch>
            </a:blipFill>
          </p:spPr>
        </p:sp>
      </p:grpSp>
      <p:sp>
        <p:nvSpPr>
          <p:cNvPr name="TextBox 17" id="17"/>
          <p:cNvSpPr txBox="true"/>
          <p:nvPr/>
        </p:nvSpPr>
        <p:spPr>
          <a:xfrm rot="0">
            <a:off x="11315700" y="1894713"/>
            <a:ext cx="6103620" cy="485775"/>
          </a:xfrm>
          <a:prstGeom prst="rect">
            <a:avLst/>
          </a:prstGeom>
        </p:spPr>
        <p:txBody>
          <a:bodyPr anchor="t" rtlCol="false" tIns="0" lIns="0" bIns="0" rIns="0">
            <a:spAutoFit/>
          </a:bodyPr>
          <a:lstStyle/>
          <a:p>
            <a:pPr algn="l">
              <a:lnSpc>
                <a:spcPts val="3359"/>
              </a:lnSpc>
            </a:pPr>
            <a:r>
              <a:rPr lang="en-US" sz="2799" b="1">
                <a:solidFill>
                  <a:srgbClr val="0B4F5C"/>
                </a:solidFill>
                <a:latin typeface="Calibri"/>
                <a:ea typeface="Calibri"/>
                <a:cs typeface="Calibri"/>
                <a:sym typeface="Calibri"/>
              </a:rPr>
              <a:t>ABDM-style consent</a:t>
            </a:r>
          </a:p>
        </p:txBody>
      </p:sp>
      <p:sp>
        <p:nvSpPr>
          <p:cNvPr name="TextBox 18" id="18"/>
          <p:cNvSpPr txBox="true"/>
          <p:nvPr/>
        </p:nvSpPr>
        <p:spPr>
          <a:xfrm rot="0">
            <a:off x="11315700" y="2462403"/>
            <a:ext cx="6103620" cy="771525"/>
          </a:xfrm>
          <a:prstGeom prst="rect">
            <a:avLst/>
          </a:prstGeom>
        </p:spPr>
        <p:txBody>
          <a:bodyPr anchor="t" rtlCol="false" tIns="0" lIns="0" bIns="0" rIns="0">
            <a:spAutoFit/>
          </a:bodyPr>
          <a:lstStyle/>
          <a:p>
            <a:pPr algn="l">
              <a:lnSpc>
                <a:spcPts val="2909"/>
              </a:lnSpc>
            </a:pPr>
            <a:r>
              <a:rPr lang="en-US" sz="2424">
                <a:solidFill>
                  <a:srgbClr val="1B2B34"/>
                </a:solidFill>
                <a:latin typeface="Calibri"/>
                <a:ea typeface="Calibri"/>
                <a:cs typeface="Calibri"/>
                <a:sym typeface="Calibri"/>
              </a:rPr>
              <a:t>Ed25519-signed, checked on every read; revoke takes effect at once</a:t>
            </a:r>
          </a:p>
        </p:txBody>
      </p:sp>
      <p:grpSp>
        <p:nvGrpSpPr>
          <p:cNvPr name="Group 19" id="19"/>
          <p:cNvGrpSpPr/>
          <p:nvPr/>
        </p:nvGrpSpPr>
        <p:grpSpPr>
          <a:xfrm rot="0">
            <a:off x="10071735" y="3625215"/>
            <a:ext cx="1006602" cy="1006602"/>
            <a:chOff x="0" y="0"/>
            <a:chExt cx="1342136" cy="1342136"/>
          </a:xfrm>
        </p:grpSpPr>
        <p:sp>
          <p:nvSpPr>
            <p:cNvPr name="Freeform 20" id="20"/>
            <p:cNvSpPr/>
            <p:nvPr/>
          </p:nvSpPr>
          <p:spPr>
            <a:xfrm flipH="false" flipV="false" rot="0">
              <a:off x="0" y="0"/>
              <a:ext cx="1342136" cy="1342136"/>
            </a:xfrm>
            <a:custGeom>
              <a:avLst/>
              <a:gdLst/>
              <a:ahLst/>
              <a:cxnLst/>
              <a:rect r="r" b="b" t="t" l="l"/>
              <a:pathLst>
                <a:path h="1342136" w="1342136">
                  <a:moveTo>
                    <a:pt x="0" y="671068"/>
                  </a:moveTo>
                  <a:cubicBezTo>
                    <a:pt x="0" y="300482"/>
                    <a:pt x="300482" y="0"/>
                    <a:pt x="671068" y="0"/>
                  </a:cubicBezTo>
                  <a:cubicBezTo>
                    <a:pt x="1041654" y="0"/>
                    <a:pt x="1342136" y="300482"/>
                    <a:pt x="1342136" y="671068"/>
                  </a:cubicBezTo>
                  <a:cubicBezTo>
                    <a:pt x="1342136" y="1041654"/>
                    <a:pt x="1041654" y="1342136"/>
                    <a:pt x="671068" y="1342136"/>
                  </a:cubicBezTo>
                  <a:cubicBezTo>
                    <a:pt x="300482" y="1342136"/>
                    <a:pt x="0" y="1041654"/>
                    <a:pt x="0" y="671068"/>
                  </a:cubicBezTo>
                  <a:close/>
                </a:path>
              </a:pathLst>
            </a:custGeom>
            <a:solidFill>
              <a:srgbClr val="0E7C86"/>
            </a:solidFill>
            <a:ln w="19050" cap="sq">
              <a:solidFill>
                <a:srgbClr val="0E7C86"/>
              </a:solidFill>
              <a:prstDash val="solid"/>
              <a:miter/>
            </a:ln>
          </p:spPr>
        </p:sp>
      </p:grpSp>
      <p:grpSp>
        <p:nvGrpSpPr>
          <p:cNvPr name="Group 21" id="21"/>
          <p:cNvGrpSpPr/>
          <p:nvPr/>
        </p:nvGrpSpPr>
        <p:grpSpPr>
          <a:xfrm rot="0">
            <a:off x="10328148" y="3881628"/>
            <a:ext cx="493776" cy="493776"/>
            <a:chOff x="0" y="0"/>
            <a:chExt cx="658368" cy="658368"/>
          </a:xfrm>
        </p:grpSpPr>
        <p:sp>
          <p:nvSpPr>
            <p:cNvPr name="Freeform 22" id="22" descr="preencoded.png"/>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lnTo>
                    <a:pt x="0" y="0"/>
                  </a:lnTo>
                  <a:close/>
                </a:path>
              </a:pathLst>
            </a:custGeom>
            <a:blipFill>
              <a:blip r:embed="rId7"/>
              <a:stretch>
                <a:fillRect l="0" t="0" r="0" b="0"/>
              </a:stretch>
            </a:blipFill>
          </p:spPr>
        </p:sp>
      </p:grpSp>
      <p:sp>
        <p:nvSpPr>
          <p:cNvPr name="TextBox 23" id="23"/>
          <p:cNvSpPr txBox="true"/>
          <p:nvPr/>
        </p:nvSpPr>
        <p:spPr>
          <a:xfrm rot="0">
            <a:off x="11315700" y="3540633"/>
            <a:ext cx="6103620" cy="485775"/>
          </a:xfrm>
          <a:prstGeom prst="rect">
            <a:avLst/>
          </a:prstGeom>
        </p:spPr>
        <p:txBody>
          <a:bodyPr anchor="t" rtlCol="false" tIns="0" lIns="0" bIns="0" rIns="0">
            <a:spAutoFit/>
          </a:bodyPr>
          <a:lstStyle/>
          <a:p>
            <a:pPr algn="l">
              <a:lnSpc>
                <a:spcPts val="3359"/>
              </a:lnSpc>
            </a:pPr>
            <a:r>
              <a:rPr lang="en-US" sz="2799" b="1">
                <a:solidFill>
                  <a:srgbClr val="0B4F5C"/>
                </a:solidFill>
                <a:latin typeface="Calibri"/>
                <a:ea typeface="Calibri"/>
                <a:cs typeface="Calibri"/>
                <a:sym typeface="Calibri"/>
              </a:rPr>
              <a:t>6 roles, field-level</a:t>
            </a:r>
          </a:p>
        </p:txBody>
      </p:sp>
      <p:sp>
        <p:nvSpPr>
          <p:cNvPr name="TextBox 24" id="24"/>
          <p:cNvSpPr txBox="true"/>
          <p:nvPr/>
        </p:nvSpPr>
        <p:spPr>
          <a:xfrm rot="0">
            <a:off x="11315700" y="4108323"/>
            <a:ext cx="6103620" cy="771525"/>
          </a:xfrm>
          <a:prstGeom prst="rect">
            <a:avLst/>
          </a:prstGeom>
        </p:spPr>
        <p:txBody>
          <a:bodyPr anchor="t" rtlCol="false" tIns="0" lIns="0" bIns="0" rIns="0">
            <a:spAutoFit/>
          </a:bodyPr>
          <a:lstStyle/>
          <a:p>
            <a:pPr algn="l">
              <a:lnSpc>
                <a:spcPts val="2909"/>
              </a:lnSpc>
            </a:pPr>
            <a:r>
              <a:rPr lang="en-US" sz="2424">
                <a:solidFill>
                  <a:srgbClr val="1B2B34"/>
                </a:solidFill>
                <a:latin typeface="Calibri"/>
                <a:ea typeface="Calibri"/>
                <a:cs typeface="Calibri"/>
                <a:sym typeface="Calibri"/>
              </a:rPr>
              <a:t>ASHA never sees genotype; lab sees only test orders</a:t>
            </a:r>
          </a:p>
        </p:txBody>
      </p:sp>
      <p:grpSp>
        <p:nvGrpSpPr>
          <p:cNvPr name="Group 25" id="25"/>
          <p:cNvGrpSpPr/>
          <p:nvPr/>
        </p:nvGrpSpPr>
        <p:grpSpPr>
          <a:xfrm rot="0">
            <a:off x="10071735" y="5271135"/>
            <a:ext cx="1006602" cy="1006602"/>
            <a:chOff x="0" y="0"/>
            <a:chExt cx="1342136" cy="1342136"/>
          </a:xfrm>
        </p:grpSpPr>
        <p:sp>
          <p:nvSpPr>
            <p:cNvPr name="Freeform 26" id="26"/>
            <p:cNvSpPr/>
            <p:nvPr/>
          </p:nvSpPr>
          <p:spPr>
            <a:xfrm flipH="false" flipV="false" rot="0">
              <a:off x="0" y="0"/>
              <a:ext cx="1342136" cy="1342136"/>
            </a:xfrm>
            <a:custGeom>
              <a:avLst/>
              <a:gdLst/>
              <a:ahLst/>
              <a:cxnLst/>
              <a:rect r="r" b="b" t="t" l="l"/>
              <a:pathLst>
                <a:path h="1342136" w="1342136">
                  <a:moveTo>
                    <a:pt x="0" y="671068"/>
                  </a:moveTo>
                  <a:cubicBezTo>
                    <a:pt x="0" y="300482"/>
                    <a:pt x="300482" y="0"/>
                    <a:pt x="671068" y="0"/>
                  </a:cubicBezTo>
                  <a:cubicBezTo>
                    <a:pt x="1041654" y="0"/>
                    <a:pt x="1342136" y="300482"/>
                    <a:pt x="1342136" y="671068"/>
                  </a:cubicBezTo>
                  <a:cubicBezTo>
                    <a:pt x="1342136" y="1041654"/>
                    <a:pt x="1041654" y="1342136"/>
                    <a:pt x="671068" y="1342136"/>
                  </a:cubicBezTo>
                  <a:cubicBezTo>
                    <a:pt x="300482" y="1342136"/>
                    <a:pt x="0" y="1041654"/>
                    <a:pt x="0" y="671068"/>
                  </a:cubicBezTo>
                  <a:close/>
                </a:path>
              </a:pathLst>
            </a:custGeom>
            <a:solidFill>
              <a:srgbClr val="0E7C86"/>
            </a:solidFill>
            <a:ln w="19050" cap="sq">
              <a:solidFill>
                <a:srgbClr val="0E7C86"/>
              </a:solidFill>
              <a:prstDash val="solid"/>
              <a:miter/>
            </a:ln>
          </p:spPr>
        </p:sp>
      </p:grpSp>
      <p:grpSp>
        <p:nvGrpSpPr>
          <p:cNvPr name="Group 27" id="27"/>
          <p:cNvGrpSpPr/>
          <p:nvPr/>
        </p:nvGrpSpPr>
        <p:grpSpPr>
          <a:xfrm rot="0">
            <a:off x="10328148" y="5527548"/>
            <a:ext cx="493776" cy="493776"/>
            <a:chOff x="0" y="0"/>
            <a:chExt cx="658368" cy="658368"/>
          </a:xfrm>
        </p:grpSpPr>
        <p:sp>
          <p:nvSpPr>
            <p:cNvPr name="Freeform 28" id="28" descr="preencoded.png"/>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lnTo>
                    <a:pt x="0" y="0"/>
                  </a:lnTo>
                  <a:close/>
                </a:path>
              </a:pathLst>
            </a:custGeom>
            <a:blipFill>
              <a:blip r:embed="rId8"/>
              <a:stretch>
                <a:fillRect l="0" t="0" r="0" b="0"/>
              </a:stretch>
            </a:blipFill>
          </p:spPr>
        </p:sp>
      </p:grpSp>
      <p:sp>
        <p:nvSpPr>
          <p:cNvPr name="TextBox 29" id="29"/>
          <p:cNvSpPr txBox="true"/>
          <p:nvPr/>
        </p:nvSpPr>
        <p:spPr>
          <a:xfrm rot="0">
            <a:off x="11315700" y="5186553"/>
            <a:ext cx="6103620" cy="485775"/>
          </a:xfrm>
          <a:prstGeom prst="rect">
            <a:avLst/>
          </a:prstGeom>
        </p:spPr>
        <p:txBody>
          <a:bodyPr anchor="t" rtlCol="false" tIns="0" lIns="0" bIns="0" rIns="0">
            <a:spAutoFit/>
          </a:bodyPr>
          <a:lstStyle/>
          <a:p>
            <a:pPr algn="l">
              <a:lnSpc>
                <a:spcPts val="3359"/>
              </a:lnSpc>
            </a:pPr>
            <a:r>
              <a:rPr lang="en-US" sz="2799" b="1">
                <a:solidFill>
                  <a:srgbClr val="0B4F5C"/>
                </a:solidFill>
                <a:latin typeface="Calibri"/>
                <a:ea typeface="Calibri"/>
                <a:cs typeface="Calibri"/>
                <a:sym typeface="Calibri"/>
              </a:rPr>
              <a:t>Tamper-evident audit</a:t>
            </a:r>
          </a:p>
        </p:txBody>
      </p:sp>
      <p:sp>
        <p:nvSpPr>
          <p:cNvPr name="TextBox 30" id="30"/>
          <p:cNvSpPr txBox="true"/>
          <p:nvPr/>
        </p:nvSpPr>
        <p:spPr>
          <a:xfrm rot="0">
            <a:off x="11315700" y="5754243"/>
            <a:ext cx="6103620" cy="771525"/>
          </a:xfrm>
          <a:prstGeom prst="rect">
            <a:avLst/>
          </a:prstGeom>
        </p:spPr>
        <p:txBody>
          <a:bodyPr anchor="t" rtlCol="false" tIns="0" lIns="0" bIns="0" rIns="0">
            <a:spAutoFit/>
          </a:bodyPr>
          <a:lstStyle/>
          <a:p>
            <a:pPr algn="l">
              <a:lnSpc>
                <a:spcPts val="2909"/>
              </a:lnSpc>
            </a:pPr>
            <a:r>
              <a:rPr lang="en-US" sz="2424">
                <a:solidFill>
                  <a:srgbClr val="1B2B34"/>
                </a:solidFill>
                <a:latin typeface="Calibri"/>
                <a:ea typeface="Calibri"/>
                <a:cs typeface="Calibri"/>
                <a:sym typeface="Calibri"/>
              </a:rPr>
              <a:t>HMAC chain + signed checkpoints catch even a re-chained forgery</a:t>
            </a:r>
          </a:p>
        </p:txBody>
      </p:sp>
      <p:grpSp>
        <p:nvGrpSpPr>
          <p:cNvPr name="Group 31" id="31"/>
          <p:cNvGrpSpPr/>
          <p:nvPr/>
        </p:nvGrpSpPr>
        <p:grpSpPr>
          <a:xfrm rot="0">
            <a:off x="10071735" y="6917055"/>
            <a:ext cx="1006602" cy="1006602"/>
            <a:chOff x="0" y="0"/>
            <a:chExt cx="1342136" cy="1342136"/>
          </a:xfrm>
        </p:grpSpPr>
        <p:sp>
          <p:nvSpPr>
            <p:cNvPr name="Freeform 32" id="32"/>
            <p:cNvSpPr/>
            <p:nvPr/>
          </p:nvSpPr>
          <p:spPr>
            <a:xfrm flipH="false" flipV="false" rot="0">
              <a:off x="0" y="0"/>
              <a:ext cx="1342136" cy="1342136"/>
            </a:xfrm>
            <a:custGeom>
              <a:avLst/>
              <a:gdLst/>
              <a:ahLst/>
              <a:cxnLst/>
              <a:rect r="r" b="b" t="t" l="l"/>
              <a:pathLst>
                <a:path h="1342136" w="1342136">
                  <a:moveTo>
                    <a:pt x="0" y="671068"/>
                  </a:moveTo>
                  <a:cubicBezTo>
                    <a:pt x="0" y="300482"/>
                    <a:pt x="300482" y="0"/>
                    <a:pt x="671068" y="0"/>
                  </a:cubicBezTo>
                  <a:cubicBezTo>
                    <a:pt x="1041654" y="0"/>
                    <a:pt x="1342136" y="300482"/>
                    <a:pt x="1342136" y="671068"/>
                  </a:cubicBezTo>
                  <a:cubicBezTo>
                    <a:pt x="1342136" y="1041654"/>
                    <a:pt x="1041654" y="1342136"/>
                    <a:pt x="671068" y="1342136"/>
                  </a:cubicBezTo>
                  <a:cubicBezTo>
                    <a:pt x="300482" y="1342136"/>
                    <a:pt x="0" y="1041654"/>
                    <a:pt x="0" y="671068"/>
                  </a:cubicBezTo>
                  <a:close/>
                </a:path>
              </a:pathLst>
            </a:custGeom>
            <a:solidFill>
              <a:srgbClr val="0E7C86"/>
            </a:solidFill>
            <a:ln w="19050" cap="sq">
              <a:solidFill>
                <a:srgbClr val="0E7C86"/>
              </a:solidFill>
              <a:prstDash val="solid"/>
              <a:miter/>
            </a:ln>
          </p:spPr>
        </p:sp>
      </p:grpSp>
      <p:grpSp>
        <p:nvGrpSpPr>
          <p:cNvPr name="Group 33" id="33"/>
          <p:cNvGrpSpPr/>
          <p:nvPr/>
        </p:nvGrpSpPr>
        <p:grpSpPr>
          <a:xfrm rot="0">
            <a:off x="10328148" y="7173468"/>
            <a:ext cx="493776" cy="493776"/>
            <a:chOff x="0" y="0"/>
            <a:chExt cx="658368" cy="658368"/>
          </a:xfrm>
        </p:grpSpPr>
        <p:sp>
          <p:nvSpPr>
            <p:cNvPr name="Freeform 34" id="34" descr="preencoded.png"/>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lnTo>
                    <a:pt x="0" y="0"/>
                  </a:lnTo>
                  <a:close/>
                </a:path>
              </a:pathLst>
            </a:custGeom>
            <a:blipFill>
              <a:blip r:embed="rId9"/>
              <a:stretch>
                <a:fillRect l="0" t="0" r="0" b="0"/>
              </a:stretch>
            </a:blipFill>
          </p:spPr>
        </p:sp>
      </p:grpSp>
      <p:sp>
        <p:nvSpPr>
          <p:cNvPr name="TextBox 35" id="35"/>
          <p:cNvSpPr txBox="true"/>
          <p:nvPr/>
        </p:nvSpPr>
        <p:spPr>
          <a:xfrm rot="0">
            <a:off x="11315700" y="6832473"/>
            <a:ext cx="6103620" cy="485775"/>
          </a:xfrm>
          <a:prstGeom prst="rect">
            <a:avLst/>
          </a:prstGeom>
        </p:spPr>
        <p:txBody>
          <a:bodyPr anchor="t" rtlCol="false" tIns="0" lIns="0" bIns="0" rIns="0">
            <a:spAutoFit/>
          </a:bodyPr>
          <a:lstStyle/>
          <a:p>
            <a:pPr algn="l">
              <a:lnSpc>
                <a:spcPts val="3359"/>
              </a:lnSpc>
            </a:pPr>
            <a:r>
              <a:rPr lang="en-US" sz="2799" b="1">
                <a:solidFill>
                  <a:srgbClr val="0B4F5C"/>
                </a:solidFill>
                <a:latin typeface="Calibri"/>
                <a:ea typeface="Calibri"/>
                <a:cs typeface="Calibri"/>
                <a:sym typeface="Calibri"/>
              </a:rPr>
              <a:t>FHIR R4 + DPDP map</a:t>
            </a:r>
          </a:p>
        </p:txBody>
      </p:sp>
      <p:sp>
        <p:nvSpPr>
          <p:cNvPr name="TextBox 36" id="36"/>
          <p:cNvSpPr txBox="true"/>
          <p:nvPr/>
        </p:nvSpPr>
        <p:spPr>
          <a:xfrm rot="0">
            <a:off x="11315700" y="7400163"/>
            <a:ext cx="6103620" cy="409575"/>
          </a:xfrm>
          <a:prstGeom prst="rect">
            <a:avLst/>
          </a:prstGeom>
        </p:spPr>
        <p:txBody>
          <a:bodyPr anchor="t" rtlCol="false" tIns="0" lIns="0" bIns="0" rIns="0">
            <a:spAutoFit/>
          </a:bodyPr>
          <a:lstStyle/>
          <a:p>
            <a:pPr algn="l">
              <a:lnSpc>
                <a:spcPts val="2909"/>
              </a:lnSpc>
            </a:pPr>
            <a:r>
              <a:rPr lang="en-US" sz="2424">
                <a:solidFill>
                  <a:srgbClr val="1B2B34"/>
                </a:solidFill>
                <a:latin typeface="Calibri"/>
                <a:ea typeface="Calibri"/>
                <a:cs typeface="Calibri"/>
                <a:sym typeface="Calibri"/>
              </a:rPr>
              <a:t>Standard export; 8 DPDP Act provisions mapped</a:t>
            </a:r>
          </a:p>
        </p:txBody>
      </p:sp>
      <p:sp>
        <p:nvSpPr>
          <p:cNvPr name="TextBox 37" id="37"/>
          <p:cNvSpPr txBox="true"/>
          <p:nvPr/>
        </p:nvSpPr>
        <p:spPr>
          <a:xfrm rot="0">
            <a:off x="822960" y="8945880"/>
            <a:ext cx="16596360" cy="323850"/>
          </a:xfrm>
          <a:prstGeom prst="rect">
            <a:avLst/>
          </a:prstGeom>
        </p:spPr>
        <p:txBody>
          <a:bodyPr anchor="t" rtlCol="false" tIns="0" lIns="0" bIns="0" rIns="0">
            <a:spAutoFit/>
          </a:bodyPr>
          <a:lstStyle/>
          <a:p>
            <a:pPr algn="l">
              <a:lnSpc>
                <a:spcPts val="2279"/>
              </a:lnSpc>
            </a:pPr>
            <a:r>
              <a:rPr lang="en-US" sz="1899" i="1">
                <a:solidFill>
                  <a:srgbClr val="5B6C75"/>
                </a:solidFill>
                <a:latin typeface="Calibri"/>
                <a:ea typeface="Calibri"/>
                <a:cs typeface="Calibri"/>
                <a:sym typeface="Calibri"/>
              </a:rPr>
              <a:t>Synthetic data only; no real patient data is used anywhere. Tested in tests/test_trust.py.</a:t>
            </a:r>
          </a:p>
        </p:txBody>
      </p:sp>
      <p:sp>
        <p:nvSpPr>
          <p:cNvPr name="TextBox 38" id="38"/>
          <p:cNvSpPr txBox="true"/>
          <p:nvPr/>
        </p:nvSpPr>
        <p:spPr>
          <a:xfrm rot="0">
            <a:off x="16962120" y="9540240"/>
            <a:ext cx="640080" cy="342900"/>
          </a:xfrm>
          <a:prstGeom prst="rect">
            <a:avLst/>
          </a:prstGeom>
        </p:spPr>
        <p:txBody>
          <a:bodyPr anchor="t" rtlCol="false" tIns="0" lIns="0" bIns="0" rIns="0">
            <a:spAutoFit/>
          </a:bodyPr>
          <a:lstStyle/>
          <a:p>
            <a:pPr algn="r">
              <a:lnSpc>
                <a:spcPts val="2459"/>
              </a:lnSpc>
            </a:pPr>
            <a:r>
              <a:rPr lang="en-US" sz="2049">
                <a:solidFill>
                  <a:srgbClr val="5B6C75"/>
                </a:solidFill>
                <a:latin typeface="Calibri"/>
                <a:ea typeface="Calibri"/>
                <a:cs typeface="Calibri"/>
                <a:sym typeface="Calibri"/>
              </a:rPr>
              <a:t>23</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8571" y="-745456"/>
            <a:ext cx="16596360" cy="3593431"/>
            <a:chOff x="0" y="0"/>
            <a:chExt cx="22128480" cy="4791241"/>
          </a:xfrm>
        </p:grpSpPr>
        <p:sp>
          <p:nvSpPr>
            <p:cNvPr name="Freeform 3" id="3"/>
            <p:cNvSpPr/>
            <p:nvPr/>
          </p:nvSpPr>
          <p:spPr>
            <a:xfrm flipH="false" flipV="false" rot="0">
              <a:off x="0" y="0"/>
              <a:ext cx="22128480" cy="4791241"/>
            </a:xfrm>
            <a:custGeom>
              <a:avLst/>
              <a:gdLst/>
              <a:ahLst/>
              <a:cxnLst/>
              <a:rect r="r" b="b" t="t" l="l"/>
              <a:pathLst>
                <a:path h="4791241" w="22128480">
                  <a:moveTo>
                    <a:pt x="0" y="0"/>
                  </a:moveTo>
                  <a:lnTo>
                    <a:pt x="22128480" y="0"/>
                  </a:lnTo>
                  <a:lnTo>
                    <a:pt x="22128480" y="4791241"/>
                  </a:lnTo>
                  <a:lnTo>
                    <a:pt x="0" y="4791241"/>
                  </a:lnTo>
                  <a:close/>
                </a:path>
              </a:pathLst>
            </a:custGeom>
            <a:blipFill>
              <a:blip r:embed="rId3">
                <a:alphaModFix amt="0"/>
              </a:blip>
              <a:stretch>
                <a:fillRect l="0" t="-73770" r="0" b="-6214"/>
              </a:stretch>
            </a:blipFill>
          </p:spPr>
        </p:sp>
        <p:sp>
          <p:nvSpPr>
            <p:cNvPr name="TextBox 4" id="4"/>
            <p:cNvSpPr txBox="true"/>
            <p:nvPr/>
          </p:nvSpPr>
          <p:spPr>
            <a:xfrm>
              <a:off x="0" y="-9525"/>
              <a:ext cx="22128480" cy="4800766"/>
            </a:xfrm>
            <a:prstGeom prst="rect">
              <a:avLst/>
            </a:prstGeom>
          </p:spPr>
          <p:txBody>
            <a:bodyPr anchor="ctr" rtlCol="false" tIns="0" lIns="0" bIns="0" rIns="0"/>
            <a:lstStyle/>
            <a:p>
              <a:pPr algn="l">
                <a:lnSpc>
                  <a:spcPts val="5879"/>
                </a:lnSpc>
              </a:pPr>
              <a:r>
                <a:rPr lang="en-US" sz="4899" b="1">
                  <a:solidFill>
                    <a:srgbClr val="0B4F5C"/>
                  </a:solidFill>
                  <a:latin typeface="Cambria"/>
                  <a:ea typeface="Cambria"/>
                  <a:cs typeface="Cambria"/>
                  <a:sym typeface="Cambria"/>
                </a:rPr>
                <a:t>Time Machine: Riya's heatwave on real 2024 weather</a:t>
              </a:r>
            </a:p>
          </p:txBody>
        </p:sp>
      </p:grpSp>
      <p:grpSp>
        <p:nvGrpSpPr>
          <p:cNvPr name="Group 5" id="5"/>
          <p:cNvGrpSpPr/>
          <p:nvPr/>
        </p:nvGrpSpPr>
        <p:grpSpPr>
          <a:xfrm rot="0">
            <a:off x="758571" y="1924431"/>
            <a:ext cx="9592818" cy="6492526"/>
            <a:chOff x="0" y="0"/>
            <a:chExt cx="12790424" cy="8656701"/>
          </a:xfrm>
        </p:grpSpPr>
        <p:sp>
          <p:nvSpPr>
            <p:cNvPr name="Freeform 6" id="6"/>
            <p:cNvSpPr/>
            <p:nvPr/>
          </p:nvSpPr>
          <p:spPr>
            <a:xfrm flipH="false" flipV="false" rot="0">
              <a:off x="0" y="0"/>
              <a:ext cx="12790424" cy="8656701"/>
            </a:xfrm>
            <a:custGeom>
              <a:avLst/>
              <a:gdLst/>
              <a:ahLst/>
              <a:cxnLst/>
              <a:rect r="r" b="b" t="t" l="l"/>
              <a:pathLst>
                <a:path h="8656701" w="12790424">
                  <a:moveTo>
                    <a:pt x="0" y="0"/>
                  </a:moveTo>
                  <a:lnTo>
                    <a:pt x="12790424" y="0"/>
                  </a:lnTo>
                  <a:lnTo>
                    <a:pt x="12790424" y="8656701"/>
                  </a:lnTo>
                  <a:lnTo>
                    <a:pt x="0" y="8656701"/>
                  </a:lnTo>
                  <a:close/>
                </a:path>
              </a:pathLst>
            </a:custGeom>
            <a:solidFill>
              <a:srgbClr val="FFFFFF"/>
            </a:solidFill>
            <a:ln w="19050" cap="sq">
              <a:solidFill>
                <a:srgbClr val="C9D6D8"/>
              </a:solidFill>
              <a:prstDash val="solid"/>
              <a:miter/>
            </a:ln>
          </p:spPr>
        </p:sp>
      </p:grpSp>
      <p:grpSp>
        <p:nvGrpSpPr>
          <p:cNvPr name="Group 7" id="7"/>
          <p:cNvGrpSpPr/>
          <p:nvPr/>
        </p:nvGrpSpPr>
        <p:grpSpPr>
          <a:xfrm rot="0">
            <a:off x="822960" y="1988820"/>
            <a:ext cx="9464040" cy="6363748"/>
            <a:chOff x="0" y="0"/>
            <a:chExt cx="12618720" cy="8484997"/>
          </a:xfrm>
        </p:grpSpPr>
        <p:sp>
          <p:nvSpPr>
            <p:cNvPr name="Freeform 8" id="8" descr="Time Machine screenshot"/>
            <p:cNvSpPr/>
            <p:nvPr/>
          </p:nvSpPr>
          <p:spPr>
            <a:xfrm flipH="false" flipV="false" rot="0">
              <a:off x="0" y="0"/>
              <a:ext cx="12618720" cy="8484997"/>
            </a:xfrm>
            <a:custGeom>
              <a:avLst/>
              <a:gdLst/>
              <a:ahLst/>
              <a:cxnLst/>
              <a:rect r="r" b="b" t="t" l="l"/>
              <a:pathLst>
                <a:path h="8484997" w="12618720">
                  <a:moveTo>
                    <a:pt x="0" y="0"/>
                  </a:moveTo>
                  <a:lnTo>
                    <a:pt x="12618720" y="0"/>
                  </a:lnTo>
                  <a:lnTo>
                    <a:pt x="12618720" y="8484997"/>
                  </a:lnTo>
                  <a:lnTo>
                    <a:pt x="0" y="8484997"/>
                  </a:lnTo>
                  <a:lnTo>
                    <a:pt x="0" y="0"/>
                  </a:lnTo>
                  <a:close/>
                </a:path>
              </a:pathLst>
            </a:custGeom>
            <a:blipFill>
              <a:blip r:embed="rId4"/>
              <a:stretch>
                <a:fillRect l="0" t="0" r="0" b="0"/>
              </a:stretch>
            </a:blipFill>
          </p:spPr>
        </p:sp>
      </p:grpSp>
      <p:sp>
        <p:nvSpPr>
          <p:cNvPr name="TextBox 9" id="9"/>
          <p:cNvSpPr txBox="true"/>
          <p:nvPr/>
        </p:nvSpPr>
        <p:spPr>
          <a:xfrm rot="0">
            <a:off x="10767060" y="2047875"/>
            <a:ext cx="6652260" cy="800100"/>
          </a:xfrm>
          <a:prstGeom prst="rect">
            <a:avLst/>
          </a:prstGeom>
        </p:spPr>
        <p:txBody>
          <a:bodyPr anchor="t" rtlCol="false" tIns="0" lIns="0" bIns="0" rIns="0">
            <a:spAutoFit/>
          </a:bodyPr>
          <a:lstStyle/>
          <a:p>
            <a:pPr algn="l">
              <a:lnSpc>
                <a:spcPts val="6239"/>
              </a:lnSpc>
            </a:pPr>
            <a:r>
              <a:rPr lang="en-US" sz="5199" b="1">
                <a:solidFill>
                  <a:srgbClr val="D9472B"/>
                </a:solidFill>
                <a:latin typeface="Cambria"/>
                <a:ea typeface="Cambria"/>
                <a:cs typeface="Cambria"/>
                <a:sym typeface="Cambria"/>
              </a:rPr>
              <a:t>23 h</a:t>
            </a:r>
          </a:p>
        </p:txBody>
      </p:sp>
      <p:sp>
        <p:nvSpPr>
          <p:cNvPr name="TextBox 10" id="10"/>
          <p:cNvSpPr txBox="true"/>
          <p:nvPr/>
        </p:nvSpPr>
        <p:spPr>
          <a:xfrm rot="0">
            <a:off x="10767060" y="2942463"/>
            <a:ext cx="6652260" cy="790575"/>
          </a:xfrm>
          <a:prstGeom prst="rect">
            <a:avLst/>
          </a:prstGeom>
        </p:spPr>
        <p:txBody>
          <a:bodyPr anchor="t" rtlCol="false" tIns="0" lIns="0" bIns="0" rIns="0">
            <a:spAutoFit/>
          </a:bodyPr>
          <a:lstStyle/>
          <a:p>
            <a:pPr algn="l">
              <a:lnSpc>
                <a:spcPts val="2999"/>
              </a:lnSpc>
            </a:pPr>
            <a:r>
              <a:rPr lang="en-US" sz="2499">
                <a:solidFill>
                  <a:srgbClr val="1B2B34"/>
                </a:solidFill>
                <a:latin typeface="Calibri"/>
                <a:ea typeface="Calibri"/>
                <a:cs typeface="Calibri"/>
                <a:sym typeface="Calibri"/>
              </a:rPr>
              <a:t>warning before the simulated injury (red on 28 May, injury on 29 May)</a:t>
            </a:r>
          </a:p>
        </p:txBody>
      </p:sp>
      <p:sp>
        <p:nvSpPr>
          <p:cNvPr name="TextBox 11" id="11"/>
          <p:cNvSpPr txBox="true"/>
          <p:nvPr/>
        </p:nvSpPr>
        <p:spPr>
          <a:xfrm rot="0">
            <a:off x="10767060" y="4242435"/>
            <a:ext cx="6652260" cy="800100"/>
          </a:xfrm>
          <a:prstGeom prst="rect">
            <a:avLst/>
          </a:prstGeom>
        </p:spPr>
        <p:txBody>
          <a:bodyPr anchor="t" rtlCol="false" tIns="0" lIns="0" bIns="0" rIns="0">
            <a:spAutoFit/>
          </a:bodyPr>
          <a:lstStyle/>
          <a:p>
            <a:pPr algn="l">
              <a:lnSpc>
                <a:spcPts val="6239"/>
              </a:lnSpc>
            </a:pPr>
            <a:r>
              <a:rPr lang="en-US" sz="5199" b="1">
                <a:solidFill>
                  <a:srgbClr val="0B4F5C"/>
                </a:solidFill>
                <a:latin typeface="Cambria"/>
                <a:ea typeface="Cambria"/>
                <a:cs typeface="Cambria"/>
                <a:sym typeface="Cambria"/>
              </a:rPr>
              <a:t>12 of 12</a:t>
            </a:r>
          </a:p>
        </p:txBody>
      </p:sp>
      <p:sp>
        <p:nvSpPr>
          <p:cNvPr name="TextBox 12" id="12"/>
          <p:cNvSpPr txBox="true"/>
          <p:nvPr/>
        </p:nvSpPr>
        <p:spPr>
          <a:xfrm rot="0">
            <a:off x="10767060" y="5137023"/>
            <a:ext cx="6652260" cy="790575"/>
          </a:xfrm>
          <a:prstGeom prst="rect">
            <a:avLst/>
          </a:prstGeom>
        </p:spPr>
        <p:txBody>
          <a:bodyPr anchor="t" rtlCol="false" tIns="0" lIns="0" bIns="0" rIns="0">
            <a:spAutoFit/>
          </a:bodyPr>
          <a:lstStyle/>
          <a:p>
            <a:pPr algn="l">
              <a:lnSpc>
                <a:spcPts val="2999"/>
              </a:lnSpc>
            </a:pPr>
            <a:r>
              <a:rPr lang="en-US" sz="2499">
                <a:solidFill>
                  <a:srgbClr val="1B2B34"/>
                </a:solidFill>
                <a:latin typeface="Calibri"/>
                <a:ea typeface="Calibri"/>
                <a:cs typeface="Calibri"/>
                <a:sym typeface="Calibri"/>
              </a:rPr>
              <a:t>days on which a simple heat-index rule fired for Riya, too often to act on</a:t>
            </a:r>
          </a:p>
        </p:txBody>
      </p:sp>
      <p:sp>
        <p:nvSpPr>
          <p:cNvPr name="TextBox 13" id="13"/>
          <p:cNvSpPr txBox="true"/>
          <p:nvPr/>
        </p:nvSpPr>
        <p:spPr>
          <a:xfrm rot="0">
            <a:off x="10767060" y="6436995"/>
            <a:ext cx="6652260" cy="800100"/>
          </a:xfrm>
          <a:prstGeom prst="rect">
            <a:avLst/>
          </a:prstGeom>
        </p:spPr>
        <p:txBody>
          <a:bodyPr anchor="t" rtlCol="false" tIns="0" lIns="0" bIns="0" rIns="0">
            <a:spAutoFit/>
          </a:bodyPr>
          <a:lstStyle/>
          <a:p>
            <a:pPr algn="l">
              <a:lnSpc>
                <a:spcPts val="6239"/>
              </a:lnSpc>
            </a:pPr>
            <a:r>
              <a:rPr lang="en-US" sz="5199" b="1">
                <a:solidFill>
                  <a:srgbClr val="0B4F5C"/>
                </a:solidFill>
                <a:latin typeface="Cambria"/>
                <a:ea typeface="Cambria"/>
                <a:cs typeface="Cambria"/>
                <a:sym typeface="Cambria"/>
              </a:rPr>
              <a:t>Green</a:t>
            </a:r>
          </a:p>
        </p:txBody>
      </p:sp>
      <p:sp>
        <p:nvSpPr>
          <p:cNvPr name="TextBox 14" id="14"/>
          <p:cNvSpPr txBox="true"/>
          <p:nvPr/>
        </p:nvSpPr>
        <p:spPr>
          <a:xfrm rot="0">
            <a:off x="10767060" y="7331583"/>
            <a:ext cx="6652260" cy="790575"/>
          </a:xfrm>
          <a:prstGeom prst="rect">
            <a:avLst/>
          </a:prstGeom>
        </p:spPr>
        <p:txBody>
          <a:bodyPr anchor="t" rtlCol="false" tIns="0" lIns="0" bIns="0" rIns="0">
            <a:spAutoFit/>
          </a:bodyPr>
          <a:lstStyle/>
          <a:p>
            <a:pPr algn="l">
              <a:lnSpc>
                <a:spcPts val="2999"/>
              </a:lnSpc>
            </a:pPr>
            <a:r>
              <a:rPr lang="en-US" sz="2499">
                <a:solidFill>
                  <a:srgbClr val="1B2B34"/>
                </a:solidFill>
                <a:latin typeface="Calibri"/>
                <a:ea typeface="Calibri"/>
                <a:cs typeface="Calibri"/>
                <a:sym typeface="Calibri"/>
              </a:rPr>
              <a:t>all 12 days for her neighbour in the same heat, who drinks ORS and takes no painkiller</a:t>
            </a:r>
          </a:p>
        </p:txBody>
      </p:sp>
      <p:sp>
        <p:nvSpPr>
          <p:cNvPr name="TextBox 15" id="15"/>
          <p:cNvSpPr txBox="true"/>
          <p:nvPr/>
        </p:nvSpPr>
        <p:spPr>
          <a:xfrm rot="0">
            <a:off x="822960" y="8945880"/>
            <a:ext cx="16596360" cy="609600"/>
          </a:xfrm>
          <a:prstGeom prst="rect">
            <a:avLst/>
          </a:prstGeom>
        </p:spPr>
        <p:txBody>
          <a:bodyPr anchor="t" rtlCol="false" tIns="0" lIns="0" bIns="0" rIns="0">
            <a:spAutoFit/>
          </a:bodyPr>
          <a:lstStyle/>
          <a:p>
            <a:pPr algn="l">
              <a:lnSpc>
                <a:spcPts val="2279"/>
              </a:lnSpc>
            </a:pPr>
            <a:r>
              <a:rPr lang="en-US" sz="1899" i="1">
                <a:solidFill>
                  <a:srgbClr val="5B6C75"/>
                </a:solidFill>
                <a:latin typeface="Calibri"/>
                <a:ea typeface="Calibri"/>
                <a:cs typeface="Calibri"/>
                <a:sym typeface="Calibri"/>
              </a:rPr>
              <a:t>The twin starts from population priors and sees only noisy morning weight and heart rate; it never sees the simulated truth. Riya's fever began the day before the injury, so about a day is the earliest possible warning.</a:t>
            </a:r>
          </a:p>
        </p:txBody>
      </p:sp>
      <p:sp>
        <p:nvSpPr>
          <p:cNvPr name="TextBox 16" id="16"/>
          <p:cNvSpPr txBox="true"/>
          <p:nvPr/>
        </p:nvSpPr>
        <p:spPr>
          <a:xfrm rot="0">
            <a:off x="16962120" y="9540240"/>
            <a:ext cx="640080" cy="342900"/>
          </a:xfrm>
          <a:prstGeom prst="rect">
            <a:avLst/>
          </a:prstGeom>
        </p:spPr>
        <p:txBody>
          <a:bodyPr anchor="t" rtlCol="false" tIns="0" lIns="0" bIns="0" rIns="0">
            <a:spAutoFit/>
          </a:bodyPr>
          <a:lstStyle/>
          <a:p>
            <a:pPr algn="r">
              <a:lnSpc>
                <a:spcPts val="2459"/>
              </a:lnSpc>
            </a:pPr>
            <a:r>
              <a:rPr lang="en-US" sz="2049">
                <a:solidFill>
                  <a:srgbClr val="5B6C75"/>
                </a:solidFill>
                <a:latin typeface="Calibri"/>
                <a:ea typeface="Calibri"/>
                <a:cs typeface="Calibri"/>
                <a:sym typeface="Calibri"/>
              </a:rPr>
              <a:t>24</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0B4F5C"/>
        </a:solidFill>
      </p:bgPr>
    </p:bg>
    <p:spTree>
      <p:nvGrpSpPr>
        <p:cNvPr id="1" name=""/>
        <p:cNvGrpSpPr/>
        <p:nvPr/>
      </p:nvGrpSpPr>
      <p:grpSpPr>
        <a:xfrm>
          <a:off x="0" y="0"/>
          <a:ext cx="0" cy="0"/>
          <a:chOff x="0" y="0"/>
          <a:chExt cx="0" cy="0"/>
        </a:xfrm>
      </p:grpSpPr>
      <p:grpSp>
        <p:nvGrpSpPr>
          <p:cNvPr name="Group 2" id="2"/>
          <p:cNvGrpSpPr/>
          <p:nvPr/>
        </p:nvGrpSpPr>
        <p:grpSpPr>
          <a:xfrm rot="0">
            <a:off x="822960" y="673676"/>
            <a:ext cx="14401800" cy="4694629"/>
            <a:chOff x="0" y="0"/>
            <a:chExt cx="19202400" cy="6259505"/>
          </a:xfrm>
        </p:grpSpPr>
        <p:sp>
          <p:nvSpPr>
            <p:cNvPr name="Freeform 3" id="3"/>
            <p:cNvSpPr/>
            <p:nvPr/>
          </p:nvSpPr>
          <p:spPr>
            <a:xfrm flipH="false" flipV="false" rot="0">
              <a:off x="0" y="0"/>
              <a:ext cx="19202400" cy="6259505"/>
            </a:xfrm>
            <a:custGeom>
              <a:avLst/>
              <a:gdLst/>
              <a:ahLst/>
              <a:cxnLst/>
              <a:rect r="r" b="b" t="t" l="l"/>
              <a:pathLst>
                <a:path h="6259505" w="19202400">
                  <a:moveTo>
                    <a:pt x="0" y="0"/>
                  </a:moveTo>
                  <a:lnTo>
                    <a:pt x="19202400" y="0"/>
                  </a:lnTo>
                  <a:lnTo>
                    <a:pt x="19202400" y="6259505"/>
                  </a:lnTo>
                  <a:lnTo>
                    <a:pt x="0" y="6259505"/>
                  </a:lnTo>
                  <a:close/>
                </a:path>
              </a:pathLst>
            </a:custGeom>
            <a:blipFill>
              <a:blip r:embed="rId3">
                <a:alphaModFix amt="0"/>
              </a:blip>
              <a:stretch>
                <a:fillRect l="0" t="-40783" r="0" b="21234"/>
              </a:stretch>
            </a:blipFill>
          </p:spPr>
        </p:sp>
        <p:sp>
          <p:nvSpPr>
            <p:cNvPr name="TextBox 4" id="4"/>
            <p:cNvSpPr txBox="true"/>
            <p:nvPr/>
          </p:nvSpPr>
          <p:spPr>
            <a:xfrm>
              <a:off x="0" y="-9525"/>
              <a:ext cx="19202400" cy="6269030"/>
            </a:xfrm>
            <a:prstGeom prst="rect">
              <a:avLst/>
            </a:prstGeom>
          </p:spPr>
          <p:txBody>
            <a:bodyPr anchor="b" rtlCol="false" tIns="0" lIns="0" bIns="0" rIns="0"/>
            <a:lstStyle/>
            <a:p>
              <a:pPr algn="l">
                <a:lnSpc>
                  <a:spcPts val="7679"/>
                </a:lnSpc>
              </a:pPr>
              <a:r>
                <a:rPr lang="en-US" sz="6399" b="1">
                  <a:solidFill>
                    <a:srgbClr val="FFFFFF"/>
                  </a:solidFill>
                  <a:latin typeface="Cambria"/>
                  <a:ea typeface="Cambria"/>
                  <a:cs typeface="Cambria"/>
                  <a:sym typeface="Cambria"/>
                </a:rPr>
                <a:t>Evidence and results</a:t>
              </a:r>
            </a:p>
          </p:txBody>
        </p:sp>
      </p:grpSp>
      <p:sp>
        <p:nvSpPr>
          <p:cNvPr name="TextBox 5" id="5"/>
          <p:cNvSpPr txBox="true"/>
          <p:nvPr/>
        </p:nvSpPr>
        <p:spPr>
          <a:xfrm rot="0">
            <a:off x="822960" y="5488305"/>
            <a:ext cx="14401800" cy="581025"/>
          </a:xfrm>
          <a:prstGeom prst="rect">
            <a:avLst/>
          </a:prstGeom>
        </p:spPr>
        <p:txBody>
          <a:bodyPr anchor="t" rtlCol="false" tIns="0" lIns="0" bIns="0" rIns="0">
            <a:spAutoFit/>
          </a:bodyPr>
          <a:lstStyle/>
          <a:p>
            <a:pPr algn="l">
              <a:lnSpc>
                <a:spcPts val="4079"/>
              </a:lnSpc>
            </a:pPr>
            <a:r>
              <a:rPr lang="en-US" sz="3399">
                <a:solidFill>
                  <a:srgbClr val="BFE3E5"/>
                </a:solidFill>
                <a:latin typeface="Calibri"/>
                <a:ea typeface="Calibri"/>
                <a:cs typeface="Calibri"/>
                <a:sym typeface="Calibri"/>
              </a:rPr>
              <a:t>How we built honest data, and what the numbers really say</a:t>
            </a:r>
          </a:p>
        </p:txBody>
      </p:sp>
      <p:sp>
        <p:nvSpPr>
          <p:cNvPr name="TextBox 6" id="6"/>
          <p:cNvSpPr txBox="true"/>
          <p:nvPr/>
        </p:nvSpPr>
        <p:spPr>
          <a:xfrm rot="0">
            <a:off x="16962120" y="9540240"/>
            <a:ext cx="640080" cy="342900"/>
          </a:xfrm>
          <a:prstGeom prst="rect">
            <a:avLst/>
          </a:prstGeom>
        </p:spPr>
        <p:txBody>
          <a:bodyPr anchor="t" rtlCol="false" tIns="0" lIns="0" bIns="0" rIns="0">
            <a:spAutoFit/>
          </a:bodyPr>
          <a:lstStyle/>
          <a:p>
            <a:pPr algn="r">
              <a:lnSpc>
                <a:spcPts val="2459"/>
              </a:lnSpc>
            </a:pPr>
            <a:r>
              <a:rPr lang="en-US" sz="2049">
                <a:solidFill>
                  <a:srgbClr val="BFE3E5"/>
                </a:solidFill>
                <a:latin typeface="Calibri"/>
                <a:ea typeface="Calibri"/>
                <a:cs typeface="Calibri"/>
                <a:sym typeface="Calibri"/>
              </a:rPr>
              <a:t>25</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5652"/>
            <a:ext cx="16596360" cy="3593431"/>
            <a:chOff x="0" y="0"/>
            <a:chExt cx="22128480" cy="4791241"/>
          </a:xfrm>
        </p:grpSpPr>
        <p:sp>
          <p:nvSpPr>
            <p:cNvPr name="Freeform 3" id="3"/>
            <p:cNvSpPr/>
            <p:nvPr/>
          </p:nvSpPr>
          <p:spPr>
            <a:xfrm flipH="false" flipV="false" rot="0">
              <a:off x="0" y="0"/>
              <a:ext cx="22128480" cy="4791241"/>
            </a:xfrm>
            <a:custGeom>
              <a:avLst/>
              <a:gdLst/>
              <a:ahLst/>
              <a:cxnLst/>
              <a:rect r="r" b="b" t="t" l="l"/>
              <a:pathLst>
                <a:path h="4791241" w="22128480">
                  <a:moveTo>
                    <a:pt x="0" y="0"/>
                  </a:moveTo>
                  <a:lnTo>
                    <a:pt x="22128480" y="0"/>
                  </a:lnTo>
                  <a:lnTo>
                    <a:pt x="22128480" y="4791241"/>
                  </a:lnTo>
                  <a:lnTo>
                    <a:pt x="0" y="4791241"/>
                  </a:lnTo>
                  <a:close/>
                </a:path>
              </a:pathLst>
            </a:custGeom>
            <a:blipFill>
              <a:blip r:embed="rId3">
                <a:alphaModFix amt="0"/>
              </a:blip>
              <a:stretch>
                <a:fillRect l="0" t="-73770" r="0" b="-6214"/>
              </a:stretch>
            </a:blipFill>
          </p:spPr>
        </p:sp>
        <p:sp>
          <p:nvSpPr>
            <p:cNvPr name="TextBox 4" id="4"/>
            <p:cNvSpPr txBox="true"/>
            <p:nvPr/>
          </p:nvSpPr>
          <p:spPr>
            <a:xfrm>
              <a:off x="0" y="-9525"/>
              <a:ext cx="22128480" cy="4800766"/>
            </a:xfrm>
            <a:prstGeom prst="rect">
              <a:avLst/>
            </a:prstGeom>
          </p:spPr>
          <p:txBody>
            <a:bodyPr anchor="ctr" rtlCol="false" tIns="0" lIns="0" bIns="0" rIns="0"/>
            <a:lstStyle/>
            <a:p>
              <a:pPr algn="l">
                <a:lnSpc>
                  <a:spcPts val="5879"/>
                </a:lnSpc>
              </a:pPr>
              <a:r>
                <a:rPr lang="en-US" sz="4899" b="1">
                  <a:solidFill>
                    <a:srgbClr val="0B4F5C"/>
                  </a:solidFill>
                  <a:latin typeface="Cambria"/>
                  <a:ea typeface="Cambria"/>
                  <a:cs typeface="Cambria"/>
                  <a:sym typeface="Cambria"/>
                </a:rPr>
                <a:t>Data: synthetic by necessity, checked against reality</a:t>
              </a:r>
            </a:p>
          </p:txBody>
        </p:sp>
      </p:grpSp>
      <p:grpSp>
        <p:nvGrpSpPr>
          <p:cNvPr name="Group 5" id="5"/>
          <p:cNvGrpSpPr/>
          <p:nvPr/>
        </p:nvGrpSpPr>
        <p:grpSpPr>
          <a:xfrm rot="0">
            <a:off x="813435" y="1979295"/>
            <a:ext cx="8111490" cy="6808470"/>
            <a:chOff x="0" y="0"/>
            <a:chExt cx="10815320" cy="9077960"/>
          </a:xfrm>
        </p:grpSpPr>
        <p:sp>
          <p:nvSpPr>
            <p:cNvPr name="Freeform 6" id="6"/>
            <p:cNvSpPr/>
            <p:nvPr/>
          </p:nvSpPr>
          <p:spPr>
            <a:xfrm flipH="false" flipV="false" rot="0">
              <a:off x="0" y="0"/>
              <a:ext cx="10815320" cy="9077960"/>
            </a:xfrm>
            <a:custGeom>
              <a:avLst/>
              <a:gdLst/>
              <a:ahLst/>
              <a:cxnLst/>
              <a:rect r="r" b="b" t="t" l="l"/>
              <a:pathLst>
                <a:path h="9077960" w="10815320">
                  <a:moveTo>
                    <a:pt x="0" y="146685"/>
                  </a:moveTo>
                  <a:cubicBezTo>
                    <a:pt x="0" y="65659"/>
                    <a:pt x="65659" y="0"/>
                    <a:pt x="146685" y="0"/>
                  </a:cubicBezTo>
                  <a:lnTo>
                    <a:pt x="10668635" y="0"/>
                  </a:lnTo>
                  <a:cubicBezTo>
                    <a:pt x="10749661" y="0"/>
                    <a:pt x="10815320" y="65659"/>
                    <a:pt x="10815320" y="146685"/>
                  </a:cubicBezTo>
                  <a:lnTo>
                    <a:pt x="10815320" y="8931275"/>
                  </a:lnTo>
                  <a:cubicBezTo>
                    <a:pt x="10815320" y="9012301"/>
                    <a:pt x="10749661" y="9077960"/>
                    <a:pt x="10668635" y="9077960"/>
                  </a:cubicBezTo>
                  <a:lnTo>
                    <a:pt x="146685" y="9077960"/>
                  </a:lnTo>
                  <a:cubicBezTo>
                    <a:pt x="65659" y="9077960"/>
                    <a:pt x="0" y="9012301"/>
                    <a:pt x="0" y="8931275"/>
                  </a:cubicBezTo>
                  <a:close/>
                </a:path>
              </a:pathLst>
            </a:custGeom>
            <a:solidFill>
              <a:srgbClr val="EEF5F5"/>
            </a:solidFill>
            <a:ln w="19050" cap="sq">
              <a:solidFill>
                <a:srgbClr val="EEF5F5"/>
              </a:solidFill>
              <a:prstDash val="solid"/>
              <a:miter/>
            </a:ln>
          </p:spPr>
        </p:sp>
      </p:grpSp>
      <p:sp>
        <p:nvSpPr>
          <p:cNvPr name="TextBox 7" id="7"/>
          <p:cNvSpPr txBox="true"/>
          <p:nvPr/>
        </p:nvSpPr>
        <p:spPr>
          <a:xfrm rot="0">
            <a:off x="1234440" y="2196465"/>
            <a:ext cx="7269480" cy="533400"/>
          </a:xfrm>
          <a:prstGeom prst="rect">
            <a:avLst/>
          </a:prstGeom>
        </p:spPr>
        <p:txBody>
          <a:bodyPr anchor="t" rtlCol="false" tIns="0" lIns="0" bIns="0" rIns="0">
            <a:spAutoFit/>
          </a:bodyPr>
          <a:lstStyle/>
          <a:p>
            <a:pPr algn="l">
              <a:lnSpc>
                <a:spcPts val="3719"/>
              </a:lnSpc>
            </a:pPr>
            <a:r>
              <a:rPr lang="en-US" sz="3099" b="1">
                <a:solidFill>
                  <a:srgbClr val="0B4F5C"/>
                </a:solidFill>
                <a:latin typeface="Calibri"/>
                <a:ea typeface="Calibri"/>
                <a:cs typeface="Calibri"/>
                <a:sym typeface="Calibri"/>
              </a:rPr>
              <a:t>Why synthetic</a:t>
            </a:r>
          </a:p>
        </p:txBody>
      </p:sp>
      <p:sp>
        <p:nvSpPr>
          <p:cNvPr name="TextBox 8" id="8"/>
          <p:cNvSpPr txBox="true"/>
          <p:nvPr/>
        </p:nvSpPr>
        <p:spPr>
          <a:xfrm rot="0">
            <a:off x="1234440" y="2901315"/>
            <a:ext cx="7269480" cy="1533525"/>
          </a:xfrm>
          <a:prstGeom prst="rect">
            <a:avLst/>
          </a:prstGeom>
        </p:spPr>
        <p:txBody>
          <a:bodyPr anchor="t" rtlCol="false" tIns="0" lIns="0" bIns="0" rIns="0">
            <a:spAutoFit/>
          </a:bodyPr>
          <a:lstStyle/>
          <a:p>
            <a:pPr algn="l">
              <a:lnSpc>
                <a:spcPts val="2999"/>
              </a:lnSpc>
            </a:pPr>
            <a:r>
              <a:rPr lang="en-US" sz="2499">
                <a:solidFill>
                  <a:srgbClr val="1B2B34"/>
                </a:solidFill>
                <a:latin typeface="Calibri"/>
                <a:ea typeface="Calibri"/>
                <a:cs typeface="Calibri"/>
                <a:sym typeface="Calibri"/>
              </a:rPr>
              <a:t>No open dataset links heat, wearables and medicines to daily creatinine for outpatients. The challenge rules allow synthetic data, so we built an enriched high-risk heat-season cohort.</a:t>
            </a:r>
          </a:p>
        </p:txBody>
      </p:sp>
      <p:grpSp>
        <p:nvGrpSpPr>
          <p:cNvPr name="Group 9" id="9"/>
          <p:cNvGrpSpPr/>
          <p:nvPr/>
        </p:nvGrpSpPr>
        <p:grpSpPr>
          <a:xfrm rot="0">
            <a:off x="1539994" y="3669030"/>
            <a:ext cx="2400300" cy="2714377"/>
            <a:chOff x="0" y="0"/>
            <a:chExt cx="3200400" cy="3619170"/>
          </a:xfrm>
        </p:grpSpPr>
        <p:sp>
          <p:nvSpPr>
            <p:cNvPr name="Freeform 10" id="10"/>
            <p:cNvSpPr/>
            <p:nvPr/>
          </p:nvSpPr>
          <p:spPr>
            <a:xfrm flipH="false" flipV="false" rot="0">
              <a:off x="0" y="0"/>
              <a:ext cx="3200400" cy="3619170"/>
            </a:xfrm>
            <a:custGeom>
              <a:avLst/>
              <a:gdLst/>
              <a:ahLst/>
              <a:cxnLst/>
              <a:rect r="r" b="b" t="t" l="l"/>
              <a:pathLst>
                <a:path h="3619170" w="3200400">
                  <a:moveTo>
                    <a:pt x="0" y="0"/>
                  </a:moveTo>
                  <a:lnTo>
                    <a:pt x="3200400" y="0"/>
                  </a:lnTo>
                  <a:lnTo>
                    <a:pt x="3200400" y="3619170"/>
                  </a:lnTo>
                  <a:lnTo>
                    <a:pt x="0" y="3619170"/>
                  </a:lnTo>
                  <a:close/>
                </a:path>
              </a:pathLst>
            </a:custGeom>
            <a:blipFill>
              <a:blip r:embed="rId3">
                <a:alphaModFix amt="0"/>
              </a:blip>
              <a:stretch>
                <a:fillRect l="0" t="-2071" r="0" b="67610"/>
              </a:stretch>
            </a:blipFill>
          </p:spPr>
        </p:sp>
        <p:sp>
          <p:nvSpPr>
            <p:cNvPr name="TextBox 11" id="11"/>
            <p:cNvSpPr txBox="true"/>
            <p:nvPr/>
          </p:nvSpPr>
          <p:spPr>
            <a:xfrm>
              <a:off x="0" y="0"/>
              <a:ext cx="3200400" cy="3619170"/>
            </a:xfrm>
            <a:prstGeom prst="rect">
              <a:avLst/>
            </a:prstGeom>
          </p:spPr>
          <p:txBody>
            <a:bodyPr anchor="ctr" rtlCol="false" tIns="0" lIns="0" bIns="0" rIns="0"/>
            <a:lstStyle/>
            <a:p>
              <a:pPr algn="l">
                <a:lnSpc>
                  <a:spcPts val="4439"/>
                </a:lnSpc>
              </a:pPr>
              <a:r>
                <a:rPr lang="en-US" sz="3699" b="1">
                  <a:solidFill>
                    <a:srgbClr val="0E7C86"/>
                  </a:solidFill>
                  <a:latin typeface="Cambria"/>
                  <a:ea typeface="Cambria"/>
                  <a:cs typeface="Cambria"/>
                  <a:sym typeface="Cambria"/>
                </a:rPr>
                <a:t>10,000</a:t>
              </a:r>
            </a:p>
          </p:txBody>
        </p:sp>
      </p:grpSp>
      <p:grpSp>
        <p:nvGrpSpPr>
          <p:cNvPr name="Group 12" id="12"/>
          <p:cNvGrpSpPr/>
          <p:nvPr/>
        </p:nvGrpSpPr>
        <p:grpSpPr>
          <a:xfrm rot="0">
            <a:off x="3703320" y="4663440"/>
            <a:ext cx="4937760" cy="822960"/>
            <a:chOff x="0" y="0"/>
            <a:chExt cx="6583680" cy="1097280"/>
          </a:xfrm>
        </p:grpSpPr>
        <p:sp>
          <p:nvSpPr>
            <p:cNvPr name="Freeform 13" id="13"/>
            <p:cNvSpPr/>
            <p:nvPr/>
          </p:nvSpPr>
          <p:spPr>
            <a:xfrm flipH="false" flipV="false" rot="0">
              <a:off x="0" y="0"/>
              <a:ext cx="6583680" cy="1097280"/>
            </a:xfrm>
            <a:custGeom>
              <a:avLst/>
              <a:gdLst/>
              <a:ahLst/>
              <a:cxnLst/>
              <a:rect r="r" b="b" t="t" l="l"/>
              <a:pathLst>
                <a:path h="1097280" w="6583680">
                  <a:moveTo>
                    <a:pt x="0" y="0"/>
                  </a:moveTo>
                  <a:lnTo>
                    <a:pt x="6583680" y="0"/>
                  </a:lnTo>
                  <a:lnTo>
                    <a:pt x="6583680" y="1097280"/>
                  </a:lnTo>
                  <a:lnTo>
                    <a:pt x="0" y="1097280"/>
                  </a:lnTo>
                  <a:close/>
                </a:path>
              </a:pathLst>
            </a:custGeom>
            <a:blipFill>
              <a:blip r:embed="rId3">
                <a:alphaModFix amt="0"/>
              </a:blip>
              <a:stretch>
                <a:fillRect l="0" t="-66910" r="0" b="-66910"/>
              </a:stretch>
            </a:blipFill>
          </p:spPr>
        </p:sp>
        <p:sp>
          <p:nvSpPr>
            <p:cNvPr name="TextBox 14" id="14"/>
            <p:cNvSpPr txBox="true"/>
            <p:nvPr/>
          </p:nvSpPr>
          <p:spPr>
            <a:xfrm>
              <a:off x="0" y="-47625"/>
              <a:ext cx="6583680" cy="1144905"/>
            </a:xfrm>
            <a:prstGeom prst="rect">
              <a:avLst/>
            </a:prstGeom>
          </p:spPr>
          <p:txBody>
            <a:bodyPr anchor="ctr" rtlCol="false" tIns="0" lIns="0" bIns="0" rIns="0"/>
            <a:lstStyle/>
            <a:p>
              <a:pPr algn="l">
                <a:lnSpc>
                  <a:spcPts val="2909"/>
                </a:lnSpc>
              </a:pPr>
              <a:r>
                <a:rPr lang="en-US" sz="2424">
                  <a:solidFill>
                    <a:srgbClr val="1B2B34"/>
                  </a:solidFill>
                  <a:latin typeface="Calibri"/>
                  <a:ea typeface="Calibri"/>
                  <a:cs typeface="Calibri"/>
                  <a:sym typeface="Calibri"/>
                </a:rPr>
                <a:t>training patients (2024 season)</a:t>
              </a:r>
            </a:p>
          </p:txBody>
        </p:sp>
      </p:grpSp>
      <p:grpSp>
        <p:nvGrpSpPr>
          <p:cNvPr name="Group 15" id="15"/>
          <p:cNvGrpSpPr/>
          <p:nvPr/>
        </p:nvGrpSpPr>
        <p:grpSpPr>
          <a:xfrm rot="0">
            <a:off x="1234440" y="4718999"/>
            <a:ext cx="2400300" cy="2714377"/>
            <a:chOff x="0" y="0"/>
            <a:chExt cx="3200400" cy="3619170"/>
          </a:xfrm>
        </p:grpSpPr>
        <p:sp>
          <p:nvSpPr>
            <p:cNvPr name="Freeform 16" id="16"/>
            <p:cNvSpPr/>
            <p:nvPr/>
          </p:nvSpPr>
          <p:spPr>
            <a:xfrm flipH="false" flipV="false" rot="0">
              <a:off x="0" y="0"/>
              <a:ext cx="3200400" cy="3619170"/>
            </a:xfrm>
            <a:custGeom>
              <a:avLst/>
              <a:gdLst/>
              <a:ahLst/>
              <a:cxnLst/>
              <a:rect r="r" b="b" t="t" l="l"/>
              <a:pathLst>
                <a:path h="3619170" w="3200400">
                  <a:moveTo>
                    <a:pt x="0" y="0"/>
                  </a:moveTo>
                  <a:lnTo>
                    <a:pt x="3200400" y="0"/>
                  </a:lnTo>
                  <a:lnTo>
                    <a:pt x="3200400" y="3619170"/>
                  </a:lnTo>
                  <a:lnTo>
                    <a:pt x="0" y="3619170"/>
                  </a:lnTo>
                  <a:close/>
                </a:path>
              </a:pathLst>
            </a:custGeom>
            <a:blipFill>
              <a:blip r:embed="rId3">
                <a:alphaModFix amt="0"/>
              </a:blip>
              <a:stretch>
                <a:fillRect l="0" t="-2071" r="0" b="67610"/>
              </a:stretch>
            </a:blipFill>
          </p:spPr>
        </p:sp>
        <p:sp>
          <p:nvSpPr>
            <p:cNvPr name="TextBox 17" id="17"/>
            <p:cNvSpPr txBox="true"/>
            <p:nvPr/>
          </p:nvSpPr>
          <p:spPr>
            <a:xfrm>
              <a:off x="0" y="0"/>
              <a:ext cx="3200400" cy="3619170"/>
            </a:xfrm>
            <a:prstGeom prst="rect">
              <a:avLst/>
            </a:prstGeom>
          </p:spPr>
          <p:txBody>
            <a:bodyPr anchor="ctr" rtlCol="false" tIns="0" lIns="0" bIns="0" rIns="0"/>
            <a:lstStyle/>
            <a:p>
              <a:pPr algn="l">
                <a:lnSpc>
                  <a:spcPts val="4439"/>
                </a:lnSpc>
              </a:pPr>
              <a:r>
                <a:rPr lang="en-US" sz="3699" b="1">
                  <a:solidFill>
                    <a:srgbClr val="0E7C86"/>
                  </a:solidFill>
                  <a:latin typeface="Cambria"/>
                  <a:ea typeface="Cambria"/>
                  <a:cs typeface="Cambria"/>
                  <a:sym typeface="Cambria"/>
                </a:rPr>
                <a:t>2 × 5,000</a:t>
              </a:r>
            </a:p>
          </p:txBody>
        </p:sp>
      </p:grpSp>
      <p:grpSp>
        <p:nvGrpSpPr>
          <p:cNvPr name="Group 18" id="18"/>
          <p:cNvGrpSpPr/>
          <p:nvPr/>
        </p:nvGrpSpPr>
        <p:grpSpPr>
          <a:xfrm rot="0">
            <a:off x="3703320" y="5664708"/>
            <a:ext cx="4937760" cy="822960"/>
            <a:chOff x="0" y="0"/>
            <a:chExt cx="6583680" cy="1097280"/>
          </a:xfrm>
        </p:grpSpPr>
        <p:sp>
          <p:nvSpPr>
            <p:cNvPr name="Freeform 19" id="19"/>
            <p:cNvSpPr/>
            <p:nvPr/>
          </p:nvSpPr>
          <p:spPr>
            <a:xfrm flipH="false" flipV="false" rot="0">
              <a:off x="0" y="0"/>
              <a:ext cx="6583680" cy="1097280"/>
            </a:xfrm>
            <a:custGeom>
              <a:avLst/>
              <a:gdLst/>
              <a:ahLst/>
              <a:cxnLst/>
              <a:rect r="r" b="b" t="t" l="l"/>
              <a:pathLst>
                <a:path h="1097280" w="6583680">
                  <a:moveTo>
                    <a:pt x="0" y="0"/>
                  </a:moveTo>
                  <a:lnTo>
                    <a:pt x="6583680" y="0"/>
                  </a:lnTo>
                  <a:lnTo>
                    <a:pt x="6583680" y="1097280"/>
                  </a:lnTo>
                  <a:lnTo>
                    <a:pt x="0" y="1097280"/>
                  </a:lnTo>
                  <a:close/>
                </a:path>
              </a:pathLst>
            </a:custGeom>
            <a:blipFill>
              <a:blip r:embed="rId3">
                <a:alphaModFix amt="0"/>
              </a:blip>
              <a:stretch>
                <a:fillRect l="0" t="-66910" r="0" b="-66910"/>
              </a:stretch>
            </a:blipFill>
          </p:spPr>
        </p:sp>
        <p:sp>
          <p:nvSpPr>
            <p:cNvPr name="TextBox 20" id="20"/>
            <p:cNvSpPr txBox="true"/>
            <p:nvPr/>
          </p:nvSpPr>
          <p:spPr>
            <a:xfrm>
              <a:off x="0" y="-47625"/>
              <a:ext cx="6583680" cy="1144905"/>
            </a:xfrm>
            <a:prstGeom prst="rect">
              <a:avLst/>
            </a:prstGeom>
          </p:spPr>
          <p:txBody>
            <a:bodyPr anchor="ctr" rtlCol="false" tIns="0" lIns="0" bIns="0" rIns="0"/>
            <a:lstStyle/>
            <a:p>
              <a:pPr algn="l">
                <a:lnSpc>
                  <a:spcPts val="2909"/>
                </a:lnSpc>
              </a:pPr>
              <a:r>
                <a:rPr lang="en-US" sz="2424">
                  <a:solidFill>
                    <a:srgbClr val="1B2B34"/>
                  </a:solidFill>
                  <a:latin typeface="Calibri"/>
                  <a:ea typeface="Calibri"/>
                  <a:cs typeface="Calibri"/>
                  <a:sym typeface="Calibri"/>
                </a:rPr>
                <a:t>held-out test patients (2025, 2026)</a:t>
              </a:r>
            </a:p>
          </p:txBody>
        </p:sp>
      </p:grpSp>
      <p:grpSp>
        <p:nvGrpSpPr>
          <p:cNvPr name="Group 21" id="21"/>
          <p:cNvGrpSpPr/>
          <p:nvPr/>
        </p:nvGrpSpPr>
        <p:grpSpPr>
          <a:xfrm rot="0">
            <a:off x="1879499" y="5664708"/>
            <a:ext cx="2400300" cy="2714377"/>
            <a:chOff x="0" y="0"/>
            <a:chExt cx="3200400" cy="3619170"/>
          </a:xfrm>
        </p:grpSpPr>
        <p:sp>
          <p:nvSpPr>
            <p:cNvPr name="Freeform 22" id="22"/>
            <p:cNvSpPr/>
            <p:nvPr/>
          </p:nvSpPr>
          <p:spPr>
            <a:xfrm flipH="false" flipV="false" rot="0">
              <a:off x="0" y="0"/>
              <a:ext cx="3200400" cy="3619170"/>
            </a:xfrm>
            <a:custGeom>
              <a:avLst/>
              <a:gdLst/>
              <a:ahLst/>
              <a:cxnLst/>
              <a:rect r="r" b="b" t="t" l="l"/>
              <a:pathLst>
                <a:path h="3619170" w="3200400">
                  <a:moveTo>
                    <a:pt x="0" y="0"/>
                  </a:moveTo>
                  <a:lnTo>
                    <a:pt x="3200400" y="0"/>
                  </a:lnTo>
                  <a:lnTo>
                    <a:pt x="3200400" y="3619170"/>
                  </a:lnTo>
                  <a:lnTo>
                    <a:pt x="0" y="3619170"/>
                  </a:lnTo>
                  <a:close/>
                </a:path>
              </a:pathLst>
            </a:custGeom>
            <a:blipFill>
              <a:blip r:embed="rId3">
                <a:alphaModFix amt="0"/>
              </a:blip>
              <a:stretch>
                <a:fillRect l="0" t="-2071" r="0" b="67610"/>
              </a:stretch>
            </a:blipFill>
          </p:spPr>
        </p:sp>
        <p:sp>
          <p:nvSpPr>
            <p:cNvPr name="TextBox 23" id="23"/>
            <p:cNvSpPr txBox="true"/>
            <p:nvPr/>
          </p:nvSpPr>
          <p:spPr>
            <a:xfrm>
              <a:off x="0" y="0"/>
              <a:ext cx="3200400" cy="3619170"/>
            </a:xfrm>
            <a:prstGeom prst="rect">
              <a:avLst/>
            </a:prstGeom>
          </p:spPr>
          <p:txBody>
            <a:bodyPr anchor="ctr" rtlCol="false" tIns="0" lIns="0" bIns="0" rIns="0"/>
            <a:lstStyle/>
            <a:p>
              <a:pPr algn="l">
                <a:lnSpc>
                  <a:spcPts val="4439"/>
                </a:lnSpc>
              </a:pPr>
              <a:r>
                <a:rPr lang="en-US" sz="3699" b="1">
                  <a:solidFill>
                    <a:srgbClr val="0E7C86"/>
                  </a:solidFill>
                  <a:latin typeface="Cambria"/>
                  <a:ea typeface="Cambria"/>
                  <a:cs typeface="Cambria"/>
                  <a:sym typeface="Cambria"/>
                </a:rPr>
                <a:t>7</a:t>
              </a:r>
            </a:p>
          </p:txBody>
        </p:sp>
      </p:grpSp>
      <p:grpSp>
        <p:nvGrpSpPr>
          <p:cNvPr name="Group 24" id="24"/>
          <p:cNvGrpSpPr/>
          <p:nvPr/>
        </p:nvGrpSpPr>
        <p:grpSpPr>
          <a:xfrm rot="0">
            <a:off x="3703320" y="6665976"/>
            <a:ext cx="4937760" cy="822960"/>
            <a:chOff x="0" y="0"/>
            <a:chExt cx="6583680" cy="1097280"/>
          </a:xfrm>
        </p:grpSpPr>
        <p:sp>
          <p:nvSpPr>
            <p:cNvPr name="Freeform 25" id="25"/>
            <p:cNvSpPr/>
            <p:nvPr/>
          </p:nvSpPr>
          <p:spPr>
            <a:xfrm flipH="false" flipV="false" rot="0">
              <a:off x="0" y="0"/>
              <a:ext cx="6583680" cy="1097280"/>
            </a:xfrm>
            <a:custGeom>
              <a:avLst/>
              <a:gdLst/>
              <a:ahLst/>
              <a:cxnLst/>
              <a:rect r="r" b="b" t="t" l="l"/>
              <a:pathLst>
                <a:path h="1097280" w="6583680">
                  <a:moveTo>
                    <a:pt x="0" y="0"/>
                  </a:moveTo>
                  <a:lnTo>
                    <a:pt x="6583680" y="0"/>
                  </a:lnTo>
                  <a:lnTo>
                    <a:pt x="6583680" y="1097280"/>
                  </a:lnTo>
                  <a:lnTo>
                    <a:pt x="0" y="1097280"/>
                  </a:lnTo>
                  <a:close/>
                </a:path>
              </a:pathLst>
            </a:custGeom>
            <a:blipFill>
              <a:blip r:embed="rId3">
                <a:alphaModFix amt="0"/>
              </a:blip>
              <a:stretch>
                <a:fillRect l="0" t="-66910" r="0" b="-66910"/>
              </a:stretch>
            </a:blipFill>
          </p:spPr>
        </p:sp>
        <p:sp>
          <p:nvSpPr>
            <p:cNvPr name="TextBox 26" id="26"/>
            <p:cNvSpPr txBox="true"/>
            <p:nvPr/>
          </p:nvSpPr>
          <p:spPr>
            <a:xfrm>
              <a:off x="0" y="-47625"/>
              <a:ext cx="6583680" cy="1144905"/>
            </a:xfrm>
            <a:prstGeom prst="rect">
              <a:avLst/>
            </a:prstGeom>
          </p:spPr>
          <p:txBody>
            <a:bodyPr anchor="ctr" rtlCol="false" tIns="0" lIns="0" bIns="0" rIns="0"/>
            <a:lstStyle/>
            <a:p>
              <a:pPr algn="l">
                <a:lnSpc>
                  <a:spcPts val="2909"/>
                </a:lnSpc>
              </a:pPr>
              <a:r>
                <a:rPr lang="en-US" sz="2424">
                  <a:solidFill>
                    <a:srgbClr val="1B2B34"/>
                  </a:solidFill>
                  <a:latin typeface="Calibri"/>
                  <a:ea typeface="Calibri"/>
                  <a:cs typeface="Calibri"/>
                  <a:sym typeface="Calibri"/>
                </a:rPr>
                <a:t>Indian cities on real hourly weather</a:t>
              </a:r>
            </a:p>
          </p:txBody>
        </p:sp>
      </p:grpSp>
      <p:grpSp>
        <p:nvGrpSpPr>
          <p:cNvPr name="Group 27" id="27"/>
          <p:cNvGrpSpPr/>
          <p:nvPr/>
        </p:nvGrpSpPr>
        <p:grpSpPr>
          <a:xfrm rot="0">
            <a:off x="1539994" y="6543923"/>
            <a:ext cx="2400300" cy="2714377"/>
            <a:chOff x="0" y="0"/>
            <a:chExt cx="3200400" cy="3619170"/>
          </a:xfrm>
        </p:grpSpPr>
        <p:sp>
          <p:nvSpPr>
            <p:cNvPr name="Freeform 28" id="28"/>
            <p:cNvSpPr/>
            <p:nvPr/>
          </p:nvSpPr>
          <p:spPr>
            <a:xfrm flipH="false" flipV="false" rot="0">
              <a:off x="0" y="0"/>
              <a:ext cx="3200400" cy="3619170"/>
            </a:xfrm>
            <a:custGeom>
              <a:avLst/>
              <a:gdLst/>
              <a:ahLst/>
              <a:cxnLst/>
              <a:rect r="r" b="b" t="t" l="l"/>
              <a:pathLst>
                <a:path h="3619170" w="3200400">
                  <a:moveTo>
                    <a:pt x="0" y="0"/>
                  </a:moveTo>
                  <a:lnTo>
                    <a:pt x="3200400" y="0"/>
                  </a:lnTo>
                  <a:lnTo>
                    <a:pt x="3200400" y="3619170"/>
                  </a:lnTo>
                  <a:lnTo>
                    <a:pt x="0" y="3619170"/>
                  </a:lnTo>
                  <a:close/>
                </a:path>
              </a:pathLst>
            </a:custGeom>
            <a:blipFill>
              <a:blip r:embed="rId3">
                <a:alphaModFix amt="0"/>
              </a:blip>
              <a:stretch>
                <a:fillRect l="0" t="-2071" r="0" b="67610"/>
              </a:stretch>
            </a:blipFill>
          </p:spPr>
        </p:sp>
        <p:sp>
          <p:nvSpPr>
            <p:cNvPr name="TextBox 29" id="29"/>
            <p:cNvSpPr txBox="true"/>
            <p:nvPr/>
          </p:nvSpPr>
          <p:spPr>
            <a:xfrm>
              <a:off x="0" y="0"/>
              <a:ext cx="3200400" cy="3619170"/>
            </a:xfrm>
            <a:prstGeom prst="rect">
              <a:avLst/>
            </a:prstGeom>
          </p:spPr>
          <p:txBody>
            <a:bodyPr anchor="ctr" rtlCol="false" tIns="0" lIns="0" bIns="0" rIns="0"/>
            <a:lstStyle/>
            <a:p>
              <a:pPr algn="l">
                <a:lnSpc>
                  <a:spcPts val="4439"/>
                </a:lnSpc>
              </a:pPr>
              <a:r>
                <a:rPr lang="en-US" sz="3699" b="1">
                  <a:solidFill>
                    <a:srgbClr val="0E7C86"/>
                  </a:solidFill>
                  <a:latin typeface="Cambria"/>
                  <a:ea typeface="Cambria"/>
                  <a:cs typeface="Cambria"/>
                  <a:sym typeface="Cambria"/>
                </a:rPr>
                <a:t>164</a:t>
              </a:r>
            </a:p>
          </p:txBody>
        </p:sp>
      </p:grpSp>
      <p:grpSp>
        <p:nvGrpSpPr>
          <p:cNvPr name="Group 30" id="30"/>
          <p:cNvGrpSpPr/>
          <p:nvPr/>
        </p:nvGrpSpPr>
        <p:grpSpPr>
          <a:xfrm rot="0">
            <a:off x="3703320" y="7667244"/>
            <a:ext cx="4937760" cy="843450"/>
            <a:chOff x="0" y="0"/>
            <a:chExt cx="6583680" cy="1124600"/>
          </a:xfrm>
        </p:grpSpPr>
        <p:sp>
          <p:nvSpPr>
            <p:cNvPr name="Freeform 31" id="31"/>
            <p:cNvSpPr/>
            <p:nvPr/>
          </p:nvSpPr>
          <p:spPr>
            <a:xfrm flipH="false" flipV="false" rot="0">
              <a:off x="0" y="0"/>
              <a:ext cx="6583680" cy="1124600"/>
            </a:xfrm>
            <a:custGeom>
              <a:avLst/>
              <a:gdLst/>
              <a:ahLst/>
              <a:cxnLst/>
              <a:rect r="r" b="b" t="t" l="l"/>
              <a:pathLst>
                <a:path h="1124600" w="6583680">
                  <a:moveTo>
                    <a:pt x="0" y="0"/>
                  </a:moveTo>
                  <a:lnTo>
                    <a:pt x="6583680" y="0"/>
                  </a:lnTo>
                  <a:lnTo>
                    <a:pt x="6583680" y="1124600"/>
                  </a:lnTo>
                  <a:lnTo>
                    <a:pt x="0" y="1124600"/>
                  </a:lnTo>
                  <a:close/>
                </a:path>
              </a:pathLst>
            </a:custGeom>
            <a:blipFill>
              <a:blip r:embed="rId3">
                <a:alphaModFix amt="0"/>
              </a:blip>
              <a:stretch>
                <a:fillRect l="0" t="-65284" r="0" b="-62855"/>
              </a:stretch>
            </a:blipFill>
          </p:spPr>
        </p:sp>
        <p:sp>
          <p:nvSpPr>
            <p:cNvPr name="TextBox 32" id="32"/>
            <p:cNvSpPr txBox="true"/>
            <p:nvPr/>
          </p:nvSpPr>
          <p:spPr>
            <a:xfrm>
              <a:off x="0" y="-47625"/>
              <a:ext cx="6583680" cy="1172225"/>
            </a:xfrm>
            <a:prstGeom prst="rect">
              <a:avLst/>
            </a:prstGeom>
          </p:spPr>
          <p:txBody>
            <a:bodyPr anchor="ctr" rtlCol="false" tIns="0" lIns="0" bIns="0" rIns="0"/>
            <a:lstStyle/>
            <a:p>
              <a:pPr algn="l">
                <a:lnSpc>
                  <a:spcPts val="2909"/>
                </a:lnSpc>
              </a:pPr>
              <a:r>
                <a:rPr lang="en-US" sz="2424">
                  <a:solidFill>
                    <a:srgbClr val="1B2B34"/>
                  </a:solidFill>
                  <a:latin typeface="Calibri"/>
                  <a:ea typeface="Calibri"/>
                  <a:cs typeface="Calibri"/>
                  <a:sym typeface="Calibri"/>
                </a:rPr>
                <a:t>parameters, each with a source (27 cited, 6 to verify, 131 assumptions)</a:t>
              </a:r>
            </a:p>
          </p:txBody>
        </p:sp>
      </p:grpSp>
      <p:grpSp>
        <p:nvGrpSpPr>
          <p:cNvPr name="Group 33" id="33"/>
          <p:cNvGrpSpPr/>
          <p:nvPr/>
        </p:nvGrpSpPr>
        <p:grpSpPr>
          <a:xfrm rot="0">
            <a:off x="9317355" y="1979295"/>
            <a:ext cx="8111490" cy="3379470"/>
            <a:chOff x="0" y="0"/>
            <a:chExt cx="10815320" cy="4505960"/>
          </a:xfrm>
        </p:grpSpPr>
        <p:sp>
          <p:nvSpPr>
            <p:cNvPr name="Freeform 34" id="34"/>
            <p:cNvSpPr/>
            <p:nvPr/>
          </p:nvSpPr>
          <p:spPr>
            <a:xfrm flipH="false" flipV="false" rot="0">
              <a:off x="0" y="0"/>
              <a:ext cx="10815320" cy="4505960"/>
            </a:xfrm>
            <a:custGeom>
              <a:avLst/>
              <a:gdLst/>
              <a:ahLst/>
              <a:cxnLst/>
              <a:rect r="r" b="b" t="t" l="l"/>
              <a:pathLst>
                <a:path h="4505960" w="10815320">
                  <a:moveTo>
                    <a:pt x="0" y="147066"/>
                  </a:moveTo>
                  <a:cubicBezTo>
                    <a:pt x="0" y="65913"/>
                    <a:pt x="65913" y="0"/>
                    <a:pt x="147066" y="0"/>
                  </a:cubicBezTo>
                  <a:lnTo>
                    <a:pt x="10668254" y="0"/>
                  </a:lnTo>
                  <a:cubicBezTo>
                    <a:pt x="10749535" y="0"/>
                    <a:pt x="10815320" y="65913"/>
                    <a:pt x="10815320" y="147066"/>
                  </a:cubicBezTo>
                  <a:lnTo>
                    <a:pt x="10815320" y="4358894"/>
                  </a:lnTo>
                  <a:cubicBezTo>
                    <a:pt x="10815320" y="4440174"/>
                    <a:pt x="10749407" y="4505960"/>
                    <a:pt x="10668254" y="4505960"/>
                  </a:cubicBezTo>
                  <a:lnTo>
                    <a:pt x="147066" y="4505960"/>
                  </a:lnTo>
                  <a:cubicBezTo>
                    <a:pt x="65913" y="4505960"/>
                    <a:pt x="0" y="4440047"/>
                    <a:pt x="0" y="4358894"/>
                  </a:cubicBezTo>
                  <a:close/>
                </a:path>
              </a:pathLst>
            </a:custGeom>
            <a:solidFill>
              <a:srgbClr val="0B4F5C"/>
            </a:solidFill>
            <a:ln w="19050" cap="sq">
              <a:solidFill>
                <a:srgbClr val="0B4F5C"/>
              </a:solidFill>
              <a:prstDash val="solid"/>
              <a:miter/>
            </a:ln>
          </p:spPr>
        </p:sp>
      </p:grpSp>
      <p:sp>
        <p:nvSpPr>
          <p:cNvPr name="TextBox 35" id="35"/>
          <p:cNvSpPr txBox="true"/>
          <p:nvPr/>
        </p:nvSpPr>
        <p:spPr>
          <a:xfrm rot="0">
            <a:off x="9738360" y="2127885"/>
            <a:ext cx="7338060" cy="2343150"/>
          </a:xfrm>
          <a:prstGeom prst="rect">
            <a:avLst/>
          </a:prstGeom>
        </p:spPr>
        <p:txBody>
          <a:bodyPr anchor="t" rtlCol="false" tIns="0" lIns="0" bIns="0" rIns="0">
            <a:spAutoFit/>
          </a:bodyPr>
          <a:lstStyle/>
          <a:p>
            <a:pPr algn="l">
              <a:lnSpc>
                <a:spcPts val="3719"/>
              </a:lnSpc>
            </a:pPr>
            <a:r>
              <a:rPr lang="en-US" sz="3099" b="1">
                <a:solidFill>
                  <a:srgbClr val="FFFFFF"/>
                </a:solidFill>
                <a:latin typeface="Calibri"/>
                <a:ea typeface="Calibri"/>
                <a:cs typeface="Calibri"/>
                <a:sym typeface="Calibri"/>
              </a:rPr>
              <a:t>No circular grading</a:t>
            </a:r>
          </a:p>
          <a:p>
            <a:pPr algn="l">
              <a:lnSpc>
                <a:spcPts val="2909"/>
              </a:lnSpc>
            </a:pPr>
            <a:r>
              <a:rPr lang="en-US" sz="2424">
                <a:solidFill>
                  <a:srgbClr val="BFE3E5"/>
                </a:solidFill>
                <a:latin typeface="Calibri"/>
                <a:ea typeface="Calibri"/>
                <a:cs typeface="Calibri"/>
                <a:sym typeface="Calibri"/>
              </a:rPr>
              <a:t>The 'truth' simulator is deliberately different from the twin: other kidney equations, hidden causes the twin cannot see (sepsis-like illness, muscle breakdown), wider patient variation. Headline results use this mismatched world.</a:t>
            </a:r>
          </a:p>
        </p:txBody>
      </p:sp>
      <p:sp>
        <p:nvSpPr>
          <p:cNvPr name="TextBox 36" id="36"/>
          <p:cNvSpPr txBox="true"/>
          <p:nvPr/>
        </p:nvSpPr>
        <p:spPr>
          <a:xfrm rot="0">
            <a:off x="9326880" y="5556885"/>
            <a:ext cx="8092440" cy="485775"/>
          </a:xfrm>
          <a:prstGeom prst="rect">
            <a:avLst/>
          </a:prstGeom>
        </p:spPr>
        <p:txBody>
          <a:bodyPr anchor="t" rtlCol="false" tIns="0" lIns="0" bIns="0" rIns="0">
            <a:spAutoFit/>
          </a:bodyPr>
          <a:lstStyle/>
          <a:p>
            <a:pPr algn="l">
              <a:lnSpc>
                <a:spcPts val="3359"/>
              </a:lnSpc>
            </a:pPr>
            <a:r>
              <a:rPr lang="en-US" sz="2799" b="1">
                <a:solidFill>
                  <a:srgbClr val="0B4F5C"/>
                </a:solidFill>
                <a:latin typeface="Calibri"/>
                <a:ea typeface="Calibri"/>
                <a:cs typeface="Calibri"/>
                <a:sym typeface="Calibri"/>
              </a:rPr>
              <a:t>Real open data used for checks</a:t>
            </a:r>
          </a:p>
        </p:txBody>
      </p:sp>
      <p:sp>
        <p:nvSpPr>
          <p:cNvPr name="TextBox 37" id="37"/>
          <p:cNvSpPr txBox="true"/>
          <p:nvPr/>
        </p:nvSpPr>
        <p:spPr>
          <a:xfrm rot="0">
            <a:off x="9326880" y="6193155"/>
            <a:ext cx="8092440" cy="1857375"/>
          </a:xfrm>
          <a:prstGeom prst="rect">
            <a:avLst/>
          </a:prstGeom>
        </p:spPr>
        <p:txBody>
          <a:bodyPr anchor="t" rtlCol="false" tIns="0" lIns="0" bIns="0" rIns="0">
            <a:spAutoFit/>
          </a:bodyPr>
          <a:lstStyle/>
          <a:p>
            <a:pPr algn="l" marL="438863" indent="-219431" lvl="1">
              <a:lnSpc>
                <a:spcPts val="2909"/>
              </a:lnSpc>
              <a:buFont typeface="Arial"/>
              <a:buChar char="•"/>
            </a:pPr>
            <a:r>
              <a:rPr lang="en-US" sz="2424">
                <a:solidFill>
                  <a:srgbClr val="1B2B34"/>
                </a:solidFill>
                <a:latin typeface="Calibri"/>
                <a:ea typeface="Calibri"/>
                <a:cs typeface="Calibri"/>
                <a:sym typeface="Calibri"/>
              </a:rPr>
              <a:t>MIMIC-IV &amp; eICU demos: real creatinine, KDIGO labelling</a:t>
            </a:r>
          </a:p>
          <a:p>
            <a:pPr algn="l" marL="438863" indent="-219431" lvl="1">
              <a:lnSpc>
                <a:spcPts val="2909"/>
              </a:lnSpc>
              <a:buFont typeface="Arial"/>
              <a:buChar char="•"/>
            </a:pPr>
            <a:r>
              <a:rPr lang="en-US" sz="2424">
                <a:solidFill>
                  <a:srgbClr val="1B2B34"/>
                </a:solidFill>
                <a:latin typeface="Calibri"/>
                <a:ea typeface="Calibri"/>
                <a:cs typeface="Calibri"/>
                <a:sym typeface="Calibri"/>
              </a:rPr>
              <a:t>PMData: real Fitbit noise → heart-rate noise 4.04 bpm</a:t>
            </a:r>
          </a:p>
          <a:p>
            <a:pPr algn="l" marL="438863" indent="-219431" lvl="1">
              <a:lnSpc>
                <a:spcPts val="2909"/>
              </a:lnSpc>
              <a:buFont typeface="Arial"/>
              <a:buChar char="•"/>
            </a:pPr>
            <a:r>
              <a:rPr lang="en-US" sz="2424">
                <a:solidFill>
                  <a:srgbClr val="1B2B34"/>
                </a:solidFill>
                <a:latin typeface="Calibri"/>
                <a:ea typeface="Calibri"/>
                <a:cs typeface="Calibri"/>
                <a:sym typeface="Calibri"/>
              </a:rPr>
              <a:t>UCI CKD and Tawam (UAE, 491 patients): lab realism, slow clock</a:t>
            </a:r>
          </a:p>
          <a:p>
            <a:pPr algn="l" marL="438863" indent="-219431" lvl="1">
              <a:lnSpc>
                <a:spcPts val="2909"/>
              </a:lnSpc>
              <a:buFont typeface="Arial"/>
              <a:buChar char="•"/>
            </a:pPr>
            <a:r>
              <a:rPr lang="en-US" sz="2424">
                <a:solidFill>
                  <a:srgbClr val="1B2B34"/>
                </a:solidFill>
                <a:latin typeface="Calibri"/>
                <a:ea typeface="Calibri"/>
                <a:cs typeface="Calibri"/>
                <a:sym typeface="Calibri"/>
              </a:rPr>
              <a:t>Rejected: BD-KDD (implausible values), OSF data (no licence)</a:t>
            </a:r>
          </a:p>
        </p:txBody>
      </p:sp>
      <p:sp>
        <p:nvSpPr>
          <p:cNvPr name="TextBox 38" id="38"/>
          <p:cNvSpPr txBox="true"/>
          <p:nvPr/>
        </p:nvSpPr>
        <p:spPr>
          <a:xfrm rot="0">
            <a:off x="16962120" y="9540240"/>
            <a:ext cx="640080" cy="342900"/>
          </a:xfrm>
          <a:prstGeom prst="rect">
            <a:avLst/>
          </a:prstGeom>
        </p:spPr>
        <p:txBody>
          <a:bodyPr anchor="t" rtlCol="false" tIns="0" lIns="0" bIns="0" rIns="0">
            <a:spAutoFit/>
          </a:bodyPr>
          <a:lstStyle/>
          <a:p>
            <a:pPr algn="r">
              <a:lnSpc>
                <a:spcPts val="2459"/>
              </a:lnSpc>
            </a:pPr>
            <a:r>
              <a:rPr lang="en-US" sz="2049">
                <a:solidFill>
                  <a:srgbClr val="5B6C75"/>
                </a:solidFill>
                <a:latin typeface="Calibri"/>
                <a:ea typeface="Calibri"/>
                <a:cs typeface="Calibri"/>
                <a:sym typeface="Calibri"/>
              </a:rPr>
              <a:t>26</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644491"/>
            <a:ext cx="16596360" cy="3593431"/>
            <a:chOff x="0" y="0"/>
            <a:chExt cx="22128480" cy="4791241"/>
          </a:xfrm>
        </p:grpSpPr>
        <p:sp>
          <p:nvSpPr>
            <p:cNvPr name="Freeform 3" id="3"/>
            <p:cNvSpPr/>
            <p:nvPr/>
          </p:nvSpPr>
          <p:spPr>
            <a:xfrm flipH="false" flipV="false" rot="0">
              <a:off x="0" y="0"/>
              <a:ext cx="22128480" cy="4791241"/>
            </a:xfrm>
            <a:custGeom>
              <a:avLst/>
              <a:gdLst/>
              <a:ahLst/>
              <a:cxnLst/>
              <a:rect r="r" b="b" t="t" l="l"/>
              <a:pathLst>
                <a:path h="4791241" w="22128480">
                  <a:moveTo>
                    <a:pt x="0" y="0"/>
                  </a:moveTo>
                  <a:lnTo>
                    <a:pt x="22128480" y="0"/>
                  </a:lnTo>
                  <a:lnTo>
                    <a:pt x="22128480" y="4791241"/>
                  </a:lnTo>
                  <a:lnTo>
                    <a:pt x="0" y="4791241"/>
                  </a:lnTo>
                  <a:close/>
                </a:path>
              </a:pathLst>
            </a:custGeom>
            <a:blipFill>
              <a:blip r:embed="rId3">
                <a:alphaModFix amt="0"/>
              </a:blip>
              <a:stretch>
                <a:fillRect l="0" t="-73770" r="0" b="-6214"/>
              </a:stretch>
            </a:blipFill>
          </p:spPr>
        </p:sp>
        <p:sp>
          <p:nvSpPr>
            <p:cNvPr name="TextBox 4" id="4"/>
            <p:cNvSpPr txBox="true"/>
            <p:nvPr/>
          </p:nvSpPr>
          <p:spPr>
            <a:xfrm>
              <a:off x="0" y="-9525"/>
              <a:ext cx="22128480" cy="4800766"/>
            </a:xfrm>
            <a:prstGeom prst="rect">
              <a:avLst/>
            </a:prstGeom>
          </p:spPr>
          <p:txBody>
            <a:bodyPr anchor="ctr" rtlCol="false" tIns="0" lIns="0" bIns="0" rIns="0"/>
            <a:lstStyle/>
            <a:p>
              <a:pPr algn="l">
                <a:lnSpc>
                  <a:spcPts val="5879"/>
                </a:lnSpc>
              </a:pPr>
              <a:r>
                <a:rPr lang="en-US" sz="4899" b="1">
                  <a:solidFill>
                    <a:srgbClr val="0B4F5C"/>
                  </a:solidFill>
                  <a:latin typeface="Cambria"/>
                  <a:ea typeface="Cambria"/>
                  <a:cs typeface="Cambria"/>
                  <a:sym typeface="Cambria"/>
                </a:rPr>
                <a:t>Results: the twin beats the rules clinics use today</a:t>
              </a:r>
            </a:p>
          </p:txBody>
        </p:sp>
      </p:grpSp>
      <p:pic>
        <p:nvPicPr>
          <p:cNvPr name="Picture 5" id="5"/>
          <p:cNvPicPr>
            <a:picLocks noChangeAspect="true"/>
          </p:cNvPicPr>
          <p:nvPr/>
        </p:nvPicPr>
        <p:blipFill>
          <a:blip r:embed="rId4"/>
          <a:stretch>
            <a:fillRect/>
          </a:stretch>
        </p:blipFill>
        <p:spPr>
          <a:xfrm rot="0">
            <a:off x="731520" y="1737360"/>
            <a:ext cx="9875520" cy="6986016"/>
          </a:xfrm>
          <a:prstGeom prst="rect">
            <a:avLst/>
          </a:prstGeom>
        </p:spPr>
      </p:pic>
      <p:grpSp>
        <p:nvGrpSpPr>
          <p:cNvPr name="Group 6" id="6"/>
          <p:cNvGrpSpPr/>
          <p:nvPr/>
        </p:nvGrpSpPr>
        <p:grpSpPr>
          <a:xfrm rot="0">
            <a:off x="10894695" y="1979295"/>
            <a:ext cx="6534150" cy="1939290"/>
            <a:chOff x="0" y="0"/>
            <a:chExt cx="8712200" cy="2585720"/>
          </a:xfrm>
        </p:grpSpPr>
        <p:sp>
          <p:nvSpPr>
            <p:cNvPr name="Freeform 7" id="7"/>
            <p:cNvSpPr/>
            <p:nvPr/>
          </p:nvSpPr>
          <p:spPr>
            <a:xfrm flipH="false" flipV="false" rot="0">
              <a:off x="0" y="0"/>
              <a:ext cx="8712200" cy="2585720"/>
            </a:xfrm>
            <a:custGeom>
              <a:avLst/>
              <a:gdLst/>
              <a:ahLst/>
              <a:cxnLst/>
              <a:rect r="r" b="b" t="t" l="l"/>
              <a:pathLst>
                <a:path h="2585720" w="8712200">
                  <a:moveTo>
                    <a:pt x="0" y="147701"/>
                  </a:moveTo>
                  <a:cubicBezTo>
                    <a:pt x="0" y="66167"/>
                    <a:pt x="66167" y="0"/>
                    <a:pt x="147701" y="0"/>
                  </a:cubicBezTo>
                  <a:lnTo>
                    <a:pt x="8564499" y="0"/>
                  </a:lnTo>
                  <a:cubicBezTo>
                    <a:pt x="8646033" y="0"/>
                    <a:pt x="8712200" y="66167"/>
                    <a:pt x="8712200" y="147701"/>
                  </a:cubicBezTo>
                  <a:lnTo>
                    <a:pt x="8712200" y="2438019"/>
                  </a:lnTo>
                  <a:cubicBezTo>
                    <a:pt x="8712200" y="2519680"/>
                    <a:pt x="8646033" y="2585720"/>
                    <a:pt x="8564499" y="2585720"/>
                  </a:cubicBezTo>
                  <a:lnTo>
                    <a:pt x="147701" y="2585720"/>
                  </a:lnTo>
                  <a:cubicBezTo>
                    <a:pt x="66167" y="2585720"/>
                    <a:pt x="0" y="2519553"/>
                    <a:pt x="0" y="2438019"/>
                  </a:cubicBezTo>
                  <a:close/>
                </a:path>
              </a:pathLst>
            </a:custGeom>
            <a:solidFill>
              <a:srgbClr val="EEF5F5"/>
            </a:solidFill>
            <a:ln w="19050" cap="sq">
              <a:solidFill>
                <a:srgbClr val="EEF5F5"/>
              </a:solidFill>
              <a:prstDash val="solid"/>
              <a:miter/>
            </a:ln>
          </p:spPr>
        </p:sp>
      </p:grpSp>
      <p:grpSp>
        <p:nvGrpSpPr>
          <p:cNvPr name="Group 8" id="8"/>
          <p:cNvGrpSpPr/>
          <p:nvPr/>
        </p:nvGrpSpPr>
        <p:grpSpPr>
          <a:xfrm rot="0">
            <a:off x="11247120" y="1152225"/>
            <a:ext cx="2194560" cy="3593431"/>
            <a:chOff x="0" y="0"/>
            <a:chExt cx="2926080" cy="4791241"/>
          </a:xfrm>
        </p:grpSpPr>
        <p:sp>
          <p:nvSpPr>
            <p:cNvPr name="Freeform 9" id="9"/>
            <p:cNvSpPr/>
            <p:nvPr/>
          </p:nvSpPr>
          <p:spPr>
            <a:xfrm flipH="false" flipV="false" rot="0">
              <a:off x="0" y="0"/>
              <a:ext cx="2926080" cy="4791241"/>
            </a:xfrm>
            <a:custGeom>
              <a:avLst/>
              <a:gdLst/>
              <a:ahLst/>
              <a:cxnLst/>
              <a:rect r="r" b="b" t="t" l="l"/>
              <a:pathLst>
                <a:path h="4791241" w="2926080">
                  <a:moveTo>
                    <a:pt x="0" y="0"/>
                  </a:moveTo>
                  <a:lnTo>
                    <a:pt x="2926080" y="0"/>
                  </a:lnTo>
                  <a:lnTo>
                    <a:pt x="2926080" y="4791241"/>
                  </a:lnTo>
                  <a:lnTo>
                    <a:pt x="0" y="4791241"/>
                  </a:lnTo>
                  <a:close/>
                </a:path>
              </a:pathLst>
            </a:custGeom>
            <a:blipFill>
              <a:blip r:embed="rId3">
                <a:alphaModFix amt="0"/>
              </a:blip>
              <a:stretch>
                <a:fillRect l="-38208" t="0" r="-38208" b="58013"/>
              </a:stretch>
            </a:blipFill>
          </p:spPr>
        </p:sp>
        <p:sp>
          <p:nvSpPr>
            <p:cNvPr name="TextBox 10" id="10"/>
            <p:cNvSpPr txBox="true"/>
            <p:nvPr/>
          </p:nvSpPr>
          <p:spPr>
            <a:xfrm>
              <a:off x="0" y="-9525"/>
              <a:ext cx="2926080" cy="4800766"/>
            </a:xfrm>
            <a:prstGeom prst="rect">
              <a:avLst/>
            </a:prstGeom>
          </p:spPr>
          <p:txBody>
            <a:bodyPr anchor="ctr" rtlCol="false" tIns="0" lIns="0" bIns="0" rIns="0"/>
            <a:lstStyle/>
            <a:p>
              <a:pPr algn="l">
                <a:lnSpc>
                  <a:spcPts val="5879"/>
                </a:lnSpc>
              </a:pPr>
              <a:r>
                <a:rPr lang="en-US" sz="4899" b="1">
                  <a:solidFill>
                    <a:srgbClr val="0E7C86"/>
                  </a:solidFill>
                  <a:latin typeface="Cambria"/>
                  <a:ea typeface="Cambria"/>
                  <a:cs typeface="Cambria"/>
                  <a:sym typeface="Cambria"/>
                </a:rPr>
                <a:t>54%</a:t>
              </a:r>
            </a:p>
          </p:txBody>
        </p:sp>
      </p:grpSp>
      <p:grpSp>
        <p:nvGrpSpPr>
          <p:cNvPr name="Group 11" id="11"/>
          <p:cNvGrpSpPr/>
          <p:nvPr/>
        </p:nvGrpSpPr>
        <p:grpSpPr>
          <a:xfrm rot="0">
            <a:off x="13510260" y="2194560"/>
            <a:ext cx="3703320" cy="1508760"/>
            <a:chOff x="0" y="0"/>
            <a:chExt cx="4937760" cy="2011680"/>
          </a:xfrm>
        </p:grpSpPr>
        <p:sp>
          <p:nvSpPr>
            <p:cNvPr name="Freeform 12" id="12"/>
            <p:cNvSpPr/>
            <p:nvPr/>
          </p:nvSpPr>
          <p:spPr>
            <a:xfrm flipH="false" flipV="false" rot="0">
              <a:off x="0" y="0"/>
              <a:ext cx="4937760" cy="2011680"/>
            </a:xfrm>
            <a:custGeom>
              <a:avLst/>
              <a:gdLst/>
              <a:ahLst/>
              <a:cxnLst/>
              <a:rect r="r" b="b" t="t" l="l"/>
              <a:pathLst>
                <a:path h="2011680" w="4937760">
                  <a:moveTo>
                    <a:pt x="0" y="0"/>
                  </a:moveTo>
                  <a:lnTo>
                    <a:pt x="4937760" y="0"/>
                  </a:lnTo>
                  <a:lnTo>
                    <a:pt x="4937760" y="2011680"/>
                  </a:lnTo>
                  <a:lnTo>
                    <a:pt x="0" y="2011680"/>
                  </a:lnTo>
                  <a:close/>
                </a:path>
              </a:pathLst>
            </a:custGeom>
            <a:blipFill>
              <a:blip r:embed="rId3">
                <a:alphaModFix amt="0"/>
              </a:blip>
              <a:stretch>
                <a:fillRect l="-2271" t="0" r="-2271" b="0"/>
              </a:stretch>
            </a:blipFill>
          </p:spPr>
        </p:sp>
        <p:sp>
          <p:nvSpPr>
            <p:cNvPr name="TextBox 13" id="13"/>
            <p:cNvSpPr txBox="true"/>
            <p:nvPr/>
          </p:nvSpPr>
          <p:spPr>
            <a:xfrm>
              <a:off x="0" y="-47625"/>
              <a:ext cx="4937760" cy="2059305"/>
            </a:xfrm>
            <a:prstGeom prst="rect">
              <a:avLst/>
            </a:prstGeom>
          </p:spPr>
          <p:txBody>
            <a:bodyPr anchor="ctr" rtlCol="false" tIns="0" lIns="0" bIns="0" rIns="0"/>
            <a:lstStyle/>
            <a:p>
              <a:pPr algn="l">
                <a:lnSpc>
                  <a:spcPts val="2909"/>
                </a:lnSpc>
              </a:pPr>
              <a:r>
                <a:rPr lang="en-US" sz="2424">
                  <a:solidFill>
                    <a:srgbClr val="1B2B34"/>
                  </a:solidFill>
                  <a:latin typeface="Calibri"/>
                  <a:ea typeface="Calibri"/>
                  <a:cs typeface="Calibri"/>
                  <a:sym typeface="Calibri"/>
                </a:rPr>
                <a:t>of injuries got an amber or red warning (29% red)</a:t>
              </a:r>
            </a:p>
          </p:txBody>
        </p:sp>
      </p:grpSp>
      <p:grpSp>
        <p:nvGrpSpPr>
          <p:cNvPr name="Group 14" id="14"/>
          <p:cNvGrpSpPr/>
          <p:nvPr/>
        </p:nvGrpSpPr>
        <p:grpSpPr>
          <a:xfrm rot="0">
            <a:off x="10894695" y="4173855"/>
            <a:ext cx="6534150" cy="1939290"/>
            <a:chOff x="0" y="0"/>
            <a:chExt cx="8712200" cy="2585720"/>
          </a:xfrm>
        </p:grpSpPr>
        <p:sp>
          <p:nvSpPr>
            <p:cNvPr name="Freeform 15" id="15"/>
            <p:cNvSpPr/>
            <p:nvPr/>
          </p:nvSpPr>
          <p:spPr>
            <a:xfrm flipH="false" flipV="false" rot="0">
              <a:off x="0" y="0"/>
              <a:ext cx="8712200" cy="2585720"/>
            </a:xfrm>
            <a:custGeom>
              <a:avLst/>
              <a:gdLst/>
              <a:ahLst/>
              <a:cxnLst/>
              <a:rect r="r" b="b" t="t" l="l"/>
              <a:pathLst>
                <a:path h="2585720" w="8712200">
                  <a:moveTo>
                    <a:pt x="0" y="147701"/>
                  </a:moveTo>
                  <a:cubicBezTo>
                    <a:pt x="0" y="66167"/>
                    <a:pt x="66167" y="0"/>
                    <a:pt x="147701" y="0"/>
                  </a:cubicBezTo>
                  <a:lnTo>
                    <a:pt x="8564499" y="0"/>
                  </a:lnTo>
                  <a:cubicBezTo>
                    <a:pt x="8646033" y="0"/>
                    <a:pt x="8712200" y="66167"/>
                    <a:pt x="8712200" y="147701"/>
                  </a:cubicBezTo>
                  <a:lnTo>
                    <a:pt x="8712200" y="2438019"/>
                  </a:lnTo>
                  <a:cubicBezTo>
                    <a:pt x="8712200" y="2519680"/>
                    <a:pt x="8646033" y="2585720"/>
                    <a:pt x="8564499" y="2585720"/>
                  </a:cubicBezTo>
                  <a:lnTo>
                    <a:pt x="147701" y="2585720"/>
                  </a:lnTo>
                  <a:cubicBezTo>
                    <a:pt x="66167" y="2585720"/>
                    <a:pt x="0" y="2519553"/>
                    <a:pt x="0" y="2438019"/>
                  </a:cubicBezTo>
                  <a:close/>
                </a:path>
              </a:pathLst>
            </a:custGeom>
            <a:solidFill>
              <a:srgbClr val="EEF5F5"/>
            </a:solidFill>
            <a:ln w="19050" cap="sq">
              <a:solidFill>
                <a:srgbClr val="EEF5F5"/>
              </a:solidFill>
              <a:prstDash val="solid"/>
              <a:miter/>
            </a:ln>
          </p:spPr>
        </p:sp>
      </p:grpSp>
      <p:grpSp>
        <p:nvGrpSpPr>
          <p:cNvPr name="Group 16" id="16"/>
          <p:cNvGrpSpPr/>
          <p:nvPr/>
        </p:nvGrpSpPr>
        <p:grpSpPr>
          <a:xfrm rot="0">
            <a:off x="11247120" y="3346785"/>
            <a:ext cx="2194560" cy="3593431"/>
            <a:chOff x="0" y="0"/>
            <a:chExt cx="2926080" cy="4791241"/>
          </a:xfrm>
        </p:grpSpPr>
        <p:sp>
          <p:nvSpPr>
            <p:cNvPr name="Freeform 17" id="17"/>
            <p:cNvSpPr/>
            <p:nvPr/>
          </p:nvSpPr>
          <p:spPr>
            <a:xfrm flipH="false" flipV="false" rot="0">
              <a:off x="0" y="0"/>
              <a:ext cx="2926080" cy="4791241"/>
            </a:xfrm>
            <a:custGeom>
              <a:avLst/>
              <a:gdLst/>
              <a:ahLst/>
              <a:cxnLst/>
              <a:rect r="r" b="b" t="t" l="l"/>
              <a:pathLst>
                <a:path h="4791241" w="2926080">
                  <a:moveTo>
                    <a:pt x="0" y="0"/>
                  </a:moveTo>
                  <a:lnTo>
                    <a:pt x="2926080" y="0"/>
                  </a:lnTo>
                  <a:lnTo>
                    <a:pt x="2926080" y="4791241"/>
                  </a:lnTo>
                  <a:lnTo>
                    <a:pt x="0" y="4791241"/>
                  </a:lnTo>
                  <a:close/>
                </a:path>
              </a:pathLst>
            </a:custGeom>
            <a:blipFill>
              <a:blip r:embed="rId3">
                <a:alphaModFix amt="0"/>
              </a:blip>
              <a:stretch>
                <a:fillRect l="-38208" t="0" r="-38208" b="58013"/>
              </a:stretch>
            </a:blipFill>
          </p:spPr>
        </p:sp>
        <p:sp>
          <p:nvSpPr>
            <p:cNvPr name="TextBox 18" id="18"/>
            <p:cNvSpPr txBox="true"/>
            <p:nvPr/>
          </p:nvSpPr>
          <p:spPr>
            <a:xfrm>
              <a:off x="0" y="-9525"/>
              <a:ext cx="2926080" cy="4800766"/>
            </a:xfrm>
            <a:prstGeom prst="rect">
              <a:avLst/>
            </a:prstGeom>
          </p:spPr>
          <p:txBody>
            <a:bodyPr anchor="ctr" rtlCol="false" tIns="0" lIns="0" bIns="0" rIns="0"/>
            <a:lstStyle/>
            <a:p>
              <a:pPr algn="l">
                <a:lnSpc>
                  <a:spcPts val="5879"/>
                </a:lnSpc>
              </a:pPr>
              <a:r>
                <a:rPr lang="en-US" sz="4899" b="1">
                  <a:solidFill>
                    <a:srgbClr val="0E7C86"/>
                  </a:solidFill>
                  <a:latin typeface="Cambria"/>
                  <a:ea typeface="Cambria"/>
                  <a:cs typeface="Cambria"/>
                  <a:sym typeface="Cambria"/>
                </a:rPr>
                <a:t>18.7</a:t>
              </a:r>
            </a:p>
          </p:txBody>
        </p:sp>
      </p:grpSp>
      <p:grpSp>
        <p:nvGrpSpPr>
          <p:cNvPr name="Group 19" id="19"/>
          <p:cNvGrpSpPr/>
          <p:nvPr/>
        </p:nvGrpSpPr>
        <p:grpSpPr>
          <a:xfrm rot="0">
            <a:off x="13510260" y="4389120"/>
            <a:ext cx="3703320" cy="1508760"/>
            <a:chOff x="0" y="0"/>
            <a:chExt cx="4937760" cy="2011680"/>
          </a:xfrm>
        </p:grpSpPr>
        <p:sp>
          <p:nvSpPr>
            <p:cNvPr name="Freeform 20" id="20"/>
            <p:cNvSpPr/>
            <p:nvPr/>
          </p:nvSpPr>
          <p:spPr>
            <a:xfrm flipH="false" flipV="false" rot="0">
              <a:off x="0" y="0"/>
              <a:ext cx="4937760" cy="2011680"/>
            </a:xfrm>
            <a:custGeom>
              <a:avLst/>
              <a:gdLst/>
              <a:ahLst/>
              <a:cxnLst/>
              <a:rect r="r" b="b" t="t" l="l"/>
              <a:pathLst>
                <a:path h="2011680" w="4937760">
                  <a:moveTo>
                    <a:pt x="0" y="0"/>
                  </a:moveTo>
                  <a:lnTo>
                    <a:pt x="4937760" y="0"/>
                  </a:lnTo>
                  <a:lnTo>
                    <a:pt x="4937760" y="2011680"/>
                  </a:lnTo>
                  <a:lnTo>
                    <a:pt x="0" y="2011680"/>
                  </a:lnTo>
                  <a:close/>
                </a:path>
              </a:pathLst>
            </a:custGeom>
            <a:blipFill>
              <a:blip r:embed="rId3">
                <a:alphaModFix amt="0"/>
              </a:blip>
              <a:stretch>
                <a:fillRect l="-2271" t="0" r="-2271" b="0"/>
              </a:stretch>
            </a:blipFill>
          </p:spPr>
        </p:sp>
        <p:sp>
          <p:nvSpPr>
            <p:cNvPr name="TextBox 21" id="21"/>
            <p:cNvSpPr txBox="true"/>
            <p:nvPr/>
          </p:nvSpPr>
          <p:spPr>
            <a:xfrm>
              <a:off x="0" y="-47625"/>
              <a:ext cx="4937760" cy="2059305"/>
            </a:xfrm>
            <a:prstGeom prst="rect">
              <a:avLst/>
            </a:prstGeom>
          </p:spPr>
          <p:txBody>
            <a:bodyPr anchor="ctr" rtlCol="false" tIns="0" lIns="0" bIns="0" rIns="0"/>
            <a:lstStyle/>
            <a:p>
              <a:pPr algn="l">
                <a:lnSpc>
                  <a:spcPts val="2909"/>
                </a:lnSpc>
              </a:pPr>
              <a:r>
                <a:rPr lang="en-US" sz="2424">
                  <a:solidFill>
                    <a:srgbClr val="1B2B34"/>
                  </a:solidFill>
                  <a:latin typeface="Calibri"/>
                  <a:ea typeface="Calibri"/>
                  <a:cs typeface="Calibri"/>
                  <a:sym typeface="Calibri"/>
                </a:rPr>
                <a:t>alerts per injury caught, inside a budget of ≤ 0.5 red per 100 patient-days</a:t>
              </a:r>
            </a:p>
          </p:txBody>
        </p:sp>
      </p:grpSp>
      <p:grpSp>
        <p:nvGrpSpPr>
          <p:cNvPr name="Group 22" id="22"/>
          <p:cNvGrpSpPr/>
          <p:nvPr/>
        </p:nvGrpSpPr>
        <p:grpSpPr>
          <a:xfrm rot="0">
            <a:off x="10894695" y="6368415"/>
            <a:ext cx="6534150" cy="1939290"/>
            <a:chOff x="0" y="0"/>
            <a:chExt cx="8712200" cy="2585720"/>
          </a:xfrm>
        </p:grpSpPr>
        <p:sp>
          <p:nvSpPr>
            <p:cNvPr name="Freeform 23" id="23"/>
            <p:cNvSpPr/>
            <p:nvPr/>
          </p:nvSpPr>
          <p:spPr>
            <a:xfrm flipH="false" flipV="false" rot="0">
              <a:off x="0" y="0"/>
              <a:ext cx="8712200" cy="2585720"/>
            </a:xfrm>
            <a:custGeom>
              <a:avLst/>
              <a:gdLst/>
              <a:ahLst/>
              <a:cxnLst/>
              <a:rect r="r" b="b" t="t" l="l"/>
              <a:pathLst>
                <a:path h="2585720" w="8712200">
                  <a:moveTo>
                    <a:pt x="0" y="147701"/>
                  </a:moveTo>
                  <a:cubicBezTo>
                    <a:pt x="0" y="66167"/>
                    <a:pt x="66167" y="0"/>
                    <a:pt x="147701" y="0"/>
                  </a:cubicBezTo>
                  <a:lnTo>
                    <a:pt x="8564499" y="0"/>
                  </a:lnTo>
                  <a:cubicBezTo>
                    <a:pt x="8646033" y="0"/>
                    <a:pt x="8712200" y="66167"/>
                    <a:pt x="8712200" y="147701"/>
                  </a:cubicBezTo>
                  <a:lnTo>
                    <a:pt x="8712200" y="2438019"/>
                  </a:lnTo>
                  <a:cubicBezTo>
                    <a:pt x="8712200" y="2519680"/>
                    <a:pt x="8646033" y="2585720"/>
                    <a:pt x="8564499" y="2585720"/>
                  </a:cubicBezTo>
                  <a:lnTo>
                    <a:pt x="147701" y="2585720"/>
                  </a:lnTo>
                  <a:cubicBezTo>
                    <a:pt x="66167" y="2585720"/>
                    <a:pt x="0" y="2519553"/>
                    <a:pt x="0" y="2438019"/>
                  </a:cubicBezTo>
                  <a:close/>
                </a:path>
              </a:pathLst>
            </a:custGeom>
            <a:solidFill>
              <a:srgbClr val="EEF5F5"/>
            </a:solidFill>
            <a:ln w="19050" cap="sq">
              <a:solidFill>
                <a:srgbClr val="EEF5F5"/>
              </a:solidFill>
              <a:prstDash val="solid"/>
              <a:miter/>
            </a:ln>
          </p:spPr>
        </p:sp>
      </p:grpSp>
      <p:grpSp>
        <p:nvGrpSpPr>
          <p:cNvPr name="Group 24" id="24"/>
          <p:cNvGrpSpPr/>
          <p:nvPr/>
        </p:nvGrpSpPr>
        <p:grpSpPr>
          <a:xfrm rot="0">
            <a:off x="11247120" y="5664869"/>
            <a:ext cx="2194560" cy="3593431"/>
            <a:chOff x="0" y="0"/>
            <a:chExt cx="2926080" cy="4791241"/>
          </a:xfrm>
        </p:grpSpPr>
        <p:sp>
          <p:nvSpPr>
            <p:cNvPr name="Freeform 25" id="25"/>
            <p:cNvSpPr/>
            <p:nvPr/>
          </p:nvSpPr>
          <p:spPr>
            <a:xfrm flipH="false" flipV="false" rot="0">
              <a:off x="0" y="0"/>
              <a:ext cx="2926080" cy="4791241"/>
            </a:xfrm>
            <a:custGeom>
              <a:avLst/>
              <a:gdLst/>
              <a:ahLst/>
              <a:cxnLst/>
              <a:rect r="r" b="b" t="t" l="l"/>
              <a:pathLst>
                <a:path h="4791241" w="2926080">
                  <a:moveTo>
                    <a:pt x="0" y="0"/>
                  </a:moveTo>
                  <a:lnTo>
                    <a:pt x="2926080" y="0"/>
                  </a:lnTo>
                  <a:lnTo>
                    <a:pt x="2926080" y="4791241"/>
                  </a:lnTo>
                  <a:lnTo>
                    <a:pt x="0" y="4791241"/>
                  </a:lnTo>
                  <a:close/>
                </a:path>
              </a:pathLst>
            </a:custGeom>
            <a:blipFill>
              <a:blip r:embed="rId3">
                <a:alphaModFix amt="0"/>
              </a:blip>
              <a:stretch>
                <a:fillRect l="-38208" t="0" r="-38208" b="58013"/>
              </a:stretch>
            </a:blipFill>
          </p:spPr>
        </p:sp>
        <p:sp>
          <p:nvSpPr>
            <p:cNvPr name="TextBox 26" id="26"/>
            <p:cNvSpPr txBox="true"/>
            <p:nvPr/>
          </p:nvSpPr>
          <p:spPr>
            <a:xfrm>
              <a:off x="0" y="-9525"/>
              <a:ext cx="2926080" cy="4800766"/>
            </a:xfrm>
            <a:prstGeom prst="rect">
              <a:avLst/>
            </a:prstGeom>
          </p:spPr>
          <p:txBody>
            <a:bodyPr anchor="ctr" rtlCol="false" tIns="0" lIns="0" bIns="0" rIns="0"/>
            <a:lstStyle/>
            <a:p>
              <a:pPr algn="l">
                <a:lnSpc>
                  <a:spcPts val="5879"/>
                </a:lnSpc>
              </a:pPr>
              <a:r>
                <a:rPr lang="en-US" sz="4899" b="1">
                  <a:solidFill>
                    <a:srgbClr val="0E7C86"/>
                  </a:solidFill>
                  <a:latin typeface="Cambria"/>
                  <a:ea typeface="Cambria"/>
                  <a:cs typeface="Cambria"/>
                  <a:sym typeface="Cambria"/>
                </a:rPr>
                <a:t>0.90</a:t>
              </a:r>
            </a:p>
          </p:txBody>
        </p:sp>
      </p:grpSp>
      <p:grpSp>
        <p:nvGrpSpPr>
          <p:cNvPr name="Group 27" id="27"/>
          <p:cNvGrpSpPr/>
          <p:nvPr/>
        </p:nvGrpSpPr>
        <p:grpSpPr>
          <a:xfrm rot="0">
            <a:off x="13510260" y="6583680"/>
            <a:ext cx="3703320" cy="1508760"/>
            <a:chOff x="0" y="0"/>
            <a:chExt cx="4937760" cy="2011680"/>
          </a:xfrm>
        </p:grpSpPr>
        <p:sp>
          <p:nvSpPr>
            <p:cNvPr name="Freeform 28" id="28"/>
            <p:cNvSpPr/>
            <p:nvPr/>
          </p:nvSpPr>
          <p:spPr>
            <a:xfrm flipH="false" flipV="false" rot="0">
              <a:off x="0" y="0"/>
              <a:ext cx="4937760" cy="2011680"/>
            </a:xfrm>
            <a:custGeom>
              <a:avLst/>
              <a:gdLst/>
              <a:ahLst/>
              <a:cxnLst/>
              <a:rect r="r" b="b" t="t" l="l"/>
              <a:pathLst>
                <a:path h="2011680" w="4937760">
                  <a:moveTo>
                    <a:pt x="0" y="0"/>
                  </a:moveTo>
                  <a:lnTo>
                    <a:pt x="4937760" y="0"/>
                  </a:lnTo>
                  <a:lnTo>
                    <a:pt x="4937760" y="2011680"/>
                  </a:lnTo>
                  <a:lnTo>
                    <a:pt x="0" y="2011680"/>
                  </a:lnTo>
                  <a:close/>
                </a:path>
              </a:pathLst>
            </a:custGeom>
            <a:blipFill>
              <a:blip r:embed="rId3">
                <a:alphaModFix amt="0"/>
              </a:blip>
              <a:stretch>
                <a:fillRect l="-2271" t="0" r="-2271" b="0"/>
              </a:stretch>
            </a:blipFill>
          </p:spPr>
        </p:sp>
        <p:sp>
          <p:nvSpPr>
            <p:cNvPr name="TextBox 29" id="29"/>
            <p:cNvSpPr txBox="true"/>
            <p:nvPr/>
          </p:nvSpPr>
          <p:spPr>
            <a:xfrm>
              <a:off x="0" y="-47625"/>
              <a:ext cx="4937760" cy="2059305"/>
            </a:xfrm>
            <a:prstGeom prst="rect">
              <a:avLst/>
            </a:prstGeom>
          </p:spPr>
          <p:txBody>
            <a:bodyPr anchor="ctr" rtlCol="false" tIns="0" lIns="0" bIns="0" rIns="0"/>
            <a:lstStyle/>
            <a:p>
              <a:pPr algn="l">
                <a:lnSpc>
                  <a:spcPts val="2909"/>
                </a:lnSpc>
              </a:pPr>
              <a:r>
                <a:rPr lang="en-US" sz="2424">
                  <a:solidFill>
                    <a:srgbClr val="1B2B34"/>
                  </a:solidFill>
                  <a:latin typeface="Calibri"/>
                  <a:ea typeface="Calibri"/>
                  <a:cs typeface="Calibri"/>
                  <a:sym typeface="Calibri"/>
                </a:rPr>
                <a:t>AUROC when the world matches the twin (optimistic ceiling)</a:t>
              </a:r>
            </a:p>
          </p:txBody>
        </p:sp>
      </p:grpSp>
      <p:sp>
        <p:nvSpPr>
          <p:cNvPr name="TextBox 30" id="30"/>
          <p:cNvSpPr txBox="true"/>
          <p:nvPr/>
        </p:nvSpPr>
        <p:spPr>
          <a:xfrm rot="0">
            <a:off x="822960" y="8945880"/>
            <a:ext cx="16596360" cy="609600"/>
          </a:xfrm>
          <a:prstGeom prst="rect">
            <a:avLst/>
          </a:prstGeom>
        </p:spPr>
        <p:txBody>
          <a:bodyPr anchor="t" rtlCol="false" tIns="0" lIns="0" bIns="0" rIns="0">
            <a:spAutoFit/>
          </a:bodyPr>
          <a:lstStyle/>
          <a:p>
            <a:pPr algn="l">
              <a:lnSpc>
                <a:spcPts val="2279"/>
              </a:lnSpc>
            </a:pPr>
            <a:r>
              <a:rPr lang="en-US" sz="1899" i="1">
                <a:solidFill>
                  <a:srgbClr val="5B6C75"/>
                </a:solidFill>
                <a:latin typeface="Calibri"/>
                <a:ea typeface="Calibri"/>
                <a:cs typeface="Calibri"/>
                <a:sym typeface="Calibri"/>
              </a:rPr>
              <a:t>Synthetic (enriched high-risk heat-season cohort), mismatched simulator, 2025 held-out season, frozen model; prevalence 0.14% of days. Source: reports/metrics.json. 2026 season: M AUROC 0.73, plain LightGBM 0.77.</a:t>
            </a:r>
          </a:p>
        </p:txBody>
      </p:sp>
      <p:sp>
        <p:nvSpPr>
          <p:cNvPr name="TextBox 31" id="31"/>
          <p:cNvSpPr txBox="true"/>
          <p:nvPr/>
        </p:nvSpPr>
        <p:spPr>
          <a:xfrm rot="0">
            <a:off x="16962120" y="9540240"/>
            <a:ext cx="640080" cy="342900"/>
          </a:xfrm>
          <a:prstGeom prst="rect">
            <a:avLst/>
          </a:prstGeom>
        </p:spPr>
        <p:txBody>
          <a:bodyPr anchor="t" rtlCol="false" tIns="0" lIns="0" bIns="0" rIns="0">
            <a:spAutoFit/>
          </a:bodyPr>
          <a:lstStyle/>
          <a:p>
            <a:pPr algn="r">
              <a:lnSpc>
                <a:spcPts val="2459"/>
              </a:lnSpc>
            </a:pPr>
            <a:r>
              <a:rPr lang="en-US" sz="2049">
                <a:solidFill>
                  <a:srgbClr val="5B6C75"/>
                </a:solidFill>
                <a:latin typeface="Calibri"/>
                <a:ea typeface="Calibri"/>
                <a:cs typeface="Calibri"/>
                <a:sym typeface="Calibri"/>
              </a:rPr>
              <a:t>27</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45820" y="-836134"/>
            <a:ext cx="16596360" cy="3593431"/>
            <a:chOff x="0" y="0"/>
            <a:chExt cx="22128480" cy="4791241"/>
          </a:xfrm>
        </p:grpSpPr>
        <p:sp>
          <p:nvSpPr>
            <p:cNvPr name="Freeform 3" id="3"/>
            <p:cNvSpPr/>
            <p:nvPr/>
          </p:nvSpPr>
          <p:spPr>
            <a:xfrm flipH="false" flipV="false" rot="0">
              <a:off x="0" y="0"/>
              <a:ext cx="22128480" cy="4791241"/>
            </a:xfrm>
            <a:custGeom>
              <a:avLst/>
              <a:gdLst/>
              <a:ahLst/>
              <a:cxnLst/>
              <a:rect r="r" b="b" t="t" l="l"/>
              <a:pathLst>
                <a:path h="4791241" w="22128480">
                  <a:moveTo>
                    <a:pt x="0" y="0"/>
                  </a:moveTo>
                  <a:lnTo>
                    <a:pt x="22128480" y="0"/>
                  </a:lnTo>
                  <a:lnTo>
                    <a:pt x="22128480" y="4791241"/>
                  </a:lnTo>
                  <a:lnTo>
                    <a:pt x="0" y="4791241"/>
                  </a:lnTo>
                  <a:close/>
                </a:path>
              </a:pathLst>
            </a:custGeom>
            <a:blipFill>
              <a:blip r:embed="rId3">
                <a:alphaModFix amt="0"/>
              </a:blip>
              <a:stretch>
                <a:fillRect l="0" t="-73770" r="0" b="-6214"/>
              </a:stretch>
            </a:blipFill>
          </p:spPr>
        </p:sp>
        <p:sp>
          <p:nvSpPr>
            <p:cNvPr name="TextBox 4" id="4"/>
            <p:cNvSpPr txBox="true"/>
            <p:nvPr/>
          </p:nvSpPr>
          <p:spPr>
            <a:xfrm>
              <a:off x="0" y="-9525"/>
              <a:ext cx="22128480" cy="4800766"/>
            </a:xfrm>
            <a:prstGeom prst="rect">
              <a:avLst/>
            </a:prstGeom>
          </p:spPr>
          <p:txBody>
            <a:bodyPr anchor="ctr" rtlCol="false" tIns="0" lIns="0" bIns="0" rIns="0"/>
            <a:lstStyle/>
            <a:p>
              <a:pPr algn="l">
                <a:lnSpc>
                  <a:spcPts val="5879"/>
                </a:lnSpc>
              </a:pPr>
              <a:r>
                <a:rPr lang="en-US" sz="4899" b="1">
                  <a:solidFill>
                    <a:srgbClr val="0B4F5C"/>
                  </a:solidFill>
                  <a:latin typeface="Cambria"/>
                  <a:ea typeface="Cambria"/>
                  <a:cs typeface="Cambria"/>
                  <a:sym typeface="Cambria"/>
                </a:rPr>
                <a:t>Honest scorecard: what passed, what did not</a:t>
              </a:r>
            </a:p>
          </p:txBody>
        </p:sp>
      </p:grpSp>
      <p:grpSp>
        <p:nvGrpSpPr>
          <p:cNvPr name="Group 5" id="5"/>
          <p:cNvGrpSpPr/>
          <p:nvPr/>
        </p:nvGrpSpPr>
        <p:grpSpPr>
          <a:xfrm rot="0">
            <a:off x="813435" y="1910715"/>
            <a:ext cx="8111490" cy="1555242"/>
            <a:chOff x="0" y="0"/>
            <a:chExt cx="10815320" cy="2073656"/>
          </a:xfrm>
        </p:grpSpPr>
        <p:sp>
          <p:nvSpPr>
            <p:cNvPr name="Freeform 6" id="6"/>
            <p:cNvSpPr/>
            <p:nvPr/>
          </p:nvSpPr>
          <p:spPr>
            <a:xfrm flipH="false" flipV="false" rot="0">
              <a:off x="0" y="0"/>
              <a:ext cx="10815320" cy="2073656"/>
            </a:xfrm>
            <a:custGeom>
              <a:avLst/>
              <a:gdLst/>
              <a:ahLst/>
              <a:cxnLst/>
              <a:rect r="r" b="b" t="t" l="l"/>
              <a:pathLst>
                <a:path h="2073656" w="10815320">
                  <a:moveTo>
                    <a:pt x="0" y="148082"/>
                  </a:moveTo>
                  <a:cubicBezTo>
                    <a:pt x="0" y="66294"/>
                    <a:pt x="66294" y="0"/>
                    <a:pt x="148082" y="0"/>
                  </a:cubicBezTo>
                  <a:lnTo>
                    <a:pt x="10667238" y="0"/>
                  </a:lnTo>
                  <a:cubicBezTo>
                    <a:pt x="10749026" y="0"/>
                    <a:pt x="10815320" y="66294"/>
                    <a:pt x="10815320" y="148082"/>
                  </a:cubicBezTo>
                  <a:lnTo>
                    <a:pt x="10815320" y="1925574"/>
                  </a:lnTo>
                  <a:cubicBezTo>
                    <a:pt x="10815320" y="2007362"/>
                    <a:pt x="10749026" y="2073656"/>
                    <a:pt x="10667238" y="2073656"/>
                  </a:cubicBezTo>
                  <a:lnTo>
                    <a:pt x="148082" y="2073656"/>
                  </a:lnTo>
                  <a:cubicBezTo>
                    <a:pt x="66294" y="2073656"/>
                    <a:pt x="0" y="2007362"/>
                    <a:pt x="0" y="1925574"/>
                  </a:cubicBezTo>
                  <a:close/>
                </a:path>
              </a:pathLst>
            </a:custGeom>
            <a:solidFill>
              <a:srgbClr val="EEF5F5"/>
            </a:solidFill>
            <a:ln w="19050" cap="sq">
              <a:solidFill>
                <a:srgbClr val="EEF5F5"/>
              </a:solidFill>
              <a:prstDash val="solid"/>
              <a:miter/>
            </a:ln>
          </p:spPr>
        </p:sp>
      </p:grpSp>
      <p:grpSp>
        <p:nvGrpSpPr>
          <p:cNvPr name="Group 7" id="7"/>
          <p:cNvGrpSpPr/>
          <p:nvPr/>
        </p:nvGrpSpPr>
        <p:grpSpPr>
          <a:xfrm rot="0">
            <a:off x="1087755" y="2185035"/>
            <a:ext cx="979170" cy="979170"/>
            <a:chOff x="0" y="0"/>
            <a:chExt cx="1305560" cy="1305560"/>
          </a:xfrm>
        </p:grpSpPr>
        <p:sp>
          <p:nvSpPr>
            <p:cNvPr name="Freeform 8" id="8"/>
            <p:cNvSpPr/>
            <p:nvPr/>
          </p:nvSpPr>
          <p:spPr>
            <a:xfrm flipH="false" flipV="false" rot="0">
              <a:off x="0" y="0"/>
              <a:ext cx="1305560" cy="1305560"/>
            </a:xfrm>
            <a:custGeom>
              <a:avLst/>
              <a:gdLst/>
              <a:ahLst/>
              <a:cxnLst/>
              <a:rect r="r" b="b" t="t" l="l"/>
              <a:pathLst>
                <a:path h="1305560" w="1305560">
                  <a:moveTo>
                    <a:pt x="0" y="652780"/>
                  </a:moveTo>
                  <a:cubicBezTo>
                    <a:pt x="0" y="292227"/>
                    <a:pt x="292227" y="0"/>
                    <a:pt x="652780" y="0"/>
                  </a:cubicBezTo>
                  <a:cubicBezTo>
                    <a:pt x="1013333" y="0"/>
                    <a:pt x="1305560" y="292227"/>
                    <a:pt x="1305560" y="652780"/>
                  </a:cubicBezTo>
                  <a:cubicBezTo>
                    <a:pt x="1305560" y="1013333"/>
                    <a:pt x="1013333" y="1305560"/>
                    <a:pt x="652780" y="1305560"/>
                  </a:cubicBezTo>
                  <a:cubicBezTo>
                    <a:pt x="292227" y="1305560"/>
                    <a:pt x="0" y="1013333"/>
                    <a:pt x="0" y="652780"/>
                  </a:cubicBezTo>
                  <a:close/>
                </a:path>
              </a:pathLst>
            </a:custGeom>
            <a:solidFill>
              <a:srgbClr val="2E8B57"/>
            </a:solidFill>
            <a:ln w="19050" cap="sq">
              <a:solidFill>
                <a:srgbClr val="2E8B57"/>
              </a:solidFill>
              <a:prstDash val="solid"/>
              <a:miter/>
            </a:ln>
          </p:spPr>
        </p:sp>
      </p:grpSp>
      <p:grpSp>
        <p:nvGrpSpPr>
          <p:cNvPr name="Group 9" id="9"/>
          <p:cNvGrpSpPr/>
          <p:nvPr/>
        </p:nvGrpSpPr>
        <p:grpSpPr>
          <a:xfrm rot="0">
            <a:off x="1337310" y="2434590"/>
            <a:ext cx="480060" cy="480060"/>
            <a:chOff x="0" y="0"/>
            <a:chExt cx="640080" cy="640080"/>
          </a:xfrm>
        </p:grpSpPr>
        <p:sp>
          <p:nvSpPr>
            <p:cNvPr name="Freeform 10" id="10" descr="preencoded.png"/>
            <p:cNvSpPr/>
            <p:nvPr/>
          </p:nvSpPr>
          <p:spPr>
            <a:xfrm flipH="false" flipV="false" rot="0">
              <a:off x="0" y="0"/>
              <a:ext cx="640080" cy="640080"/>
            </a:xfrm>
            <a:custGeom>
              <a:avLst/>
              <a:gdLst/>
              <a:ahLst/>
              <a:cxnLst/>
              <a:rect r="r" b="b" t="t" l="l"/>
              <a:pathLst>
                <a:path h="640080" w="640080">
                  <a:moveTo>
                    <a:pt x="0" y="0"/>
                  </a:moveTo>
                  <a:lnTo>
                    <a:pt x="640080" y="0"/>
                  </a:lnTo>
                  <a:lnTo>
                    <a:pt x="640080" y="640080"/>
                  </a:lnTo>
                  <a:lnTo>
                    <a:pt x="0" y="640080"/>
                  </a:lnTo>
                  <a:lnTo>
                    <a:pt x="0" y="0"/>
                  </a:lnTo>
                  <a:close/>
                </a:path>
              </a:pathLst>
            </a:custGeom>
            <a:blipFill>
              <a:blip r:embed="rId4"/>
              <a:stretch>
                <a:fillRect l="0" t="0" r="0" b="0"/>
              </a:stretch>
            </a:blipFill>
          </p:spPr>
        </p:sp>
      </p:grpSp>
      <p:sp>
        <p:nvSpPr>
          <p:cNvPr name="TextBox 11" id="11"/>
          <p:cNvSpPr txBox="true"/>
          <p:nvPr/>
        </p:nvSpPr>
        <p:spPr>
          <a:xfrm rot="0">
            <a:off x="2263140" y="2050923"/>
            <a:ext cx="6446520" cy="438150"/>
          </a:xfrm>
          <a:prstGeom prst="rect">
            <a:avLst/>
          </a:prstGeom>
        </p:spPr>
        <p:txBody>
          <a:bodyPr anchor="t" rtlCol="false" tIns="0" lIns="0" bIns="0" rIns="0">
            <a:spAutoFit/>
          </a:bodyPr>
          <a:lstStyle/>
          <a:p>
            <a:pPr algn="l">
              <a:lnSpc>
                <a:spcPts val="3089"/>
              </a:lnSpc>
            </a:pPr>
            <a:r>
              <a:rPr lang="en-US" sz="2574" b="1">
                <a:solidFill>
                  <a:srgbClr val="0B4F5C"/>
                </a:solidFill>
                <a:latin typeface="Calibri"/>
                <a:ea typeface="Calibri"/>
                <a:cs typeface="Calibri"/>
                <a:sym typeface="Calibri"/>
              </a:rPr>
              <a:t>PASS · Labelling matches official MIMIC code</a:t>
            </a:r>
          </a:p>
        </p:txBody>
      </p:sp>
      <p:sp>
        <p:nvSpPr>
          <p:cNvPr name="TextBox 12" id="12"/>
          <p:cNvSpPr txBox="true"/>
          <p:nvPr/>
        </p:nvSpPr>
        <p:spPr>
          <a:xfrm rot="0">
            <a:off x="2263140" y="2617470"/>
            <a:ext cx="6446520" cy="409575"/>
          </a:xfrm>
          <a:prstGeom prst="rect">
            <a:avLst/>
          </a:prstGeom>
        </p:spPr>
        <p:txBody>
          <a:bodyPr anchor="t" rtlCol="false" tIns="0" lIns="0" bIns="0" rIns="0">
            <a:spAutoFit/>
          </a:bodyPr>
          <a:lstStyle/>
          <a:p>
            <a:pPr algn="l">
              <a:lnSpc>
                <a:spcPts val="2819"/>
              </a:lnSpc>
            </a:pPr>
            <a:r>
              <a:rPr lang="en-US" sz="2349">
                <a:solidFill>
                  <a:srgbClr val="1B2B34"/>
                </a:solidFill>
                <a:latin typeface="Calibri"/>
                <a:ea typeface="Calibri"/>
                <a:cs typeface="Calibri"/>
                <a:sym typeface="Calibri"/>
              </a:rPr>
              <a:t>99.29% agreement (1,272 values)</a:t>
            </a:r>
          </a:p>
        </p:txBody>
      </p:sp>
      <p:grpSp>
        <p:nvGrpSpPr>
          <p:cNvPr name="Group 13" id="13"/>
          <p:cNvGrpSpPr/>
          <p:nvPr/>
        </p:nvGrpSpPr>
        <p:grpSpPr>
          <a:xfrm rot="0">
            <a:off x="9180195" y="1910715"/>
            <a:ext cx="8111490" cy="1555242"/>
            <a:chOff x="0" y="0"/>
            <a:chExt cx="10815320" cy="2073656"/>
          </a:xfrm>
        </p:grpSpPr>
        <p:sp>
          <p:nvSpPr>
            <p:cNvPr name="Freeform 14" id="14"/>
            <p:cNvSpPr/>
            <p:nvPr/>
          </p:nvSpPr>
          <p:spPr>
            <a:xfrm flipH="false" flipV="false" rot="0">
              <a:off x="0" y="0"/>
              <a:ext cx="10815320" cy="2073656"/>
            </a:xfrm>
            <a:custGeom>
              <a:avLst/>
              <a:gdLst/>
              <a:ahLst/>
              <a:cxnLst/>
              <a:rect r="r" b="b" t="t" l="l"/>
              <a:pathLst>
                <a:path h="2073656" w="10815320">
                  <a:moveTo>
                    <a:pt x="0" y="148082"/>
                  </a:moveTo>
                  <a:cubicBezTo>
                    <a:pt x="0" y="66294"/>
                    <a:pt x="66294" y="0"/>
                    <a:pt x="148082" y="0"/>
                  </a:cubicBezTo>
                  <a:lnTo>
                    <a:pt x="10667238" y="0"/>
                  </a:lnTo>
                  <a:cubicBezTo>
                    <a:pt x="10749026" y="0"/>
                    <a:pt x="10815320" y="66294"/>
                    <a:pt x="10815320" y="148082"/>
                  </a:cubicBezTo>
                  <a:lnTo>
                    <a:pt x="10815320" y="1925574"/>
                  </a:lnTo>
                  <a:cubicBezTo>
                    <a:pt x="10815320" y="2007362"/>
                    <a:pt x="10749026" y="2073656"/>
                    <a:pt x="10667238" y="2073656"/>
                  </a:cubicBezTo>
                  <a:lnTo>
                    <a:pt x="148082" y="2073656"/>
                  </a:lnTo>
                  <a:cubicBezTo>
                    <a:pt x="66294" y="2073656"/>
                    <a:pt x="0" y="2007362"/>
                    <a:pt x="0" y="1925574"/>
                  </a:cubicBezTo>
                  <a:close/>
                </a:path>
              </a:pathLst>
            </a:custGeom>
            <a:solidFill>
              <a:srgbClr val="EEF5F5"/>
            </a:solidFill>
            <a:ln w="19050" cap="sq">
              <a:solidFill>
                <a:srgbClr val="EEF5F5"/>
              </a:solidFill>
              <a:prstDash val="solid"/>
              <a:miter/>
            </a:ln>
          </p:spPr>
        </p:sp>
      </p:grpSp>
      <p:grpSp>
        <p:nvGrpSpPr>
          <p:cNvPr name="Group 15" id="15"/>
          <p:cNvGrpSpPr/>
          <p:nvPr/>
        </p:nvGrpSpPr>
        <p:grpSpPr>
          <a:xfrm rot="0">
            <a:off x="9454515" y="2185035"/>
            <a:ext cx="979170" cy="979170"/>
            <a:chOff x="0" y="0"/>
            <a:chExt cx="1305560" cy="1305560"/>
          </a:xfrm>
        </p:grpSpPr>
        <p:sp>
          <p:nvSpPr>
            <p:cNvPr name="Freeform 16" id="16"/>
            <p:cNvSpPr/>
            <p:nvPr/>
          </p:nvSpPr>
          <p:spPr>
            <a:xfrm flipH="false" flipV="false" rot="0">
              <a:off x="0" y="0"/>
              <a:ext cx="1305560" cy="1305560"/>
            </a:xfrm>
            <a:custGeom>
              <a:avLst/>
              <a:gdLst/>
              <a:ahLst/>
              <a:cxnLst/>
              <a:rect r="r" b="b" t="t" l="l"/>
              <a:pathLst>
                <a:path h="1305560" w="1305560">
                  <a:moveTo>
                    <a:pt x="0" y="652780"/>
                  </a:moveTo>
                  <a:cubicBezTo>
                    <a:pt x="0" y="292227"/>
                    <a:pt x="292227" y="0"/>
                    <a:pt x="652780" y="0"/>
                  </a:cubicBezTo>
                  <a:cubicBezTo>
                    <a:pt x="1013333" y="0"/>
                    <a:pt x="1305560" y="292227"/>
                    <a:pt x="1305560" y="652780"/>
                  </a:cubicBezTo>
                  <a:cubicBezTo>
                    <a:pt x="1305560" y="1013333"/>
                    <a:pt x="1013333" y="1305560"/>
                    <a:pt x="652780" y="1305560"/>
                  </a:cubicBezTo>
                  <a:cubicBezTo>
                    <a:pt x="292227" y="1305560"/>
                    <a:pt x="0" y="1013333"/>
                    <a:pt x="0" y="652780"/>
                  </a:cubicBezTo>
                  <a:close/>
                </a:path>
              </a:pathLst>
            </a:custGeom>
            <a:solidFill>
              <a:srgbClr val="2E8B57"/>
            </a:solidFill>
            <a:ln w="19050" cap="sq">
              <a:solidFill>
                <a:srgbClr val="2E8B57"/>
              </a:solidFill>
              <a:prstDash val="solid"/>
              <a:miter/>
            </a:ln>
          </p:spPr>
        </p:sp>
      </p:grpSp>
      <p:grpSp>
        <p:nvGrpSpPr>
          <p:cNvPr name="Group 17" id="17"/>
          <p:cNvGrpSpPr/>
          <p:nvPr/>
        </p:nvGrpSpPr>
        <p:grpSpPr>
          <a:xfrm rot="0">
            <a:off x="9704070" y="2434590"/>
            <a:ext cx="480060" cy="480060"/>
            <a:chOff x="0" y="0"/>
            <a:chExt cx="640080" cy="640080"/>
          </a:xfrm>
        </p:grpSpPr>
        <p:sp>
          <p:nvSpPr>
            <p:cNvPr name="Freeform 18" id="18" descr="preencoded.png"/>
            <p:cNvSpPr/>
            <p:nvPr/>
          </p:nvSpPr>
          <p:spPr>
            <a:xfrm flipH="false" flipV="false" rot="0">
              <a:off x="0" y="0"/>
              <a:ext cx="640080" cy="640080"/>
            </a:xfrm>
            <a:custGeom>
              <a:avLst/>
              <a:gdLst/>
              <a:ahLst/>
              <a:cxnLst/>
              <a:rect r="r" b="b" t="t" l="l"/>
              <a:pathLst>
                <a:path h="640080" w="640080">
                  <a:moveTo>
                    <a:pt x="0" y="0"/>
                  </a:moveTo>
                  <a:lnTo>
                    <a:pt x="640080" y="0"/>
                  </a:lnTo>
                  <a:lnTo>
                    <a:pt x="640080" y="640080"/>
                  </a:lnTo>
                  <a:lnTo>
                    <a:pt x="0" y="640080"/>
                  </a:lnTo>
                  <a:lnTo>
                    <a:pt x="0" y="0"/>
                  </a:lnTo>
                  <a:close/>
                </a:path>
              </a:pathLst>
            </a:custGeom>
            <a:blipFill>
              <a:blip r:embed="rId4"/>
              <a:stretch>
                <a:fillRect l="0" t="0" r="0" b="0"/>
              </a:stretch>
            </a:blipFill>
          </p:spPr>
        </p:sp>
      </p:grpSp>
      <p:sp>
        <p:nvSpPr>
          <p:cNvPr name="TextBox 19" id="19"/>
          <p:cNvSpPr txBox="true"/>
          <p:nvPr/>
        </p:nvSpPr>
        <p:spPr>
          <a:xfrm rot="0">
            <a:off x="10629900" y="2050923"/>
            <a:ext cx="6446520" cy="828675"/>
          </a:xfrm>
          <a:prstGeom prst="rect">
            <a:avLst/>
          </a:prstGeom>
        </p:spPr>
        <p:txBody>
          <a:bodyPr anchor="t" rtlCol="false" tIns="0" lIns="0" bIns="0" rIns="0">
            <a:spAutoFit/>
          </a:bodyPr>
          <a:lstStyle/>
          <a:p>
            <a:pPr algn="l">
              <a:lnSpc>
                <a:spcPts val="3089"/>
              </a:lnSpc>
            </a:pPr>
            <a:r>
              <a:rPr lang="en-US" sz="2574" b="1">
                <a:solidFill>
                  <a:srgbClr val="0B4F5C"/>
                </a:solidFill>
                <a:latin typeface="Calibri"/>
                <a:ea typeface="Calibri"/>
                <a:cs typeface="Calibri"/>
                <a:sym typeface="Calibri"/>
              </a:rPr>
              <a:t>PASS · No false red alerts on real healthy people</a:t>
            </a:r>
          </a:p>
        </p:txBody>
      </p:sp>
      <p:sp>
        <p:nvSpPr>
          <p:cNvPr name="TextBox 20" id="20"/>
          <p:cNvSpPr txBox="true"/>
          <p:nvPr/>
        </p:nvSpPr>
        <p:spPr>
          <a:xfrm rot="0">
            <a:off x="10629900" y="2793683"/>
            <a:ext cx="6446520" cy="409575"/>
          </a:xfrm>
          <a:prstGeom prst="rect">
            <a:avLst/>
          </a:prstGeom>
        </p:spPr>
        <p:txBody>
          <a:bodyPr anchor="t" rtlCol="false" tIns="0" lIns="0" bIns="0" rIns="0">
            <a:spAutoFit/>
          </a:bodyPr>
          <a:lstStyle/>
          <a:p>
            <a:pPr algn="l">
              <a:lnSpc>
                <a:spcPts val="2819"/>
              </a:lnSpc>
            </a:pPr>
            <a:r>
              <a:rPr lang="en-US" sz="2349">
                <a:solidFill>
                  <a:srgbClr val="1B2B34"/>
                </a:solidFill>
                <a:latin typeface="Calibri"/>
                <a:ea typeface="Calibri"/>
                <a:cs typeface="Calibri"/>
                <a:sym typeface="Calibri"/>
              </a:rPr>
              <a:t>0 per 100 person-days (PMData, 1,845 days)</a:t>
            </a:r>
          </a:p>
        </p:txBody>
      </p:sp>
      <p:grpSp>
        <p:nvGrpSpPr>
          <p:cNvPr name="Group 21" id="21"/>
          <p:cNvGrpSpPr/>
          <p:nvPr/>
        </p:nvGrpSpPr>
        <p:grpSpPr>
          <a:xfrm rot="0">
            <a:off x="813435" y="3652647"/>
            <a:ext cx="8111490" cy="1555242"/>
            <a:chOff x="0" y="0"/>
            <a:chExt cx="10815320" cy="2073656"/>
          </a:xfrm>
        </p:grpSpPr>
        <p:sp>
          <p:nvSpPr>
            <p:cNvPr name="Freeform 22" id="22"/>
            <p:cNvSpPr/>
            <p:nvPr/>
          </p:nvSpPr>
          <p:spPr>
            <a:xfrm flipH="false" flipV="false" rot="0">
              <a:off x="0" y="0"/>
              <a:ext cx="10815320" cy="2073656"/>
            </a:xfrm>
            <a:custGeom>
              <a:avLst/>
              <a:gdLst/>
              <a:ahLst/>
              <a:cxnLst/>
              <a:rect r="r" b="b" t="t" l="l"/>
              <a:pathLst>
                <a:path h="2073656" w="10815320">
                  <a:moveTo>
                    <a:pt x="0" y="148082"/>
                  </a:moveTo>
                  <a:cubicBezTo>
                    <a:pt x="0" y="66294"/>
                    <a:pt x="66294" y="0"/>
                    <a:pt x="148082" y="0"/>
                  </a:cubicBezTo>
                  <a:lnTo>
                    <a:pt x="10667238" y="0"/>
                  </a:lnTo>
                  <a:cubicBezTo>
                    <a:pt x="10749026" y="0"/>
                    <a:pt x="10815320" y="66294"/>
                    <a:pt x="10815320" y="148082"/>
                  </a:cubicBezTo>
                  <a:lnTo>
                    <a:pt x="10815320" y="1925574"/>
                  </a:lnTo>
                  <a:cubicBezTo>
                    <a:pt x="10815320" y="2007362"/>
                    <a:pt x="10749026" y="2073656"/>
                    <a:pt x="10667238" y="2073656"/>
                  </a:cubicBezTo>
                  <a:lnTo>
                    <a:pt x="148082" y="2073656"/>
                  </a:lnTo>
                  <a:cubicBezTo>
                    <a:pt x="66294" y="2073656"/>
                    <a:pt x="0" y="2007362"/>
                    <a:pt x="0" y="1925574"/>
                  </a:cubicBezTo>
                  <a:close/>
                </a:path>
              </a:pathLst>
            </a:custGeom>
            <a:solidFill>
              <a:srgbClr val="EEF5F5"/>
            </a:solidFill>
            <a:ln w="19050" cap="sq">
              <a:solidFill>
                <a:srgbClr val="EEF5F5"/>
              </a:solidFill>
              <a:prstDash val="solid"/>
              <a:miter/>
            </a:ln>
          </p:spPr>
        </p:sp>
      </p:grpSp>
      <p:grpSp>
        <p:nvGrpSpPr>
          <p:cNvPr name="Group 23" id="23"/>
          <p:cNvGrpSpPr/>
          <p:nvPr/>
        </p:nvGrpSpPr>
        <p:grpSpPr>
          <a:xfrm rot="0">
            <a:off x="1087755" y="3926967"/>
            <a:ext cx="979170" cy="979170"/>
            <a:chOff x="0" y="0"/>
            <a:chExt cx="1305560" cy="1305560"/>
          </a:xfrm>
        </p:grpSpPr>
        <p:sp>
          <p:nvSpPr>
            <p:cNvPr name="Freeform 24" id="24"/>
            <p:cNvSpPr/>
            <p:nvPr/>
          </p:nvSpPr>
          <p:spPr>
            <a:xfrm flipH="false" flipV="false" rot="0">
              <a:off x="0" y="0"/>
              <a:ext cx="1305560" cy="1305560"/>
            </a:xfrm>
            <a:custGeom>
              <a:avLst/>
              <a:gdLst/>
              <a:ahLst/>
              <a:cxnLst/>
              <a:rect r="r" b="b" t="t" l="l"/>
              <a:pathLst>
                <a:path h="1305560" w="1305560">
                  <a:moveTo>
                    <a:pt x="0" y="652780"/>
                  </a:moveTo>
                  <a:cubicBezTo>
                    <a:pt x="0" y="292227"/>
                    <a:pt x="292227" y="0"/>
                    <a:pt x="652780" y="0"/>
                  </a:cubicBezTo>
                  <a:cubicBezTo>
                    <a:pt x="1013333" y="0"/>
                    <a:pt x="1305560" y="292227"/>
                    <a:pt x="1305560" y="652780"/>
                  </a:cubicBezTo>
                  <a:cubicBezTo>
                    <a:pt x="1305560" y="1013333"/>
                    <a:pt x="1013333" y="1305560"/>
                    <a:pt x="652780" y="1305560"/>
                  </a:cubicBezTo>
                  <a:cubicBezTo>
                    <a:pt x="292227" y="1305560"/>
                    <a:pt x="0" y="1013333"/>
                    <a:pt x="0" y="652780"/>
                  </a:cubicBezTo>
                  <a:close/>
                </a:path>
              </a:pathLst>
            </a:custGeom>
            <a:solidFill>
              <a:srgbClr val="2E8B57"/>
            </a:solidFill>
            <a:ln w="19050" cap="sq">
              <a:solidFill>
                <a:srgbClr val="2E8B57"/>
              </a:solidFill>
              <a:prstDash val="solid"/>
              <a:miter/>
            </a:ln>
          </p:spPr>
        </p:sp>
      </p:grpSp>
      <p:grpSp>
        <p:nvGrpSpPr>
          <p:cNvPr name="Group 25" id="25"/>
          <p:cNvGrpSpPr/>
          <p:nvPr/>
        </p:nvGrpSpPr>
        <p:grpSpPr>
          <a:xfrm rot="0">
            <a:off x="1337310" y="4176522"/>
            <a:ext cx="480060" cy="480060"/>
            <a:chOff x="0" y="0"/>
            <a:chExt cx="640080" cy="640080"/>
          </a:xfrm>
        </p:grpSpPr>
        <p:sp>
          <p:nvSpPr>
            <p:cNvPr name="Freeform 26" id="26" descr="preencoded.png"/>
            <p:cNvSpPr/>
            <p:nvPr/>
          </p:nvSpPr>
          <p:spPr>
            <a:xfrm flipH="false" flipV="false" rot="0">
              <a:off x="0" y="0"/>
              <a:ext cx="640080" cy="640080"/>
            </a:xfrm>
            <a:custGeom>
              <a:avLst/>
              <a:gdLst/>
              <a:ahLst/>
              <a:cxnLst/>
              <a:rect r="r" b="b" t="t" l="l"/>
              <a:pathLst>
                <a:path h="640080" w="640080">
                  <a:moveTo>
                    <a:pt x="0" y="0"/>
                  </a:moveTo>
                  <a:lnTo>
                    <a:pt x="640080" y="0"/>
                  </a:lnTo>
                  <a:lnTo>
                    <a:pt x="640080" y="640080"/>
                  </a:lnTo>
                  <a:lnTo>
                    <a:pt x="0" y="640080"/>
                  </a:lnTo>
                  <a:lnTo>
                    <a:pt x="0" y="0"/>
                  </a:lnTo>
                  <a:close/>
                </a:path>
              </a:pathLst>
            </a:custGeom>
            <a:blipFill>
              <a:blip r:embed="rId4"/>
              <a:stretch>
                <a:fillRect l="0" t="0" r="0" b="0"/>
              </a:stretch>
            </a:blipFill>
          </p:spPr>
        </p:sp>
      </p:grpSp>
      <p:sp>
        <p:nvSpPr>
          <p:cNvPr name="TextBox 27" id="27"/>
          <p:cNvSpPr txBox="true"/>
          <p:nvPr/>
        </p:nvSpPr>
        <p:spPr>
          <a:xfrm rot="0">
            <a:off x="2263140" y="3792855"/>
            <a:ext cx="6446520" cy="828675"/>
          </a:xfrm>
          <a:prstGeom prst="rect">
            <a:avLst/>
          </a:prstGeom>
        </p:spPr>
        <p:txBody>
          <a:bodyPr anchor="t" rtlCol="false" tIns="0" lIns="0" bIns="0" rIns="0">
            <a:spAutoFit/>
          </a:bodyPr>
          <a:lstStyle/>
          <a:p>
            <a:pPr algn="l">
              <a:lnSpc>
                <a:spcPts val="3089"/>
              </a:lnSpc>
            </a:pPr>
            <a:r>
              <a:rPr lang="en-US" sz="2574" b="1">
                <a:solidFill>
                  <a:srgbClr val="0B4F5C"/>
                </a:solidFill>
                <a:latin typeface="Calibri"/>
                <a:ea typeface="Calibri"/>
                <a:cs typeface="Calibri"/>
                <a:sym typeface="Calibri"/>
              </a:rPr>
              <a:t>PASS · Triple-whammy effect in calibrated range</a:t>
            </a:r>
          </a:p>
        </p:txBody>
      </p:sp>
      <p:sp>
        <p:nvSpPr>
          <p:cNvPr name="TextBox 28" id="28"/>
          <p:cNvSpPr txBox="true"/>
          <p:nvPr/>
        </p:nvSpPr>
        <p:spPr>
          <a:xfrm rot="0">
            <a:off x="2263140" y="4613529"/>
            <a:ext cx="6446520" cy="409575"/>
          </a:xfrm>
          <a:prstGeom prst="rect">
            <a:avLst/>
          </a:prstGeom>
        </p:spPr>
        <p:txBody>
          <a:bodyPr anchor="t" rtlCol="false" tIns="0" lIns="0" bIns="0" rIns="0">
            <a:spAutoFit/>
          </a:bodyPr>
          <a:lstStyle/>
          <a:p>
            <a:pPr algn="l">
              <a:lnSpc>
                <a:spcPts val="2819"/>
              </a:lnSpc>
            </a:pPr>
            <a:r>
              <a:rPr lang="en-US" sz="2349">
                <a:solidFill>
                  <a:srgbClr val="1B2B34"/>
                </a:solidFill>
                <a:latin typeface="Calibri"/>
                <a:ea typeface="Calibri"/>
                <a:cs typeface="Calibri"/>
                <a:sym typeface="Calibri"/>
              </a:rPr>
              <a:t>RR 2.3 vs Lapi 1.31-1.82 (calibration)</a:t>
            </a:r>
          </a:p>
        </p:txBody>
      </p:sp>
      <p:grpSp>
        <p:nvGrpSpPr>
          <p:cNvPr name="Group 29" id="29"/>
          <p:cNvGrpSpPr/>
          <p:nvPr/>
        </p:nvGrpSpPr>
        <p:grpSpPr>
          <a:xfrm rot="0">
            <a:off x="9180195" y="3652647"/>
            <a:ext cx="8111490" cy="1555242"/>
            <a:chOff x="0" y="0"/>
            <a:chExt cx="10815320" cy="2073656"/>
          </a:xfrm>
        </p:grpSpPr>
        <p:sp>
          <p:nvSpPr>
            <p:cNvPr name="Freeform 30" id="30"/>
            <p:cNvSpPr/>
            <p:nvPr/>
          </p:nvSpPr>
          <p:spPr>
            <a:xfrm flipH="false" flipV="false" rot="0">
              <a:off x="0" y="0"/>
              <a:ext cx="10815320" cy="2073656"/>
            </a:xfrm>
            <a:custGeom>
              <a:avLst/>
              <a:gdLst/>
              <a:ahLst/>
              <a:cxnLst/>
              <a:rect r="r" b="b" t="t" l="l"/>
              <a:pathLst>
                <a:path h="2073656" w="10815320">
                  <a:moveTo>
                    <a:pt x="0" y="148082"/>
                  </a:moveTo>
                  <a:cubicBezTo>
                    <a:pt x="0" y="66294"/>
                    <a:pt x="66294" y="0"/>
                    <a:pt x="148082" y="0"/>
                  </a:cubicBezTo>
                  <a:lnTo>
                    <a:pt x="10667238" y="0"/>
                  </a:lnTo>
                  <a:cubicBezTo>
                    <a:pt x="10749026" y="0"/>
                    <a:pt x="10815320" y="66294"/>
                    <a:pt x="10815320" y="148082"/>
                  </a:cubicBezTo>
                  <a:lnTo>
                    <a:pt x="10815320" y="1925574"/>
                  </a:lnTo>
                  <a:cubicBezTo>
                    <a:pt x="10815320" y="2007362"/>
                    <a:pt x="10749026" y="2073656"/>
                    <a:pt x="10667238" y="2073656"/>
                  </a:cubicBezTo>
                  <a:lnTo>
                    <a:pt x="148082" y="2073656"/>
                  </a:lnTo>
                  <a:cubicBezTo>
                    <a:pt x="66294" y="2073656"/>
                    <a:pt x="0" y="2007362"/>
                    <a:pt x="0" y="1925574"/>
                  </a:cubicBezTo>
                  <a:close/>
                </a:path>
              </a:pathLst>
            </a:custGeom>
            <a:solidFill>
              <a:srgbClr val="EEF5F5"/>
            </a:solidFill>
            <a:ln w="19050" cap="sq">
              <a:solidFill>
                <a:srgbClr val="EEF5F5"/>
              </a:solidFill>
              <a:prstDash val="solid"/>
              <a:miter/>
            </a:ln>
          </p:spPr>
        </p:sp>
      </p:grpSp>
      <p:grpSp>
        <p:nvGrpSpPr>
          <p:cNvPr name="Group 31" id="31"/>
          <p:cNvGrpSpPr/>
          <p:nvPr/>
        </p:nvGrpSpPr>
        <p:grpSpPr>
          <a:xfrm rot="0">
            <a:off x="9454515" y="3926967"/>
            <a:ext cx="979170" cy="979170"/>
            <a:chOff x="0" y="0"/>
            <a:chExt cx="1305560" cy="1305560"/>
          </a:xfrm>
        </p:grpSpPr>
        <p:sp>
          <p:nvSpPr>
            <p:cNvPr name="Freeform 32" id="32"/>
            <p:cNvSpPr/>
            <p:nvPr/>
          </p:nvSpPr>
          <p:spPr>
            <a:xfrm flipH="false" flipV="false" rot="0">
              <a:off x="0" y="0"/>
              <a:ext cx="1305560" cy="1305560"/>
            </a:xfrm>
            <a:custGeom>
              <a:avLst/>
              <a:gdLst/>
              <a:ahLst/>
              <a:cxnLst/>
              <a:rect r="r" b="b" t="t" l="l"/>
              <a:pathLst>
                <a:path h="1305560" w="1305560">
                  <a:moveTo>
                    <a:pt x="0" y="652780"/>
                  </a:moveTo>
                  <a:cubicBezTo>
                    <a:pt x="0" y="292227"/>
                    <a:pt x="292227" y="0"/>
                    <a:pt x="652780" y="0"/>
                  </a:cubicBezTo>
                  <a:cubicBezTo>
                    <a:pt x="1013333" y="0"/>
                    <a:pt x="1305560" y="292227"/>
                    <a:pt x="1305560" y="652780"/>
                  </a:cubicBezTo>
                  <a:cubicBezTo>
                    <a:pt x="1305560" y="1013333"/>
                    <a:pt x="1013333" y="1305560"/>
                    <a:pt x="652780" y="1305560"/>
                  </a:cubicBezTo>
                  <a:cubicBezTo>
                    <a:pt x="292227" y="1305560"/>
                    <a:pt x="0" y="1013333"/>
                    <a:pt x="0" y="652780"/>
                  </a:cubicBezTo>
                  <a:close/>
                </a:path>
              </a:pathLst>
            </a:custGeom>
            <a:solidFill>
              <a:srgbClr val="E9A23B"/>
            </a:solidFill>
            <a:ln w="19050" cap="sq">
              <a:solidFill>
                <a:srgbClr val="E9A23B"/>
              </a:solidFill>
              <a:prstDash val="solid"/>
              <a:miter/>
            </a:ln>
          </p:spPr>
        </p:sp>
      </p:grpSp>
      <p:grpSp>
        <p:nvGrpSpPr>
          <p:cNvPr name="Group 33" id="33"/>
          <p:cNvGrpSpPr/>
          <p:nvPr/>
        </p:nvGrpSpPr>
        <p:grpSpPr>
          <a:xfrm rot="0">
            <a:off x="9704070" y="4176522"/>
            <a:ext cx="480060" cy="480060"/>
            <a:chOff x="0" y="0"/>
            <a:chExt cx="640080" cy="640080"/>
          </a:xfrm>
        </p:grpSpPr>
        <p:sp>
          <p:nvSpPr>
            <p:cNvPr name="Freeform 34" id="34" descr="preencoded.png"/>
            <p:cNvSpPr/>
            <p:nvPr/>
          </p:nvSpPr>
          <p:spPr>
            <a:xfrm flipH="false" flipV="false" rot="0">
              <a:off x="0" y="0"/>
              <a:ext cx="640080" cy="640080"/>
            </a:xfrm>
            <a:custGeom>
              <a:avLst/>
              <a:gdLst/>
              <a:ahLst/>
              <a:cxnLst/>
              <a:rect r="r" b="b" t="t" l="l"/>
              <a:pathLst>
                <a:path h="640080" w="640080">
                  <a:moveTo>
                    <a:pt x="0" y="0"/>
                  </a:moveTo>
                  <a:lnTo>
                    <a:pt x="640080" y="0"/>
                  </a:lnTo>
                  <a:lnTo>
                    <a:pt x="640080" y="640080"/>
                  </a:lnTo>
                  <a:lnTo>
                    <a:pt x="0" y="640080"/>
                  </a:lnTo>
                  <a:lnTo>
                    <a:pt x="0" y="0"/>
                  </a:lnTo>
                  <a:close/>
                </a:path>
              </a:pathLst>
            </a:custGeom>
            <a:blipFill>
              <a:blip r:embed="rId5"/>
              <a:stretch>
                <a:fillRect l="0" t="0" r="0" b="0"/>
              </a:stretch>
            </a:blipFill>
          </p:spPr>
        </p:sp>
      </p:grpSp>
      <p:sp>
        <p:nvSpPr>
          <p:cNvPr name="TextBox 35" id="35"/>
          <p:cNvSpPr txBox="true"/>
          <p:nvPr/>
        </p:nvSpPr>
        <p:spPr>
          <a:xfrm rot="0">
            <a:off x="10629900" y="3792855"/>
            <a:ext cx="6446520" cy="438150"/>
          </a:xfrm>
          <a:prstGeom prst="rect">
            <a:avLst/>
          </a:prstGeom>
        </p:spPr>
        <p:txBody>
          <a:bodyPr anchor="t" rtlCol="false" tIns="0" lIns="0" bIns="0" rIns="0">
            <a:spAutoFit/>
          </a:bodyPr>
          <a:lstStyle/>
          <a:p>
            <a:pPr algn="l">
              <a:lnSpc>
                <a:spcPts val="3089"/>
              </a:lnSpc>
            </a:pPr>
            <a:r>
              <a:rPr lang="en-US" sz="2574" b="1">
                <a:solidFill>
                  <a:srgbClr val="0B4F5C"/>
                </a:solidFill>
                <a:latin typeface="Calibri"/>
                <a:ea typeface="Calibri"/>
                <a:cs typeface="Calibri"/>
                <a:sym typeface="Calibri"/>
              </a:rPr>
              <a:t>EQUAL · Slow-clock ranking (Tawam, real)</a:t>
            </a:r>
          </a:p>
        </p:txBody>
      </p:sp>
      <p:sp>
        <p:nvSpPr>
          <p:cNvPr name="TextBox 36" id="36"/>
          <p:cNvSpPr txBox="true"/>
          <p:nvPr/>
        </p:nvSpPr>
        <p:spPr>
          <a:xfrm rot="0">
            <a:off x="10629900" y="4359402"/>
            <a:ext cx="6446520" cy="409575"/>
          </a:xfrm>
          <a:prstGeom prst="rect">
            <a:avLst/>
          </a:prstGeom>
        </p:spPr>
        <p:txBody>
          <a:bodyPr anchor="t" rtlCol="false" tIns="0" lIns="0" bIns="0" rIns="0">
            <a:spAutoFit/>
          </a:bodyPr>
          <a:lstStyle/>
          <a:p>
            <a:pPr algn="l">
              <a:lnSpc>
                <a:spcPts val="2819"/>
              </a:lnSpc>
            </a:pPr>
            <a:r>
              <a:rPr lang="en-US" sz="2349">
                <a:solidFill>
                  <a:srgbClr val="1B2B34"/>
                </a:solidFill>
                <a:latin typeface="Calibri"/>
                <a:ea typeface="Calibri"/>
                <a:cs typeface="Calibri"/>
                <a:sym typeface="Calibri"/>
              </a:rPr>
              <a:t>C-index 0.836 vs 0.834 baseline eGFR</a:t>
            </a:r>
          </a:p>
        </p:txBody>
      </p:sp>
      <p:grpSp>
        <p:nvGrpSpPr>
          <p:cNvPr name="Group 37" id="37"/>
          <p:cNvGrpSpPr/>
          <p:nvPr/>
        </p:nvGrpSpPr>
        <p:grpSpPr>
          <a:xfrm rot="0">
            <a:off x="813435" y="5394579"/>
            <a:ext cx="8111490" cy="1555242"/>
            <a:chOff x="0" y="0"/>
            <a:chExt cx="10815320" cy="2073656"/>
          </a:xfrm>
        </p:grpSpPr>
        <p:sp>
          <p:nvSpPr>
            <p:cNvPr name="Freeform 38" id="38"/>
            <p:cNvSpPr/>
            <p:nvPr/>
          </p:nvSpPr>
          <p:spPr>
            <a:xfrm flipH="false" flipV="false" rot="0">
              <a:off x="0" y="0"/>
              <a:ext cx="10815320" cy="2073656"/>
            </a:xfrm>
            <a:custGeom>
              <a:avLst/>
              <a:gdLst/>
              <a:ahLst/>
              <a:cxnLst/>
              <a:rect r="r" b="b" t="t" l="l"/>
              <a:pathLst>
                <a:path h="2073656" w="10815320">
                  <a:moveTo>
                    <a:pt x="0" y="148082"/>
                  </a:moveTo>
                  <a:cubicBezTo>
                    <a:pt x="0" y="66294"/>
                    <a:pt x="66294" y="0"/>
                    <a:pt x="148082" y="0"/>
                  </a:cubicBezTo>
                  <a:lnTo>
                    <a:pt x="10667238" y="0"/>
                  </a:lnTo>
                  <a:cubicBezTo>
                    <a:pt x="10749026" y="0"/>
                    <a:pt x="10815320" y="66294"/>
                    <a:pt x="10815320" y="148082"/>
                  </a:cubicBezTo>
                  <a:lnTo>
                    <a:pt x="10815320" y="1925574"/>
                  </a:lnTo>
                  <a:cubicBezTo>
                    <a:pt x="10815320" y="2007362"/>
                    <a:pt x="10749026" y="2073656"/>
                    <a:pt x="10667238" y="2073656"/>
                  </a:cubicBezTo>
                  <a:lnTo>
                    <a:pt x="148082" y="2073656"/>
                  </a:lnTo>
                  <a:cubicBezTo>
                    <a:pt x="66294" y="2073656"/>
                    <a:pt x="0" y="2007362"/>
                    <a:pt x="0" y="1925574"/>
                  </a:cubicBezTo>
                  <a:close/>
                </a:path>
              </a:pathLst>
            </a:custGeom>
            <a:solidFill>
              <a:srgbClr val="EEF5F5"/>
            </a:solidFill>
            <a:ln w="19050" cap="sq">
              <a:solidFill>
                <a:srgbClr val="EEF5F5"/>
              </a:solidFill>
              <a:prstDash val="solid"/>
              <a:miter/>
            </a:ln>
          </p:spPr>
        </p:sp>
      </p:grpSp>
      <p:grpSp>
        <p:nvGrpSpPr>
          <p:cNvPr name="Group 39" id="39"/>
          <p:cNvGrpSpPr/>
          <p:nvPr/>
        </p:nvGrpSpPr>
        <p:grpSpPr>
          <a:xfrm rot="0">
            <a:off x="1087755" y="5668899"/>
            <a:ext cx="979170" cy="979170"/>
            <a:chOff x="0" y="0"/>
            <a:chExt cx="1305560" cy="1305560"/>
          </a:xfrm>
        </p:grpSpPr>
        <p:sp>
          <p:nvSpPr>
            <p:cNvPr name="Freeform 40" id="40"/>
            <p:cNvSpPr/>
            <p:nvPr/>
          </p:nvSpPr>
          <p:spPr>
            <a:xfrm flipH="false" flipV="false" rot="0">
              <a:off x="0" y="0"/>
              <a:ext cx="1305560" cy="1305560"/>
            </a:xfrm>
            <a:custGeom>
              <a:avLst/>
              <a:gdLst/>
              <a:ahLst/>
              <a:cxnLst/>
              <a:rect r="r" b="b" t="t" l="l"/>
              <a:pathLst>
                <a:path h="1305560" w="1305560">
                  <a:moveTo>
                    <a:pt x="0" y="652780"/>
                  </a:moveTo>
                  <a:cubicBezTo>
                    <a:pt x="0" y="292227"/>
                    <a:pt x="292227" y="0"/>
                    <a:pt x="652780" y="0"/>
                  </a:cubicBezTo>
                  <a:cubicBezTo>
                    <a:pt x="1013333" y="0"/>
                    <a:pt x="1305560" y="292227"/>
                    <a:pt x="1305560" y="652780"/>
                  </a:cubicBezTo>
                  <a:cubicBezTo>
                    <a:pt x="1305560" y="1013333"/>
                    <a:pt x="1013333" y="1305560"/>
                    <a:pt x="652780" y="1305560"/>
                  </a:cubicBezTo>
                  <a:cubicBezTo>
                    <a:pt x="292227" y="1305560"/>
                    <a:pt x="0" y="1013333"/>
                    <a:pt x="0" y="652780"/>
                  </a:cubicBezTo>
                  <a:close/>
                </a:path>
              </a:pathLst>
            </a:custGeom>
            <a:solidFill>
              <a:srgbClr val="D9472B"/>
            </a:solidFill>
            <a:ln w="19050" cap="sq">
              <a:solidFill>
                <a:srgbClr val="D9472B"/>
              </a:solidFill>
              <a:prstDash val="solid"/>
              <a:miter/>
            </a:ln>
          </p:spPr>
        </p:sp>
      </p:grpSp>
      <p:grpSp>
        <p:nvGrpSpPr>
          <p:cNvPr name="Group 41" id="41"/>
          <p:cNvGrpSpPr/>
          <p:nvPr/>
        </p:nvGrpSpPr>
        <p:grpSpPr>
          <a:xfrm rot="0">
            <a:off x="1337310" y="5918454"/>
            <a:ext cx="480060" cy="480060"/>
            <a:chOff x="0" y="0"/>
            <a:chExt cx="640080" cy="640080"/>
          </a:xfrm>
        </p:grpSpPr>
        <p:sp>
          <p:nvSpPr>
            <p:cNvPr name="Freeform 42" id="42" descr="preencoded.png"/>
            <p:cNvSpPr/>
            <p:nvPr/>
          </p:nvSpPr>
          <p:spPr>
            <a:xfrm flipH="false" flipV="false" rot="0">
              <a:off x="0" y="0"/>
              <a:ext cx="640080" cy="640080"/>
            </a:xfrm>
            <a:custGeom>
              <a:avLst/>
              <a:gdLst/>
              <a:ahLst/>
              <a:cxnLst/>
              <a:rect r="r" b="b" t="t" l="l"/>
              <a:pathLst>
                <a:path h="640080" w="640080">
                  <a:moveTo>
                    <a:pt x="0" y="0"/>
                  </a:moveTo>
                  <a:lnTo>
                    <a:pt x="640080" y="0"/>
                  </a:lnTo>
                  <a:lnTo>
                    <a:pt x="640080" y="640080"/>
                  </a:lnTo>
                  <a:lnTo>
                    <a:pt x="0" y="640080"/>
                  </a:lnTo>
                  <a:lnTo>
                    <a:pt x="0" y="0"/>
                  </a:lnTo>
                  <a:close/>
                </a:path>
              </a:pathLst>
            </a:custGeom>
            <a:blipFill>
              <a:blip r:embed="rId6"/>
              <a:stretch>
                <a:fillRect l="0" t="0" r="0" b="0"/>
              </a:stretch>
            </a:blipFill>
          </p:spPr>
        </p:sp>
      </p:grpSp>
      <p:sp>
        <p:nvSpPr>
          <p:cNvPr name="TextBox 43" id="43"/>
          <p:cNvSpPr txBox="true"/>
          <p:nvPr/>
        </p:nvSpPr>
        <p:spPr>
          <a:xfrm rot="0">
            <a:off x="2263140" y="5534787"/>
            <a:ext cx="6446520" cy="438150"/>
          </a:xfrm>
          <a:prstGeom prst="rect">
            <a:avLst/>
          </a:prstGeom>
        </p:spPr>
        <p:txBody>
          <a:bodyPr anchor="t" rtlCol="false" tIns="0" lIns="0" bIns="0" rIns="0">
            <a:spAutoFit/>
          </a:bodyPr>
          <a:lstStyle/>
          <a:p>
            <a:pPr algn="l">
              <a:lnSpc>
                <a:spcPts val="3089"/>
              </a:lnSpc>
            </a:pPr>
            <a:r>
              <a:rPr lang="en-US" sz="2574" b="1">
                <a:solidFill>
                  <a:srgbClr val="0B4F5C"/>
                </a:solidFill>
                <a:latin typeface="Calibri"/>
                <a:ea typeface="Calibri"/>
                <a:cs typeface="Calibri"/>
                <a:sym typeface="Calibri"/>
              </a:rPr>
              <a:t>MISSED · Lead-time target ≥ 24 h</a:t>
            </a:r>
          </a:p>
        </p:txBody>
      </p:sp>
      <p:sp>
        <p:nvSpPr>
          <p:cNvPr name="TextBox 44" id="44"/>
          <p:cNvSpPr txBox="true"/>
          <p:nvPr/>
        </p:nvSpPr>
        <p:spPr>
          <a:xfrm rot="0">
            <a:off x="2263140" y="6101334"/>
            <a:ext cx="6446520" cy="409575"/>
          </a:xfrm>
          <a:prstGeom prst="rect">
            <a:avLst/>
          </a:prstGeom>
        </p:spPr>
        <p:txBody>
          <a:bodyPr anchor="t" rtlCol="false" tIns="0" lIns="0" bIns="0" rIns="0">
            <a:spAutoFit/>
          </a:bodyPr>
          <a:lstStyle/>
          <a:p>
            <a:pPr algn="l">
              <a:lnSpc>
                <a:spcPts val="2819"/>
              </a:lnSpc>
            </a:pPr>
            <a:r>
              <a:rPr lang="en-US" sz="2349">
                <a:solidFill>
                  <a:srgbClr val="1B2B34"/>
                </a:solidFill>
                <a:latin typeface="Calibri"/>
                <a:ea typeface="Calibri"/>
                <a:cs typeface="Calibri"/>
                <a:sym typeface="Calibri"/>
              </a:rPr>
              <a:t>23 h median: warnings come the day before</a:t>
            </a:r>
          </a:p>
        </p:txBody>
      </p:sp>
      <p:grpSp>
        <p:nvGrpSpPr>
          <p:cNvPr name="Group 45" id="45"/>
          <p:cNvGrpSpPr/>
          <p:nvPr/>
        </p:nvGrpSpPr>
        <p:grpSpPr>
          <a:xfrm rot="0">
            <a:off x="9180195" y="5394579"/>
            <a:ext cx="8111490" cy="1555242"/>
            <a:chOff x="0" y="0"/>
            <a:chExt cx="10815320" cy="2073656"/>
          </a:xfrm>
        </p:grpSpPr>
        <p:sp>
          <p:nvSpPr>
            <p:cNvPr name="Freeform 46" id="46"/>
            <p:cNvSpPr/>
            <p:nvPr/>
          </p:nvSpPr>
          <p:spPr>
            <a:xfrm flipH="false" flipV="false" rot="0">
              <a:off x="0" y="0"/>
              <a:ext cx="10815320" cy="2073656"/>
            </a:xfrm>
            <a:custGeom>
              <a:avLst/>
              <a:gdLst/>
              <a:ahLst/>
              <a:cxnLst/>
              <a:rect r="r" b="b" t="t" l="l"/>
              <a:pathLst>
                <a:path h="2073656" w="10815320">
                  <a:moveTo>
                    <a:pt x="0" y="148082"/>
                  </a:moveTo>
                  <a:cubicBezTo>
                    <a:pt x="0" y="66294"/>
                    <a:pt x="66294" y="0"/>
                    <a:pt x="148082" y="0"/>
                  </a:cubicBezTo>
                  <a:lnTo>
                    <a:pt x="10667238" y="0"/>
                  </a:lnTo>
                  <a:cubicBezTo>
                    <a:pt x="10749026" y="0"/>
                    <a:pt x="10815320" y="66294"/>
                    <a:pt x="10815320" y="148082"/>
                  </a:cubicBezTo>
                  <a:lnTo>
                    <a:pt x="10815320" y="1925574"/>
                  </a:lnTo>
                  <a:cubicBezTo>
                    <a:pt x="10815320" y="2007362"/>
                    <a:pt x="10749026" y="2073656"/>
                    <a:pt x="10667238" y="2073656"/>
                  </a:cubicBezTo>
                  <a:lnTo>
                    <a:pt x="148082" y="2073656"/>
                  </a:lnTo>
                  <a:cubicBezTo>
                    <a:pt x="66294" y="2073656"/>
                    <a:pt x="0" y="2007362"/>
                    <a:pt x="0" y="1925574"/>
                  </a:cubicBezTo>
                  <a:close/>
                </a:path>
              </a:pathLst>
            </a:custGeom>
            <a:solidFill>
              <a:srgbClr val="EEF5F5"/>
            </a:solidFill>
            <a:ln w="19050" cap="sq">
              <a:solidFill>
                <a:srgbClr val="EEF5F5"/>
              </a:solidFill>
              <a:prstDash val="solid"/>
              <a:miter/>
            </a:ln>
          </p:spPr>
        </p:sp>
      </p:grpSp>
      <p:grpSp>
        <p:nvGrpSpPr>
          <p:cNvPr name="Group 47" id="47"/>
          <p:cNvGrpSpPr/>
          <p:nvPr/>
        </p:nvGrpSpPr>
        <p:grpSpPr>
          <a:xfrm rot="0">
            <a:off x="9454515" y="5668899"/>
            <a:ext cx="979170" cy="979170"/>
            <a:chOff x="0" y="0"/>
            <a:chExt cx="1305560" cy="1305560"/>
          </a:xfrm>
        </p:grpSpPr>
        <p:sp>
          <p:nvSpPr>
            <p:cNvPr name="Freeform 48" id="48"/>
            <p:cNvSpPr/>
            <p:nvPr/>
          </p:nvSpPr>
          <p:spPr>
            <a:xfrm flipH="false" flipV="false" rot="0">
              <a:off x="0" y="0"/>
              <a:ext cx="1305560" cy="1305560"/>
            </a:xfrm>
            <a:custGeom>
              <a:avLst/>
              <a:gdLst/>
              <a:ahLst/>
              <a:cxnLst/>
              <a:rect r="r" b="b" t="t" l="l"/>
              <a:pathLst>
                <a:path h="1305560" w="1305560">
                  <a:moveTo>
                    <a:pt x="0" y="652780"/>
                  </a:moveTo>
                  <a:cubicBezTo>
                    <a:pt x="0" y="292227"/>
                    <a:pt x="292227" y="0"/>
                    <a:pt x="652780" y="0"/>
                  </a:cubicBezTo>
                  <a:cubicBezTo>
                    <a:pt x="1013333" y="0"/>
                    <a:pt x="1305560" y="292227"/>
                    <a:pt x="1305560" y="652780"/>
                  </a:cubicBezTo>
                  <a:cubicBezTo>
                    <a:pt x="1305560" y="1013333"/>
                    <a:pt x="1013333" y="1305560"/>
                    <a:pt x="652780" y="1305560"/>
                  </a:cubicBezTo>
                  <a:cubicBezTo>
                    <a:pt x="292227" y="1305560"/>
                    <a:pt x="0" y="1013333"/>
                    <a:pt x="0" y="652780"/>
                  </a:cubicBezTo>
                  <a:close/>
                </a:path>
              </a:pathLst>
            </a:custGeom>
            <a:solidFill>
              <a:srgbClr val="D9472B"/>
            </a:solidFill>
            <a:ln w="19050" cap="sq">
              <a:solidFill>
                <a:srgbClr val="D9472B"/>
              </a:solidFill>
              <a:prstDash val="solid"/>
              <a:miter/>
            </a:ln>
          </p:spPr>
        </p:sp>
      </p:grpSp>
      <p:grpSp>
        <p:nvGrpSpPr>
          <p:cNvPr name="Group 49" id="49"/>
          <p:cNvGrpSpPr/>
          <p:nvPr/>
        </p:nvGrpSpPr>
        <p:grpSpPr>
          <a:xfrm rot="0">
            <a:off x="9704070" y="5918454"/>
            <a:ext cx="480060" cy="480060"/>
            <a:chOff x="0" y="0"/>
            <a:chExt cx="640080" cy="640080"/>
          </a:xfrm>
        </p:grpSpPr>
        <p:sp>
          <p:nvSpPr>
            <p:cNvPr name="Freeform 50" id="50" descr="preencoded.png"/>
            <p:cNvSpPr/>
            <p:nvPr/>
          </p:nvSpPr>
          <p:spPr>
            <a:xfrm flipH="false" flipV="false" rot="0">
              <a:off x="0" y="0"/>
              <a:ext cx="640080" cy="640080"/>
            </a:xfrm>
            <a:custGeom>
              <a:avLst/>
              <a:gdLst/>
              <a:ahLst/>
              <a:cxnLst/>
              <a:rect r="r" b="b" t="t" l="l"/>
              <a:pathLst>
                <a:path h="640080" w="640080">
                  <a:moveTo>
                    <a:pt x="0" y="0"/>
                  </a:moveTo>
                  <a:lnTo>
                    <a:pt x="640080" y="0"/>
                  </a:lnTo>
                  <a:lnTo>
                    <a:pt x="640080" y="640080"/>
                  </a:lnTo>
                  <a:lnTo>
                    <a:pt x="0" y="640080"/>
                  </a:lnTo>
                  <a:lnTo>
                    <a:pt x="0" y="0"/>
                  </a:lnTo>
                  <a:close/>
                </a:path>
              </a:pathLst>
            </a:custGeom>
            <a:blipFill>
              <a:blip r:embed="rId6"/>
              <a:stretch>
                <a:fillRect l="0" t="0" r="0" b="0"/>
              </a:stretch>
            </a:blipFill>
          </p:spPr>
        </p:sp>
      </p:grpSp>
      <p:sp>
        <p:nvSpPr>
          <p:cNvPr name="TextBox 51" id="51"/>
          <p:cNvSpPr txBox="true"/>
          <p:nvPr/>
        </p:nvSpPr>
        <p:spPr>
          <a:xfrm rot="0">
            <a:off x="10629900" y="5534787"/>
            <a:ext cx="6446520" cy="438150"/>
          </a:xfrm>
          <a:prstGeom prst="rect">
            <a:avLst/>
          </a:prstGeom>
        </p:spPr>
        <p:txBody>
          <a:bodyPr anchor="t" rtlCol="false" tIns="0" lIns="0" bIns="0" rIns="0">
            <a:spAutoFit/>
          </a:bodyPr>
          <a:lstStyle/>
          <a:p>
            <a:pPr algn="l">
              <a:lnSpc>
                <a:spcPts val="3089"/>
              </a:lnSpc>
            </a:pPr>
            <a:r>
              <a:rPr lang="en-US" sz="2574" b="1">
                <a:solidFill>
                  <a:srgbClr val="0B4F5C"/>
                </a:solidFill>
                <a:latin typeface="Calibri"/>
                <a:ea typeface="Calibri"/>
                <a:cs typeface="Calibri"/>
                <a:sym typeface="Calibri"/>
              </a:rPr>
              <a:t>FAIL · Creatinine filter on ICU data</a:t>
            </a:r>
          </a:p>
        </p:txBody>
      </p:sp>
      <p:sp>
        <p:nvSpPr>
          <p:cNvPr name="TextBox 52" id="52"/>
          <p:cNvSpPr txBox="true"/>
          <p:nvPr/>
        </p:nvSpPr>
        <p:spPr>
          <a:xfrm rot="0">
            <a:off x="10629900" y="6101334"/>
            <a:ext cx="6446520" cy="409575"/>
          </a:xfrm>
          <a:prstGeom prst="rect">
            <a:avLst/>
          </a:prstGeom>
        </p:spPr>
        <p:txBody>
          <a:bodyPr anchor="t" rtlCol="false" tIns="0" lIns="0" bIns="0" rIns="0">
            <a:spAutoFit/>
          </a:bodyPr>
          <a:lstStyle/>
          <a:p>
            <a:pPr algn="l">
              <a:lnSpc>
                <a:spcPts val="2819"/>
              </a:lnSpc>
            </a:pPr>
            <a:r>
              <a:rPr lang="en-US" sz="2349">
                <a:solidFill>
                  <a:srgbClr val="1B2B34"/>
                </a:solidFill>
                <a:latin typeface="Calibri"/>
                <a:ea typeface="Calibri"/>
                <a:cs typeface="Calibri"/>
                <a:sym typeface="Calibri"/>
              </a:rPr>
              <a:t>Carry-forward wins (0.53 vs 0.56 mg/dL)</a:t>
            </a:r>
          </a:p>
        </p:txBody>
      </p:sp>
      <p:grpSp>
        <p:nvGrpSpPr>
          <p:cNvPr name="Group 53" id="53"/>
          <p:cNvGrpSpPr/>
          <p:nvPr/>
        </p:nvGrpSpPr>
        <p:grpSpPr>
          <a:xfrm rot="0">
            <a:off x="813435" y="7136511"/>
            <a:ext cx="8111490" cy="1555242"/>
            <a:chOff x="0" y="0"/>
            <a:chExt cx="10815320" cy="2073656"/>
          </a:xfrm>
        </p:grpSpPr>
        <p:sp>
          <p:nvSpPr>
            <p:cNvPr name="Freeform 54" id="54"/>
            <p:cNvSpPr/>
            <p:nvPr/>
          </p:nvSpPr>
          <p:spPr>
            <a:xfrm flipH="false" flipV="false" rot="0">
              <a:off x="0" y="0"/>
              <a:ext cx="10815320" cy="2073656"/>
            </a:xfrm>
            <a:custGeom>
              <a:avLst/>
              <a:gdLst/>
              <a:ahLst/>
              <a:cxnLst/>
              <a:rect r="r" b="b" t="t" l="l"/>
              <a:pathLst>
                <a:path h="2073656" w="10815320">
                  <a:moveTo>
                    <a:pt x="0" y="148082"/>
                  </a:moveTo>
                  <a:cubicBezTo>
                    <a:pt x="0" y="66294"/>
                    <a:pt x="66294" y="0"/>
                    <a:pt x="148082" y="0"/>
                  </a:cubicBezTo>
                  <a:lnTo>
                    <a:pt x="10667238" y="0"/>
                  </a:lnTo>
                  <a:cubicBezTo>
                    <a:pt x="10749026" y="0"/>
                    <a:pt x="10815320" y="66294"/>
                    <a:pt x="10815320" y="148082"/>
                  </a:cubicBezTo>
                  <a:lnTo>
                    <a:pt x="10815320" y="1925574"/>
                  </a:lnTo>
                  <a:cubicBezTo>
                    <a:pt x="10815320" y="2007362"/>
                    <a:pt x="10749026" y="2073656"/>
                    <a:pt x="10667238" y="2073656"/>
                  </a:cubicBezTo>
                  <a:lnTo>
                    <a:pt x="148082" y="2073656"/>
                  </a:lnTo>
                  <a:cubicBezTo>
                    <a:pt x="66294" y="2073656"/>
                    <a:pt x="0" y="2007362"/>
                    <a:pt x="0" y="1925574"/>
                  </a:cubicBezTo>
                  <a:close/>
                </a:path>
              </a:pathLst>
            </a:custGeom>
            <a:solidFill>
              <a:srgbClr val="EEF5F5"/>
            </a:solidFill>
            <a:ln w="19050" cap="sq">
              <a:solidFill>
                <a:srgbClr val="EEF5F5"/>
              </a:solidFill>
              <a:prstDash val="solid"/>
              <a:miter/>
            </a:ln>
          </p:spPr>
        </p:sp>
      </p:grpSp>
      <p:grpSp>
        <p:nvGrpSpPr>
          <p:cNvPr name="Group 55" id="55"/>
          <p:cNvGrpSpPr/>
          <p:nvPr/>
        </p:nvGrpSpPr>
        <p:grpSpPr>
          <a:xfrm rot="0">
            <a:off x="1087755" y="7410831"/>
            <a:ext cx="979170" cy="979170"/>
            <a:chOff x="0" y="0"/>
            <a:chExt cx="1305560" cy="1305560"/>
          </a:xfrm>
        </p:grpSpPr>
        <p:sp>
          <p:nvSpPr>
            <p:cNvPr name="Freeform 56" id="56"/>
            <p:cNvSpPr/>
            <p:nvPr/>
          </p:nvSpPr>
          <p:spPr>
            <a:xfrm flipH="false" flipV="false" rot="0">
              <a:off x="0" y="0"/>
              <a:ext cx="1305560" cy="1305560"/>
            </a:xfrm>
            <a:custGeom>
              <a:avLst/>
              <a:gdLst/>
              <a:ahLst/>
              <a:cxnLst/>
              <a:rect r="r" b="b" t="t" l="l"/>
              <a:pathLst>
                <a:path h="1305560" w="1305560">
                  <a:moveTo>
                    <a:pt x="0" y="652780"/>
                  </a:moveTo>
                  <a:cubicBezTo>
                    <a:pt x="0" y="292227"/>
                    <a:pt x="292227" y="0"/>
                    <a:pt x="652780" y="0"/>
                  </a:cubicBezTo>
                  <a:cubicBezTo>
                    <a:pt x="1013333" y="0"/>
                    <a:pt x="1305560" y="292227"/>
                    <a:pt x="1305560" y="652780"/>
                  </a:cubicBezTo>
                  <a:cubicBezTo>
                    <a:pt x="1305560" y="1013333"/>
                    <a:pt x="1013333" y="1305560"/>
                    <a:pt x="652780" y="1305560"/>
                  </a:cubicBezTo>
                  <a:cubicBezTo>
                    <a:pt x="292227" y="1305560"/>
                    <a:pt x="0" y="1013333"/>
                    <a:pt x="0" y="652780"/>
                  </a:cubicBezTo>
                  <a:close/>
                </a:path>
              </a:pathLst>
            </a:custGeom>
            <a:solidFill>
              <a:srgbClr val="D9472B"/>
            </a:solidFill>
            <a:ln w="19050" cap="sq">
              <a:solidFill>
                <a:srgbClr val="D9472B"/>
              </a:solidFill>
              <a:prstDash val="solid"/>
              <a:miter/>
            </a:ln>
          </p:spPr>
        </p:sp>
      </p:grpSp>
      <p:grpSp>
        <p:nvGrpSpPr>
          <p:cNvPr name="Group 57" id="57"/>
          <p:cNvGrpSpPr/>
          <p:nvPr/>
        </p:nvGrpSpPr>
        <p:grpSpPr>
          <a:xfrm rot="0">
            <a:off x="1337310" y="7660386"/>
            <a:ext cx="480060" cy="480060"/>
            <a:chOff x="0" y="0"/>
            <a:chExt cx="640080" cy="640080"/>
          </a:xfrm>
        </p:grpSpPr>
        <p:sp>
          <p:nvSpPr>
            <p:cNvPr name="Freeform 58" id="58" descr="preencoded.png"/>
            <p:cNvSpPr/>
            <p:nvPr/>
          </p:nvSpPr>
          <p:spPr>
            <a:xfrm flipH="false" flipV="false" rot="0">
              <a:off x="0" y="0"/>
              <a:ext cx="640080" cy="640080"/>
            </a:xfrm>
            <a:custGeom>
              <a:avLst/>
              <a:gdLst/>
              <a:ahLst/>
              <a:cxnLst/>
              <a:rect r="r" b="b" t="t" l="l"/>
              <a:pathLst>
                <a:path h="640080" w="640080">
                  <a:moveTo>
                    <a:pt x="0" y="0"/>
                  </a:moveTo>
                  <a:lnTo>
                    <a:pt x="640080" y="0"/>
                  </a:lnTo>
                  <a:lnTo>
                    <a:pt x="640080" y="640080"/>
                  </a:lnTo>
                  <a:lnTo>
                    <a:pt x="0" y="640080"/>
                  </a:lnTo>
                  <a:lnTo>
                    <a:pt x="0" y="0"/>
                  </a:lnTo>
                  <a:close/>
                </a:path>
              </a:pathLst>
            </a:custGeom>
            <a:blipFill>
              <a:blip r:embed="rId6"/>
              <a:stretch>
                <a:fillRect l="0" t="0" r="0" b="0"/>
              </a:stretch>
            </a:blipFill>
          </p:spPr>
        </p:sp>
      </p:grpSp>
      <p:sp>
        <p:nvSpPr>
          <p:cNvPr name="TextBox 59" id="59"/>
          <p:cNvSpPr txBox="true"/>
          <p:nvPr/>
        </p:nvSpPr>
        <p:spPr>
          <a:xfrm rot="0">
            <a:off x="2263140" y="7276719"/>
            <a:ext cx="6446520" cy="438150"/>
          </a:xfrm>
          <a:prstGeom prst="rect">
            <a:avLst/>
          </a:prstGeom>
        </p:spPr>
        <p:txBody>
          <a:bodyPr anchor="t" rtlCol="false" tIns="0" lIns="0" bIns="0" rIns="0">
            <a:spAutoFit/>
          </a:bodyPr>
          <a:lstStyle/>
          <a:p>
            <a:pPr algn="l">
              <a:lnSpc>
                <a:spcPts val="3089"/>
              </a:lnSpc>
            </a:pPr>
            <a:r>
              <a:rPr lang="en-US" sz="2574" b="1">
                <a:solidFill>
                  <a:srgbClr val="0B4F5C"/>
                </a:solidFill>
                <a:latin typeface="Calibri"/>
                <a:ea typeface="Calibri"/>
                <a:cs typeface="Calibri"/>
                <a:sym typeface="Calibri"/>
              </a:rPr>
              <a:t>FAIL · Cross-shift rises in cane cutters</a:t>
            </a:r>
          </a:p>
        </p:txBody>
      </p:sp>
      <p:sp>
        <p:nvSpPr>
          <p:cNvPr name="TextBox 60" id="60"/>
          <p:cNvSpPr txBox="true"/>
          <p:nvPr/>
        </p:nvSpPr>
        <p:spPr>
          <a:xfrm rot="0">
            <a:off x="2263140" y="7843266"/>
            <a:ext cx="6446520" cy="409575"/>
          </a:xfrm>
          <a:prstGeom prst="rect">
            <a:avLst/>
          </a:prstGeom>
        </p:spPr>
        <p:txBody>
          <a:bodyPr anchor="t" rtlCol="false" tIns="0" lIns="0" bIns="0" rIns="0">
            <a:spAutoFit/>
          </a:bodyPr>
          <a:lstStyle/>
          <a:p>
            <a:pPr algn="l">
              <a:lnSpc>
                <a:spcPts val="2819"/>
              </a:lnSpc>
            </a:pPr>
            <a:r>
              <a:rPr lang="en-US" sz="2349">
                <a:solidFill>
                  <a:srgbClr val="1B2B34"/>
                </a:solidFill>
                <a:latin typeface="Calibri"/>
                <a:ea typeface="Calibri"/>
                <a:cs typeface="Calibri"/>
                <a:sym typeface="Calibri"/>
              </a:rPr>
              <a:t>Exertion &amp; muscle effects under-modelled</a:t>
            </a:r>
          </a:p>
        </p:txBody>
      </p:sp>
      <p:grpSp>
        <p:nvGrpSpPr>
          <p:cNvPr name="Group 61" id="61"/>
          <p:cNvGrpSpPr/>
          <p:nvPr/>
        </p:nvGrpSpPr>
        <p:grpSpPr>
          <a:xfrm rot="0">
            <a:off x="9180195" y="7136511"/>
            <a:ext cx="8111490" cy="1555242"/>
            <a:chOff x="0" y="0"/>
            <a:chExt cx="10815320" cy="2073656"/>
          </a:xfrm>
        </p:grpSpPr>
        <p:sp>
          <p:nvSpPr>
            <p:cNvPr name="Freeform 62" id="62"/>
            <p:cNvSpPr/>
            <p:nvPr/>
          </p:nvSpPr>
          <p:spPr>
            <a:xfrm flipH="false" flipV="false" rot="0">
              <a:off x="0" y="0"/>
              <a:ext cx="10815320" cy="2073656"/>
            </a:xfrm>
            <a:custGeom>
              <a:avLst/>
              <a:gdLst/>
              <a:ahLst/>
              <a:cxnLst/>
              <a:rect r="r" b="b" t="t" l="l"/>
              <a:pathLst>
                <a:path h="2073656" w="10815320">
                  <a:moveTo>
                    <a:pt x="0" y="148082"/>
                  </a:moveTo>
                  <a:cubicBezTo>
                    <a:pt x="0" y="66294"/>
                    <a:pt x="66294" y="0"/>
                    <a:pt x="148082" y="0"/>
                  </a:cubicBezTo>
                  <a:lnTo>
                    <a:pt x="10667238" y="0"/>
                  </a:lnTo>
                  <a:cubicBezTo>
                    <a:pt x="10749026" y="0"/>
                    <a:pt x="10815320" y="66294"/>
                    <a:pt x="10815320" y="148082"/>
                  </a:cubicBezTo>
                  <a:lnTo>
                    <a:pt x="10815320" y="1925574"/>
                  </a:lnTo>
                  <a:cubicBezTo>
                    <a:pt x="10815320" y="2007362"/>
                    <a:pt x="10749026" y="2073656"/>
                    <a:pt x="10667238" y="2073656"/>
                  </a:cubicBezTo>
                  <a:lnTo>
                    <a:pt x="148082" y="2073656"/>
                  </a:lnTo>
                  <a:cubicBezTo>
                    <a:pt x="66294" y="2073656"/>
                    <a:pt x="0" y="2007362"/>
                    <a:pt x="0" y="1925574"/>
                  </a:cubicBezTo>
                  <a:close/>
                </a:path>
              </a:pathLst>
            </a:custGeom>
            <a:solidFill>
              <a:srgbClr val="EEF5F5"/>
            </a:solidFill>
            <a:ln w="19050" cap="sq">
              <a:solidFill>
                <a:srgbClr val="EEF5F5"/>
              </a:solidFill>
              <a:prstDash val="solid"/>
              <a:miter/>
            </a:ln>
          </p:spPr>
        </p:sp>
      </p:grpSp>
      <p:grpSp>
        <p:nvGrpSpPr>
          <p:cNvPr name="Group 63" id="63"/>
          <p:cNvGrpSpPr/>
          <p:nvPr/>
        </p:nvGrpSpPr>
        <p:grpSpPr>
          <a:xfrm rot="0">
            <a:off x="9454515" y="7410831"/>
            <a:ext cx="979170" cy="979170"/>
            <a:chOff x="0" y="0"/>
            <a:chExt cx="1305560" cy="1305560"/>
          </a:xfrm>
        </p:grpSpPr>
        <p:sp>
          <p:nvSpPr>
            <p:cNvPr name="Freeform 64" id="64"/>
            <p:cNvSpPr/>
            <p:nvPr/>
          </p:nvSpPr>
          <p:spPr>
            <a:xfrm flipH="false" flipV="false" rot="0">
              <a:off x="0" y="0"/>
              <a:ext cx="1305560" cy="1305560"/>
            </a:xfrm>
            <a:custGeom>
              <a:avLst/>
              <a:gdLst/>
              <a:ahLst/>
              <a:cxnLst/>
              <a:rect r="r" b="b" t="t" l="l"/>
              <a:pathLst>
                <a:path h="1305560" w="1305560">
                  <a:moveTo>
                    <a:pt x="0" y="652780"/>
                  </a:moveTo>
                  <a:cubicBezTo>
                    <a:pt x="0" y="292227"/>
                    <a:pt x="292227" y="0"/>
                    <a:pt x="652780" y="0"/>
                  </a:cubicBezTo>
                  <a:cubicBezTo>
                    <a:pt x="1013333" y="0"/>
                    <a:pt x="1305560" y="292227"/>
                    <a:pt x="1305560" y="652780"/>
                  </a:cubicBezTo>
                  <a:cubicBezTo>
                    <a:pt x="1305560" y="1013333"/>
                    <a:pt x="1013333" y="1305560"/>
                    <a:pt x="652780" y="1305560"/>
                  </a:cubicBezTo>
                  <a:cubicBezTo>
                    <a:pt x="292227" y="1305560"/>
                    <a:pt x="0" y="1013333"/>
                    <a:pt x="0" y="652780"/>
                  </a:cubicBezTo>
                  <a:close/>
                </a:path>
              </a:pathLst>
            </a:custGeom>
            <a:solidFill>
              <a:srgbClr val="D9472B"/>
            </a:solidFill>
            <a:ln w="19050" cap="sq">
              <a:solidFill>
                <a:srgbClr val="D9472B"/>
              </a:solidFill>
              <a:prstDash val="solid"/>
              <a:miter/>
            </a:ln>
          </p:spPr>
        </p:sp>
      </p:grpSp>
      <p:grpSp>
        <p:nvGrpSpPr>
          <p:cNvPr name="Group 65" id="65"/>
          <p:cNvGrpSpPr/>
          <p:nvPr/>
        </p:nvGrpSpPr>
        <p:grpSpPr>
          <a:xfrm rot="0">
            <a:off x="9704070" y="7660386"/>
            <a:ext cx="480060" cy="480060"/>
            <a:chOff x="0" y="0"/>
            <a:chExt cx="640080" cy="640080"/>
          </a:xfrm>
        </p:grpSpPr>
        <p:sp>
          <p:nvSpPr>
            <p:cNvPr name="Freeform 66" id="66" descr="preencoded.png"/>
            <p:cNvSpPr/>
            <p:nvPr/>
          </p:nvSpPr>
          <p:spPr>
            <a:xfrm flipH="false" flipV="false" rot="0">
              <a:off x="0" y="0"/>
              <a:ext cx="640080" cy="640080"/>
            </a:xfrm>
            <a:custGeom>
              <a:avLst/>
              <a:gdLst/>
              <a:ahLst/>
              <a:cxnLst/>
              <a:rect r="r" b="b" t="t" l="l"/>
              <a:pathLst>
                <a:path h="640080" w="640080">
                  <a:moveTo>
                    <a:pt x="0" y="0"/>
                  </a:moveTo>
                  <a:lnTo>
                    <a:pt x="640080" y="0"/>
                  </a:lnTo>
                  <a:lnTo>
                    <a:pt x="640080" y="640080"/>
                  </a:lnTo>
                  <a:lnTo>
                    <a:pt x="0" y="640080"/>
                  </a:lnTo>
                  <a:lnTo>
                    <a:pt x="0" y="0"/>
                  </a:lnTo>
                  <a:close/>
                </a:path>
              </a:pathLst>
            </a:custGeom>
            <a:blipFill>
              <a:blip r:embed="rId6"/>
              <a:stretch>
                <a:fillRect l="0" t="0" r="0" b="0"/>
              </a:stretch>
            </a:blipFill>
          </p:spPr>
        </p:sp>
      </p:grpSp>
      <p:sp>
        <p:nvSpPr>
          <p:cNvPr name="TextBox 67" id="67"/>
          <p:cNvSpPr txBox="true"/>
          <p:nvPr/>
        </p:nvSpPr>
        <p:spPr>
          <a:xfrm rot="0">
            <a:off x="10629900" y="7276719"/>
            <a:ext cx="6446520" cy="438150"/>
          </a:xfrm>
          <a:prstGeom prst="rect">
            <a:avLst/>
          </a:prstGeom>
        </p:spPr>
        <p:txBody>
          <a:bodyPr anchor="t" rtlCol="false" tIns="0" lIns="0" bIns="0" rIns="0">
            <a:spAutoFit/>
          </a:bodyPr>
          <a:lstStyle/>
          <a:p>
            <a:pPr algn="l">
              <a:lnSpc>
                <a:spcPts val="3089"/>
              </a:lnSpc>
            </a:pPr>
            <a:r>
              <a:rPr lang="en-US" sz="2574" b="1">
                <a:solidFill>
                  <a:srgbClr val="0B4F5C"/>
                </a:solidFill>
                <a:latin typeface="Calibri"/>
                <a:ea typeface="Calibri"/>
                <a:cs typeface="Calibri"/>
                <a:sym typeface="Calibri"/>
              </a:rPr>
              <a:t>LOSS · Hybrid vs plain LightGBM (AUPRC)</a:t>
            </a:r>
          </a:p>
        </p:txBody>
      </p:sp>
      <p:sp>
        <p:nvSpPr>
          <p:cNvPr name="TextBox 68" id="68"/>
          <p:cNvSpPr txBox="true"/>
          <p:nvPr/>
        </p:nvSpPr>
        <p:spPr>
          <a:xfrm rot="0">
            <a:off x="10629900" y="7843266"/>
            <a:ext cx="6446520" cy="409575"/>
          </a:xfrm>
          <a:prstGeom prst="rect">
            <a:avLst/>
          </a:prstGeom>
        </p:spPr>
        <p:txBody>
          <a:bodyPr anchor="t" rtlCol="false" tIns="0" lIns="0" bIns="0" rIns="0">
            <a:spAutoFit/>
          </a:bodyPr>
          <a:lstStyle/>
          <a:p>
            <a:pPr algn="l">
              <a:lnSpc>
                <a:spcPts val="2819"/>
              </a:lnSpc>
            </a:pPr>
            <a:r>
              <a:rPr lang="en-US" sz="2349">
                <a:solidFill>
                  <a:srgbClr val="1B2B34"/>
                </a:solidFill>
                <a:latin typeface="Calibri"/>
                <a:ea typeface="Calibri"/>
                <a:cs typeface="Calibri"/>
                <a:sym typeface="Calibri"/>
              </a:rPr>
              <a:t>Plain wins on accuracy alone</a:t>
            </a:r>
          </a:p>
        </p:txBody>
      </p:sp>
      <p:sp>
        <p:nvSpPr>
          <p:cNvPr name="TextBox 69" id="69"/>
          <p:cNvSpPr txBox="true"/>
          <p:nvPr/>
        </p:nvSpPr>
        <p:spPr>
          <a:xfrm rot="0">
            <a:off x="822960" y="8867775"/>
            <a:ext cx="16596360" cy="771525"/>
          </a:xfrm>
          <a:prstGeom prst="rect">
            <a:avLst/>
          </a:prstGeom>
        </p:spPr>
        <p:txBody>
          <a:bodyPr anchor="t" rtlCol="false" tIns="0" lIns="0" bIns="0" rIns="0">
            <a:spAutoFit/>
          </a:bodyPr>
          <a:lstStyle/>
          <a:p>
            <a:pPr algn="l">
              <a:lnSpc>
                <a:spcPts val="2909"/>
              </a:lnSpc>
            </a:pPr>
            <a:r>
              <a:rPr lang="en-US" sz="2424" b="1">
                <a:solidFill>
                  <a:srgbClr val="D9472B"/>
                </a:solidFill>
                <a:latin typeface="Calibri"/>
                <a:ea typeface="Calibri"/>
                <a:cs typeface="Calibri"/>
                <a:sym typeface="Calibri"/>
              </a:rPr>
              <a:t>Why we still lead with the twin: a plain classifier cannot simulate a decision, explain it physiologically, personalise from one person's scale, or say when to test.</a:t>
            </a:r>
          </a:p>
        </p:txBody>
      </p:sp>
      <p:sp>
        <p:nvSpPr>
          <p:cNvPr name="TextBox 70" id="70"/>
          <p:cNvSpPr txBox="true"/>
          <p:nvPr/>
        </p:nvSpPr>
        <p:spPr>
          <a:xfrm rot="0">
            <a:off x="16962120" y="9540240"/>
            <a:ext cx="640080" cy="342900"/>
          </a:xfrm>
          <a:prstGeom prst="rect">
            <a:avLst/>
          </a:prstGeom>
        </p:spPr>
        <p:txBody>
          <a:bodyPr anchor="t" rtlCol="false" tIns="0" lIns="0" bIns="0" rIns="0">
            <a:spAutoFit/>
          </a:bodyPr>
          <a:lstStyle/>
          <a:p>
            <a:pPr algn="r">
              <a:lnSpc>
                <a:spcPts val="2459"/>
              </a:lnSpc>
            </a:pPr>
            <a:r>
              <a:rPr lang="en-US" sz="2049">
                <a:solidFill>
                  <a:srgbClr val="5B6C75"/>
                </a:solidFill>
                <a:latin typeface="Calibri"/>
                <a:ea typeface="Calibri"/>
                <a:cs typeface="Calibri"/>
                <a:sym typeface="Calibri"/>
              </a:rPr>
              <a:t>28</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13435" y="-768015"/>
            <a:ext cx="16596360" cy="3593431"/>
            <a:chOff x="0" y="0"/>
            <a:chExt cx="22128480" cy="4791241"/>
          </a:xfrm>
        </p:grpSpPr>
        <p:sp>
          <p:nvSpPr>
            <p:cNvPr name="Freeform 3" id="3"/>
            <p:cNvSpPr/>
            <p:nvPr/>
          </p:nvSpPr>
          <p:spPr>
            <a:xfrm flipH="false" flipV="false" rot="0">
              <a:off x="0" y="0"/>
              <a:ext cx="22128480" cy="4791241"/>
            </a:xfrm>
            <a:custGeom>
              <a:avLst/>
              <a:gdLst/>
              <a:ahLst/>
              <a:cxnLst/>
              <a:rect r="r" b="b" t="t" l="l"/>
              <a:pathLst>
                <a:path h="4791241" w="22128480">
                  <a:moveTo>
                    <a:pt x="0" y="0"/>
                  </a:moveTo>
                  <a:lnTo>
                    <a:pt x="22128480" y="0"/>
                  </a:lnTo>
                  <a:lnTo>
                    <a:pt x="22128480" y="4791241"/>
                  </a:lnTo>
                  <a:lnTo>
                    <a:pt x="0" y="4791241"/>
                  </a:lnTo>
                  <a:close/>
                </a:path>
              </a:pathLst>
            </a:custGeom>
            <a:blipFill>
              <a:blip r:embed="rId3">
                <a:alphaModFix amt="0"/>
              </a:blip>
              <a:stretch>
                <a:fillRect l="0" t="-73770" r="0" b="-6214"/>
              </a:stretch>
            </a:blipFill>
          </p:spPr>
        </p:sp>
        <p:sp>
          <p:nvSpPr>
            <p:cNvPr name="TextBox 4" id="4"/>
            <p:cNvSpPr txBox="true"/>
            <p:nvPr/>
          </p:nvSpPr>
          <p:spPr>
            <a:xfrm>
              <a:off x="0" y="-9525"/>
              <a:ext cx="22128480" cy="4800766"/>
            </a:xfrm>
            <a:prstGeom prst="rect">
              <a:avLst/>
            </a:prstGeom>
          </p:spPr>
          <p:txBody>
            <a:bodyPr anchor="ctr" rtlCol="false" tIns="0" lIns="0" bIns="0" rIns="0"/>
            <a:lstStyle/>
            <a:p>
              <a:pPr algn="l">
                <a:lnSpc>
                  <a:spcPts val="5879"/>
                </a:lnSpc>
              </a:pPr>
              <a:r>
                <a:rPr lang="en-US" sz="4899" b="1">
                  <a:solidFill>
                    <a:srgbClr val="0B4F5C"/>
                  </a:solidFill>
                  <a:latin typeface="Cambria"/>
                  <a:ea typeface="Cambria"/>
                  <a:cs typeface="Cambria"/>
                  <a:sym typeface="Cambria"/>
                </a:rPr>
                <a:t>What makes VrikkaTwin different</a:t>
              </a:r>
            </a:p>
          </p:txBody>
        </p:sp>
      </p:grpSp>
      <p:grpSp>
        <p:nvGrpSpPr>
          <p:cNvPr name="Group 5" id="5"/>
          <p:cNvGrpSpPr/>
          <p:nvPr/>
        </p:nvGrpSpPr>
        <p:grpSpPr>
          <a:xfrm rot="0">
            <a:off x="813435" y="1979295"/>
            <a:ext cx="5299710" cy="3105150"/>
            <a:chOff x="0" y="0"/>
            <a:chExt cx="7066280" cy="4140200"/>
          </a:xfrm>
        </p:grpSpPr>
        <p:sp>
          <p:nvSpPr>
            <p:cNvPr name="Freeform 6" id="6"/>
            <p:cNvSpPr/>
            <p:nvPr/>
          </p:nvSpPr>
          <p:spPr>
            <a:xfrm flipH="false" flipV="false" rot="0">
              <a:off x="0" y="0"/>
              <a:ext cx="7066280" cy="4140200"/>
            </a:xfrm>
            <a:custGeom>
              <a:avLst/>
              <a:gdLst/>
              <a:ahLst/>
              <a:cxnLst/>
              <a:rect r="r" b="b" t="t" l="l"/>
              <a:pathLst>
                <a:path h="4140200" w="7066280">
                  <a:moveTo>
                    <a:pt x="0" y="147193"/>
                  </a:moveTo>
                  <a:cubicBezTo>
                    <a:pt x="0" y="65913"/>
                    <a:pt x="65913" y="0"/>
                    <a:pt x="147193" y="0"/>
                  </a:cubicBezTo>
                  <a:lnTo>
                    <a:pt x="6919087" y="0"/>
                  </a:lnTo>
                  <a:cubicBezTo>
                    <a:pt x="7000367" y="0"/>
                    <a:pt x="7066280" y="65913"/>
                    <a:pt x="7066280" y="147193"/>
                  </a:cubicBezTo>
                  <a:lnTo>
                    <a:pt x="7066280" y="3993007"/>
                  </a:lnTo>
                  <a:cubicBezTo>
                    <a:pt x="7066280" y="4074287"/>
                    <a:pt x="7000367" y="4140200"/>
                    <a:pt x="6919087" y="4140200"/>
                  </a:cubicBezTo>
                  <a:lnTo>
                    <a:pt x="147193" y="4140200"/>
                  </a:lnTo>
                  <a:cubicBezTo>
                    <a:pt x="65913" y="4140200"/>
                    <a:pt x="0" y="4074287"/>
                    <a:pt x="0" y="3993007"/>
                  </a:cubicBezTo>
                  <a:close/>
                </a:path>
              </a:pathLst>
            </a:custGeom>
            <a:solidFill>
              <a:srgbClr val="EEF5F5"/>
            </a:solidFill>
            <a:ln w="19050" cap="sq">
              <a:solidFill>
                <a:srgbClr val="EEF5F5"/>
              </a:solidFill>
              <a:prstDash val="solid"/>
              <a:miter/>
            </a:ln>
          </p:spPr>
        </p:sp>
      </p:grpSp>
      <p:grpSp>
        <p:nvGrpSpPr>
          <p:cNvPr name="Group 7" id="7"/>
          <p:cNvGrpSpPr/>
          <p:nvPr/>
        </p:nvGrpSpPr>
        <p:grpSpPr>
          <a:xfrm rot="0">
            <a:off x="1156335" y="2322195"/>
            <a:ext cx="1006602" cy="1006602"/>
            <a:chOff x="0" y="0"/>
            <a:chExt cx="1342136" cy="1342136"/>
          </a:xfrm>
        </p:grpSpPr>
        <p:sp>
          <p:nvSpPr>
            <p:cNvPr name="Freeform 8" id="8"/>
            <p:cNvSpPr/>
            <p:nvPr/>
          </p:nvSpPr>
          <p:spPr>
            <a:xfrm flipH="false" flipV="false" rot="0">
              <a:off x="0" y="0"/>
              <a:ext cx="1342136" cy="1342136"/>
            </a:xfrm>
            <a:custGeom>
              <a:avLst/>
              <a:gdLst/>
              <a:ahLst/>
              <a:cxnLst/>
              <a:rect r="r" b="b" t="t" l="l"/>
              <a:pathLst>
                <a:path h="1342136" w="1342136">
                  <a:moveTo>
                    <a:pt x="0" y="671068"/>
                  </a:moveTo>
                  <a:cubicBezTo>
                    <a:pt x="0" y="300482"/>
                    <a:pt x="300482" y="0"/>
                    <a:pt x="671068" y="0"/>
                  </a:cubicBezTo>
                  <a:cubicBezTo>
                    <a:pt x="1041654" y="0"/>
                    <a:pt x="1342136" y="300482"/>
                    <a:pt x="1342136" y="671068"/>
                  </a:cubicBezTo>
                  <a:cubicBezTo>
                    <a:pt x="1342136" y="1041654"/>
                    <a:pt x="1041654" y="1342136"/>
                    <a:pt x="671068" y="1342136"/>
                  </a:cubicBezTo>
                  <a:cubicBezTo>
                    <a:pt x="300482" y="1342136"/>
                    <a:pt x="0" y="1041654"/>
                    <a:pt x="0" y="671068"/>
                  </a:cubicBezTo>
                  <a:close/>
                </a:path>
              </a:pathLst>
            </a:custGeom>
            <a:solidFill>
              <a:srgbClr val="0E7C86"/>
            </a:solidFill>
            <a:ln w="19050" cap="sq">
              <a:solidFill>
                <a:srgbClr val="0E7C86"/>
              </a:solidFill>
              <a:prstDash val="solid"/>
              <a:miter/>
            </a:ln>
          </p:spPr>
        </p:sp>
      </p:grpSp>
      <p:grpSp>
        <p:nvGrpSpPr>
          <p:cNvPr name="Group 9" id="9"/>
          <p:cNvGrpSpPr/>
          <p:nvPr/>
        </p:nvGrpSpPr>
        <p:grpSpPr>
          <a:xfrm rot="0">
            <a:off x="1412748" y="2578608"/>
            <a:ext cx="493776" cy="493776"/>
            <a:chOff x="0" y="0"/>
            <a:chExt cx="658368" cy="658368"/>
          </a:xfrm>
        </p:grpSpPr>
        <p:sp>
          <p:nvSpPr>
            <p:cNvPr name="Freeform 10" id="10" descr="preencoded.png"/>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lnTo>
                    <a:pt x="0" y="0"/>
                  </a:lnTo>
                  <a:close/>
                </a:path>
              </a:pathLst>
            </a:custGeom>
            <a:blipFill>
              <a:blip r:embed="rId4"/>
              <a:stretch>
                <a:fillRect l="0" t="0" r="0" b="0"/>
              </a:stretch>
            </a:blipFill>
          </p:spPr>
        </p:sp>
      </p:grpSp>
      <p:grpSp>
        <p:nvGrpSpPr>
          <p:cNvPr name="Group 11" id="11"/>
          <p:cNvGrpSpPr/>
          <p:nvPr/>
        </p:nvGrpSpPr>
        <p:grpSpPr>
          <a:xfrm rot="0">
            <a:off x="2331720" y="2372868"/>
            <a:ext cx="3566160" cy="976238"/>
            <a:chOff x="0" y="0"/>
            <a:chExt cx="4754880" cy="1301650"/>
          </a:xfrm>
        </p:grpSpPr>
        <p:sp>
          <p:nvSpPr>
            <p:cNvPr name="Freeform 12" id="12"/>
            <p:cNvSpPr/>
            <p:nvPr/>
          </p:nvSpPr>
          <p:spPr>
            <a:xfrm flipH="false" flipV="false" rot="0">
              <a:off x="0" y="0"/>
              <a:ext cx="4754880" cy="1301650"/>
            </a:xfrm>
            <a:custGeom>
              <a:avLst/>
              <a:gdLst/>
              <a:ahLst/>
              <a:cxnLst/>
              <a:rect r="r" b="b" t="t" l="l"/>
              <a:pathLst>
                <a:path h="1301650" w="4754880">
                  <a:moveTo>
                    <a:pt x="0" y="0"/>
                  </a:moveTo>
                  <a:lnTo>
                    <a:pt x="4754880" y="0"/>
                  </a:lnTo>
                  <a:lnTo>
                    <a:pt x="4754880" y="1301650"/>
                  </a:lnTo>
                  <a:lnTo>
                    <a:pt x="0" y="1301650"/>
                  </a:lnTo>
                  <a:close/>
                </a:path>
              </a:pathLst>
            </a:custGeom>
            <a:blipFill>
              <a:blip r:embed="rId3">
                <a:alphaModFix amt="0"/>
              </a:blip>
              <a:stretch>
                <a:fillRect l="0" t="-22003" r="0" b="-20352"/>
              </a:stretch>
            </a:blipFill>
          </p:spPr>
        </p:sp>
        <p:sp>
          <p:nvSpPr>
            <p:cNvPr name="TextBox 13" id="13"/>
            <p:cNvSpPr txBox="true"/>
            <p:nvPr/>
          </p:nvSpPr>
          <p:spPr>
            <a:xfrm>
              <a:off x="0" y="-66675"/>
              <a:ext cx="4754880" cy="1368325"/>
            </a:xfrm>
            <a:prstGeom prst="rect">
              <a:avLst/>
            </a:prstGeom>
          </p:spPr>
          <p:txBody>
            <a:bodyPr anchor="ctr" rtlCol="false" tIns="0" lIns="0" bIns="0" rIns="0"/>
            <a:lstStyle/>
            <a:p>
              <a:pPr algn="l">
                <a:lnSpc>
                  <a:spcPts val="3359"/>
                </a:lnSpc>
              </a:pPr>
              <a:r>
                <a:rPr lang="en-US" sz="2799" b="1">
                  <a:solidFill>
                    <a:srgbClr val="0B4F5C"/>
                  </a:solidFill>
                  <a:latin typeface="Calibri"/>
                  <a:ea typeface="Calibri"/>
                  <a:cs typeface="Calibri"/>
                  <a:sym typeface="Calibri"/>
                </a:rPr>
                <a:t>The empty 72-hour window</a:t>
              </a:r>
            </a:p>
          </p:txBody>
        </p:sp>
      </p:grpSp>
      <p:sp>
        <p:nvSpPr>
          <p:cNvPr name="TextBox 14" id="14"/>
          <p:cNvSpPr txBox="true"/>
          <p:nvPr/>
        </p:nvSpPr>
        <p:spPr>
          <a:xfrm rot="0">
            <a:off x="1165860" y="3477387"/>
            <a:ext cx="4663440" cy="1133475"/>
          </a:xfrm>
          <a:prstGeom prst="rect">
            <a:avLst/>
          </a:prstGeom>
        </p:spPr>
        <p:txBody>
          <a:bodyPr anchor="t" rtlCol="false" tIns="0" lIns="0" bIns="0" rIns="0">
            <a:spAutoFit/>
          </a:bodyPr>
          <a:lstStyle/>
          <a:p>
            <a:pPr algn="l">
              <a:lnSpc>
                <a:spcPts val="2909"/>
              </a:lnSpc>
            </a:pPr>
            <a:r>
              <a:rPr lang="en-US" sz="2424">
                <a:solidFill>
                  <a:srgbClr val="1B2B34"/>
                </a:solidFill>
                <a:latin typeface="Calibri"/>
                <a:ea typeface="Calibri"/>
                <a:cs typeface="Calibri"/>
                <a:sym typeface="Calibri"/>
              </a:rPr>
              <a:t>Kidney injury from heat + sickness + pills, between heat alarms (minutes) and kidney tests (years)</a:t>
            </a:r>
          </a:p>
        </p:txBody>
      </p:sp>
      <p:grpSp>
        <p:nvGrpSpPr>
          <p:cNvPr name="Group 15" id="15"/>
          <p:cNvGrpSpPr/>
          <p:nvPr/>
        </p:nvGrpSpPr>
        <p:grpSpPr>
          <a:xfrm rot="0">
            <a:off x="6464427" y="1979295"/>
            <a:ext cx="5299710" cy="3105150"/>
            <a:chOff x="0" y="0"/>
            <a:chExt cx="7066280" cy="4140200"/>
          </a:xfrm>
        </p:grpSpPr>
        <p:sp>
          <p:nvSpPr>
            <p:cNvPr name="Freeform 16" id="16"/>
            <p:cNvSpPr/>
            <p:nvPr/>
          </p:nvSpPr>
          <p:spPr>
            <a:xfrm flipH="false" flipV="false" rot="0">
              <a:off x="0" y="0"/>
              <a:ext cx="7066280" cy="4140200"/>
            </a:xfrm>
            <a:custGeom>
              <a:avLst/>
              <a:gdLst/>
              <a:ahLst/>
              <a:cxnLst/>
              <a:rect r="r" b="b" t="t" l="l"/>
              <a:pathLst>
                <a:path h="4140200" w="7066280">
                  <a:moveTo>
                    <a:pt x="0" y="147193"/>
                  </a:moveTo>
                  <a:cubicBezTo>
                    <a:pt x="0" y="65913"/>
                    <a:pt x="65913" y="0"/>
                    <a:pt x="147193" y="0"/>
                  </a:cubicBezTo>
                  <a:lnTo>
                    <a:pt x="6919087" y="0"/>
                  </a:lnTo>
                  <a:cubicBezTo>
                    <a:pt x="7000367" y="0"/>
                    <a:pt x="7066280" y="65913"/>
                    <a:pt x="7066280" y="147193"/>
                  </a:cubicBezTo>
                  <a:lnTo>
                    <a:pt x="7066280" y="3993007"/>
                  </a:lnTo>
                  <a:cubicBezTo>
                    <a:pt x="7066280" y="4074287"/>
                    <a:pt x="7000367" y="4140200"/>
                    <a:pt x="6919087" y="4140200"/>
                  </a:cubicBezTo>
                  <a:lnTo>
                    <a:pt x="147193" y="4140200"/>
                  </a:lnTo>
                  <a:cubicBezTo>
                    <a:pt x="65913" y="4140200"/>
                    <a:pt x="0" y="4074287"/>
                    <a:pt x="0" y="3993007"/>
                  </a:cubicBezTo>
                  <a:close/>
                </a:path>
              </a:pathLst>
            </a:custGeom>
            <a:solidFill>
              <a:srgbClr val="EEF5F5"/>
            </a:solidFill>
            <a:ln w="19050" cap="sq">
              <a:solidFill>
                <a:srgbClr val="EEF5F5"/>
              </a:solidFill>
              <a:prstDash val="solid"/>
              <a:miter/>
            </a:ln>
          </p:spPr>
        </p:sp>
      </p:grpSp>
      <p:grpSp>
        <p:nvGrpSpPr>
          <p:cNvPr name="Group 17" id="17"/>
          <p:cNvGrpSpPr/>
          <p:nvPr/>
        </p:nvGrpSpPr>
        <p:grpSpPr>
          <a:xfrm rot="0">
            <a:off x="6807327" y="2322195"/>
            <a:ext cx="1006602" cy="1006602"/>
            <a:chOff x="0" y="0"/>
            <a:chExt cx="1342136" cy="1342136"/>
          </a:xfrm>
        </p:grpSpPr>
        <p:sp>
          <p:nvSpPr>
            <p:cNvPr name="Freeform 18" id="18"/>
            <p:cNvSpPr/>
            <p:nvPr/>
          </p:nvSpPr>
          <p:spPr>
            <a:xfrm flipH="false" flipV="false" rot="0">
              <a:off x="0" y="0"/>
              <a:ext cx="1342136" cy="1342136"/>
            </a:xfrm>
            <a:custGeom>
              <a:avLst/>
              <a:gdLst/>
              <a:ahLst/>
              <a:cxnLst/>
              <a:rect r="r" b="b" t="t" l="l"/>
              <a:pathLst>
                <a:path h="1342136" w="1342136">
                  <a:moveTo>
                    <a:pt x="0" y="671068"/>
                  </a:moveTo>
                  <a:cubicBezTo>
                    <a:pt x="0" y="300482"/>
                    <a:pt x="300482" y="0"/>
                    <a:pt x="671068" y="0"/>
                  </a:cubicBezTo>
                  <a:cubicBezTo>
                    <a:pt x="1041654" y="0"/>
                    <a:pt x="1342136" y="300482"/>
                    <a:pt x="1342136" y="671068"/>
                  </a:cubicBezTo>
                  <a:cubicBezTo>
                    <a:pt x="1342136" y="1041654"/>
                    <a:pt x="1041654" y="1342136"/>
                    <a:pt x="671068" y="1342136"/>
                  </a:cubicBezTo>
                  <a:cubicBezTo>
                    <a:pt x="300482" y="1342136"/>
                    <a:pt x="0" y="1041654"/>
                    <a:pt x="0" y="671068"/>
                  </a:cubicBezTo>
                  <a:close/>
                </a:path>
              </a:pathLst>
            </a:custGeom>
            <a:solidFill>
              <a:srgbClr val="0E7C86"/>
            </a:solidFill>
            <a:ln w="19050" cap="sq">
              <a:solidFill>
                <a:srgbClr val="0E7C86"/>
              </a:solidFill>
              <a:prstDash val="solid"/>
              <a:miter/>
            </a:ln>
          </p:spPr>
        </p:sp>
      </p:grpSp>
      <p:grpSp>
        <p:nvGrpSpPr>
          <p:cNvPr name="Group 19" id="19"/>
          <p:cNvGrpSpPr/>
          <p:nvPr/>
        </p:nvGrpSpPr>
        <p:grpSpPr>
          <a:xfrm rot="0">
            <a:off x="7063740" y="2578608"/>
            <a:ext cx="493776" cy="493776"/>
            <a:chOff x="0" y="0"/>
            <a:chExt cx="658368" cy="658368"/>
          </a:xfrm>
        </p:grpSpPr>
        <p:sp>
          <p:nvSpPr>
            <p:cNvPr name="Freeform 20" id="20" descr="preencoded.png"/>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lnTo>
                    <a:pt x="0" y="0"/>
                  </a:lnTo>
                  <a:close/>
                </a:path>
              </a:pathLst>
            </a:custGeom>
            <a:blipFill>
              <a:blip r:embed="rId5"/>
              <a:stretch>
                <a:fillRect l="0" t="0" r="0" b="0"/>
              </a:stretch>
            </a:blipFill>
          </p:spPr>
        </p:sp>
      </p:grpSp>
      <p:grpSp>
        <p:nvGrpSpPr>
          <p:cNvPr name="Group 21" id="21"/>
          <p:cNvGrpSpPr/>
          <p:nvPr/>
        </p:nvGrpSpPr>
        <p:grpSpPr>
          <a:xfrm rot="0">
            <a:off x="7982712" y="2372868"/>
            <a:ext cx="3566160" cy="976238"/>
            <a:chOff x="0" y="0"/>
            <a:chExt cx="4754880" cy="1301650"/>
          </a:xfrm>
        </p:grpSpPr>
        <p:sp>
          <p:nvSpPr>
            <p:cNvPr name="Freeform 22" id="22"/>
            <p:cNvSpPr/>
            <p:nvPr/>
          </p:nvSpPr>
          <p:spPr>
            <a:xfrm flipH="false" flipV="false" rot="0">
              <a:off x="0" y="0"/>
              <a:ext cx="4754880" cy="1301650"/>
            </a:xfrm>
            <a:custGeom>
              <a:avLst/>
              <a:gdLst/>
              <a:ahLst/>
              <a:cxnLst/>
              <a:rect r="r" b="b" t="t" l="l"/>
              <a:pathLst>
                <a:path h="1301650" w="4754880">
                  <a:moveTo>
                    <a:pt x="0" y="0"/>
                  </a:moveTo>
                  <a:lnTo>
                    <a:pt x="4754880" y="0"/>
                  </a:lnTo>
                  <a:lnTo>
                    <a:pt x="4754880" y="1301650"/>
                  </a:lnTo>
                  <a:lnTo>
                    <a:pt x="0" y="1301650"/>
                  </a:lnTo>
                  <a:close/>
                </a:path>
              </a:pathLst>
            </a:custGeom>
            <a:blipFill>
              <a:blip r:embed="rId3">
                <a:alphaModFix amt="0"/>
              </a:blip>
              <a:stretch>
                <a:fillRect l="0" t="-22003" r="0" b="-20352"/>
              </a:stretch>
            </a:blipFill>
          </p:spPr>
        </p:sp>
        <p:sp>
          <p:nvSpPr>
            <p:cNvPr name="TextBox 23" id="23"/>
            <p:cNvSpPr txBox="true"/>
            <p:nvPr/>
          </p:nvSpPr>
          <p:spPr>
            <a:xfrm>
              <a:off x="0" y="-66675"/>
              <a:ext cx="4754880" cy="1368325"/>
            </a:xfrm>
            <a:prstGeom prst="rect">
              <a:avLst/>
            </a:prstGeom>
          </p:spPr>
          <p:txBody>
            <a:bodyPr anchor="ctr" rtlCol="false" tIns="0" lIns="0" bIns="0" rIns="0"/>
            <a:lstStyle/>
            <a:p>
              <a:pPr algn="l">
                <a:lnSpc>
                  <a:spcPts val="3359"/>
                </a:lnSpc>
              </a:pPr>
              <a:r>
                <a:rPr lang="en-US" sz="2799" b="1">
                  <a:solidFill>
                    <a:srgbClr val="0B4F5C"/>
                  </a:solidFill>
                  <a:latin typeface="Calibri"/>
                  <a:ea typeface="Calibri"/>
                  <a:cs typeface="Calibri"/>
                  <a:sym typeface="Calibri"/>
                </a:rPr>
                <a:t>Decisions, not just scores</a:t>
              </a:r>
            </a:p>
          </p:txBody>
        </p:sp>
      </p:grpSp>
      <p:sp>
        <p:nvSpPr>
          <p:cNvPr name="TextBox 24" id="24"/>
          <p:cNvSpPr txBox="true"/>
          <p:nvPr/>
        </p:nvSpPr>
        <p:spPr>
          <a:xfrm rot="0">
            <a:off x="6816852" y="3477387"/>
            <a:ext cx="4663440" cy="771525"/>
          </a:xfrm>
          <a:prstGeom prst="rect">
            <a:avLst/>
          </a:prstGeom>
        </p:spPr>
        <p:txBody>
          <a:bodyPr anchor="t" rtlCol="false" tIns="0" lIns="0" bIns="0" rIns="0">
            <a:spAutoFit/>
          </a:bodyPr>
          <a:lstStyle/>
          <a:p>
            <a:pPr algn="l">
              <a:lnSpc>
                <a:spcPts val="2909"/>
              </a:lnSpc>
            </a:pPr>
            <a:r>
              <a:rPr lang="en-US" sz="2424">
                <a:solidFill>
                  <a:srgbClr val="1B2B34"/>
                </a:solidFill>
                <a:latin typeface="Calibri"/>
                <a:ea typeface="Calibri"/>
                <a:cs typeface="Calibri"/>
                <a:sym typeface="Calibri"/>
              </a:rPr>
              <a:t>What-if levers with evidence badges and clinical guardrails</a:t>
            </a:r>
          </a:p>
        </p:txBody>
      </p:sp>
      <p:grpSp>
        <p:nvGrpSpPr>
          <p:cNvPr name="Group 25" id="25"/>
          <p:cNvGrpSpPr/>
          <p:nvPr/>
        </p:nvGrpSpPr>
        <p:grpSpPr>
          <a:xfrm rot="0">
            <a:off x="12115419" y="1979295"/>
            <a:ext cx="5299710" cy="3105150"/>
            <a:chOff x="0" y="0"/>
            <a:chExt cx="7066280" cy="4140200"/>
          </a:xfrm>
        </p:grpSpPr>
        <p:sp>
          <p:nvSpPr>
            <p:cNvPr name="Freeform 26" id="26"/>
            <p:cNvSpPr/>
            <p:nvPr/>
          </p:nvSpPr>
          <p:spPr>
            <a:xfrm flipH="false" flipV="false" rot="0">
              <a:off x="0" y="0"/>
              <a:ext cx="7066280" cy="4140200"/>
            </a:xfrm>
            <a:custGeom>
              <a:avLst/>
              <a:gdLst/>
              <a:ahLst/>
              <a:cxnLst/>
              <a:rect r="r" b="b" t="t" l="l"/>
              <a:pathLst>
                <a:path h="4140200" w="7066280">
                  <a:moveTo>
                    <a:pt x="0" y="147193"/>
                  </a:moveTo>
                  <a:cubicBezTo>
                    <a:pt x="0" y="65913"/>
                    <a:pt x="65913" y="0"/>
                    <a:pt x="147193" y="0"/>
                  </a:cubicBezTo>
                  <a:lnTo>
                    <a:pt x="6919087" y="0"/>
                  </a:lnTo>
                  <a:cubicBezTo>
                    <a:pt x="7000367" y="0"/>
                    <a:pt x="7066280" y="65913"/>
                    <a:pt x="7066280" y="147193"/>
                  </a:cubicBezTo>
                  <a:lnTo>
                    <a:pt x="7066280" y="3993007"/>
                  </a:lnTo>
                  <a:cubicBezTo>
                    <a:pt x="7066280" y="4074287"/>
                    <a:pt x="7000367" y="4140200"/>
                    <a:pt x="6919087" y="4140200"/>
                  </a:cubicBezTo>
                  <a:lnTo>
                    <a:pt x="147193" y="4140200"/>
                  </a:lnTo>
                  <a:cubicBezTo>
                    <a:pt x="65913" y="4140200"/>
                    <a:pt x="0" y="4074287"/>
                    <a:pt x="0" y="3993007"/>
                  </a:cubicBezTo>
                  <a:close/>
                </a:path>
              </a:pathLst>
            </a:custGeom>
            <a:solidFill>
              <a:srgbClr val="EEF5F5"/>
            </a:solidFill>
            <a:ln w="19050" cap="sq">
              <a:solidFill>
                <a:srgbClr val="EEF5F5"/>
              </a:solidFill>
              <a:prstDash val="solid"/>
              <a:miter/>
            </a:ln>
          </p:spPr>
        </p:sp>
      </p:grpSp>
      <p:grpSp>
        <p:nvGrpSpPr>
          <p:cNvPr name="Group 27" id="27"/>
          <p:cNvGrpSpPr/>
          <p:nvPr/>
        </p:nvGrpSpPr>
        <p:grpSpPr>
          <a:xfrm rot="0">
            <a:off x="12458319" y="2322195"/>
            <a:ext cx="1006602" cy="1006602"/>
            <a:chOff x="0" y="0"/>
            <a:chExt cx="1342136" cy="1342136"/>
          </a:xfrm>
        </p:grpSpPr>
        <p:sp>
          <p:nvSpPr>
            <p:cNvPr name="Freeform 28" id="28"/>
            <p:cNvSpPr/>
            <p:nvPr/>
          </p:nvSpPr>
          <p:spPr>
            <a:xfrm flipH="false" flipV="false" rot="0">
              <a:off x="0" y="0"/>
              <a:ext cx="1342136" cy="1342136"/>
            </a:xfrm>
            <a:custGeom>
              <a:avLst/>
              <a:gdLst/>
              <a:ahLst/>
              <a:cxnLst/>
              <a:rect r="r" b="b" t="t" l="l"/>
              <a:pathLst>
                <a:path h="1342136" w="1342136">
                  <a:moveTo>
                    <a:pt x="0" y="671068"/>
                  </a:moveTo>
                  <a:cubicBezTo>
                    <a:pt x="0" y="300482"/>
                    <a:pt x="300482" y="0"/>
                    <a:pt x="671068" y="0"/>
                  </a:cubicBezTo>
                  <a:cubicBezTo>
                    <a:pt x="1041654" y="0"/>
                    <a:pt x="1342136" y="300482"/>
                    <a:pt x="1342136" y="671068"/>
                  </a:cubicBezTo>
                  <a:cubicBezTo>
                    <a:pt x="1342136" y="1041654"/>
                    <a:pt x="1041654" y="1342136"/>
                    <a:pt x="671068" y="1342136"/>
                  </a:cubicBezTo>
                  <a:cubicBezTo>
                    <a:pt x="300482" y="1342136"/>
                    <a:pt x="0" y="1041654"/>
                    <a:pt x="0" y="671068"/>
                  </a:cubicBezTo>
                  <a:close/>
                </a:path>
              </a:pathLst>
            </a:custGeom>
            <a:solidFill>
              <a:srgbClr val="0E7C86"/>
            </a:solidFill>
            <a:ln w="19050" cap="sq">
              <a:solidFill>
                <a:srgbClr val="0E7C86"/>
              </a:solidFill>
              <a:prstDash val="solid"/>
              <a:miter/>
            </a:ln>
          </p:spPr>
        </p:sp>
      </p:grpSp>
      <p:grpSp>
        <p:nvGrpSpPr>
          <p:cNvPr name="Group 29" id="29"/>
          <p:cNvGrpSpPr/>
          <p:nvPr/>
        </p:nvGrpSpPr>
        <p:grpSpPr>
          <a:xfrm rot="0">
            <a:off x="12714732" y="2578608"/>
            <a:ext cx="493776" cy="493776"/>
            <a:chOff x="0" y="0"/>
            <a:chExt cx="658368" cy="658368"/>
          </a:xfrm>
        </p:grpSpPr>
        <p:sp>
          <p:nvSpPr>
            <p:cNvPr name="Freeform 30" id="30" descr="preencoded.png"/>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lnTo>
                    <a:pt x="0" y="0"/>
                  </a:lnTo>
                  <a:close/>
                </a:path>
              </a:pathLst>
            </a:custGeom>
            <a:blipFill>
              <a:blip r:embed="rId6"/>
              <a:stretch>
                <a:fillRect l="0" t="0" r="0" b="0"/>
              </a:stretch>
            </a:blipFill>
          </p:spPr>
        </p:sp>
      </p:grpSp>
      <p:grpSp>
        <p:nvGrpSpPr>
          <p:cNvPr name="Group 31" id="31"/>
          <p:cNvGrpSpPr/>
          <p:nvPr/>
        </p:nvGrpSpPr>
        <p:grpSpPr>
          <a:xfrm rot="0">
            <a:off x="13633704" y="2372868"/>
            <a:ext cx="3566160" cy="976238"/>
            <a:chOff x="0" y="0"/>
            <a:chExt cx="4754880" cy="1301650"/>
          </a:xfrm>
        </p:grpSpPr>
        <p:sp>
          <p:nvSpPr>
            <p:cNvPr name="Freeform 32" id="32"/>
            <p:cNvSpPr/>
            <p:nvPr/>
          </p:nvSpPr>
          <p:spPr>
            <a:xfrm flipH="false" flipV="false" rot="0">
              <a:off x="0" y="0"/>
              <a:ext cx="4754880" cy="1301650"/>
            </a:xfrm>
            <a:custGeom>
              <a:avLst/>
              <a:gdLst/>
              <a:ahLst/>
              <a:cxnLst/>
              <a:rect r="r" b="b" t="t" l="l"/>
              <a:pathLst>
                <a:path h="1301650" w="4754880">
                  <a:moveTo>
                    <a:pt x="0" y="0"/>
                  </a:moveTo>
                  <a:lnTo>
                    <a:pt x="4754880" y="0"/>
                  </a:lnTo>
                  <a:lnTo>
                    <a:pt x="4754880" y="1301650"/>
                  </a:lnTo>
                  <a:lnTo>
                    <a:pt x="0" y="1301650"/>
                  </a:lnTo>
                  <a:close/>
                </a:path>
              </a:pathLst>
            </a:custGeom>
            <a:blipFill>
              <a:blip r:embed="rId3">
                <a:alphaModFix amt="0"/>
              </a:blip>
              <a:stretch>
                <a:fillRect l="0" t="-22003" r="0" b="-20352"/>
              </a:stretch>
            </a:blipFill>
          </p:spPr>
        </p:sp>
        <p:sp>
          <p:nvSpPr>
            <p:cNvPr name="TextBox 33" id="33"/>
            <p:cNvSpPr txBox="true"/>
            <p:nvPr/>
          </p:nvSpPr>
          <p:spPr>
            <a:xfrm>
              <a:off x="0" y="-66675"/>
              <a:ext cx="4754880" cy="1368325"/>
            </a:xfrm>
            <a:prstGeom prst="rect">
              <a:avLst/>
            </a:prstGeom>
          </p:spPr>
          <p:txBody>
            <a:bodyPr anchor="ctr" rtlCol="false" tIns="0" lIns="0" bIns="0" rIns="0"/>
            <a:lstStyle/>
            <a:p>
              <a:pPr algn="l">
                <a:lnSpc>
                  <a:spcPts val="3359"/>
                </a:lnSpc>
              </a:pPr>
              <a:r>
                <a:rPr lang="en-US" sz="2799" b="1">
                  <a:solidFill>
                    <a:srgbClr val="0B4F5C"/>
                  </a:solidFill>
                  <a:latin typeface="Calibri"/>
                  <a:ea typeface="Calibri"/>
                  <a:cs typeface="Calibri"/>
                  <a:sym typeface="Calibri"/>
                </a:rPr>
                <a:t>Genetics that changes the model</a:t>
              </a:r>
            </a:p>
          </p:txBody>
        </p:sp>
      </p:grpSp>
      <p:sp>
        <p:nvSpPr>
          <p:cNvPr name="TextBox 34" id="34"/>
          <p:cNvSpPr txBox="true"/>
          <p:nvPr/>
        </p:nvSpPr>
        <p:spPr>
          <a:xfrm rot="0">
            <a:off x="12467844" y="3477387"/>
            <a:ext cx="4663440" cy="771525"/>
          </a:xfrm>
          <a:prstGeom prst="rect">
            <a:avLst/>
          </a:prstGeom>
        </p:spPr>
        <p:txBody>
          <a:bodyPr anchor="t" rtlCol="false" tIns="0" lIns="0" bIns="0" rIns="0">
            <a:spAutoFit/>
          </a:bodyPr>
          <a:lstStyle/>
          <a:p>
            <a:pPr algn="l">
              <a:lnSpc>
                <a:spcPts val="2909"/>
              </a:lnSpc>
            </a:pPr>
            <a:r>
              <a:rPr lang="en-US" sz="2424">
                <a:solidFill>
                  <a:srgbClr val="1B2B34"/>
                </a:solidFill>
                <a:latin typeface="Calibri"/>
                <a:ea typeface="Calibri"/>
                <a:cs typeface="Calibri"/>
                <a:sym typeface="Calibri"/>
              </a:rPr>
              <a:t>CYP2C9 changes ibuprofen exposure inside the physiology</a:t>
            </a:r>
          </a:p>
        </p:txBody>
      </p:sp>
      <p:grpSp>
        <p:nvGrpSpPr>
          <p:cNvPr name="Group 35" id="35"/>
          <p:cNvGrpSpPr/>
          <p:nvPr/>
        </p:nvGrpSpPr>
        <p:grpSpPr>
          <a:xfrm rot="0">
            <a:off x="813435" y="5408295"/>
            <a:ext cx="5299710" cy="3105150"/>
            <a:chOff x="0" y="0"/>
            <a:chExt cx="7066280" cy="4140200"/>
          </a:xfrm>
        </p:grpSpPr>
        <p:sp>
          <p:nvSpPr>
            <p:cNvPr name="Freeform 36" id="36"/>
            <p:cNvSpPr/>
            <p:nvPr/>
          </p:nvSpPr>
          <p:spPr>
            <a:xfrm flipH="false" flipV="false" rot="0">
              <a:off x="0" y="0"/>
              <a:ext cx="7066280" cy="4140200"/>
            </a:xfrm>
            <a:custGeom>
              <a:avLst/>
              <a:gdLst/>
              <a:ahLst/>
              <a:cxnLst/>
              <a:rect r="r" b="b" t="t" l="l"/>
              <a:pathLst>
                <a:path h="4140200" w="7066280">
                  <a:moveTo>
                    <a:pt x="0" y="147193"/>
                  </a:moveTo>
                  <a:cubicBezTo>
                    <a:pt x="0" y="65913"/>
                    <a:pt x="65913" y="0"/>
                    <a:pt x="147193" y="0"/>
                  </a:cubicBezTo>
                  <a:lnTo>
                    <a:pt x="6919087" y="0"/>
                  </a:lnTo>
                  <a:cubicBezTo>
                    <a:pt x="7000367" y="0"/>
                    <a:pt x="7066280" y="65913"/>
                    <a:pt x="7066280" y="147193"/>
                  </a:cubicBezTo>
                  <a:lnTo>
                    <a:pt x="7066280" y="3993007"/>
                  </a:lnTo>
                  <a:cubicBezTo>
                    <a:pt x="7066280" y="4074287"/>
                    <a:pt x="7000367" y="4140200"/>
                    <a:pt x="6919087" y="4140200"/>
                  </a:cubicBezTo>
                  <a:lnTo>
                    <a:pt x="147193" y="4140200"/>
                  </a:lnTo>
                  <a:cubicBezTo>
                    <a:pt x="65913" y="4140200"/>
                    <a:pt x="0" y="4074287"/>
                    <a:pt x="0" y="3993007"/>
                  </a:cubicBezTo>
                  <a:close/>
                </a:path>
              </a:pathLst>
            </a:custGeom>
            <a:solidFill>
              <a:srgbClr val="EEF5F5"/>
            </a:solidFill>
            <a:ln w="19050" cap="sq">
              <a:solidFill>
                <a:srgbClr val="EEF5F5"/>
              </a:solidFill>
              <a:prstDash val="solid"/>
              <a:miter/>
            </a:ln>
          </p:spPr>
        </p:sp>
      </p:grpSp>
      <p:grpSp>
        <p:nvGrpSpPr>
          <p:cNvPr name="Group 37" id="37"/>
          <p:cNvGrpSpPr/>
          <p:nvPr/>
        </p:nvGrpSpPr>
        <p:grpSpPr>
          <a:xfrm rot="0">
            <a:off x="1156335" y="5751195"/>
            <a:ext cx="1006602" cy="1006602"/>
            <a:chOff x="0" y="0"/>
            <a:chExt cx="1342136" cy="1342136"/>
          </a:xfrm>
        </p:grpSpPr>
        <p:sp>
          <p:nvSpPr>
            <p:cNvPr name="Freeform 38" id="38"/>
            <p:cNvSpPr/>
            <p:nvPr/>
          </p:nvSpPr>
          <p:spPr>
            <a:xfrm flipH="false" flipV="false" rot="0">
              <a:off x="0" y="0"/>
              <a:ext cx="1342136" cy="1342136"/>
            </a:xfrm>
            <a:custGeom>
              <a:avLst/>
              <a:gdLst/>
              <a:ahLst/>
              <a:cxnLst/>
              <a:rect r="r" b="b" t="t" l="l"/>
              <a:pathLst>
                <a:path h="1342136" w="1342136">
                  <a:moveTo>
                    <a:pt x="0" y="671068"/>
                  </a:moveTo>
                  <a:cubicBezTo>
                    <a:pt x="0" y="300482"/>
                    <a:pt x="300482" y="0"/>
                    <a:pt x="671068" y="0"/>
                  </a:cubicBezTo>
                  <a:cubicBezTo>
                    <a:pt x="1041654" y="0"/>
                    <a:pt x="1342136" y="300482"/>
                    <a:pt x="1342136" y="671068"/>
                  </a:cubicBezTo>
                  <a:cubicBezTo>
                    <a:pt x="1342136" y="1041654"/>
                    <a:pt x="1041654" y="1342136"/>
                    <a:pt x="671068" y="1342136"/>
                  </a:cubicBezTo>
                  <a:cubicBezTo>
                    <a:pt x="300482" y="1342136"/>
                    <a:pt x="0" y="1041654"/>
                    <a:pt x="0" y="671068"/>
                  </a:cubicBezTo>
                  <a:close/>
                </a:path>
              </a:pathLst>
            </a:custGeom>
            <a:solidFill>
              <a:srgbClr val="0E7C86"/>
            </a:solidFill>
            <a:ln w="19050" cap="sq">
              <a:solidFill>
                <a:srgbClr val="0E7C86"/>
              </a:solidFill>
              <a:prstDash val="solid"/>
              <a:miter/>
            </a:ln>
          </p:spPr>
        </p:sp>
      </p:grpSp>
      <p:grpSp>
        <p:nvGrpSpPr>
          <p:cNvPr name="Group 39" id="39"/>
          <p:cNvGrpSpPr/>
          <p:nvPr/>
        </p:nvGrpSpPr>
        <p:grpSpPr>
          <a:xfrm rot="0">
            <a:off x="1412748" y="6007608"/>
            <a:ext cx="493776" cy="493776"/>
            <a:chOff x="0" y="0"/>
            <a:chExt cx="658368" cy="658368"/>
          </a:xfrm>
        </p:grpSpPr>
        <p:sp>
          <p:nvSpPr>
            <p:cNvPr name="Freeform 40" id="40" descr="preencoded.png"/>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lnTo>
                    <a:pt x="0" y="0"/>
                  </a:lnTo>
                  <a:close/>
                </a:path>
              </a:pathLst>
            </a:custGeom>
            <a:blipFill>
              <a:blip r:embed="rId7"/>
              <a:stretch>
                <a:fillRect l="0" t="0" r="0" b="0"/>
              </a:stretch>
            </a:blipFill>
          </p:spPr>
        </p:sp>
      </p:grpSp>
      <p:grpSp>
        <p:nvGrpSpPr>
          <p:cNvPr name="Group 41" id="41"/>
          <p:cNvGrpSpPr/>
          <p:nvPr/>
        </p:nvGrpSpPr>
        <p:grpSpPr>
          <a:xfrm rot="0">
            <a:off x="2331720" y="5801868"/>
            <a:ext cx="3566160" cy="960120"/>
            <a:chOff x="0" y="0"/>
            <a:chExt cx="4754880" cy="1280160"/>
          </a:xfrm>
        </p:grpSpPr>
        <p:sp>
          <p:nvSpPr>
            <p:cNvPr name="Freeform 42" id="42"/>
            <p:cNvSpPr/>
            <p:nvPr/>
          </p:nvSpPr>
          <p:spPr>
            <a:xfrm flipH="false" flipV="false" rot="0">
              <a:off x="0" y="0"/>
              <a:ext cx="4754880" cy="1280160"/>
            </a:xfrm>
            <a:custGeom>
              <a:avLst/>
              <a:gdLst/>
              <a:ahLst/>
              <a:cxnLst/>
              <a:rect r="r" b="b" t="t" l="l"/>
              <a:pathLst>
                <a:path h="1280160" w="4754880">
                  <a:moveTo>
                    <a:pt x="0" y="0"/>
                  </a:moveTo>
                  <a:lnTo>
                    <a:pt x="4754880" y="0"/>
                  </a:lnTo>
                  <a:lnTo>
                    <a:pt x="4754880" y="1280160"/>
                  </a:lnTo>
                  <a:lnTo>
                    <a:pt x="0" y="1280160"/>
                  </a:lnTo>
                  <a:close/>
                </a:path>
              </a:pathLst>
            </a:custGeom>
            <a:blipFill>
              <a:blip r:embed="rId3">
                <a:alphaModFix amt="0"/>
              </a:blip>
              <a:stretch>
                <a:fillRect l="0" t="-22372" r="0" b="-22372"/>
              </a:stretch>
            </a:blipFill>
          </p:spPr>
        </p:sp>
        <p:sp>
          <p:nvSpPr>
            <p:cNvPr name="TextBox 43" id="43"/>
            <p:cNvSpPr txBox="true"/>
            <p:nvPr/>
          </p:nvSpPr>
          <p:spPr>
            <a:xfrm>
              <a:off x="0" y="-66675"/>
              <a:ext cx="4754880" cy="1346835"/>
            </a:xfrm>
            <a:prstGeom prst="rect">
              <a:avLst/>
            </a:prstGeom>
          </p:spPr>
          <p:txBody>
            <a:bodyPr anchor="ctr" rtlCol="false" tIns="0" lIns="0" bIns="0" rIns="0"/>
            <a:lstStyle/>
            <a:p>
              <a:pPr algn="l">
                <a:lnSpc>
                  <a:spcPts val="3359"/>
                </a:lnSpc>
              </a:pPr>
              <a:r>
                <a:rPr lang="en-US" sz="2799" b="1">
                  <a:solidFill>
                    <a:srgbClr val="0B4F5C"/>
                  </a:solidFill>
                  <a:latin typeface="Calibri"/>
                  <a:ea typeface="Calibri"/>
                  <a:cs typeface="Calibri"/>
                  <a:sym typeface="Calibri"/>
                </a:rPr>
                <a:t>Honest science</a:t>
              </a:r>
            </a:p>
          </p:txBody>
        </p:sp>
      </p:grpSp>
      <p:sp>
        <p:nvSpPr>
          <p:cNvPr name="TextBox 44" id="44"/>
          <p:cNvSpPr txBox="true"/>
          <p:nvPr/>
        </p:nvSpPr>
        <p:spPr>
          <a:xfrm rot="0">
            <a:off x="1165860" y="6906387"/>
            <a:ext cx="4663440" cy="771525"/>
          </a:xfrm>
          <a:prstGeom prst="rect">
            <a:avLst/>
          </a:prstGeom>
        </p:spPr>
        <p:txBody>
          <a:bodyPr anchor="t" rtlCol="false" tIns="0" lIns="0" bIns="0" rIns="0">
            <a:spAutoFit/>
          </a:bodyPr>
          <a:lstStyle/>
          <a:p>
            <a:pPr algn="l">
              <a:lnSpc>
                <a:spcPts val="2909"/>
              </a:lnSpc>
            </a:pPr>
            <a:r>
              <a:rPr lang="en-US" sz="2424">
                <a:solidFill>
                  <a:srgbClr val="1B2B34"/>
                </a:solidFill>
                <a:latin typeface="Calibri"/>
                <a:ea typeface="Calibri"/>
                <a:cs typeface="Calibri"/>
                <a:sym typeface="Calibri"/>
              </a:rPr>
              <a:t>Mismatched simulator, pre-registered metrics, failures shown</a:t>
            </a:r>
          </a:p>
        </p:txBody>
      </p:sp>
      <p:grpSp>
        <p:nvGrpSpPr>
          <p:cNvPr name="Group 45" id="45"/>
          <p:cNvGrpSpPr/>
          <p:nvPr/>
        </p:nvGrpSpPr>
        <p:grpSpPr>
          <a:xfrm rot="0">
            <a:off x="6464427" y="5408295"/>
            <a:ext cx="5299710" cy="3105150"/>
            <a:chOff x="0" y="0"/>
            <a:chExt cx="7066280" cy="4140200"/>
          </a:xfrm>
        </p:grpSpPr>
        <p:sp>
          <p:nvSpPr>
            <p:cNvPr name="Freeform 46" id="46"/>
            <p:cNvSpPr/>
            <p:nvPr/>
          </p:nvSpPr>
          <p:spPr>
            <a:xfrm flipH="false" flipV="false" rot="0">
              <a:off x="0" y="0"/>
              <a:ext cx="7066280" cy="4140200"/>
            </a:xfrm>
            <a:custGeom>
              <a:avLst/>
              <a:gdLst/>
              <a:ahLst/>
              <a:cxnLst/>
              <a:rect r="r" b="b" t="t" l="l"/>
              <a:pathLst>
                <a:path h="4140200" w="7066280">
                  <a:moveTo>
                    <a:pt x="0" y="147193"/>
                  </a:moveTo>
                  <a:cubicBezTo>
                    <a:pt x="0" y="65913"/>
                    <a:pt x="65913" y="0"/>
                    <a:pt x="147193" y="0"/>
                  </a:cubicBezTo>
                  <a:lnTo>
                    <a:pt x="6919087" y="0"/>
                  </a:lnTo>
                  <a:cubicBezTo>
                    <a:pt x="7000367" y="0"/>
                    <a:pt x="7066280" y="65913"/>
                    <a:pt x="7066280" y="147193"/>
                  </a:cubicBezTo>
                  <a:lnTo>
                    <a:pt x="7066280" y="3993007"/>
                  </a:lnTo>
                  <a:cubicBezTo>
                    <a:pt x="7066280" y="4074287"/>
                    <a:pt x="7000367" y="4140200"/>
                    <a:pt x="6919087" y="4140200"/>
                  </a:cubicBezTo>
                  <a:lnTo>
                    <a:pt x="147193" y="4140200"/>
                  </a:lnTo>
                  <a:cubicBezTo>
                    <a:pt x="65913" y="4140200"/>
                    <a:pt x="0" y="4074287"/>
                    <a:pt x="0" y="3993007"/>
                  </a:cubicBezTo>
                  <a:close/>
                </a:path>
              </a:pathLst>
            </a:custGeom>
            <a:solidFill>
              <a:srgbClr val="EEF5F5"/>
            </a:solidFill>
            <a:ln w="19050" cap="sq">
              <a:solidFill>
                <a:srgbClr val="EEF5F5"/>
              </a:solidFill>
              <a:prstDash val="solid"/>
              <a:miter/>
            </a:ln>
          </p:spPr>
        </p:sp>
      </p:grpSp>
      <p:grpSp>
        <p:nvGrpSpPr>
          <p:cNvPr name="Group 47" id="47"/>
          <p:cNvGrpSpPr/>
          <p:nvPr/>
        </p:nvGrpSpPr>
        <p:grpSpPr>
          <a:xfrm rot="0">
            <a:off x="6807327" y="5751195"/>
            <a:ext cx="1006602" cy="1006602"/>
            <a:chOff x="0" y="0"/>
            <a:chExt cx="1342136" cy="1342136"/>
          </a:xfrm>
        </p:grpSpPr>
        <p:sp>
          <p:nvSpPr>
            <p:cNvPr name="Freeform 48" id="48"/>
            <p:cNvSpPr/>
            <p:nvPr/>
          </p:nvSpPr>
          <p:spPr>
            <a:xfrm flipH="false" flipV="false" rot="0">
              <a:off x="0" y="0"/>
              <a:ext cx="1342136" cy="1342136"/>
            </a:xfrm>
            <a:custGeom>
              <a:avLst/>
              <a:gdLst/>
              <a:ahLst/>
              <a:cxnLst/>
              <a:rect r="r" b="b" t="t" l="l"/>
              <a:pathLst>
                <a:path h="1342136" w="1342136">
                  <a:moveTo>
                    <a:pt x="0" y="671068"/>
                  </a:moveTo>
                  <a:cubicBezTo>
                    <a:pt x="0" y="300482"/>
                    <a:pt x="300482" y="0"/>
                    <a:pt x="671068" y="0"/>
                  </a:cubicBezTo>
                  <a:cubicBezTo>
                    <a:pt x="1041654" y="0"/>
                    <a:pt x="1342136" y="300482"/>
                    <a:pt x="1342136" y="671068"/>
                  </a:cubicBezTo>
                  <a:cubicBezTo>
                    <a:pt x="1342136" y="1041654"/>
                    <a:pt x="1041654" y="1342136"/>
                    <a:pt x="671068" y="1342136"/>
                  </a:cubicBezTo>
                  <a:cubicBezTo>
                    <a:pt x="300482" y="1342136"/>
                    <a:pt x="0" y="1041654"/>
                    <a:pt x="0" y="671068"/>
                  </a:cubicBezTo>
                  <a:close/>
                </a:path>
              </a:pathLst>
            </a:custGeom>
            <a:solidFill>
              <a:srgbClr val="0E7C86"/>
            </a:solidFill>
            <a:ln w="19050" cap="sq">
              <a:solidFill>
                <a:srgbClr val="0E7C86"/>
              </a:solidFill>
              <a:prstDash val="solid"/>
              <a:miter/>
            </a:ln>
          </p:spPr>
        </p:sp>
      </p:grpSp>
      <p:grpSp>
        <p:nvGrpSpPr>
          <p:cNvPr name="Group 49" id="49"/>
          <p:cNvGrpSpPr/>
          <p:nvPr/>
        </p:nvGrpSpPr>
        <p:grpSpPr>
          <a:xfrm rot="0">
            <a:off x="7063740" y="6007608"/>
            <a:ext cx="493776" cy="493776"/>
            <a:chOff x="0" y="0"/>
            <a:chExt cx="658368" cy="658368"/>
          </a:xfrm>
        </p:grpSpPr>
        <p:sp>
          <p:nvSpPr>
            <p:cNvPr name="Freeform 50" id="50" descr="preencoded.png"/>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lnTo>
                    <a:pt x="0" y="0"/>
                  </a:lnTo>
                  <a:close/>
                </a:path>
              </a:pathLst>
            </a:custGeom>
            <a:blipFill>
              <a:blip r:embed="rId8"/>
              <a:stretch>
                <a:fillRect l="0" t="0" r="0" b="0"/>
              </a:stretch>
            </a:blipFill>
          </p:spPr>
        </p:sp>
      </p:grpSp>
      <p:grpSp>
        <p:nvGrpSpPr>
          <p:cNvPr name="Group 51" id="51"/>
          <p:cNvGrpSpPr/>
          <p:nvPr/>
        </p:nvGrpSpPr>
        <p:grpSpPr>
          <a:xfrm rot="0">
            <a:off x="7982712" y="5801868"/>
            <a:ext cx="3566160" cy="960120"/>
            <a:chOff x="0" y="0"/>
            <a:chExt cx="4754880" cy="1280160"/>
          </a:xfrm>
        </p:grpSpPr>
        <p:sp>
          <p:nvSpPr>
            <p:cNvPr name="Freeform 52" id="52"/>
            <p:cNvSpPr/>
            <p:nvPr/>
          </p:nvSpPr>
          <p:spPr>
            <a:xfrm flipH="false" flipV="false" rot="0">
              <a:off x="0" y="0"/>
              <a:ext cx="4754880" cy="1280160"/>
            </a:xfrm>
            <a:custGeom>
              <a:avLst/>
              <a:gdLst/>
              <a:ahLst/>
              <a:cxnLst/>
              <a:rect r="r" b="b" t="t" l="l"/>
              <a:pathLst>
                <a:path h="1280160" w="4754880">
                  <a:moveTo>
                    <a:pt x="0" y="0"/>
                  </a:moveTo>
                  <a:lnTo>
                    <a:pt x="4754880" y="0"/>
                  </a:lnTo>
                  <a:lnTo>
                    <a:pt x="4754880" y="1280160"/>
                  </a:lnTo>
                  <a:lnTo>
                    <a:pt x="0" y="1280160"/>
                  </a:lnTo>
                  <a:close/>
                </a:path>
              </a:pathLst>
            </a:custGeom>
            <a:blipFill>
              <a:blip r:embed="rId3">
                <a:alphaModFix amt="0"/>
              </a:blip>
              <a:stretch>
                <a:fillRect l="0" t="-22372" r="0" b="-22372"/>
              </a:stretch>
            </a:blipFill>
          </p:spPr>
        </p:sp>
        <p:sp>
          <p:nvSpPr>
            <p:cNvPr name="TextBox 53" id="53"/>
            <p:cNvSpPr txBox="true"/>
            <p:nvPr/>
          </p:nvSpPr>
          <p:spPr>
            <a:xfrm>
              <a:off x="0" y="-66675"/>
              <a:ext cx="4754880" cy="1346835"/>
            </a:xfrm>
            <a:prstGeom prst="rect">
              <a:avLst/>
            </a:prstGeom>
          </p:spPr>
          <p:txBody>
            <a:bodyPr anchor="ctr" rtlCol="false" tIns="0" lIns="0" bIns="0" rIns="0"/>
            <a:lstStyle/>
            <a:p>
              <a:pPr algn="l">
                <a:lnSpc>
                  <a:spcPts val="3359"/>
                </a:lnSpc>
              </a:pPr>
              <a:r>
                <a:rPr lang="en-US" sz="2799" b="1">
                  <a:solidFill>
                    <a:srgbClr val="0B4F5C"/>
                  </a:solidFill>
                  <a:latin typeface="Calibri"/>
                  <a:ea typeface="Calibri"/>
                  <a:cs typeface="Calibri"/>
                  <a:sym typeface="Calibri"/>
                </a:rPr>
                <a:t>Privacy that works</a:t>
              </a:r>
            </a:p>
          </p:txBody>
        </p:sp>
      </p:grpSp>
      <p:sp>
        <p:nvSpPr>
          <p:cNvPr name="TextBox 54" id="54"/>
          <p:cNvSpPr txBox="true"/>
          <p:nvPr/>
        </p:nvSpPr>
        <p:spPr>
          <a:xfrm rot="0">
            <a:off x="6816852" y="6906387"/>
            <a:ext cx="4663440" cy="771525"/>
          </a:xfrm>
          <a:prstGeom prst="rect">
            <a:avLst/>
          </a:prstGeom>
        </p:spPr>
        <p:txBody>
          <a:bodyPr anchor="t" rtlCol="false" tIns="0" lIns="0" bIns="0" rIns="0">
            <a:spAutoFit/>
          </a:bodyPr>
          <a:lstStyle/>
          <a:p>
            <a:pPr algn="l">
              <a:lnSpc>
                <a:spcPts val="2909"/>
              </a:lnSpc>
            </a:pPr>
            <a:r>
              <a:rPr lang="en-US" sz="2424">
                <a:solidFill>
                  <a:srgbClr val="1B2B34"/>
                </a:solidFill>
                <a:latin typeface="Calibri"/>
                <a:ea typeface="Calibri"/>
                <a:cs typeface="Calibri"/>
                <a:sym typeface="Calibri"/>
              </a:rPr>
              <a:t>Consent on every read, signed audit, FHIR R4, DPDP map</a:t>
            </a:r>
          </a:p>
        </p:txBody>
      </p:sp>
      <p:grpSp>
        <p:nvGrpSpPr>
          <p:cNvPr name="Group 55" id="55"/>
          <p:cNvGrpSpPr/>
          <p:nvPr/>
        </p:nvGrpSpPr>
        <p:grpSpPr>
          <a:xfrm rot="0">
            <a:off x="12115419" y="5408295"/>
            <a:ext cx="5299710" cy="3105150"/>
            <a:chOff x="0" y="0"/>
            <a:chExt cx="7066280" cy="4140200"/>
          </a:xfrm>
        </p:grpSpPr>
        <p:sp>
          <p:nvSpPr>
            <p:cNvPr name="Freeform 56" id="56"/>
            <p:cNvSpPr/>
            <p:nvPr/>
          </p:nvSpPr>
          <p:spPr>
            <a:xfrm flipH="false" flipV="false" rot="0">
              <a:off x="0" y="0"/>
              <a:ext cx="7066280" cy="4140200"/>
            </a:xfrm>
            <a:custGeom>
              <a:avLst/>
              <a:gdLst/>
              <a:ahLst/>
              <a:cxnLst/>
              <a:rect r="r" b="b" t="t" l="l"/>
              <a:pathLst>
                <a:path h="4140200" w="7066280">
                  <a:moveTo>
                    <a:pt x="0" y="147193"/>
                  </a:moveTo>
                  <a:cubicBezTo>
                    <a:pt x="0" y="65913"/>
                    <a:pt x="65913" y="0"/>
                    <a:pt x="147193" y="0"/>
                  </a:cubicBezTo>
                  <a:lnTo>
                    <a:pt x="6919087" y="0"/>
                  </a:lnTo>
                  <a:cubicBezTo>
                    <a:pt x="7000367" y="0"/>
                    <a:pt x="7066280" y="65913"/>
                    <a:pt x="7066280" y="147193"/>
                  </a:cubicBezTo>
                  <a:lnTo>
                    <a:pt x="7066280" y="3993007"/>
                  </a:lnTo>
                  <a:cubicBezTo>
                    <a:pt x="7066280" y="4074287"/>
                    <a:pt x="7000367" y="4140200"/>
                    <a:pt x="6919087" y="4140200"/>
                  </a:cubicBezTo>
                  <a:lnTo>
                    <a:pt x="147193" y="4140200"/>
                  </a:lnTo>
                  <a:cubicBezTo>
                    <a:pt x="65913" y="4140200"/>
                    <a:pt x="0" y="4074287"/>
                    <a:pt x="0" y="3993007"/>
                  </a:cubicBezTo>
                  <a:close/>
                </a:path>
              </a:pathLst>
            </a:custGeom>
            <a:solidFill>
              <a:srgbClr val="EEF5F5"/>
            </a:solidFill>
            <a:ln w="19050" cap="sq">
              <a:solidFill>
                <a:srgbClr val="EEF5F5"/>
              </a:solidFill>
              <a:prstDash val="solid"/>
              <a:miter/>
            </a:ln>
          </p:spPr>
        </p:sp>
      </p:grpSp>
      <p:grpSp>
        <p:nvGrpSpPr>
          <p:cNvPr name="Group 57" id="57"/>
          <p:cNvGrpSpPr/>
          <p:nvPr/>
        </p:nvGrpSpPr>
        <p:grpSpPr>
          <a:xfrm rot="0">
            <a:off x="12458319" y="5751195"/>
            <a:ext cx="1006602" cy="1006602"/>
            <a:chOff x="0" y="0"/>
            <a:chExt cx="1342136" cy="1342136"/>
          </a:xfrm>
        </p:grpSpPr>
        <p:sp>
          <p:nvSpPr>
            <p:cNvPr name="Freeform 58" id="58"/>
            <p:cNvSpPr/>
            <p:nvPr/>
          </p:nvSpPr>
          <p:spPr>
            <a:xfrm flipH="false" flipV="false" rot="0">
              <a:off x="0" y="0"/>
              <a:ext cx="1342136" cy="1342136"/>
            </a:xfrm>
            <a:custGeom>
              <a:avLst/>
              <a:gdLst/>
              <a:ahLst/>
              <a:cxnLst/>
              <a:rect r="r" b="b" t="t" l="l"/>
              <a:pathLst>
                <a:path h="1342136" w="1342136">
                  <a:moveTo>
                    <a:pt x="0" y="671068"/>
                  </a:moveTo>
                  <a:cubicBezTo>
                    <a:pt x="0" y="300482"/>
                    <a:pt x="300482" y="0"/>
                    <a:pt x="671068" y="0"/>
                  </a:cubicBezTo>
                  <a:cubicBezTo>
                    <a:pt x="1041654" y="0"/>
                    <a:pt x="1342136" y="300482"/>
                    <a:pt x="1342136" y="671068"/>
                  </a:cubicBezTo>
                  <a:cubicBezTo>
                    <a:pt x="1342136" y="1041654"/>
                    <a:pt x="1041654" y="1342136"/>
                    <a:pt x="671068" y="1342136"/>
                  </a:cubicBezTo>
                  <a:cubicBezTo>
                    <a:pt x="300482" y="1342136"/>
                    <a:pt x="0" y="1041654"/>
                    <a:pt x="0" y="671068"/>
                  </a:cubicBezTo>
                  <a:close/>
                </a:path>
              </a:pathLst>
            </a:custGeom>
            <a:solidFill>
              <a:srgbClr val="0E7C86"/>
            </a:solidFill>
            <a:ln w="19050" cap="sq">
              <a:solidFill>
                <a:srgbClr val="0E7C86"/>
              </a:solidFill>
              <a:prstDash val="solid"/>
              <a:miter/>
            </a:ln>
          </p:spPr>
        </p:sp>
      </p:grpSp>
      <p:grpSp>
        <p:nvGrpSpPr>
          <p:cNvPr name="Group 59" id="59"/>
          <p:cNvGrpSpPr/>
          <p:nvPr/>
        </p:nvGrpSpPr>
        <p:grpSpPr>
          <a:xfrm rot="0">
            <a:off x="12714732" y="6007608"/>
            <a:ext cx="493776" cy="493776"/>
            <a:chOff x="0" y="0"/>
            <a:chExt cx="658368" cy="658368"/>
          </a:xfrm>
        </p:grpSpPr>
        <p:sp>
          <p:nvSpPr>
            <p:cNvPr name="Freeform 60" id="60" descr="preencoded.png"/>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lnTo>
                    <a:pt x="0" y="0"/>
                  </a:lnTo>
                  <a:close/>
                </a:path>
              </a:pathLst>
            </a:custGeom>
            <a:blipFill>
              <a:blip r:embed="rId9"/>
              <a:stretch>
                <a:fillRect l="0" t="0" r="0" b="0"/>
              </a:stretch>
            </a:blipFill>
          </p:spPr>
        </p:sp>
      </p:grpSp>
      <p:grpSp>
        <p:nvGrpSpPr>
          <p:cNvPr name="Group 61" id="61"/>
          <p:cNvGrpSpPr/>
          <p:nvPr/>
        </p:nvGrpSpPr>
        <p:grpSpPr>
          <a:xfrm rot="0">
            <a:off x="13633704" y="5801868"/>
            <a:ext cx="3566160" cy="960120"/>
            <a:chOff x="0" y="0"/>
            <a:chExt cx="4754880" cy="1280160"/>
          </a:xfrm>
        </p:grpSpPr>
        <p:sp>
          <p:nvSpPr>
            <p:cNvPr name="Freeform 62" id="62"/>
            <p:cNvSpPr/>
            <p:nvPr/>
          </p:nvSpPr>
          <p:spPr>
            <a:xfrm flipH="false" flipV="false" rot="0">
              <a:off x="0" y="0"/>
              <a:ext cx="4754880" cy="1280160"/>
            </a:xfrm>
            <a:custGeom>
              <a:avLst/>
              <a:gdLst/>
              <a:ahLst/>
              <a:cxnLst/>
              <a:rect r="r" b="b" t="t" l="l"/>
              <a:pathLst>
                <a:path h="1280160" w="4754880">
                  <a:moveTo>
                    <a:pt x="0" y="0"/>
                  </a:moveTo>
                  <a:lnTo>
                    <a:pt x="4754880" y="0"/>
                  </a:lnTo>
                  <a:lnTo>
                    <a:pt x="4754880" y="1280160"/>
                  </a:lnTo>
                  <a:lnTo>
                    <a:pt x="0" y="1280160"/>
                  </a:lnTo>
                  <a:close/>
                </a:path>
              </a:pathLst>
            </a:custGeom>
            <a:blipFill>
              <a:blip r:embed="rId3">
                <a:alphaModFix amt="0"/>
              </a:blip>
              <a:stretch>
                <a:fillRect l="0" t="-22372" r="0" b="-22372"/>
              </a:stretch>
            </a:blipFill>
          </p:spPr>
        </p:sp>
        <p:sp>
          <p:nvSpPr>
            <p:cNvPr name="TextBox 63" id="63"/>
            <p:cNvSpPr txBox="true"/>
            <p:nvPr/>
          </p:nvSpPr>
          <p:spPr>
            <a:xfrm>
              <a:off x="0" y="-66675"/>
              <a:ext cx="4754880" cy="1346835"/>
            </a:xfrm>
            <a:prstGeom prst="rect">
              <a:avLst/>
            </a:prstGeom>
          </p:spPr>
          <p:txBody>
            <a:bodyPr anchor="ctr" rtlCol="false" tIns="0" lIns="0" bIns="0" rIns="0"/>
            <a:lstStyle/>
            <a:p>
              <a:pPr algn="l">
                <a:lnSpc>
                  <a:spcPts val="3359"/>
                </a:lnSpc>
              </a:pPr>
              <a:r>
                <a:rPr lang="en-US" sz="2799" b="1">
                  <a:solidFill>
                    <a:srgbClr val="0B4F5C"/>
                  </a:solidFill>
                  <a:latin typeface="Calibri"/>
                  <a:ea typeface="Calibri"/>
                  <a:cs typeface="Calibri"/>
                  <a:sym typeface="Calibri"/>
                </a:rPr>
                <a:t>Built for Bharat</a:t>
              </a:r>
            </a:p>
          </p:txBody>
        </p:sp>
      </p:grpSp>
      <p:sp>
        <p:nvSpPr>
          <p:cNvPr name="TextBox 64" id="64"/>
          <p:cNvSpPr txBox="true"/>
          <p:nvPr/>
        </p:nvSpPr>
        <p:spPr>
          <a:xfrm rot="0">
            <a:off x="12467844" y="6906387"/>
            <a:ext cx="4663440" cy="771525"/>
          </a:xfrm>
          <a:prstGeom prst="rect">
            <a:avLst/>
          </a:prstGeom>
        </p:spPr>
        <p:txBody>
          <a:bodyPr anchor="t" rtlCol="false" tIns="0" lIns="0" bIns="0" rIns="0">
            <a:spAutoFit/>
          </a:bodyPr>
          <a:lstStyle/>
          <a:p>
            <a:pPr algn="l">
              <a:lnSpc>
                <a:spcPts val="2909"/>
              </a:lnSpc>
            </a:pPr>
            <a:r>
              <a:rPr lang="en-US" sz="2424">
                <a:solidFill>
                  <a:srgbClr val="1B2B34"/>
                </a:solidFill>
                <a:latin typeface="Calibri"/>
                <a:ea typeface="Calibri"/>
                <a:cs typeface="Calibri"/>
                <a:sym typeface="Calibri"/>
              </a:rPr>
              <a:t>4 languages, audio, brand-name pills, ASHA Tier 0, red flags first</a:t>
            </a:r>
          </a:p>
        </p:txBody>
      </p:sp>
      <p:sp>
        <p:nvSpPr>
          <p:cNvPr name="TextBox 65" id="65"/>
          <p:cNvSpPr txBox="true"/>
          <p:nvPr/>
        </p:nvSpPr>
        <p:spPr>
          <a:xfrm rot="0">
            <a:off x="16962120" y="9540240"/>
            <a:ext cx="640080" cy="342900"/>
          </a:xfrm>
          <a:prstGeom prst="rect">
            <a:avLst/>
          </a:prstGeom>
        </p:spPr>
        <p:txBody>
          <a:bodyPr anchor="t" rtlCol="false" tIns="0" lIns="0" bIns="0" rIns="0">
            <a:spAutoFit/>
          </a:bodyPr>
          <a:lstStyle/>
          <a:p>
            <a:pPr algn="r">
              <a:lnSpc>
                <a:spcPts val="2459"/>
              </a:lnSpc>
            </a:pPr>
            <a:r>
              <a:rPr lang="en-US" sz="2049">
                <a:solidFill>
                  <a:srgbClr val="5B6C75"/>
                </a:solidFill>
                <a:latin typeface="Calibri"/>
                <a:ea typeface="Calibri"/>
                <a:cs typeface="Calibri"/>
                <a:sym typeface="Calibri"/>
              </a:rPr>
              <a:t>29</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0B4F5C"/>
        </a:solidFill>
      </p:bgPr>
    </p:bg>
    <p:spTree>
      <p:nvGrpSpPr>
        <p:cNvPr id="1" name=""/>
        <p:cNvGrpSpPr/>
        <p:nvPr/>
      </p:nvGrpSpPr>
      <p:grpSpPr>
        <a:xfrm>
          <a:off x="0" y="0"/>
          <a:ext cx="0" cy="0"/>
          <a:chOff x="0" y="0"/>
          <a:chExt cx="0" cy="0"/>
        </a:xfrm>
      </p:grpSpPr>
      <p:grpSp>
        <p:nvGrpSpPr>
          <p:cNvPr name="Group 2" id="2"/>
          <p:cNvGrpSpPr/>
          <p:nvPr/>
        </p:nvGrpSpPr>
        <p:grpSpPr>
          <a:xfrm rot="0">
            <a:off x="822960" y="597582"/>
            <a:ext cx="14401800" cy="4770723"/>
            <a:chOff x="0" y="0"/>
            <a:chExt cx="19202400" cy="6360965"/>
          </a:xfrm>
        </p:grpSpPr>
        <p:sp>
          <p:nvSpPr>
            <p:cNvPr name="Freeform 3" id="3"/>
            <p:cNvSpPr/>
            <p:nvPr/>
          </p:nvSpPr>
          <p:spPr>
            <a:xfrm flipH="false" flipV="false" rot="0">
              <a:off x="0" y="0"/>
              <a:ext cx="19202400" cy="6360964"/>
            </a:xfrm>
            <a:custGeom>
              <a:avLst/>
              <a:gdLst/>
              <a:ahLst/>
              <a:cxnLst/>
              <a:rect r="r" b="b" t="t" l="l"/>
              <a:pathLst>
                <a:path h="6360964" w="19202400">
                  <a:moveTo>
                    <a:pt x="0" y="0"/>
                  </a:moveTo>
                  <a:lnTo>
                    <a:pt x="19202400" y="0"/>
                  </a:lnTo>
                  <a:lnTo>
                    <a:pt x="19202400" y="6360964"/>
                  </a:lnTo>
                  <a:lnTo>
                    <a:pt x="0" y="6360964"/>
                  </a:lnTo>
                  <a:close/>
                </a:path>
              </a:pathLst>
            </a:custGeom>
            <a:blipFill>
              <a:blip r:embed="rId3">
                <a:alphaModFix amt="0"/>
              </a:blip>
              <a:stretch>
                <a:fillRect l="0" t="-40133" r="0" b="22491"/>
              </a:stretch>
            </a:blipFill>
          </p:spPr>
        </p:sp>
        <p:sp>
          <p:nvSpPr>
            <p:cNvPr name="TextBox 4" id="4"/>
            <p:cNvSpPr txBox="true"/>
            <p:nvPr/>
          </p:nvSpPr>
          <p:spPr>
            <a:xfrm>
              <a:off x="0" y="-9525"/>
              <a:ext cx="19202400" cy="6370490"/>
            </a:xfrm>
            <a:prstGeom prst="rect">
              <a:avLst/>
            </a:prstGeom>
          </p:spPr>
          <p:txBody>
            <a:bodyPr anchor="b" rtlCol="false" tIns="0" lIns="0" bIns="0" rIns="0"/>
            <a:lstStyle/>
            <a:p>
              <a:pPr algn="l">
                <a:lnSpc>
                  <a:spcPts val="7679"/>
                </a:lnSpc>
              </a:pPr>
              <a:r>
                <a:rPr lang="en-US" sz="6399" b="1">
                  <a:solidFill>
                    <a:srgbClr val="FFFFFF"/>
                  </a:solidFill>
                  <a:latin typeface="Cambria"/>
                  <a:ea typeface="Cambria"/>
                  <a:cs typeface="Cambria"/>
                  <a:sym typeface="Cambria"/>
                </a:rPr>
                <a:t>Impact and next steps</a:t>
              </a:r>
            </a:p>
          </p:txBody>
        </p:sp>
      </p:grpSp>
      <p:sp>
        <p:nvSpPr>
          <p:cNvPr name="TextBox 5" id="5"/>
          <p:cNvSpPr txBox="true"/>
          <p:nvPr/>
        </p:nvSpPr>
        <p:spPr>
          <a:xfrm rot="0">
            <a:off x="822960" y="5488305"/>
            <a:ext cx="14401800" cy="581025"/>
          </a:xfrm>
          <a:prstGeom prst="rect">
            <a:avLst/>
          </a:prstGeom>
        </p:spPr>
        <p:txBody>
          <a:bodyPr anchor="t" rtlCol="false" tIns="0" lIns="0" bIns="0" rIns="0">
            <a:spAutoFit/>
          </a:bodyPr>
          <a:lstStyle/>
          <a:p>
            <a:pPr algn="l">
              <a:lnSpc>
                <a:spcPts val="4079"/>
              </a:lnSpc>
            </a:pPr>
            <a:r>
              <a:rPr lang="en-US" sz="3399">
                <a:solidFill>
                  <a:srgbClr val="BFE3E5"/>
                </a:solidFill>
                <a:latin typeface="Calibri"/>
                <a:ea typeface="Calibri"/>
                <a:cs typeface="Calibri"/>
                <a:sym typeface="Calibri"/>
              </a:rPr>
              <a:t>How it could plug into Happiest Health, and what we would do next</a:t>
            </a:r>
          </a:p>
        </p:txBody>
      </p:sp>
      <p:sp>
        <p:nvSpPr>
          <p:cNvPr name="TextBox 6" id="6"/>
          <p:cNvSpPr txBox="true"/>
          <p:nvPr/>
        </p:nvSpPr>
        <p:spPr>
          <a:xfrm rot="0">
            <a:off x="16962120" y="9540240"/>
            <a:ext cx="640080" cy="342900"/>
          </a:xfrm>
          <a:prstGeom prst="rect">
            <a:avLst/>
          </a:prstGeom>
        </p:spPr>
        <p:txBody>
          <a:bodyPr anchor="t" rtlCol="false" tIns="0" lIns="0" bIns="0" rIns="0">
            <a:spAutoFit/>
          </a:bodyPr>
          <a:lstStyle/>
          <a:p>
            <a:pPr algn="r">
              <a:lnSpc>
                <a:spcPts val="2459"/>
              </a:lnSpc>
            </a:pPr>
            <a:r>
              <a:rPr lang="en-US" sz="2049">
                <a:solidFill>
                  <a:srgbClr val="BFE3E5"/>
                </a:solidFill>
                <a:latin typeface="Calibri"/>
                <a:ea typeface="Calibri"/>
                <a:cs typeface="Calibri"/>
                <a:sym typeface="Calibri"/>
              </a:rPr>
              <a:t>30</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749355"/>
            <a:ext cx="16596360" cy="3593431"/>
            <a:chOff x="0" y="0"/>
            <a:chExt cx="22128480" cy="4791241"/>
          </a:xfrm>
        </p:grpSpPr>
        <p:sp>
          <p:nvSpPr>
            <p:cNvPr name="Freeform 3" id="3"/>
            <p:cNvSpPr/>
            <p:nvPr/>
          </p:nvSpPr>
          <p:spPr>
            <a:xfrm flipH="false" flipV="false" rot="0">
              <a:off x="0" y="0"/>
              <a:ext cx="22128480" cy="4791241"/>
            </a:xfrm>
            <a:custGeom>
              <a:avLst/>
              <a:gdLst/>
              <a:ahLst/>
              <a:cxnLst/>
              <a:rect r="r" b="b" t="t" l="l"/>
              <a:pathLst>
                <a:path h="4791241" w="22128480">
                  <a:moveTo>
                    <a:pt x="0" y="0"/>
                  </a:moveTo>
                  <a:lnTo>
                    <a:pt x="22128480" y="0"/>
                  </a:lnTo>
                  <a:lnTo>
                    <a:pt x="22128480" y="4791241"/>
                  </a:lnTo>
                  <a:lnTo>
                    <a:pt x="0" y="4791241"/>
                  </a:lnTo>
                  <a:close/>
                </a:path>
              </a:pathLst>
            </a:custGeom>
            <a:blipFill>
              <a:blip r:embed="rId3">
                <a:alphaModFix amt="0"/>
              </a:blip>
              <a:stretch>
                <a:fillRect l="0" t="-73770" r="0" b="-6214"/>
              </a:stretch>
            </a:blipFill>
          </p:spPr>
        </p:sp>
        <p:sp>
          <p:nvSpPr>
            <p:cNvPr name="TextBox 4" id="4"/>
            <p:cNvSpPr txBox="true"/>
            <p:nvPr/>
          </p:nvSpPr>
          <p:spPr>
            <a:xfrm>
              <a:off x="0" y="-9525"/>
              <a:ext cx="22128480" cy="4800766"/>
            </a:xfrm>
            <a:prstGeom prst="rect">
              <a:avLst/>
            </a:prstGeom>
          </p:spPr>
          <p:txBody>
            <a:bodyPr anchor="ctr" rtlCol="false" tIns="0" lIns="0" bIns="0" rIns="0"/>
            <a:lstStyle/>
            <a:p>
              <a:pPr algn="l">
                <a:lnSpc>
                  <a:spcPts val="5879"/>
                </a:lnSpc>
              </a:pPr>
              <a:r>
                <a:rPr lang="en-US" sz="4899" b="1">
                  <a:solidFill>
                    <a:srgbClr val="0B4F5C"/>
                  </a:solidFill>
                  <a:latin typeface="Cambria"/>
                  <a:ea typeface="Cambria"/>
                  <a:cs typeface="Cambria"/>
                  <a:sym typeface="Cambria"/>
                </a:rPr>
                <a:t>How VrikkaTwin could plug into Happiest Health</a:t>
              </a:r>
            </a:p>
          </p:txBody>
        </p:sp>
      </p:grpSp>
      <p:grpSp>
        <p:nvGrpSpPr>
          <p:cNvPr name="Group 5" id="5"/>
          <p:cNvGrpSpPr/>
          <p:nvPr/>
        </p:nvGrpSpPr>
        <p:grpSpPr>
          <a:xfrm rot="0">
            <a:off x="813435" y="1979295"/>
            <a:ext cx="8111490" cy="2625090"/>
            <a:chOff x="0" y="0"/>
            <a:chExt cx="10815320" cy="3500120"/>
          </a:xfrm>
        </p:grpSpPr>
        <p:sp>
          <p:nvSpPr>
            <p:cNvPr name="Freeform 6" id="6"/>
            <p:cNvSpPr/>
            <p:nvPr/>
          </p:nvSpPr>
          <p:spPr>
            <a:xfrm flipH="false" flipV="false" rot="0">
              <a:off x="0" y="0"/>
              <a:ext cx="10815320" cy="3500120"/>
            </a:xfrm>
            <a:custGeom>
              <a:avLst/>
              <a:gdLst/>
              <a:ahLst/>
              <a:cxnLst/>
              <a:rect r="r" b="b" t="t" l="l"/>
              <a:pathLst>
                <a:path h="3500120" w="10815320">
                  <a:moveTo>
                    <a:pt x="0" y="147447"/>
                  </a:moveTo>
                  <a:cubicBezTo>
                    <a:pt x="0" y="66040"/>
                    <a:pt x="66040" y="0"/>
                    <a:pt x="147447" y="0"/>
                  </a:cubicBezTo>
                  <a:lnTo>
                    <a:pt x="10667873" y="0"/>
                  </a:lnTo>
                  <a:cubicBezTo>
                    <a:pt x="10749280" y="0"/>
                    <a:pt x="10815320" y="66040"/>
                    <a:pt x="10815320" y="147447"/>
                  </a:cubicBezTo>
                  <a:lnTo>
                    <a:pt x="10815320" y="3352673"/>
                  </a:lnTo>
                  <a:cubicBezTo>
                    <a:pt x="10815320" y="3434080"/>
                    <a:pt x="10749280" y="3500120"/>
                    <a:pt x="10667873" y="3500120"/>
                  </a:cubicBezTo>
                  <a:lnTo>
                    <a:pt x="147447" y="3500120"/>
                  </a:lnTo>
                  <a:cubicBezTo>
                    <a:pt x="66040" y="3500120"/>
                    <a:pt x="0" y="3434080"/>
                    <a:pt x="0" y="3352673"/>
                  </a:cubicBezTo>
                  <a:close/>
                </a:path>
              </a:pathLst>
            </a:custGeom>
            <a:solidFill>
              <a:srgbClr val="EEF5F5"/>
            </a:solidFill>
            <a:ln w="19050" cap="sq">
              <a:solidFill>
                <a:srgbClr val="EEF5F5"/>
              </a:solidFill>
              <a:prstDash val="solid"/>
              <a:miter/>
            </a:ln>
          </p:spPr>
        </p:sp>
      </p:grpSp>
      <p:grpSp>
        <p:nvGrpSpPr>
          <p:cNvPr name="Group 7" id="7"/>
          <p:cNvGrpSpPr/>
          <p:nvPr/>
        </p:nvGrpSpPr>
        <p:grpSpPr>
          <a:xfrm rot="0">
            <a:off x="1224915" y="2390775"/>
            <a:ext cx="1116330" cy="1116330"/>
            <a:chOff x="0" y="0"/>
            <a:chExt cx="1488440" cy="1488440"/>
          </a:xfrm>
        </p:grpSpPr>
        <p:sp>
          <p:nvSpPr>
            <p:cNvPr name="Freeform 8" id="8"/>
            <p:cNvSpPr/>
            <p:nvPr/>
          </p:nvSpPr>
          <p:spPr>
            <a:xfrm flipH="false" flipV="false" rot="0">
              <a:off x="0" y="0"/>
              <a:ext cx="1488440" cy="1488440"/>
            </a:xfrm>
            <a:custGeom>
              <a:avLst/>
              <a:gdLst/>
              <a:ahLst/>
              <a:cxnLst/>
              <a:rect r="r" b="b" t="t" l="l"/>
              <a:pathLst>
                <a:path h="1488440" w="1488440">
                  <a:moveTo>
                    <a:pt x="0" y="744220"/>
                  </a:moveTo>
                  <a:cubicBezTo>
                    <a:pt x="0" y="333248"/>
                    <a:pt x="333248" y="0"/>
                    <a:pt x="744220" y="0"/>
                  </a:cubicBezTo>
                  <a:cubicBezTo>
                    <a:pt x="1155192" y="0"/>
                    <a:pt x="1488440" y="333248"/>
                    <a:pt x="1488440" y="744220"/>
                  </a:cubicBezTo>
                  <a:cubicBezTo>
                    <a:pt x="1488440" y="1155192"/>
                    <a:pt x="1155192" y="1488440"/>
                    <a:pt x="744220" y="1488440"/>
                  </a:cubicBezTo>
                  <a:cubicBezTo>
                    <a:pt x="333248" y="1488440"/>
                    <a:pt x="0" y="1155192"/>
                    <a:pt x="0" y="744220"/>
                  </a:cubicBezTo>
                  <a:close/>
                </a:path>
              </a:pathLst>
            </a:custGeom>
            <a:solidFill>
              <a:srgbClr val="0E7C86"/>
            </a:solidFill>
            <a:ln w="19050" cap="sq">
              <a:solidFill>
                <a:srgbClr val="0E7C86"/>
              </a:solidFill>
              <a:prstDash val="solid"/>
              <a:miter/>
            </a:ln>
          </p:spPr>
        </p:sp>
      </p:grpSp>
      <p:grpSp>
        <p:nvGrpSpPr>
          <p:cNvPr name="Group 9" id="9"/>
          <p:cNvGrpSpPr/>
          <p:nvPr/>
        </p:nvGrpSpPr>
        <p:grpSpPr>
          <a:xfrm rot="0">
            <a:off x="1508760" y="2674620"/>
            <a:ext cx="548640" cy="548640"/>
            <a:chOff x="0" y="0"/>
            <a:chExt cx="731520" cy="731520"/>
          </a:xfrm>
        </p:grpSpPr>
        <p:sp>
          <p:nvSpPr>
            <p:cNvPr name="Freeform 10" id="10" descr="preencode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4"/>
              <a:stretch>
                <a:fillRect l="0" t="0" r="0" b="0"/>
              </a:stretch>
            </a:blipFill>
          </p:spPr>
        </p:sp>
      </p:grpSp>
      <p:sp>
        <p:nvSpPr>
          <p:cNvPr name="TextBox 11" id="11"/>
          <p:cNvSpPr txBox="true"/>
          <p:nvPr/>
        </p:nvSpPr>
        <p:spPr>
          <a:xfrm rot="0">
            <a:off x="2606040" y="2343150"/>
            <a:ext cx="6035040" cy="504825"/>
          </a:xfrm>
          <a:prstGeom prst="rect">
            <a:avLst/>
          </a:prstGeom>
        </p:spPr>
        <p:txBody>
          <a:bodyPr anchor="t" rtlCol="false" tIns="0" lIns="0" bIns="0" rIns="0">
            <a:spAutoFit/>
          </a:bodyPr>
          <a:lstStyle/>
          <a:p>
            <a:pPr algn="l">
              <a:lnSpc>
                <a:spcPts val="3539"/>
              </a:lnSpc>
            </a:pPr>
            <a:r>
              <a:rPr lang="en-US" sz="2949" b="1">
                <a:solidFill>
                  <a:srgbClr val="0B4F5C"/>
                </a:solidFill>
                <a:latin typeface="Calibri"/>
                <a:ea typeface="Calibri"/>
                <a:cs typeface="Calibri"/>
                <a:sym typeface="Calibri"/>
              </a:rPr>
              <a:t>Specialty clinics</a:t>
            </a:r>
          </a:p>
        </p:txBody>
      </p:sp>
      <p:sp>
        <p:nvSpPr>
          <p:cNvPr name="TextBox 12" id="12"/>
          <p:cNvSpPr txBox="true"/>
          <p:nvPr/>
        </p:nvSpPr>
        <p:spPr>
          <a:xfrm rot="0">
            <a:off x="2606040" y="3038475"/>
            <a:ext cx="6035040" cy="1162050"/>
          </a:xfrm>
          <a:prstGeom prst="rect">
            <a:avLst/>
          </a:prstGeom>
        </p:spPr>
        <p:txBody>
          <a:bodyPr anchor="t" rtlCol="false" tIns="0" lIns="0" bIns="0" rIns="0">
            <a:spAutoFit/>
          </a:bodyPr>
          <a:lstStyle/>
          <a:p>
            <a:pPr algn="l">
              <a:lnSpc>
                <a:spcPts val="2999"/>
              </a:lnSpc>
            </a:pPr>
            <a:r>
              <a:rPr lang="en-US" sz="2499">
                <a:solidFill>
                  <a:srgbClr val="1B2B34"/>
                </a:solidFill>
                <a:latin typeface="Calibri"/>
                <a:ea typeface="Calibri"/>
                <a:cs typeface="Calibri"/>
                <a:sym typeface="Calibri"/>
              </a:rPr>
              <a:t>An early-warning and triage list for endocrinology, personal-physician and future kidney patients</a:t>
            </a:r>
          </a:p>
        </p:txBody>
      </p:sp>
      <p:grpSp>
        <p:nvGrpSpPr>
          <p:cNvPr name="Group 13" id="13"/>
          <p:cNvGrpSpPr/>
          <p:nvPr/>
        </p:nvGrpSpPr>
        <p:grpSpPr>
          <a:xfrm rot="0">
            <a:off x="9180195" y="1979295"/>
            <a:ext cx="8111490" cy="2625090"/>
            <a:chOff x="0" y="0"/>
            <a:chExt cx="10815320" cy="3500120"/>
          </a:xfrm>
        </p:grpSpPr>
        <p:sp>
          <p:nvSpPr>
            <p:cNvPr name="Freeform 14" id="14"/>
            <p:cNvSpPr/>
            <p:nvPr/>
          </p:nvSpPr>
          <p:spPr>
            <a:xfrm flipH="false" flipV="false" rot="0">
              <a:off x="0" y="0"/>
              <a:ext cx="10815320" cy="3500120"/>
            </a:xfrm>
            <a:custGeom>
              <a:avLst/>
              <a:gdLst/>
              <a:ahLst/>
              <a:cxnLst/>
              <a:rect r="r" b="b" t="t" l="l"/>
              <a:pathLst>
                <a:path h="3500120" w="10815320">
                  <a:moveTo>
                    <a:pt x="0" y="147447"/>
                  </a:moveTo>
                  <a:cubicBezTo>
                    <a:pt x="0" y="66040"/>
                    <a:pt x="66040" y="0"/>
                    <a:pt x="147447" y="0"/>
                  </a:cubicBezTo>
                  <a:lnTo>
                    <a:pt x="10667873" y="0"/>
                  </a:lnTo>
                  <a:cubicBezTo>
                    <a:pt x="10749280" y="0"/>
                    <a:pt x="10815320" y="66040"/>
                    <a:pt x="10815320" y="147447"/>
                  </a:cubicBezTo>
                  <a:lnTo>
                    <a:pt x="10815320" y="3352673"/>
                  </a:lnTo>
                  <a:cubicBezTo>
                    <a:pt x="10815320" y="3434080"/>
                    <a:pt x="10749280" y="3500120"/>
                    <a:pt x="10667873" y="3500120"/>
                  </a:cubicBezTo>
                  <a:lnTo>
                    <a:pt x="147447" y="3500120"/>
                  </a:lnTo>
                  <a:cubicBezTo>
                    <a:pt x="66040" y="3500120"/>
                    <a:pt x="0" y="3434080"/>
                    <a:pt x="0" y="3352673"/>
                  </a:cubicBezTo>
                  <a:close/>
                </a:path>
              </a:pathLst>
            </a:custGeom>
            <a:solidFill>
              <a:srgbClr val="EEF5F5"/>
            </a:solidFill>
            <a:ln w="19050" cap="sq">
              <a:solidFill>
                <a:srgbClr val="EEF5F5"/>
              </a:solidFill>
              <a:prstDash val="solid"/>
              <a:miter/>
            </a:ln>
          </p:spPr>
        </p:sp>
      </p:grpSp>
      <p:grpSp>
        <p:nvGrpSpPr>
          <p:cNvPr name="Group 15" id="15"/>
          <p:cNvGrpSpPr/>
          <p:nvPr/>
        </p:nvGrpSpPr>
        <p:grpSpPr>
          <a:xfrm rot="0">
            <a:off x="9591675" y="2390775"/>
            <a:ext cx="1116330" cy="1116330"/>
            <a:chOff x="0" y="0"/>
            <a:chExt cx="1488440" cy="1488440"/>
          </a:xfrm>
        </p:grpSpPr>
        <p:sp>
          <p:nvSpPr>
            <p:cNvPr name="Freeform 16" id="16"/>
            <p:cNvSpPr/>
            <p:nvPr/>
          </p:nvSpPr>
          <p:spPr>
            <a:xfrm flipH="false" flipV="false" rot="0">
              <a:off x="0" y="0"/>
              <a:ext cx="1488440" cy="1488440"/>
            </a:xfrm>
            <a:custGeom>
              <a:avLst/>
              <a:gdLst/>
              <a:ahLst/>
              <a:cxnLst/>
              <a:rect r="r" b="b" t="t" l="l"/>
              <a:pathLst>
                <a:path h="1488440" w="1488440">
                  <a:moveTo>
                    <a:pt x="0" y="744220"/>
                  </a:moveTo>
                  <a:cubicBezTo>
                    <a:pt x="0" y="333248"/>
                    <a:pt x="333248" y="0"/>
                    <a:pt x="744220" y="0"/>
                  </a:cubicBezTo>
                  <a:cubicBezTo>
                    <a:pt x="1155192" y="0"/>
                    <a:pt x="1488440" y="333248"/>
                    <a:pt x="1488440" y="744220"/>
                  </a:cubicBezTo>
                  <a:cubicBezTo>
                    <a:pt x="1488440" y="1155192"/>
                    <a:pt x="1155192" y="1488440"/>
                    <a:pt x="744220" y="1488440"/>
                  </a:cubicBezTo>
                  <a:cubicBezTo>
                    <a:pt x="333248" y="1488440"/>
                    <a:pt x="0" y="1155192"/>
                    <a:pt x="0" y="744220"/>
                  </a:cubicBezTo>
                  <a:close/>
                </a:path>
              </a:pathLst>
            </a:custGeom>
            <a:solidFill>
              <a:srgbClr val="0E7C86"/>
            </a:solidFill>
            <a:ln w="19050" cap="sq">
              <a:solidFill>
                <a:srgbClr val="0E7C86"/>
              </a:solidFill>
              <a:prstDash val="solid"/>
              <a:miter/>
            </a:ln>
          </p:spPr>
        </p:sp>
      </p:grpSp>
      <p:grpSp>
        <p:nvGrpSpPr>
          <p:cNvPr name="Group 17" id="17"/>
          <p:cNvGrpSpPr/>
          <p:nvPr/>
        </p:nvGrpSpPr>
        <p:grpSpPr>
          <a:xfrm rot="0">
            <a:off x="9875520" y="2674620"/>
            <a:ext cx="548640" cy="548640"/>
            <a:chOff x="0" y="0"/>
            <a:chExt cx="731520" cy="731520"/>
          </a:xfrm>
        </p:grpSpPr>
        <p:sp>
          <p:nvSpPr>
            <p:cNvPr name="Freeform 18" id="18" descr="preencode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5"/>
              <a:stretch>
                <a:fillRect l="0" t="0" r="0" b="0"/>
              </a:stretch>
            </a:blipFill>
          </p:spPr>
        </p:sp>
      </p:grpSp>
      <p:sp>
        <p:nvSpPr>
          <p:cNvPr name="TextBox 19" id="19"/>
          <p:cNvSpPr txBox="true"/>
          <p:nvPr/>
        </p:nvSpPr>
        <p:spPr>
          <a:xfrm rot="0">
            <a:off x="10972800" y="2343150"/>
            <a:ext cx="6035040" cy="504825"/>
          </a:xfrm>
          <a:prstGeom prst="rect">
            <a:avLst/>
          </a:prstGeom>
        </p:spPr>
        <p:txBody>
          <a:bodyPr anchor="t" rtlCol="false" tIns="0" lIns="0" bIns="0" rIns="0">
            <a:spAutoFit/>
          </a:bodyPr>
          <a:lstStyle/>
          <a:p>
            <a:pPr algn="l">
              <a:lnSpc>
                <a:spcPts val="3539"/>
              </a:lnSpc>
            </a:pPr>
            <a:r>
              <a:rPr lang="en-US" sz="2949" b="1">
                <a:solidFill>
                  <a:srgbClr val="0B4F5C"/>
                </a:solidFill>
                <a:latin typeface="Calibri"/>
                <a:ea typeface="Calibri"/>
                <a:cs typeface="Calibri"/>
                <a:sym typeface="Calibri"/>
              </a:rPr>
              <a:t>Diagnostics with home collection</a:t>
            </a:r>
          </a:p>
        </p:txBody>
      </p:sp>
      <p:sp>
        <p:nvSpPr>
          <p:cNvPr name="TextBox 20" id="20"/>
          <p:cNvSpPr txBox="true"/>
          <p:nvPr/>
        </p:nvSpPr>
        <p:spPr>
          <a:xfrm rot="0">
            <a:off x="10972800" y="3038475"/>
            <a:ext cx="6035040" cy="790575"/>
          </a:xfrm>
          <a:prstGeom prst="rect">
            <a:avLst/>
          </a:prstGeom>
        </p:spPr>
        <p:txBody>
          <a:bodyPr anchor="t" rtlCol="false" tIns="0" lIns="0" bIns="0" rIns="0">
            <a:spAutoFit/>
          </a:bodyPr>
          <a:lstStyle/>
          <a:p>
            <a:pPr algn="l">
              <a:lnSpc>
                <a:spcPts val="2999"/>
              </a:lnSpc>
            </a:pPr>
            <a:r>
              <a:rPr lang="en-US" sz="2499">
                <a:solidFill>
                  <a:srgbClr val="1B2B34"/>
                </a:solidFill>
                <a:latin typeface="Calibri"/>
                <a:ea typeface="Calibri"/>
                <a:cs typeface="Calibri"/>
                <a:sym typeface="Calibri"/>
              </a:rPr>
              <a:t>The twin decides who needs a kidney test today and creates the home-collection task</a:t>
            </a:r>
          </a:p>
        </p:txBody>
      </p:sp>
      <p:grpSp>
        <p:nvGrpSpPr>
          <p:cNvPr name="Group 21" id="21"/>
          <p:cNvGrpSpPr/>
          <p:nvPr/>
        </p:nvGrpSpPr>
        <p:grpSpPr>
          <a:xfrm rot="0">
            <a:off x="813435" y="4928235"/>
            <a:ext cx="8111490" cy="2625090"/>
            <a:chOff x="0" y="0"/>
            <a:chExt cx="10815320" cy="3500120"/>
          </a:xfrm>
        </p:grpSpPr>
        <p:sp>
          <p:nvSpPr>
            <p:cNvPr name="Freeform 22" id="22"/>
            <p:cNvSpPr/>
            <p:nvPr/>
          </p:nvSpPr>
          <p:spPr>
            <a:xfrm flipH="false" flipV="false" rot="0">
              <a:off x="0" y="0"/>
              <a:ext cx="10815320" cy="3500120"/>
            </a:xfrm>
            <a:custGeom>
              <a:avLst/>
              <a:gdLst/>
              <a:ahLst/>
              <a:cxnLst/>
              <a:rect r="r" b="b" t="t" l="l"/>
              <a:pathLst>
                <a:path h="3500120" w="10815320">
                  <a:moveTo>
                    <a:pt x="0" y="147447"/>
                  </a:moveTo>
                  <a:cubicBezTo>
                    <a:pt x="0" y="66040"/>
                    <a:pt x="66040" y="0"/>
                    <a:pt x="147447" y="0"/>
                  </a:cubicBezTo>
                  <a:lnTo>
                    <a:pt x="10667873" y="0"/>
                  </a:lnTo>
                  <a:cubicBezTo>
                    <a:pt x="10749280" y="0"/>
                    <a:pt x="10815320" y="66040"/>
                    <a:pt x="10815320" y="147447"/>
                  </a:cubicBezTo>
                  <a:lnTo>
                    <a:pt x="10815320" y="3352673"/>
                  </a:lnTo>
                  <a:cubicBezTo>
                    <a:pt x="10815320" y="3434080"/>
                    <a:pt x="10749280" y="3500120"/>
                    <a:pt x="10667873" y="3500120"/>
                  </a:cubicBezTo>
                  <a:lnTo>
                    <a:pt x="147447" y="3500120"/>
                  </a:lnTo>
                  <a:cubicBezTo>
                    <a:pt x="66040" y="3500120"/>
                    <a:pt x="0" y="3434080"/>
                    <a:pt x="0" y="3352673"/>
                  </a:cubicBezTo>
                  <a:close/>
                </a:path>
              </a:pathLst>
            </a:custGeom>
            <a:solidFill>
              <a:srgbClr val="EEF5F5"/>
            </a:solidFill>
            <a:ln w="19050" cap="sq">
              <a:solidFill>
                <a:srgbClr val="EEF5F5"/>
              </a:solidFill>
              <a:prstDash val="solid"/>
              <a:miter/>
            </a:ln>
          </p:spPr>
        </p:sp>
      </p:grpSp>
      <p:grpSp>
        <p:nvGrpSpPr>
          <p:cNvPr name="Group 23" id="23"/>
          <p:cNvGrpSpPr/>
          <p:nvPr/>
        </p:nvGrpSpPr>
        <p:grpSpPr>
          <a:xfrm rot="0">
            <a:off x="1224915" y="5339715"/>
            <a:ext cx="1116330" cy="1116330"/>
            <a:chOff x="0" y="0"/>
            <a:chExt cx="1488440" cy="1488440"/>
          </a:xfrm>
        </p:grpSpPr>
        <p:sp>
          <p:nvSpPr>
            <p:cNvPr name="Freeform 24" id="24"/>
            <p:cNvSpPr/>
            <p:nvPr/>
          </p:nvSpPr>
          <p:spPr>
            <a:xfrm flipH="false" flipV="false" rot="0">
              <a:off x="0" y="0"/>
              <a:ext cx="1488440" cy="1488440"/>
            </a:xfrm>
            <a:custGeom>
              <a:avLst/>
              <a:gdLst/>
              <a:ahLst/>
              <a:cxnLst/>
              <a:rect r="r" b="b" t="t" l="l"/>
              <a:pathLst>
                <a:path h="1488440" w="1488440">
                  <a:moveTo>
                    <a:pt x="0" y="744220"/>
                  </a:moveTo>
                  <a:cubicBezTo>
                    <a:pt x="0" y="333248"/>
                    <a:pt x="333248" y="0"/>
                    <a:pt x="744220" y="0"/>
                  </a:cubicBezTo>
                  <a:cubicBezTo>
                    <a:pt x="1155192" y="0"/>
                    <a:pt x="1488440" y="333248"/>
                    <a:pt x="1488440" y="744220"/>
                  </a:cubicBezTo>
                  <a:cubicBezTo>
                    <a:pt x="1488440" y="1155192"/>
                    <a:pt x="1155192" y="1488440"/>
                    <a:pt x="744220" y="1488440"/>
                  </a:cubicBezTo>
                  <a:cubicBezTo>
                    <a:pt x="333248" y="1488440"/>
                    <a:pt x="0" y="1155192"/>
                    <a:pt x="0" y="744220"/>
                  </a:cubicBezTo>
                  <a:close/>
                </a:path>
              </a:pathLst>
            </a:custGeom>
            <a:solidFill>
              <a:srgbClr val="0E7C86"/>
            </a:solidFill>
            <a:ln w="19050" cap="sq">
              <a:solidFill>
                <a:srgbClr val="0E7C86"/>
              </a:solidFill>
              <a:prstDash val="solid"/>
              <a:miter/>
            </a:ln>
          </p:spPr>
        </p:sp>
      </p:grpSp>
      <p:grpSp>
        <p:nvGrpSpPr>
          <p:cNvPr name="Group 25" id="25"/>
          <p:cNvGrpSpPr/>
          <p:nvPr/>
        </p:nvGrpSpPr>
        <p:grpSpPr>
          <a:xfrm rot="0">
            <a:off x="1508760" y="5623560"/>
            <a:ext cx="548640" cy="548640"/>
            <a:chOff x="0" y="0"/>
            <a:chExt cx="731520" cy="731520"/>
          </a:xfrm>
        </p:grpSpPr>
        <p:sp>
          <p:nvSpPr>
            <p:cNvPr name="Freeform 26" id="26" descr="preencode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6"/>
              <a:stretch>
                <a:fillRect l="0" t="0" r="0" b="0"/>
              </a:stretch>
            </a:blipFill>
          </p:spPr>
        </p:sp>
      </p:grpSp>
      <p:sp>
        <p:nvSpPr>
          <p:cNvPr name="TextBox 27" id="27"/>
          <p:cNvSpPr txBox="true"/>
          <p:nvPr/>
        </p:nvSpPr>
        <p:spPr>
          <a:xfrm rot="0">
            <a:off x="2606040" y="5292090"/>
            <a:ext cx="6035040" cy="504825"/>
          </a:xfrm>
          <a:prstGeom prst="rect">
            <a:avLst/>
          </a:prstGeom>
        </p:spPr>
        <p:txBody>
          <a:bodyPr anchor="t" rtlCol="false" tIns="0" lIns="0" bIns="0" rIns="0">
            <a:spAutoFit/>
          </a:bodyPr>
          <a:lstStyle/>
          <a:p>
            <a:pPr algn="l">
              <a:lnSpc>
                <a:spcPts val="3539"/>
              </a:lnSpc>
            </a:pPr>
            <a:r>
              <a:rPr lang="en-US" sz="2949" b="1">
                <a:solidFill>
                  <a:srgbClr val="0B4F5C"/>
                </a:solidFill>
                <a:latin typeface="Calibri"/>
                <a:ea typeface="Calibri"/>
                <a:cs typeface="Calibri"/>
                <a:sym typeface="Calibri"/>
              </a:rPr>
              <a:t>Digital healthcare</a:t>
            </a:r>
          </a:p>
        </p:txBody>
      </p:sp>
      <p:sp>
        <p:nvSpPr>
          <p:cNvPr name="TextBox 28" id="28"/>
          <p:cNvSpPr txBox="true"/>
          <p:nvPr/>
        </p:nvSpPr>
        <p:spPr>
          <a:xfrm rot="0">
            <a:off x="2606040" y="5987415"/>
            <a:ext cx="6035040" cy="790575"/>
          </a:xfrm>
          <a:prstGeom prst="rect">
            <a:avLst/>
          </a:prstGeom>
        </p:spPr>
        <p:txBody>
          <a:bodyPr anchor="t" rtlCol="false" tIns="0" lIns="0" bIns="0" rIns="0">
            <a:spAutoFit/>
          </a:bodyPr>
          <a:lstStyle/>
          <a:p>
            <a:pPr algn="l">
              <a:lnSpc>
                <a:spcPts val="2999"/>
              </a:lnSpc>
            </a:pPr>
            <a:r>
              <a:rPr lang="en-US" sz="2499">
                <a:solidFill>
                  <a:srgbClr val="1B2B34"/>
                </a:solidFill>
                <a:latin typeface="Calibri"/>
                <a:ea typeface="Calibri"/>
                <a:cs typeface="Calibri"/>
                <a:sym typeface="Calibri"/>
              </a:rPr>
              <a:t>Could serve as a 'kidney safety' module next to virtual consults: red alerts route to a doctor</a:t>
            </a:r>
          </a:p>
        </p:txBody>
      </p:sp>
      <p:grpSp>
        <p:nvGrpSpPr>
          <p:cNvPr name="Group 29" id="29"/>
          <p:cNvGrpSpPr/>
          <p:nvPr/>
        </p:nvGrpSpPr>
        <p:grpSpPr>
          <a:xfrm rot="0">
            <a:off x="9180195" y="4928235"/>
            <a:ext cx="8111490" cy="2625090"/>
            <a:chOff x="0" y="0"/>
            <a:chExt cx="10815320" cy="3500120"/>
          </a:xfrm>
        </p:grpSpPr>
        <p:sp>
          <p:nvSpPr>
            <p:cNvPr name="Freeform 30" id="30"/>
            <p:cNvSpPr/>
            <p:nvPr/>
          </p:nvSpPr>
          <p:spPr>
            <a:xfrm flipH="false" flipV="false" rot="0">
              <a:off x="0" y="0"/>
              <a:ext cx="10815320" cy="3500120"/>
            </a:xfrm>
            <a:custGeom>
              <a:avLst/>
              <a:gdLst/>
              <a:ahLst/>
              <a:cxnLst/>
              <a:rect r="r" b="b" t="t" l="l"/>
              <a:pathLst>
                <a:path h="3500120" w="10815320">
                  <a:moveTo>
                    <a:pt x="0" y="147447"/>
                  </a:moveTo>
                  <a:cubicBezTo>
                    <a:pt x="0" y="66040"/>
                    <a:pt x="66040" y="0"/>
                    <a:pt x="147447" y="0"/>
                  </a:cubicBezTo>
                  <a:lnTo>
                    <a:pt x="10667873" y="0"/>
                  </a:lnTo>
                  <a:cubicBezTo>
                    <a:pt x="10749280" y="0"/>
                    <a:pt x="10815320" y="66040"/>
                    <a:pt x="10815320" y="147447"/>
                  </a:cubicBezTo>
                  <a:lnTo>
                    <a:pt x="10815320" y="3352673"/>
                  </a:lnTo>
                  <a:cubicBezTo>
                    <a:pt x="10815320" y="3434080"/>
                    <a:pt x="10749280" y="3500120"/>
                    <a:pt x="10667873" y="3500120"/>
                  </a:cubicBezTo>
                  <a:lnTo>
                    <a:pt x="147447" y="3500120"/>
                  </a:lnTo>
                  <a:cubicBezTo>
                    <a:pt x="66040" y="3500120"/>
                    <a:pt x="0" y="3434080"/>
                    <a:pt x="0" y="3352673"/>
                  </a:cubicBezTo>
                  <a:close/>
                </a:path>
              </a:pathLst>
            </a:custGeom>
            <a:solidFill>
              <a:srgbClr val="EEF5F5"/>
            </a:solidFill>
            <a:ln w="19050" cap="sq">
              <a:solidFill>
                <a:srgbClr val="EEF5F5"/>
              </a:solidFill>
              <a:prstDash val="solid"/>
              <a:miter/>
            </a:ln>
          </p:spPr>
        </p:sp>
      </p:grpSp>
      <p:grpSp>
        <p:nvGrpSpPr>
          <p:cNvPr name="Group 31" id="31"/>
          <p:cNvGrpSpPr/>
          <p:nvPr/>
        </p:nvGrpSpPr>
        <p:grpSpPr>
          <a:xfrm rot="0">
            <a:off x="9591675" y="5339715"/>
            <a:ext cx="1116330" cy="1116330"/>
            <a:chOff x="0" y="0"/>
            <a:chExt cx="1488440" cy="1488440"/>
          </a:xfrm>
        </p:grpSpPr>
        <p:sp>
          <p:nvSpPr>
            <p:cNvPr name="Freeform 32" id="32"/>
            <p:cNvSpPr/>
            <p:nvPr/>
          </p:nvSpPr>
          <p:spPr>
            <a:xfrm flipH="false" flipV="false" rot="0">
              <a:off x="0" y="0"/>
              <a:ext cx="1488440" cy="1488440"/>
            </a:xfrm>
            <a:custGeom>
              <a:avLst/>
              <a:gdLst/>
              <a:ahLst/>
              <a:cxnLst/>
              <a:rect r="r" b="b" t="t" l="l"/>
              <a:pathLst>
                <a:path h="1488440" w="1488440">
                  <a:moveTo>
                    <a:pt x="0" y="744220"/>
                  </a:moveTo>
                  <a:cubicBezTo>
                    <a:pt x="0" y="333248"/>
                    <a:pt x="333248" y="0"/>
                    <a:pt x="744220" y="0"/>
                  </a:cubicBezTo>
                  <a:cubicBezTo>
                    <a:pt x="1155192" y="0"/>
                    <a:pt x="1488440" y="333248"/>
                    <a:pt x="1488440" y="744220"/>
                  </a:cubicBezTo>
                  <a:cubicBezTo>
                    <a:pt x="1488440" y="1155192"/>
                    <a:pt x="1155192" y="1488440"/>
                    <a:pt x="744220" y="1488440"/>
                  </a:cubicBezTo>
                  <a:cubicBezTo>
                    <a:pt x="333248" y="1488440"/>
                    <a:pt x="0" y="1155192"/>
                    <a:pt x="0" y="744220"/>
                  </a:cubicBezTo>
                  <a:close/>
                </a:path>
              </a:pathLst>
            </a:custGeom>
            <a:solidFill>
              <a:srgbClr val="0E7C86"/>
            </a:solidFill>
            <a:ln w="19050" cap="sq">
              <a:solidFill>
                <a:srgbClr val="0E7C86"/>
              </a:solidFill>
              <a:prstDash val="solid"/>
              <a:miter/>
            </a:ln>
          </p:spPr>
        </p:sp>
      </p:grpSp>
      <p:grpSp>
        <p:nvGrpSpPr>
          <p:cNvPr name="Group 33" id="33"/>
          <p:cNvGrpSpPr/>
          <p:nvPr/>
        </p:nvGrpSpPr>
        <p:grpSpPr>
          <a:xfrm rot="0">
            <a:off x="9875520" y="5623560"/>
            <a:ext cx="548640" cy="548640"/>
            <a:chOff x="0" y="0"/>
            <a:chExt cx="731520" cy="731520"/>
          </a:xfrm>
        </p:grpSpPr>
        <p:sp>
          <p:nvSpPr>
            <p:cNvPr name="Freeform 34" id="34" descr="preencode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7"/>
              <a:stretch>
                <a:fillRect l="0" t="0" r="0" b="0"/>
              </a:stretch>
            </a:blipFill>
          </p:spPr>
        </p:sp>
      </p:grpSp>
      <p:sp>
        <p:nvSpPr>
          <p:cNvPr name="TextBox 35" id="35"/>
          <p:cNvSpPr txBox="true"/>
          <p:nvPr/>
        </p:nvSpPr>
        <p:spPr>
          <a:xfrm rot="0">
            <a:off x="10972800" y="5292090"/>
            <a:ext cx="6035040" cy="504825"/>
          </a:xfrm>
          <a:prstGeom prst="rect">
            <a:avLst/>
          </a:prstGeom>
        </p:spPr>
        <p:txBody>
          <a:bodyPr anchor="t" rtlCol="false" tIns="0" lIns="0" bIns="0" rIns="0">
            <a:spAutoFit/>
          </a:bodyPr>
          <a:lstStyle/>
          <a:p>
            <a:pPr algn="l">
              <a:lnSpc>
                <a:spcPts val="3539"/>
              </a:lnSpc>
            </a:pPr>
            <a:r>
              <a:rPr lang="en-US" sz="2949" b="1">
                <a:solidFill>
                  <a:srgbClr val="0B4F5C"/>
                </a:solidFill>
                <a:latin typeface="Calibri"/>
                <a:ea typeface="Calibri"/>
                <a:cs typeface="Calibri"/>
                <a:sym typeface="Calibri"/>
              </a:rPr>
              <a:t>Corporate wellness</a:t>
            </a:r>
          </a:p>
        </p:txBody>
      </p:sp>
      <p:sp>
        <p:nvSpPr>
          <p:cNvPr name="TextBox 36" id="36"/>
          <p:cNvSpPr txBox="true"/>
          <p:nvPr/>
        </p:nvSpPr>
        <p:spPr>
          <a:xfrm rot="0">
            <a:off x="10972800" y="5987415"/>
            <a:ext cx="6035040" cy="790575"/>
          </a:xfrm>
          <a:prstGeom prst="rect">
            <a:avLst/>
          </a:prstGeom>
        </p:spPr>
        <p:txBody>
          <a:bodyPr anchor="t" rtlCol="false" tIns="0" lIns="0" bIns="0" rIns="0">
            <a:spAutoFit/>
          </a:bodyPr>
          <a:lstStyle/>
          <a:p>
            <a:pPr algn="l">
              <a:lnSpc>
                <a:spcPts val="2999"/>
              </a:lnSpc>
            </a:pPr>
            <a:r>
              <a:rPr lang="en-US" sz="2499">
                <a:solidFill>
                  <a:srgbClr val="1B2B34"/>
                </a:solidFill>
                <a:latin typeface="Calibri"/>
                <a:ea typeface="Calibri"/>
                <a:cs typeface="Calibri"/>
                <a:sym typeface="Calibri"/>
              </a:rPr>
              <a:t>A heat-season programme for field workforces: delivery, construction, facilities</a:t>
            </a:r>
          </a:p>
        </p:txBody>
      </p:sp>
      <p:grpSp>
        <p:nvGrpSpPr>
          <p:cNvPr name="Group 37" id="37"/>
          <p:cNvGrpSpPr/>
          <p:nvPr/>
        </p:nvGrpSpPr>
        <p:grpSpPr>
          <a:xfrm rot="0">
            <a:off x="813435" y="8014335"/>
            <a:ext cx="16615410" cy="979170"/>
            <a:chOff x="0" y="0"/>
            <a:chExt cx="22153880" cy="1305560"/>
          </a:xfrm>
        </p:grpSpPr>
        <p:sp>
          <p:nvSpPr>
            <p:cNvPr name="Freeform 38" id="38"/>
            <p:cNvSpPr/>
            <p:nvPr/>
          </p:nvSpPr>
          <p:spPr>
            <a:xfrm flipH="false" flipV="false" rot="0">
              <a:off x="0" y="0"/>
              <a:ext cx="22153880" cy="1305560"/>
            </a:xfrm>
            <a:custGeom>
              <a:avLst/>
              <a:gdLst/>
              <a:ahLst/>
              <a:cxnLst/>
              <a:rect r="r" b="b" t="t" l="l"/>
              <a:pathLst>
                <a:path h="1305560" w="22153880">
                  <a:moveTo>
                    <a:pt x="0" y="149225"/>
                  </a:moveTo>
                  <a:cubicBezTo>
                    <a:pt x="0" y="66802"/>
                    <a:pt x="66802" y="0"/>
                    <a:pt x="149225" y="0"/>
                  </a:cubicBezTo>
                  <a:lnTo>
                    <a:pt x="22004655" y="0"/>
                  </a:lnTo>
                  <a:cubicBezTo>
                    <a:pt x="22087078" y="0"/>
                    <a:pt x="22153880" y="66802"/>
                    <a:pt x="22153880" y="149225"/>
                  </a:cubicBezTo>
                  <a:lnTo>
                    <a:pt x="22153880" y="1156335"/>
                  </a:lnTo>
                  <a:cubicBezTo>
                    <a:pt x="22153880" y="1238758"/>
                    <a:pt x="22087078" y="1305560"/>
                    <a:pt x="22004655" y="1305560"/>
                  </a:cubicBezTo>
                  <a:lnTo>
                    <a:pt x="149225" y="1305560"/>
                  </a:lnTo>
                  <a:cubicBezTo>
                    <a:pt x="66802" y="1305560"/>
                    <a:pt x="0" y="1238758"/>
                    <a:pt x="0" y="1156335"/>
                  </a:cubicBezTo>
                  <a:close/>
                </a:path>
              </a:pathLst>
            </a:custGeom>
            <a:solidFill>
              <a:srgbClr val="0B4F5C"/>
            </a:solidFill>
            <a:ln w="19050" cap="sq">
              <a:solidFill>
                <a:srgbClr val="0B4F5C"/>
              </a:solidFill>
              <a:prstDash val="solid"/>
              <a:miter/>
            </a:ln>
          </p:spPr>
        </p:sp>
      </p:grpSp>
      <p:grpSp>
        <p:nvGrpSpPr>
          <p:cNvPr name="Group 39" id="39"/>
          <p:cNvGrpSpPr/>
          <p:nvPr/>
        </p:nvGrpSpPr>
        <p:grpSpPr>
          <a:xfrm rot="0">
            <a:off x="1234440" y="8023860"/>
            <a:ext cx="15773400" cy="960120"/>
            <a:chOff x="0" y="0"/>
            <a:chExt cx="21031200" cy="1280160"/>
          </a:xfrm>
        </p:grpSpPr>
        <p:sp>
          <p:nvSpPr>
            <p:cNvPr name="Freeform 40" id="40"/>
            <p:cNvSpPr/>
            <p:nvPr/>
          </p:nvSpPr>
          <p:spPr>
            <a:xfrm flipH="false" flipV="false" rot="0">
              <a:off x="0" y="0"/>
              <a:ext cx="21031200" cy="1280160"/>
            </a:xfrm>
            <a:custGeom>
              <a:avLst/>
              <a:gdLst/>
              <a:ahLst/>
              <a:cxnLst/>
              <a:rect r="r" b="b" t="t" l="l"/>
              <a:pathLst>
                <a:path h="1280160" w="21031200">
                  <a:moveTo>
                    <a:pt x="0" y="0"/>
                  </a:moveTo>
                  <a:lnTo>
                    <a:pt x="21031200" y="0"/>
                  </a:lnTo>
                  <a:lnTo>
                    <a:pt x="21031200" y="1280160"/>
                  </a:lnTo>
                  <a:lnTo>
                    <a:pt x="0" y="1280160"/>
                  </a:lnTo>
                  <a:close/>
                </a:path>
              </a:pathLst>
            </a:custGeom>
            <a:blipFill>
              <a:blip r:embed="rId3">
                <a:alphaModFix amt="0"/>
              </a:blip>
              <a:stretch>
                <a:fillRect l="0" t="-270111" r="0" b="-270111"/>
              </a:stretch>
            </a:blipFill>
          </p:spPr>
        </p:sp>
        <p:sp>
          <p:nvSpPr>
            <p:cNvPr name="TextBox 41" id="41"/>
            <p:cNvSpPr txBox="true"/>
            <p:nvPr/>
          </p:nvSpPr>
          <p:spPr>
            <a:xfrm>
              <a:off x="0" y="-66675"/>
              <a:ext cx="21031200" cy="1346835"/>
            </a:xfrm>
            <a:prstGeom prst="rect">
              <a:avLst/>
            </a:prstGeom>
          </p:spPr>
          <p:txBody>
            <a:bodyPr anchor="ctr" rtlCol="false" tIns="0" lIns="0" bIns="0" rIns="0"/>
            <a:lstStyle/>
            <a:p>
              <a:pPr algn="l">
                <a:lnSpc>
                  <a:spcPts val="3359"/>
                </a:lnSpc>
              </a:pPr>
              <a:r>
                <a:rPr lang="en-US" sz="2799" i="1">
                  <a:solidFill>
                    <a:srgbClr val="FFFFFF"/>
                  </a:solidFill>
                  <a:latin typeface="Calibri"/>
                  <a:ea typeface="Calibri"/>
                  <a:cs typeface="Calibri"/>
                  <a:sym typeface="Calibri"/>
                </a:rPr>
                <a:t>"Proactive, not reactive": the twin turns a one-time test into a daily, personal safety net.</a:t>
              </a:r>
            </a:p>
          </p:txBody>
        </p:sp>
      </p:grpSp>
      <p:sp>
        <p:nvSpPr>
          <p:cNvPr name="TextBox 42" id="42"/>
          <p:cNvSpPr txBox="true"/>
          <p:nvPr/>
        </p:nvSpPr>
        <p:spPr>
          <a:xfrm rot="0">
            <a:off x="16962120" y="9540240"/>
            <a:ext cx="640080" cy="342900"/>
          </a:xfrm>
          <a:prstGeom prst="rect">
            <a:avLst/>
          </a:prstGeom>
        </p:spPr>
        <p:txBody>
          <a:bodyPr anchor="t" rtlCol="false" tIns="0" lIns="0" bIns="0" rIns="0">
            <a:spAutoFit/>
          </a:bodyPr>
          <a:lstStyle/>
          <a:p>
            <a:pPr algn="r">
              <a:lnSpc>
                <a:spcPts val="2459"/>
              </a:lnSpc>
            </a:pPr>
            <a:r>
              <a:rPr lang="en-US" sz="2049">
                <a:solidFill>
                  <a:srgbClr val="5B6C75"/>
                </a:solidFill>
                <a:latin typeface="Calibri"/>
                <a:ea typeface="Calibri"/>
                <a:cs typeface="Calibri"/>
                <a:sym typeface="Calibri"/>
              </a:rPr>
              <a:t>31</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13435" y="-785461"/>
            <a:ext cx="16596360" cy="3593431"/>
            <a:chOff x="0" y="0"/>
            <a:chExt cx="22128480" cy="4791241"/>
          </a:xfrm>
        </p:grpSpPr>
        <p:sp>
          <p:nvSpPr>
            <p:cNvPr name="Freeform 3" id="3"/>
            <p:cNvSpPr/>
            <p:nvPr/>
          </p:nvSpPr>
          <p:spPr>
            <a:xfrm flipH="false" flipV="false" rot="0">
              <a:off x="0" y="0"/>
              <a:ext cx="22128480" cy="4791241"/>
            </a:xfrm>
            <a:custGeom>
              <a:avLst/>
              <a:gdLst/>
              <a:ahLst/>
              <a:cxnLst/>
              <a:rect r="r" b="b" t="t" l="l"/>
              <a:pathLst>
                <a:path h="4791241" w="22128480">
                  <a:moveTo>
                    <a:pt x="0" y="0"/>
                  </a:moveTo>
                  <a:lnTo>
                    <a:pt x="22128480" y="0"/>
                  </a:lnTo>
                  <a:lnTo>
                    <a:pt x="22128480" y="4791241"/>
                  </a:lnTo>
                  <a:lnTo>
                    <a:pt x="0" y="4791241"/>
                  </a:lnTo>
                  <a:close/>
                </a:path>
              </a:pathLst>
            </a:custGeom>
            <a:blipFill>
              <a:blip r:embed="rId3">
                <a:alphaModFix amt="0"/>
              </a:blip>
              <a:stretch>
                <a:fillRect l="0" t="-73770" r="0" b="-6214"/>
              </a:stretch>
            </a:blipFill>
          </p:spPr>
        </p:sp>
        <p:sp>
          <p:nvSpPr>
            <p:cNvPr name="TextBox 4" id="4"/>
            <p:cNvSpPr txBox="true"/>
            <p:nvPr/>
          </p:nvSpPr>
          <p:spPr>
            <a:xfrm>
              <a:off x="0" y="-9525"/>
              <a:ext cx="22128480" cy="4800766"/>
            </a:xfrm>
            <a:prstGeom prst="rect">
              <a:avLst/>
            </a:prstGeom>
          </p:spPr>
          <p:txBody>
            <a:bodyPr anchor="ctr" rtlCol="false" tIns="0" lIns="0" bIns="0" rIns="0"/>
            <a:lstStyle/>
            <a:p>
              <a:pPr algn="l">
                <a:lnSpc>
                  <a:spcPts val="5879"/>
                </a:lnSpc>
              </a:pPr>
              <a:r>
                <a:rPr lang="en-US" sz="4899" b="1">
                  <a:solidFill>
                    <a:srgbClr val="0B4F5C"/>
                  </a:solidFill>
                  <a:latin typeface="Cambria"/>
                  <a:ea typeface="Cambria"/>
                  <a:cs typeface="Cambria"/>
                  <a:sym typeface="Cambria"/>
                </a:rPr>
                <a:t>Limits we state openly, and the road ahead</a:t>
              </a:r>
            </a:p>
          </p:txBody>
        </p:sp>
      </p:grpSp>
      <p:grpSp>
        <p:nvGrpSpPr>
          <p:cNvPr name="Group 5" id="5"/>
          <p:cNvGrpSpPr/>
          <p:nvPr/>
        </p:nvGrpSpPr>
        <p:grpSpPr>
          <a:xfrm rot="0">
            <a:off x="813435" y="1979295"/>
            <a:ext cx="8111490" cy="6808470"/>
            <a:chOff x="0" y="0"/>
            <a:chExt cx="10815320" cy="9077960"/>
          </a:xfrm>
        </p:grpSpPr>
        <p:sp>
          <p:nvSpPr>
            <p:cNvPr name="Freeform 6" id="6"/>
            <p:cNvSpPr/>
            <p:nvPr/>
          </p:nvSpPr>
          <p:spPr>
            <a:xfrm flipH="false" flipV="false" rot="0">
              <a:off x="0" y="0"/>
              <a:ext cx="10815320" cy="9077960"/>
            </a:xfrm>
            <a:custGeom>
              <a:avLst/>
              <a:gdLst/>
              <a:ahLst/>
              <a:cxnLst/>
              <a:rect r="r" b="b" t="t" l="l"/>
              <a:pathLst>
                <a:path h="9077960" w="10815320">
                  <a:moveTo>
                    <a:pt x="0" y="146685"/>
                  </a:moveTo>
                  <a:cubicBezTo>
                    <a:pt x="0" y="65659"/>
                    <a:pt x="65659" y="0"/>
                    <a:pt x="146685" y="0"/>
                  </a:cubicBezTo>
                  <a:lnTo>
                    <a:pt x="10668635" y="0"/>
                  </a:lnTo>
                  <a:cubicBezTo>
                    <a:pt x="10749661" y="0"/>
                    <a:pt x="10815320" y="65659"/>
                    <a:pt x="10815320" y="146685"/>
                  </a:cubicBezTo>
                  <a:lnTo>
                    <a:pt x="10815320" y="8931275"/>
                  </a:lnTo>
                  <a:cubicBezTo>
                    <a:pt x="10815320" y="9012301"/>
                    <a:pt x="10749661" y="9077960"/>
                    <a:pt x="10668635" y="9077960"/>
                  </a:cubicBezTo>
                  <a:lnTo>
                    <a:pt x="146685" y="9077960"/>
                  </a:lnTo>
                  <a:cubicBezTo>
                    <a:pt x="65659" y="9077960"/>
                    <a:pt x="0" y="9012301"/>
                    <a:pt x="0" y="8931275"/>
                  </a:cubicBezTo>
                  <a:close/>
                </a:path>
              </a:pathLst>
            </a:custGeom>
            <a:solidFill>
              <a:srgbClr val="EEF5F5"/>
            </a:solidFill>
            <a:ln w="19050" cap="sq">
              <a:solidFill>
                <a:srgbClr val="EEF5F5"/>
              </a:solidFill>
              <a:prstDash val="solid"/>
              <a:miter/>
            </a:ln>
          </p:spPr>
        </p:sp>
      </p:grpSp>
      <p:sp>
        <p:nvSpPr>
          <p:cNvPr name="TextBox 7" id="7"/>
          <p:cNvSpPr txBox="true"/>
          <p:nvPr/>
        </p:nvSpPr>
        <p:spPr>
          <a:xfrm rot="0">
            <a:off x="1234440" y="2196465"/>
            <a:ext cx="7269480" cy="533400"/>
          </a:xfrm>
          <a:prstGeom prst="rect">
            <a:avLst/>
          </a:prstGeom>
        </p:spPr>
        <p:txBody>
          <a:bodyPr anchor="t" rtlCol="false" tIns="0" lIns="0" bIns="0" rIns="0">
            <a:spAutoFit/>
          </a:bodyPr>
          <a:lstStyle/>
          <a:p>
            <a:pPr algn="l">
              <a:lnSpc>
                <a:spcPts val="3719"/>
              </a:lnSpc>
            </a:pPr>
            <a:r>
              <a:rPr lang="en-US" sz="3099" b="1">
                <a:solidFill>
                  <a:srgbClr val="0B4F5C"/>
                </a:solidFill>
                <a:latin typeface="Calibri"/>
                <a:ea typeface="Calibri"/>
                <a:cs typeface="Calibri"/>
                <a:sym typeface="Calibri"/>
              </a:rPr>
              <a:t>Limitations</a:t>
            </a:r>
          </a:p>
        </p:txBody>
      </p:sp>
      <p:sp>
        <p:nvSpPr>
          <p:cNvPr name="TextBox 8" id="8"/>
          <p:cNvSpPr txBox="true"/>
          <p:nvPr/>
        </p:nvSpPr>
        <p:spPr>
          <a:xfrm rot="0">
            <a:off x="1234440" y="2969895"/>
            <a:ext cx="7269480" cy="3762375"/>
          </a:xfrm>
          <a:prstGeom prst="rect">
            <a:avLst/>
          </a:prstGeom>
        </p:spPr>
        <p:txBody>
          <a:bodyPr anchor="t" rtlCol="false" tIns="0" lIns="0" bIns="0" rIns="0">
            <a:spAutoFit/>
          </a:bodyPr>
          <a:lstStyle/>
          <a:p>
            <a:pPr algn="l" marL="452436" indent="-226218" lvl="1">
              <a:lnSpc>
                <a:spcPts val="2999"/>
              </a:lnSpc>
              <a:buFont typeface="Arial"/>
              <a:buChar char="•"/>
            </a:pPr>
            <a:r>
              <a:rPr lang="en-US" sz="2499">
                <a:solidFill>
                  <a:srgbClr val="1B2B34"/>
                </a:solidFill>
                <a:latin typeface="Calibri"/>
                <a:ea typeface="Calibri"/>
                <a:cs typeface="Calibri"/>
                <a:sym typeface="Calibri"/>
              </a:rPr>
              <a:t>Validated on synthetic patients; no real outpatient AKI labels exist openly</a:t>
            </a:r>
          </a:p>
          <a:p>
            <a:pPr algn="l" marL="452436" indent="-226218" lvl="1">
              <a:lnSpc>
                <a:spcPts val="2999"/>
              </a:lnSpc>
              <a:buFont typeface="Arial"/>
              <a:buChar char="•"/>
            </a:pPr>
            <a:r>
              <a:rPr lang="en-US" sz="2499">
                <a:solidFill>
                  <a:srgbClr val="1B2B34"/>
                </a:solidFill>
                <a:latin typeface="Calibri"/>
                <a:ea typeface="Calibri"/>
                <a:cs typeface="Calibri"/>
                <a:sym typeface="Calibri"/>
              </a:rPr>
              <a:t>Creatinine rises only after filtration falls; low muscle mass can hide injury in older people</a:t>
            </a:r>
          </a:p>
          <a:p>
            <a:pPr algn="l" marL="452436" indent="-226218" lvl="1">
              <a:lnSpc>
                <a:spcPts val="2999"/>
              </a:lnSpc>
              <a:buFont typeface="Arial"/>
              <a:buChar char="•"/>
            </a:pPr>
            <a:r>
              <a:rPr lang="en-US" sz="2499">
                <a:solidFill>
                  <a:srgbClr val="1B2B34"/>
                </a:solidFill>
                <a:latin typeface="Calibri"/>
                <a:ea typeface="Calibri"/>
                <a:cs typeface="Calibri"/>
                <a:sym typeface="Calibri"/>
              </a:rPr>
              <a:t>Dehydration alone cannot cause AKI in a healthy, drug-free twin (red flags cover severe cases)</a:t>
            </a:r>
          </a:p>
          <a:p>
            <a:pPr algn="l" marL="452436" indent="-226218" lvl="1">
              <a:lnSpc>
                <a:spcPts val="2999"/>
              </a:lnSpc>
              <a:buFont typeface="Arial"/>
              <a:buChar char="•"/>
            </a:pPr>
            <a:r>
              <a:rPr lang="en-US" sz="2499">
                <a:solidFill>
                  <a:srgbClr val="1B2B34"/>
                </a:solidFill>
                <a:latin typeface="Calibri"/>
                <a:ea typeface="Calibri"/>
                <a:cs typeface="Calibri"/>
                <a:sym typeface="Calibri"/>
              </a:rPr>
              <a:t>Heavy outdoor workers' short-term rises under-modelled</a:t>
            </a:r>
          </a:p>
          <a:p>
            <a:pPr algn="l" marL="452436" indent="-226218" lvl="1">
              <a:lnSpc>
                <a:spcPts val="2999"/>
              </a:lnSpc>
              <a:buFont typeface="Arial"/>
              <a:buChar char="•"/>
            </a:pPr>
            <a:r>
              <a:rPr lang="en-US" sz="2499">
                <a:solidFill>
                  <a:srgbClr val="1B2B34"/>
                </a:solidFill>
                <a:latin typeface="Calibri"/>
                <a:ea typeface="Calibri"/>
                <a:cs typeface="Calibri"/>
                <a:sym typeface="Calibri"/>
              </a:rPr>
              <a:t>Translations and two urgent messages await expert review · not a medical device</a:t>
            </a:r>
          </a:p>
        </p:txBody>
      </p:sp>
      <p:grpSp>
        <p:nvGrpSpPr>
          <p:cNvPr name="Group 9" id="9"/>
          <p:cNvGrpSpPr/>
          <p:nvPr/>
        </p:nvGrpSpPr>
        <p:grpSpPr>
          <a:xfrm rot="0">
            <a:off x="9317355" y="1979295"/>
            <a:ext cx="8111490" cy="6808470"/>
            <a:chOff x="0" y="0"/>
            <a:chExt cx="10815320" cy="9077960"/>
          </a:xfrm>
        </p:grpSpPr>
        <p:sp>
          <p:nvSpPr>
            <p:cNvPr name="Freeform 10" id="10"/>
            <p:cNvSpPr/>
            <p:nvPr/>
          </p:nvSpPr>
          <p:spPr>
            <a:xfrm flipH="false" flipV="false" rot="0">
              <a:off x="0" y="0"/>
              <a:ext cx="10815320" cy="9077960"/>
            </a:xfrm>
            <a:custGeom>
              <a:avLst/>
              <a:gdLst/>
              <a:ahLst/>
              <a:cxnLst/>
              <a:rect r="r" b="b" t="t" l="l"/>
              <a:pathLst>
                <a:path h="9077960" w="10815320">
                  <a:moveTo>
                    <a:pt x="0" y="146685"/>
                  </a:moveTo>
                  <a:cubicBezTo>
                    <a:pt x="0" y="65659"/>
                    <a:pt x="65659" y="0"/>
                    <a:pt x="146685" y="0"/>
                  </a:cubicBezTo>
                  <a:lnTo>
                    <a:pt x="10668635" y="0"/>
                  </a:lnTo>
                  <a:cubicBezTo>
                    <a:pt x="10749661" y="0"/>
                    <a:pt x="10815320" y="65659"/>
                    <a:pt x="10815320" y="146685"/>
                  </a:cubicBezTo>
                  <a:lnTo>
                    <a:pt x="10815320" y="8931275"/>
                  </a:lnTo>
                  <a:cubicBezTo>
                    <a:pt x="10815320" y="9012301"/>
                    <a:pt x="10749661" y="9077960"/>
                    <a:pt x="10668635" y="9077960"/>
                  </a:cubicBezTo>
                  <a:lnTo>
                    <a:pt x="146685" y="9077960"/>
                  </a:lnTo>
                  <a:cubicBezTo>
                    <a:pt x="65659" y="9077960"/>
                    <a:pt x="0" y="9012301"/>
                    <a:pt x="0" y="8931275"/>
                  </a:cubicBezTo>
                  <a:close/>
                </a:path>
              </a:pathLst>
            </a:custGeom>
            <a:solidFill>
              <a:srgbClr val="0B4F5C"/>
            </a:solidFill>
            <a:ln w="19050" cap="sq">
              <a:solidFill>
                <a:srgbClr val="0B4F5C"/>
              </a:solidFill>
              <a:prstDash val="solid"/>
              <a:miter/>
            </a:ln>
          </p:spPr>
        </p:sp>
      </p:grpSp>
      <p:sp>
        <p:nvSpPr>
          <p:cNvPr name="TextBox 11" id="11"/>
          <p:cNvSpPr txBox="true"/>
          <p:nvPr/>
        </p:nvSpPr>
        <p:spPr>
          <a:xfrm rot="0">
            <a:off x="9738360" y="2196465"/>
            <a:ext cx="7269480" cy="533400"/>
          </a:xfrm>
          <a:prstGeom prst="rect">
            <a:avLst/>
          </a:prstGeom>
        </p:spPr>
        <p:txBody>
          <a:bodyPr anchor="t" rtlCol="false" tIns="0" lIns="0" bIns="0" rIns="0">
            <a:spAutoFit/>
          </a:bodyPr>
          <a:lstStyle/>
          <a:p>
            <a:pPr algn="l">
              <a:lnSpc>
                <a:spcPts val="3719"/>
              </a:lnSpc>
            </a:pPr>
            <a:r>
              <a:rPr lang="en-US" sz="3099" b="1">
                <a:solidFill>
                  <a:srgbClr val="FFFFFF"/>
                </a:solidFill>
                <a:latin typeface="Calibri"/>
                <a:ea typeface="Calibri"/>
                <a:cs typeface="Calibri"/>
                <a:sym typeface="Calibri"/>
              </a:rPr>
              <a:t>Roadmap</a:t>
            </a:r>
          </a:p>
        </p:txBody>
      </p:sp>
      <p:grpSp>
        <p:nvGrpSpPr>
          <p:cNvPr name="Group 12" id="12"/>
          <p:cNvGrpSpPr/>
          <p:nvPr/>
        </p:nvGrpSpPr>
        <p:grpSpPr>
          <a:xfrm rot="0">
            <a:off x="9728835" y="3076575"/>
            <a:ext cx="704850" cy="704850"/>
            <a:chOff x="0" y="0"/>
            <a:chExt cx="939800" cy="939800"/>
          </a:xfrm>
        </p:grpSpPr>
        <p:sp>
          <p:nvSpPr>
            <p:cNvPr name="Freeform 13" id="13"/>
            <p:cNvSpPr/>
            <p:nvPr/>
          </p:nvSpPr>
          <p:spPr>
            <a:xfrm flipH="false" flipV="false" rot="0">
              <a:off x="0" y="0"/>
              <a:ext cx="939800" cy="939800"/>
            </a:xfrm>
            <a:custGeom>
              <a:avLst/>
              <a:gdLst/>
              <a:ahLst/>
              <a:cxnLst/>
              <a:rect r="r" b="b" t="t" l="l"/>
              <a:pathLst>
                <a:path h="939800" w="939800">
                  <a:moveTo>
                    <a:pt x="0" y="469900"/>
                  </a:moveTo>
                  <a:cubicBezTo>
                    <a:pt x="0" y="210439"/>
                    <a:pt x="210439" y="0"/>
                    <a:pt x="469900" y="0"/>
                  </a:cubicBezTo>
                  <a:cubicBezTo>
                    <a:pt x="729361" y="0"/>
                    <a:pt x="939800" y="210439"/>
                    <a:pt x="939800" y="469900"/>
                  </a:cubicBezTo>
                  <a:cubicBezTo>
                    <a:pt x="939800" y="729361"/>
                    <a:pt x="729361" y="939800"/>
                    <a:pt x="469900" y="939800"/>
                  </a:cubicBezTo>
                  <a:cubicBezTo>
                    <a:pt x="210439" y="939800"/>
                    <a:pt x="0" y="729361"/>
                    <a:pt x="0" y="469900"/>
                  </a:cubicBezTo>
                  <a:close/>
                </a:path>
              </a:pathLst>
            </a:custGeom>
            <a:solidFill>
              <a:srgbClr val="0E7C86"/>
            </a:solidFill>
            <a:ln w="19050" cap="sq">
              <a:solidFill>
                <a:srgbClr val="0E7C86"/>
              </a:solidFill>
              <a:prstDash val="solid"/>
              <a:miter/>
            </a:ln>
          </p:spPr>
        </p:sp>
      </p:grpSp>
      <p:grpSp>
        <p:nvGrpSpPr>
          <p:cNvPr name="Group 14" id="14"/>
          <p:cNvGrpSpPr/>
          <p:nvPr/>
        </p:nvGrpSpPr>
        <p:grpSpPr>
          <a:xfrm rot="0">
            <a:off x="9738360" y="3086100"/>
            <a:ext cx="685800" cy="685800"/>
            <a:chOff x="0" y="0"/>
            <a:chExt cx="914400" cy="914400"/>
          </a:xfrm>
        </p:grpSpPr>
        <p:sp>
          <p:nvSpPr>
            <p:cNvPr name="Freeform 15" id="15"/>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16" id="16"/>
            <p:cNvSpPr txBox="true"/>
            <p:nvPr/>
          </p:nvSpPr>
          <p:spPr>
            <a:xfrm>
              <a:off x="0" y="-47625"/>
              <a:ext cx="914400" cy="962025"/>
            </a:xfrm>
            <a:prstGeom prst="rect">
              <a:avLst/>
            </a:prstGeom>
          </p:spPr>
          <p:txBody>
            <a:bodyPr anchor="ctr" rtlCol="false" tIns="0" lIns="0" bIns="0" rIns="0"/>
            <a:lstStyle/>
            <a:p>
              <a:pPr algn="ctr">
                <a:lnSpc>
                  <a:spcPts val="2999"/>
                </a:lnSpc>
              </a:pPr>
              <a:r>
                <a:rPr lang="en-US" sz="2499" b="1">
                  <a:solidFill>
                    <a:srgbClr val="FFFFFF"/>
                  </a:solidFill>
                  <a:latin typeface="Calibri"/>
                  <a:ea typeface="Calibri"/>
                  <a:cs typeface="Calibri"/>
                  <a:sym typeface="Calibri"/>
                </a:rPr>
                <a:t>1</a:t>
              </a:r>
            </a:p>
          </p:txBody>
        </p:sp>
      </p:grpSp>
      <p:sp>
        <p:nvSpPr>
          <p:cNvPr name="TextBox 17" id="17"/>
          <p:cNvSpPr txBox="true"/>
          <p:nvPr/>
        </p:nvSpPr>
        <p:spPr>
          <a:xfrm rot="0">
            <a:off x="10698480" y="2987802"/>
            <a:ext cx="6446520" cy="457200"/>
          </a:xfrm>
          <a:prstGeom prst="rect">
            <a:avLst/>
          </a:prstGeom>
        </p:spPr>
        <p:txBody>
          <a:bodyPr anchor="t" rtlCol="false" tIns="0" lIns="0" bIns="0" rIns="0">
            <a:spAutoFit/>
          </a:bodyPr>
          <a:lstStyle/>
          <a:p>
            <a:pPr algn="l">
              <a:lnSpc>
                <a:spcPts val="3179"/>
              </a:lnSpc>
            </a:pPr>
            <a:r>
              <a:rPr lang="en-US" sz="2649" b="1">
                <a:solidFill>
                  <a:srgbClr val="FFFFFF"/>
                </a:solidFill>
                <a:latin typeface="Calibri"/>
                <a:ea typeface="Calibri"/>
                <a:cs typeface="Calibri"/>
                <a:sym typeface="Calibri"/>
              </a:rPr>
              <a:t>Prospective pilot</a:t>
            </a:r>
          </a:p>
        </p:txBody>
      </p:sp>
      <p:sp>
        <p:nvSpPr>
          <p:cNvPr name="TextBox 18" id="18"/>
          <p:cNvSpPr txBox="true"/>
          <p:nvPr/>
        </p:nvSpPr>
        <p:spPr>
          <a:xfrm rot="0">
            <a:off x="10698480" y="3518535"/>
            <a:ext cx="6446520" cy="733425"/>
          </a:xfrm>
          <a:prstGeom prst="rect">
            <a:avLst/>
          </a:prstGeom>
        </p:spPr>
        <p:txBody>
          <a:bodyPr anchor="t" rtlCol="false" tIns="0" lIns="0" bIns="0" rIns="0">
            <a:spAutoFit/>
          </a:bodyPr>
          <a:lstStyle/>
          <a:p>
            <a:pPr algn="l">
              <a:lnSpc>
                <a:spcPts val="2729"/>
              </a:lnSpc>
            </a:pPr>
            <a:r>
              <a:rPr lang="en-US" sz="2274">
                <a:solidFill>
                  <a:srgbClr val="BFE3E5"/>
                </a:solidFill>
                <a:latin typeface="Calibri"/>
                <a:ea typeface="Calibri"/>
                <a:cs typeface="Calibri"/>
                <a:sym typeface="Calibri"/>
              </a:rPr>
              <a:t>A PHC or clinic with consented patients, weekly weights, routine creatinine, under ethics approval</a:t>
            </a:r>
          </a:p>
        </p:txBody>
      </p:sp>
      <p:grpSp>
        <p:nvGrpSpPr>
          <p:cNvPr name="Group 19" id="19"/>
          <p:cNvGrpSpPr/>
          <p:nvPr/>
        </p:nvGrpSpPr>
        <p:grpSpPr>
          <a:xfrm rot="0">
            <a:off x="9728835" y="4489323"/>
            <a:ext cx="704850" cy="704850"/>
            <a:chOff x="0" y="0"/>
            <a:chExt cx="939800" cy="939800"/>
          </a:xfrm>
        </p:grpSpPr>
        <p:sp>
          <p:nvSpPr>
            <p:cNvPr name="Freeform 20" id="20"/>
            <p:cNvSpPr/>
            <p:nvPr/>
          </p:nvSpPr>
          <p:spPr>
            <a:xfrm flipH="false" flipV="false" rot="0">
              <a:off x="0" y="0"/>
              <a:ext cx="939800" cy="939800"/>
            </a:xfrm>
            <a:custGeom>
              <a:avLst/>
              <a:gdLst/>
              <a:ahLst/>
              <a:cxnLst/>
              <a:rect r="r" b="b" t="t" l="l"/>
              <a:pathLst>
                <a:path h="939800" w="939800">
                  <a:moveTo>
                    <a:pt x="0" y="469900"/>
                  </a:moveTo>
                  <a:cubicBezTo>
                    <a:pt x="0" y="210439"/>
                    <a:pt x="210439" y="0"/>
                    <a:pt x="469900" y="0"/>
                  </a:cubicBezTo>
                  <a:cubicBezTo>
                    <a:pt x="729361" y="0"/>
                    <a:pt x="939800" y="210439"/>
                    <a:pt x="939800" y="469900"/>
                  </a:cubicBezTo>
                  <a:cubicBezTo>
                    <a:pt x="939800" y="729361"/>
                    <a:pt x="729361" y="939800"/>
                    <a:pt x="469900" y="939800"/>
                  </a:cubicBezTo>
                  <a:cubicBezTo>
                    <a:pt x="210439" y="939800"/>
                    <a:pt x="0" y="729361"/>
                    <a:pt x="0" y="469900"/>
                  </a:cubicBezTo>
                  <a:close/>
                </a:path>
              </a:pathLst>
            </a:custGeom>
            <a:solidFill>
              <a:srgbClr val="0E7C86"/>
            </a:solidFill>
            <a:ln w="19050" cap="sq">
              <a:solidFill>
                <a:srgbClr val="0E7C86"/>
              </a:solidFill>
              <a:prstDash val="solid"/>
              <a:miter/>
            </a:ln>
          </p:spPr>
        </p:sp>
      </p:grpSp>
      <p:grpSp>
        <p:nvGrpSpPr>
          <p:cNvPr name="Group 21" id="21"/>
          <p:cNvGrpSpPr/>
          <p:nvPr/>
        </p:nvGrpSpPr>
        <p:grpSpPr>
          <a:xfrm rot="0">
            <a:off x="9738360" y="4498848"/>
            <a:ext cx="685800" cy="685800"/>
            <a:chOff x="0" y="0"/>
            <a:chExt cx="914400" cy="914400"/>
          </a:xfrm>
        </p:grpSpPr>
        <p:sp>
          <p:nvSpPr>
            <p:cNvPr name="Freeform 22" id="22"/>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23" id="23"/>
            <p:cNvSpPr txBox="true"/>
            <p:nvPr/>
          </p:nvSpPr>
          <p:spPr>
            <a:xfrm>
              <a:off x="0" y="-47625"/>
              <a:ext cx="914400" cy="962025"/>
            </a:xfrm>
            <a:prstGeom prst="rect">
              <a:avLst/>
            </a:prstGeom>
          </p:spPr>
          <p:txBody>
            <a:bodyPr anchor="ctr" rtlCol="false" tIns="0" lIns="0" bIns="0" rIns="0"/>
            <a:lstStyle/>
            <a:p>
              <a:pPr algn="ctr">
                <a:lnSpc>
                  <a:spcPts val="2999"/>
                </a:lnSpc>
              </a:pPr>
              <a:r>
                <a:rPr lang="en-US" sz="2499" b="1">
                  <a:solidFill>
                    <a:srgbClr val="FFFFFF"/>
                  </a:solidFill>
                  <a:latin typeface="Calibri"/>
                  <a:ea typeface="Calibri"/>
                  <a:cs typeface="Calibri"/>
                  <a:sym typeface="Calibri"/>
                </a:rPr>
                <a:t>2</a:t>
              </a:r>
            </a:p>
          </p:txBody>
        </p:sp>
      </p:grpSp>
      <p:sp>
        <p:nvSpPr>
          <p:cNvPr name="TextBox 24" id="24"/>
          <p:cNvSpPr txBox="true"/>
          <p:nvPr/>
        </p:nvSpPr>
        <p:spPr>
          <a:xfrm rot="0">
            <a:off x="10698480" y="4400550"/>
            <a:ext cx="6446520" cy="457200"/>
          </a:xfrm>
          <a:prstGeom prst="rect">
            <a:avLst/>
          </a:prstGeom>
        </p:spPr>
        <p:txBody>
          <a:bodyPr anchor="t" rtlCol="false" tIns="0" lIns="0" bIns="0" rIns="0">
            <a:spAutoFit/>
          </a:bodyPr>
          <a:lstStyle/>
          <a:p>
            <a:pPr algn="l">
              <a:lnSpc>
                <a:spcPts val="3179"/>
              </a:lnSpc>
            </a:pPr>
            <a:r>
              <a:rPr lang="en-US" sz="2649" b="1">
                <a:solidFill>
                  <a:srgbClr val="FFFFFF"/>
                </a:solidFill>
                <a:latin typeface="Calibri"/>
                <a:ea typeface="Calibri"/>
                <a:cs typeface="Calibri"/>
                <a:sym typeface="Calibri"/>
              </a:rPr>
              <a:t>Real devices and ABDM</a:t>
            </a:r>
          </a:p>
        </p:txBody>
      </p:sp>
      <p:sp>
        <p:nvSpPr>
          <p:cNvPr name="TextBox 25" id="25"/>
          <p:cNvSpPr txBox="true"/>
          <p:nvPr/>
        </p:nvSpPr>
        <p:spPr>
          <a:xfrm rot="0">
            <a:off x="10698480" y="4931283"/>
            <a:ext cx="6446520" cy="733425"/>
          </a:xfrm>
          <a:prstGeom prst="rect">
            <a:avLst/>
          </a:prstGeom>
        </p:spPr>
        <p:txBody>
          <a:bodyPr anchor="t" rtlCol="false" tIns="0" lIns="0" bIns="0" rIns="0">
            <a:spAutoFit/>
          </a:bodyPr>
          <a:lstStyle/>
          <a:p>
            <a:pPr algn="l">
              <a:lnSpc>
                <a:spcPts val="2729"/>
              </a:lnSpc>
            </a:pPr>
            <a:r>
              <a:rPr lang="en-US" sz="2274">
                <a:solidFill>
                  <a:srgbClr val="BFE3E5"/>
                </a:solidFill>
                <a:latin typeface="Calibri"/>
                <a:ea typeface="Calibri"/>
                <a:cs typeface="Calibri"/>
                <a:sym typeface="Calibri"/>
              </a:rPr>
              <a:t>Band + scale pairing; ABDM sandbox consent; hosted deployment</a:t>
            </a:r>
          </a:p>
        </p:txBody>
      </p:sp>
      <p:grpSp>
        <p:nvGrpSpPr>
          <p:cNvPr name="Group 26" id="26"/>
          <p:cNvGrpSpPr/>
          <p:nvPr/>
        </p:nvGrpSpPr>
        <p:grpSpPr>
          <a:xfrm rot="0">
            <a:off x="9728835" y="5902071"/>
            <a:ext cx="704850" cy="704850"/>
            <a:chOff x="0" y="0"/>
            <a:chExt cx="939800" cy="939800"/>
          </a:xfrm>
        </p:grpSpPr>
        <p:sp>
          <p:nvSpPr>
            <p:cNvPr name="Freeform 27" id="27"/>
            <p:cNvSpPr/>
            <p:nvPr/>
          </p:nvSpPr>
          <p:spPr>
            <a:xfrm flipH="false" flipV="false" rot="0">
              <a:off x="0" y="0"/>
              <a:ext cx="939800" cy="939800"/>
            </a:xfrm>
            <a:custGeom>
              <a:avLst/>
              <a:gdLst/>
              <a:ahLst/>
              <a:cxnLst/>
              <a:rect r="r" b="b" t="t" l="l"/>
              <a:pathLst>
                <a:path h="939800" w="939800">
                  <a:moveTo>
                    <a:pt x="0" y="469900"/>
                  </a:moveTo>
                  <a:cubicBezTo>
                    <a:pt x="0" y="210439"/>
                    <a:pt x="210439" y="0"/>
                    <a:pt x="469900" y="0"/>
                  </a:cubicBezTo>
                  <a:cubicBezTo>
                    <a:pt x="729361" y="0"/>
                    <a:pt x="939800" y="210439"/>
                    <a:pt x="939800" y="469900"/>
                  </a:cubicBezTo>
                  <a:cubicBezTo>
                    <a:pt x="939800" y="729361"/>
                    <a:pt x="729361" y="939800"/>
                    <a:pt x="469900" y="939800"/>
                  </a:cubicBezTo>
                  <a:cubicBezTo>
                    <a:pt x="210439" y="939800"/>
                    <a:pt x="0" y="729361"/>
                    <a:pt x="0" y="469900"/>
                  </a:cubicBezTo>
                  <a:close/>
                </a:path>
              </a:pathLst>
            </a:custGeom>
            <a:solidFill>
              <a:srgbClr val="0E7C86"/>
            </a:solidFill>
            <a:ln w="19050" cap="sq">
              <a:solidFill>
                <a:srgbClr val="0E7C86"/>
              </a:solidFill>
              <a:prstDash val="solid"/>
              <a:miter/>
            </a:ln>
          </p:spPr>
        </p:sp>
      </p:grpSp>
      <p:grpSp>
        <p:nvGrpSpPr>
          <p:cNvPr name="Group 28" id="28"/>
          <p:cNvGrpSpPr/>
          <p:nvPr/>
        </p:nvGrpSpPr>
        <p:grpSpPr>
          <a:xfrm rot="0">
            <a:off x="9738360" y="5911596"/>
            <a:ext cx="685800" cy="685800"/>
            <a:chOff x="0" y="0"/>
            <a:chExt cx="914400" cy="914400"/>
          </a:xfrm>
        </p:grpSpPr>
        <p:sp>
          <p:nvSpPr>
            <p:cNvPr name="Freeform 29" id="29"/>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30" id="30"/>
            <p:cNvSpPr txBox="true"/>
            <p:nvPr/>
          </p:nvSpPr>
          <p:spPr>
            <a:xfrm>
              <a:off x="0" y="-47625"/>
              <a:ext cx="914400" cy="962025"/>
            </a:xfrm>
            <a:prstGeom prst="rect">
              <a:avLst/>
            </a:prstGeom>
          </p:spPr>
          <p:txBody>
            <a:bodyPr anchor="ctr" rtlCol="false" tIns="0" lIns="0" bIns="0" rIns="0"/>
            <a:lstStyle/>
            <a:p>
              <a:pPr algn="ctr">
                <a:lnSpc>
                  <a:spcPts val="2999"/>
                </a:lnSpc>
              </a:pPr>
              <a:r>
                <a:rPr lang="en-US" sz="2499" b="1">
                  <a:solidFill>
                    <a:srgbClr val="FFFFFF"/>
                  </a:solidFill>
                  <a:latin typeface="Calibri"/>
                  <a:ea typeface="Calibri"/>
                  <a:cs typeface="Calibri"/>
                  <a:sym typeface="Calibri"/>
                </a:rPr>
                <a:t>3</a:t>
              </a:r>
            </a:p>
          </p:txBody>
        </p:sp>
      </p:grpSp>
      <p:sp>
        <p:nvSpPr>
          <p:cNvPr name="TextBox 31" id="31"/>
          <p:cNvSpPr txBox="true"/>
          <p:nvPr/>
        </p:nvSpPr>
        <p:spPr>
          <a:xfrm rot="0">
            <a:off x="10698480" y="5813298"/>
            <a:ext cx="6446520" cy="457200"/>
          </a:xfrm>
          <a:prstGeom prst="rect">
            <a:avLst/>
          </a:prstGeom>
        </p:spPr>
        <p:txBody>
          <a:bodyPr anchor="t" rtlCol="false" tIns="0" lIns="0" bIns="0" rIns="0">
            <a:spAutoFit/>
          </a:bodyPr>
          <a:lstStyle/>
          <a:p>
            <a:pPr algn="l">
              <a:lnSpc>
                <a:spcPts val="3179"/>
              </a:lnSpc>
            </a:pPr>
            <a:r>
              <a:rPr lang="en-US" sz="2649" b="1">
                <a:solidFill>
                  <a:srgbClr val="FFFFFF"/>
                </a:solidFill>
                <a:latin typeface="Calibri"/>
                <a:ea typeface="Calibri"/>
                <a:cs typeface="Calibri"/>
                <a:sym typeface="Calibri"/>
              </a:rPr>
              <a:t>Clinical review</a:t>
            </a:r>
          </a:p>
        </p:txBody>
      </p:sp>
      <p:sp>
        <p:nvSpPr>
          <p:cNvPr name="TextBox 32" id="32"/>
          <p:cNvSpPr txBox="true"/>
          <p:nvPr/>
        </p:nvSpPr>
        <p:spPr>
          <a:xfrm rot="0">
            <a:off x="10698480" y="6344031"/>
            <a:ext cx="6446520" cy="733425"/>
          </a:xfrm>
          <a:prstGeom prst="rect">
            <a:avLst/>
          </a:prstGeom>
        </p:spPr>
        <p:txBody>
          <a:bodyPr anchor="t" rtlCol="false" tIns="0" lIns="0" bIns="0" rIns="0">
            <a:spAutoFit/>
          </a:bodyPr>
          <a:lstStyle/>
          <a:p>
            <a:pPr algn="l">
              <a:lnSpc>
                <a:spcPts val="2729"/>
              </a:lnSpc>
            </a:pPr>
            <a:r>
              <a:rPr lang="en-US" sz="2274">
                <a:solidFill>
                  <a:srgbClr val="BFE3E5"/>
                </a:solidFill>
                <a:latin typeface="Calibri"/>
                <a:ea typeface="Calibri"/>
                <a:cs typeface="Calibri"/>
                <a:sym typeface="Calibri"/>
              </a:rPr>
              <a:t>Nephrologist and pharmacist review of rules; native-speaker review</a:t>
            </a:r>
          </a:p>
        </p:txBody>
      </p:sp>
      <p:grpSp>
        <p:nvGrpSpPr>
          <p:cNvPr name="Group 33" id="33"/>
          <p:cNvGrpSpPr/>
          <p:nvPr/>
        </p:nvGrpSpPr>
        <p:grpSpPr>
          <a:xfrm rot="0">
            <a:off x="9728835" y="7314819"/>
            <a:ext cx="704850" cy="704850"/>
            <a:chOff x="0" y="0"/>
            <a:chExt cx="939800" cy="939800"/>
          </a:xfrm>
        </p:grpSpPr>
        <p:sp>
          <p:nvSpPr>
            <p:cNvPr name="Freeform 34" id="34"/>
            <p:cNvSpPr/>
            <p:nvPr/>
          </p:nvSpPr>
          <p:spPr>
            <a:xfrm flipH="false" flipV="false" rot="0">
              <a:off x="0" y="0"/>
              <a:ext cx="939800" cy="939800"/>
            </a:xfrm>
            <a:custGeom>
              <a:avLst/>
              <a:gdLst/>
              <a:ahLst/>
              <a:cxnLst/>
              <a:rect r="r" b="b" t="t" l="l"/>
              <a:pathLst>
                <a:path h="939800" w="939800">
                  <a:moveTo>
                    <a:pt x="0" y="469900"/>
                  </a:moveTo>
                  <a:cubicBezTo>
                    <a:pt x="0" y="210439"/>
                    <a:pt x="210439" y="0"/>
                    <a:pt x="469900" y="0"/>
                  </a:cubicBezTo>
                  <a:cubicBezTo>
                    <a:pt x="729361" y="0"/>
                    <a:pt x="939800" y="210439"/>
                    <a:pt x="939800" y="469900"/>
                  </a:cubicBezTo>
                  <a:cubicBezTo>
                    <a:pt x="939800" y="729361"/>
                    <a:pt x="729361" y="939800"/>
                    <a:pt x="469900" y="939800"/>
                  </a:cubicBezTo>
                  <a:cubicBezTo>
                    <a:pt x="210439" y="939800"/>
                    <a:pt x="0" y="729361"/>
                    <a:pt x="0" y="469900"/>
                  </a:cubicBezTo>
                  <a:close/>
                </a:path>
              </a:pathLst>
            </a:custGeom>
            <a:solidFill>
              <a:srgbClr val="0E7C86"/>
            </a:solidFill>
            <a:ln w="19050" cap="sq">
              <a:solidFill>
                <a:srgbClr val="0E7C86"/>
              </a:solidFill>
              <a:prstDash val="solid"/>
              <a:miter/>
            </a:ln>
          </p:spPr>
        </p:sp>
      </p:grpSp>
      <p:grpSp>
        <p:nvGrpSpPr>
          <p:cNvPr name="Group 35" id="35"/>
          <p:cNvGrpSpPr/>
          <p:nvPr/>
        </p:nvGrpSpPr>
        <p:grpSpPr>
          <a:xfrm rot="0">
            <a:off x="9738360" y="7324344"/>
            <a:ext cx="685800" cy="685800"/>
            <a:chOff x="0" y="0"/>
            <a:chExt cx="914400" cy="914400"/>
          </a:xfrm>
        </p:grpSpPr>
        <p:sp>
          <p:nvSpPr>
            <p:cNvPr name="Freeform 36" id="3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37" id="37"/>
            <p:cNvSpPr txBox="true"/>
            <p:nvPr/>
          </p:nvSpPr>
          <p:spPr>
            <a:xfrm>
              <a:off x="0" y="-47625"/>
              <a:ext cx="914400" cy="962025"/>
            </a:xfrm>
            <a:prstGeom prst="rect">
              <a:avLst/>
            </a:prstGeom>
          </p:spPr>
          <p:txBody>
            <a:bodyPr anchor="ctr" rtlCol="false" tIns="0" lIns="0" bIns="0" rIns="0"/>
            <a:lstStyle/>
            <a:p>
              <a:pPr algn="ctr">
                <a:lnSpc>
                  <a:spcPts val="2999"/>
                </a:lnSpc>
              </a:pPr>
              <a:r>
                <a:rPr lang="en-US" sz="2499" b="1">
                  <a:solidFill>
                    <a:srgbClr val="FFFFFF"/>
                  </a:solidFill>
                  <a:latin typeface="Calibri"/>
                  <a:ea typeface="Calibri"/>
                  <a:cs typeface="Calibri"/>
                  <a:sym typeface="Calibri"/>
                </a:rPr>
                <a:t>4</a:t>
              </a:r>
            </a:p>
          </p:txBody>
        </p:sp>
      </p:grpSp>
      <p:sp>
        <p:nvSpPr>
          <p:cNvPr name="TextBox 38" id="38"/>
          <p:cNvSpPr txBox="true"/>
          <p:nvPr/>
        </p:nvSpPr>
        <p:spPr>
          <a:xfrm rot="0">
            <a:off x="10698480" y="7226046"/>
            <a:ext cx="6446520" cy="457200"/>
          </a:xfrm>
          <a:prstGeom prst="rect">
            <a:avLst/>
          </a:prstGeom>
        </p:spPr>
        <p:txBody>
          <a:bodyPr anchor="t" rtlCol="false" tIns="0" lIns="0" bIns="0" rIns="0">
            <a:spAutoFit/>
          </a:bodyPr>
          <a:lstStyle/>
          <a:p>
            <a:pPr algn="l">
              <a:lnSpc>
                <a:spcPts val="3179"/>
              </a:lnSpc>
            </a:pPr>
            <a:r>
              <a:rPr lang="en-US" sz="2649" b="1">
                <a:solidFill>
                  <a:srgbClr val="FFFFFF"/>
                </a:solidFill>
                <a:latin typeface="Calibri"/>
                <a:ea typeface="Calibri"/>
                <a:cs typeface="Calibri"/>
                <a:sym typeface="Calibri"/>
              </a:rPr>
              <a:t>New modules</a:t>
            </a:r>
          </a:p>
        </p:txBody>
      </p:sp>
      <p:sp>
        <p:nvSpPr>
          <p:cNvPr name="TextBox 39" id="39"/>
          <p:cNvSpPr txBox="true"/>
          <p:nvPr/>
        </p:nvSpPr>
        <p:spPr>
          <a:xfrm rot="0">
            <a:off x="10698480" y="7756779"/>
            <a:ext cx="6446520" cy="390525"/>
          </a:xfrm>
          <a:prstGeom prst="rect">
            <a:avLst/>
          </a:prstGeom>
        </p:spPr>
        <p:txBody>
          <a:bodyPr anchor="t" rtlCol="false" tIns="0" lIns="0" bIns="0" rIns="0">
            <a:spAutoFit/>
          </a:bodyPr>
          <a:lstStyle/>
          <a:p>
            <a:pPr algn="l">
              <a:lnSpc>
                <a:spcPts val="2729"/>
              </a:lnSpc>
            </a:pPr>
            <a:r>
              <a:rPr lang="en-US" sz="2274">
                <a:solidFill>
                  <a:srgbClr val="BFE3E5"/>
                </a:solidFill>
                <a:latin typeface="Calibri"/>
                <a:ea typeface="Calibri"/>
                <a:cs typeface="Calibri"/>
                <a:sym typeface="Calibri"/>
              </a:rPr>
              <a:t>Potassium, exertion physiology, transplant (CYP3A5)</a:t>
            </a:r>
          </a:p>
        </p:txBody>
      </p:sp>
      <p:sp>
        <p:nvSpPr>
          <p:cNvPr name="TextBox 40" id="40"/>
          <p:cNvSpPr txBox="true"/>
          <p:nvPr/>
        </p:nvSpPr>
        <p:spPr>
          <a:xfrm rot="0">
            <a:off x="16962120" y="9540240"/>
            <a:ext cx="640080" cy="342900"/>
          </a:xfrm>
          <a:prstGeom prst="rect">
            <a:avLst/>
          </a:prstGeom>
        </p:spPr>
        <p:txBody>
          <a:bodyPr anchor="t" rtlCol="false" tIns="0" lIns="0" bIns="0" rIns="0">
            <a:spAutoFit/>
          </a:bodyPr>
          <a:lstStyle/>
          <a:p>
            <a:pPr algn="r">
              <a:lnSpc>
                <a:spcPts val="2459"/>
              </a:lnSpc>
            </a:pPr>
            <a:r>
              <a:rPr lang="en-US" sz="2049">
                <a:solidFill>
                  <a:srgbClr val="5B6C75"/>
                </a:solidFill>
                <a:latin typeface="Calibri"/>
                <a:ea typeface="Calibri"/>
                <a:cs typeface="Calibri"/>
                <a:sym typeface="Calibri"/>
              </a:rPr>
              <a:t>32</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45820" y="-585436"/>
            <a:ext cx="16596360" cy="3593431"/>
            <a:chOff x="0" y="0"/>
            <a:chExt cx="22128480" cy="4791241"/>
          </a:xfrm>
        </p:grpSpPr>
        <p:sp>
          <p:nvSpPr>
            <p:cNvPr name="Freeform 3" id="3"/>
            <p:cNvSpPr/>
            <p:nvPr/>
          </p:nvSpPr>
          <p:spPr>
            <a:xfrm flipH="false" flipV="false" rot="0">
              <a:off x="0" y="0"/>
              <a:ext cx="22128480" cy="4791241"/>
            </a:xfrm>
            <a:custGeom>
              <a:avLst/>
              <a:gdLst/>
              <a:ahLst/>
              <a:cxnLst/>
              <a:rect r="r" b="b" t="t" l="l"/>
              <a:pathLst>
                <a:path h="4791241" w="22128480">
                  <a:moveTo>
                    <a:pt x="0" y="0"/>
                  </a:moveTo>
                  <a:lnTo>
                    <a:pt x="22128480" y="0"/>
                  </a:lnTo>
                  <a:lnTo>
                    <a:pt x="22128480" y="4791241"/>
                  </a:lnTo>
                  <a:lnTo>
                    <a:pt x="0" y="4791241"/>
                  </a:lnTo>
                  <a:close/>
                </a:path>
              </a:pathLst>
            </a:custGeom>
            <a:blipFill>
              <a:blip r:embed="rId3">
                <a:alphaModFix amt="0"/>
              </a:blip>
              <a:stretch>
                <a:fillRect l="0" t="-73770" r="0" b="-6214"/>
              </a:stretch>
            </a:blipFill>
          </p:spPr>
        </p:sp>
        <p:sp>
          <p:nvSpPr>
            <p:cNvPr name="TextBox 4" id="4"/>
            <p:cNvSpPr txBox="true"/>
            <p:nvPr/>
          </p:nvSpPr>
          <p:spPr>
            <a:xfrm>
              <a:off x="0" y="-9525"/>
              <a:ext cx="22128480" cy="4800766"/>
            </a:xfrm>
            <a:prstGeom prst="rect">
              <a:avLst/>
            </a:prstGeom>
          </p:spPr>
          <p:txBody>
            <a:bodyPr anchor="ctr" rtlCol="false" tIns="0" lIns="0" bIns="0" rIns="0"/>
            <a:lstStyle/>
            <a:p>
              <a:pPr algn="l">
                <a:lnSpc>
                  <a:spcPts val="5879"/>
                </a:lnSpc>
              </a:pPr>
              <a:r>
                <a:rPr lang="en-US" sz="4899" b="1">
                  <a:solidFill>
                    <a:srgbClr val="0B4F5C"/>
                  </a:solidFill>
                  <a:latin typeface="Cambria"/>
                  <a:ea typeface="Cambria"/>
                  <a:cs typeface="Cambria"/>
                  <a:sym typeface="Cambria"/>
                </a:rPr>
                <a:t>Tech stack, licence and repository</a:t>
              </a:r>
            </a:p>
          </p:txBody>
        </p:sp>
      </p:grpSp>
      <p:grpSp>
        <p:nvGrpSpPr>
          <p:cNvPr name="Group 5" id="5"/>
          <p:cNvGrpSpPr/>
          <p:nvPr/>
        </p:nvGrpSpPr>
        <p:grpSpPr>
          <a:xfrm rot="0">
            <a:off x="813435" y="1979295"/>
            <a:ext cx="10443210" cy="1322070"/>
            <a:chOff x="0" y="0"/>
            <a:chExt cx="13924280" cy="1762760"/>
          </a:xfrm>
        </p:grpSpPr>
        <p:sp>
          <p:nvSpPr>
            <p:cNvPr name="Freeform 6" id="6"/>
            <p:cNvSpPr/>
            <p:nvPr/>
          </p:nvSpPr>
          <p:spPr>
            <a:xfrm flipH="false" flipV="false" rot="0">
              <a:off x="0" y="0"/>
              <a:ext cx="13924280" cy="1762760"/>
            </a:xfrm>
            <a:custGeom>
              <a:avLst/>
              <a:gdLst/>
              <a:ahLst/>
              <a:cxnLst/>
              <a:rect r="r" b="b" t="t" l="l"/>
              <a:pathLst>
                <a:path h="1762760" w="13924280">
                  <a:moveTo>
                    <a:pt x="0" y="148463"/>
                  </a:moveTo>
                  <a:cubicBezTo>
                    <a:pt x="0" y="66421"/>
                    <a:pt x="66421" y="0"/>
                    <a:pt x="148463" y="0"/>
                  </a:cubicBezTo>
                  <a:lnTo>
                    <a:pt x="13775817" y="0"/>
                  </a:lnTo>
                  <a:cubicBezTo>
                    <a:pt x="13857858" y="0"/>
                    <a:pt x="13924280" y="66421"/>
                    <a:pt x="13924280" y="148463"/>
                  </a:cubicBezTo>
                  <a:lnTo>
                    <a:pt x="13924280" y="1614297"/>
                  </a:lnTo>
                  <a:cubicBezTo>
                    <a:pt x="13924280" y="1696339"/>
                    <a:pt x="13857858" y="1762760"/>
                    <a:pt x="13775817" y="1762760"/>
                  </a:cubicBezTo>
                  <a:lnTo>
                    <a:pt x="148463" y="1762760"/>
                  </a:lnTo>
                  <a:cubicBezTo>
                    <a:pt x="66421" y="1762760"/>
                    <a:pt x="0" y="1696339"/>
                    <a:pt x="0" y="1614297"/>
                  </a:cubicBezTo>
                  <a:close/>
                </a:path>
              </a:pathLst>
            </a:custGeom>
            <a:solidFill>
              <a:srgbClr val="EEF5F5"/>
            </a:solidFill>
            <a:ln w="19050" cap="sq">
              <a:solidFill>
                <a:srgbClr val="EEF5F5"/>
              </a:solidFill>
              <a:prstDash val="solid"/>
              <a:miter/>
            </a:ln>
          </p:spPr>
        </p:sp>
      </p:grpSp>
      <p:grpSp>
        <p:nvGrpSpPr>
          <p:cNvPr name="Group 7" id="7"/>
          <p:cNvGrpSpPr/>
          <p:nvPr/>
        </p:nvGrpSpPr>
        <p:grpSpPr>
          <a:xfrm rot="0">
            <a:off x="1165860" y="1988820"/>
            <a:ext cx="3017520" cy="1303020"/>
            <a:chOff x="0" y="0"/>
            <a:chExt cx="4023360" cy="1737360"/>
          </a:xfrm>
        </p:grpSpPr>
        <p:sp>
          <p:nvSpPr>
            <p:cNvPr name="Freeform 8" id="8"/>
            <p:cNvSpPr/>
            <p:nvPr/>
          </p:nvSpPr>
          <p:spPr>
            <a:xfrm flipH="false" flipV="false" rot="0">
              <a:off x="0" y="0"/>
              <a:ext cx="4023360" cy="1737360"/>
            </a:xfrm>
            <a:custGeom>
              <a:avLst/>
              <a:gdLst/>
              <a:ahLst/>
              <a:cxnLst/>
              <a:rect r="r" b="b" t="t" l="l"/>
              <a:pathLst>
                <a:path h="1737360" w="4023360">
                  <a:moveTo>
                    <a:pt x="0" y="0"/>
                  </a:moveTo>
                  <a:lnTo>
                    <a:pt x="4023360" y="0"/>
                  </a:lnTo>
                  <a:lnTo>
                    <a:pt x="4023360" y="1737360"/>
                  </a:lnTo>
                  <a:lnTo>
                    <a:pt x="0" y="1737360"/>
                  </a:lnTo>
                  <a:close/>
                </a:path>
              </a:pathLst>
            </a:custGeom>
            <a:blipFill>
              <a:blip r:embed="rId3">
                <a:alphaModFix amt="0"/>
              </a:blip>
              <a:stretch>
                <a:fillRect l="-5403" t="0" r="-5403" b="0"/>
              </a:stretch>
            </a:blipFill>
          </p:spPr>
        </p:sp>
        <p:sp>
          <p:nvSpPr>
            <p:cNvPr name="TextBox 9" id="9"/>
            <p:cNvSpPr txBox="true"/>
            <p:nvPr/>
          </p:nvSpPr>
          <p:spPr>
            <a:xfrm>
              <a:off x="0" y="-57150"/>
              <a:ext cx="4023360" cy="1794510"/>
            </a:xfrm>
            <a:prstGeom prst="rect">
              <a:avLst/>
            </a:prstGeom>
          </p:spPr>
          <p:txBody>
            <a:bodyPr anchor="ctr" rtlCol="false" tIns="0" lIns="0" bIns="0" rIns="0"/>
            <a:lstStyle/>
            <a:p>
              <a:pPr algn="l">
                <a:lnSpc>
                  <a:spcPts val="3179"/>
                </a:lnSpc>
              </a:pPr>
              <a:r>
                <a:rPr lang="en-US" sz="2649" b="1">
                  <a:solidFill>
                    <a:srgbClr val="0B4F5C"/>
                  </a:solidFill>
                  <a:latin typeface="Calibri"/>
                  <a:ea typeface="Calibri"/>
                  <a:cs typeface="Calibri"/>
                  <a:sym typeface="Calibri"/>
                </a:rPr>
                <a:t>Physiology &amp; twin</a:t>
              </a:r>
            </a:p>
          </p:txBody>
        </p:sp>
      </p:grpSp>
      <p:grpSp>
        <p:nvGrpSpPr>
          <p:cNvPr name="Group 10" id="10"/>
          <p:cNvGrpSpPr/>
          <p:nvPr/>
        </p:nvGrpSpPr>
        <p:grpSpPr>
          <a:xfrm rot="0">
            <a:off x="4251960" y="1988820"/>
            <a:ext cx="6789420" cy="1303020"/>
            <a:chOff x="0" y="0"/>
            <a:chExt cx="9052560" cy="1737360"/>
          </a:xfrm>
        </p:grpSpPr>
        <p:sp>
          <p:nvSpPr>
            <p:cNvPr name="Freeform 11" id="11"/>
            <p:cNvSpPr/>
            <p:nvPr/>
          </p:nvSpPr>
          <p:spPr>
            <a:xfrm flipH="false" flipV="false" rot="0">
              <a:off x="0" y="0"/>
              <a:ext cx="9052560" cy="1737360"/>
            </a:xfrm>
            <a:custGeom>
              <a:avLst/>
              <a:gdLst/>
              <a:ahLst/>
              <a:cxnLst/>
              <a:rect r="r" b="b" t="t" l="l"/>
              <a:pathLst>
                <a:path h="1737360" w="9052560">
                  <a:moveTo>
                    <a:pt x="0" y="0"/>
                  </a:moveTo>
                  <a:lnTo>
                    <a:pt x="9052560" y="0"/>
                  </a:lnTo>
                  <a:lnTo>
                    <a:pt x="9052560" y="1737360"/>
                  </a:lnTo>
                  <a:lnTo>
                    <a:pt x="0" y="1737360"/>
                  </a:lnTo>
                  <a:close/>
                </a:path>
              </a:pathLst>
            </a:custGeom>
            <a:blipFill>
              <a:blip r:embed="rId3">
                <a:alphaModFix amt="0"/>
              </a:blip>
              <a:stretch>
                <a:fillRect l="0" t="-51527" r="0" b="-51527"/>
              </a:stretch>
            </a:blipFill>
          </p:spPr>
        </p:sp>
        <p:sp>
          <p:nvSpPr>
            <p:cNvPr name="TextBox 12" id="12"/>
            <p:cNvSpPr txBox="true"/>
            <p:nvPr/>
          </p:nvSpPr>
          <p:spPr>
            <a:xfrm>
              <a:off x="0" y="-57150"/>
              <a:ext cx="9052560" cy="1794510"/>
            </a:xfrm>
            <a:prstGeom prst="rect">
              <a:avLst/>
            </a:prstGeom>
          </p:spPr>
          <p:txBody>
            <a:bodyPr anchor="ctr" rtlCol="false" tIns="0" lIns="0" bIns="0" rIns="0"/>
            <a:lstStyle/>
            <a:p>
              <a:pPr algn="l">
                <a:lnSpc>
                  <a:spcPts val="2819"/>
                </a:lnSpc>
              </a:pPr>
              <a:r>
                <a:rPr lang="en-US" sz="2349">
                  <a:solidFill>
                    <a:srgbClr val="1B2B34"/>
                  </a:solidFill>
                  <a:latin typeface="Calibri"/>
                  <a:ea typeface="Calibri"/>
                  <a:cs typeface="Calibri"/>
                  <a:sym typeface="Calibri"/>
                </a:rPr>
                <a:t>pythermalcomfort 4.6.1 (ISO 7933) · filterpy 1.4.5 (UKF) · numpy · scipy · kfre 0.1.18</a:t>
              </a:r>
            </a:p>
          </p:txBody>
        </p:sp>
      </p:grpSp>
      <p:grpSp>
        <p:nvGrpSpPr>
          <p:cNvPr name="Group 13" id="13"/>
          <p:cNvGrpSpPr/>
          <p:nvPr/>
        </p:nvGrpSpPr>
        <p:grpSpPr>
          <a:xfrm rot="0">
            <a:off x="813435" y="3515487"/>
            <a:ext cx="10443210" cy="1322070"/>
            <a:chOff x="0" y="0"/>
            <a:chExt cx="13924280" cy="1762760"/>
          </a:xfrm>
        </p:grpSpPr>
        <p:sp>
          <p:nvSpPr>
            <p:cNvPr name="Freeform 14" id="14"/>
            <p:cNvSpPr/>
            <p:nvPr/>
          </p:nvSpPr>
          <p:spPr>
            <a:xfrm flipH="false" flipV="false" rot="0">
              <a:off x="0" y="0"/>
              <a:ext cx="13924280" cy="1762760"/>
            </a:xfrm>
            <a:custGeom>
              <a:avLst/>
              <a:gdLst/>
              <a:ahLst/>
              <a:cxnLst/>
              <a:rect r="r" b="b" t="t" l="l"/>
              <a:pathLst>
                <a:path h="1762760" w="13924280">
                  <a:moveTo>
                    <a:pt x="0" y="148463"/>
                  </a:moveTo>
                  <a:cubicBezTo>
                    <a:pt x="0" y="66421"/>
                    <a:pt x="66421" y="0"/>
                    <a:pt x="148463" y="0"/>
                  </a:cubicBezTo>
                  <a:lnTo>
                    <a:pt x="13775817" y="0"/>
                  </a:lnTo>
                  <a:cubicBezTo>
                    <a:pt x="13857858" y="0"/>
                    <a:pt x="13924280" y="66421"/>
                    <a:pt x="13924280" y="148463"/>
                  </a:cubicBezTo>
                  <a:lnTo>
                    <a:pt x="13924280" y="1614297"/>
                  </a:lnTo>
                  <a:cubicBezTo>
                    <a:pt x="13924280" y="1696339"/>
                    <a:pt x="13857858" y="1762760"/>
                    <a:pt x="13775817" y="1762760"/>
                  </a:cubicBezTo>
                  <a:lnTo>
                    <a:pt x="148463" y="1762760"/>
                  </a:lnTo>
                  <a:cubicBezTo>
                    <a:pt x="66421" y="1762760"/>
                    <a:pt x="0" y="1696339"/>
                    <a:pt x="0" y="1614297"/>
                  </a:cubicBezTo>
                  <a:close/>
                </a:path>
              </a:pathLst>
            </a:custGeom>
            <a:solidFill>
              <a:srgbClr val="EEF5F5"/>
            </a:solidFill>
            <a:ln w="19050" cap="sq">
              <a:solidFill>
                <a:srgbClr val="EEF5F5"/>
              </a:solidFill>
              <a:prstDash val="solid"/>
              <a:miter/>
            </a:ln>
          </p:spPr>
        </p:sp>
      </p:grpSp>
      <p:grpSp>
        <p:nvGrpSpPr>
          <p:cNvPr name="Group 15" id="15"/>
          <p:cNvGrpSpPr/>
          <p:nvPr/>
        </p:nvGrpSpPr>
        <p:grpSpPr>
          <a:xfrm rot="0">
            <a:off x="1165860" y="3525012"/>
            <a:ext cx="3017520" cy="1303020"/>
            <a:chOff x="0" y="0"/>
            <a:chExt cx="4023360" cy="1737360"/>
          </a:xfrm>
        </p:grpSpPr>
        <p:sp>
          <p:nvSpPr>
            <p:cNvPr name="Freeform 16" id="16"/>
            <p:cNvSpPr/>
            <p:nvPr/>
          </p:nvSpPr>
          <p:spPr>
            <a:xfrm flipH="false" flipV="false" rot="0">
              <a:off x="0" y="0"/>
              <a:ext cx="4023360" cy="1737360"/>
            </a:xfrm>
            <a:custGeom>
              <a:avLst/>
              <a:gdLst/>
              <a:ahLst/>
              <a:cxnLst/>
              <a:rect r="r" b="b" t="t" l="l"/>
              <a:pathLst>
                <a:path h="1737360" w="4023360">
                  <a:moveTo>
                    <a:pt x="0" y="0"/>
                  </a:moveTo>
                  <a:lnTo>
                    <a:pt x="4023360" y="0"/>
                  </a:lnTo>
                  <a:lnTo>
                    <a:pt x="4023360" y="1737360"/>
                  </a:lnTo>
                  <a:lnTo>
                    <a:pt x="0" y="1737360"/>
                  </a:lnTo>
                  <a:close/>
                </a:path>
              </a:pathLst>
            </a:custGeom>
            <a:blipFill>
              <a:blip r:embed="rId3">
                <a:alphaModFix amt="0"/>
              </a:blip>
              <a:stretch>
                <a:fillRect l="-5403" t="0" r="-5403" b="0"/>
              </a:stretch>
            </a:blipFill>
          </p:spPr>
        </p:sp>
        <p:sp>
          <p:nvSpPr>
            <p:cNvPr name="TextBox 17" id="17"/>
            <p:cNvSpPr txBox="true"/>
            <p:nvPr/>
          </p:nvSpPr>
          <p:spPr>
            <a:xfrm>
              <a:off x="0" y="-57150"/>
              <a:ext cx="4023360" cy="1794510"/>
            </a:xfrm>
            <a:prstGeom prst="rect">
              <a:avLst/>
            </a:prstGeom>
          </p:spPr>
          <p:txBody>
            <a:bodyPr anchor="ctr" rtlCol="false" tIns="0" lIns="0" bIns="0" rIns="0"/>
            <a:lstStyle/>
            <a:p>
              <a:pPr algn="l">
                <a:lnSpc>
                  <a:spcPts val="3179"/>
                </a:lnSpc>
              </a:pPr>
              <a:r>
                <a:rPr lang="en-US" sz="2649" b="1">
                  <a:solidFill>
                    <a:srgbClr val="0B4F5C"/>
                  </a:solidFill>
                  <a:latin typeface="Calibri"/>
                  <a:ea typeface="Calibri"/>
                  <a:cs typeface="Calibri"/>
                  <a:sym typeface="Calibri"/>
                </a:rPr>
                <a:t>Machine learning</a:t>
              </a:r>
            </a:p>
          </p:txBody>
        </p:sp>
      </p:grpSp>
      <p:grpSp>
        <p:nvGrpSpPr>
          <p:cNvPr name="Group 18" id="18"/>
          <p:cNvGrpSpPr/>
          <p:nvPr/>
        </p:nvGrpSpPr>
        <p:grpSpPr>
          <a:xfrm rot="0">
            <a:off x="4251960" y="3525012"/>
            <a:ext cx="6789420" cy="1303020"/>
            <a:chOff x="0" y="0"/>
            <a:chExt cx="9052560" cy="1737360"/>
          </a:xfrm>
        </p:grpSpPr>
        <p:sp>
          <p:nvSpPr>
            <p:cNvPr name="Freeform 19" id="19"/>
            <p:cNvSpPr/>
            <p:nvPr/>
          </p:nvSpPr>
          <p:spPr>
            <a:xfrm flipH="false" flipV="false" rot="0">
              <a:off x="0" y="0"/>
              <a:ext cx="9052560" cy="1737360"/>
            </a:xfrm>
            <a:custGeom>
              <a:avLst/>
              <a:gdLst/>
              <a:ahLst/>
              <a:cxnLst/>
              <a:rect r="r" b="b" t="t" l="l"/>
              <a:pathLst>
                <a:path h="1737360" w="9052560">
                  <a:moveTo>
                    <a:pt x="0" y="0"/>
                  </a:moveTo>
                  <a:lnTo>
                    <a:pt x="9052560" y="0"/>
                  </a:lnTo>
                  <a:lnTo>
                    <a:pt x="9052560" y="1737360"/>
                  </a:lnTo>
                  <a:lnTo>
                    <a:pt x="0" y="1737360"/>
                  </a:lnTo>
                  <a:close/>
                </a:path>
              </a:pathLst>
            </a:custGeom>
            <a:blipFill>
              <a:blip r:embed="rId3">
                <a:alphaModFix amt="0"/>
              </a:blip>
              <a:stretch>
                <a:fillRect l="0" t="-51527" r="0" b="-51527"/>
              </a:stretch>
            </a:blipFill>
          </p:spPr>
        </p:sp>
        <p:sp>
          <p:nvSpPr>
            <p:cNvPr name="TextBox 20" id="20"/>
            <p:cNvSpPr txBox="true"/>
            <p:nvPr/>
          </p:nvSpPr>
          <p:spPr>
            <a:xfrm>
              <a:off x="0" y="-57150"/>
              <a:ext cx="9052560" cy="1794510"/>
            </a:xfrm>
            <a:prstGeom prst="rect">
              <a:avLst/>
            </a:prstGeom>
          </p:spPr>
          <p:txBody>
            <a:bodyPr anchor="ctr" rtlCol="false" tIns="0" lIns="0" bIns="0" rIns="0"/>
            <a:lstStyle/>
            <a:p>
              <a:pPr algn="l">
                <a:lnSpc>
                  <a:spcPts val="2819"/>
                </a:lnSpc>
              </a:pPr>
              <a:r>
                <a:rPr lang="en-US" sz="2349">
                  <a:solidFill>
                    <a:srgbClr val="1B2B34"/>
                  </a:solidFill>
                  <a:latin typeface="Calibri"/>
                  <a:ea typeface="Calibri"/>
                  <a:cs typeface="Calibri"/>
                  <a:sym typeface="Calibri"/>
                </a:rPr>
                <a:t>LightGBM 4.7.0 (monotone, isotonic calibration) · scikit-learn 1.9.1 · SHAP · lifelines</a:t>
              </a:r>
            </a:p>
          </p:txBody>
        </p:sp>
      </p:grpSp>
      <p:grpSp>
        <p:nvGrpSpPr>
          <p:cNvPr name="Group 21" id="21"/>
          <p:cNvGrpSpPr/>
          <p:nvPr/>
        </p:nvGrpSpPr>
        <p:grpSpPr>
          <a:xfrm rot="0">
            <a:off x="813435" y="5051679"/>
            <a:ext cx="10443210" cy="1322070"/>
            <a:chOff x="0" y="0"/>
            <a:chExt cx="13924280" cy="1762760"/>
          </a:xfrm>
        </p:grpSpPr>
        <p:sp>
          <p:nvSpPr>
            <p:cNvPr name="Freeform 22" id="22"/>
            <p:cNvSpPr/>
            <p:nvPr/>
          </p:nvSpPr>
          <p:spPr>
            <a:xfrm flipH="false" flipV="false" rot="0">
              <a:off x="0" y="0"/>
              <a:ext cx="13924280" cy="1762760"/>
            </a:xfrm>
            <a:custGeom>
              <a:avLst/>
              <a:gdLst/>
              <a:ahLst/>
              <a:cxnLst/>
              <a:rect r="r" b="b" t="t" l="l"/>
              <a:pathLst>
                <a:path h="1762760" w="13924280">
                  <a:moveTo>
                    <a:pt x="0" y="148463"/>
                  </a:moveTo>
                  <a:cubicBezTo>
                    <a:pt x="0" y="66421"/>
                    <a:pt x="66421" y="0"/>
                    <a:pt x="148463" y="0"/>
                  </a:cubicBezTo>
                  <a:lnTo>
                    <a:pt x="13775817" y="0"/>
                  </a:lnTo>
                  <a:cubicBezTo>
                    <a:pt x="13857858" y="0"/>
                    <a:pt x="13924280" y="66421"/>
                    <a:pt x="13924280" y="148463"/>
                  </a:cubicBezTo>
                  <a:lnTo>
                    <a:pt x="13924280" y="1614297"/>
                  </a:lnTo>
                  <a:cubicBezTo>
                    <a:pt x="13924280" y="1696339"/>
                    <a:pt x="13857858" y="1762760"/>
                    <a:pt x="13775817" y="1762760"/>
                  </a:cubicBezTo>
                  <a:lnTo>
                    <a:pt x="148463" y="1762760"/>
                  </a:lnTo>
                  <a:cubicBezTo>
                    <a:pt x="66421" y="1762760"/>
                    <a:pt x="0" y="1696339"/>
                    <a:pt x="0" y="1614297"/>
                  </a:cubicBezTo>
                  <a:close/>
                </a:path>
              </a:pathLst>
            </a:custGeom>
            <a:solidFill>
              <a:srgbClr val="EEF5F5"/>
            </a:solidFill>
            <a:ln w="19050" cap="sq">
              <a:solidFill>
                <a:srgbClr val="EEF5F5"/>
              </a:solidFill>
              <a:prstDash val="solid"/>
              <a:miter/>
            </a:ln>
          </p:spPr>
        </p:sp>
      </p:grpSp>
      <p:grpSp>
        <p:nvGrpSpPr>
          <p:cNvPr name="Group 23" id="23"/>
          <p:cNvGrpSpPr/>
          <p:nvPr/>
        </p:nvGrpSpPr>
        <p:grpSpPr>
          <a:xfrm rot="0">
            <a:off x="1165860" y="5061204"/>
            <a:ext cx="3017520" cy="1303020"/>
            <a:chOff x="0" y="0"/>
            <a:chExt cx="4023360" cy="1737360"/>
          </a:xfrm>
        </p:grpSpPr>
        <p:sp>
          <p:nvSpPr>
            <p:cNvPr name="Freeform 24" id="24"/>
            <p:cNvSpPr/>
            <p:nvPr/>
          </p:nvSpPr>
          <p:spPr>
            <a:xfrm flipH="false" flipV="false" rot="0">
              <a:off x="0" y="0"/>
              <a:ext cx="4023360" cy="1737360"/>
            </a:xfrm>
            <a:custGeom>
              <a:avLst/>
              <a:gdLst/>
              <a:ahLst/>
              <a:cxnLst/>
              <a:rect r="r" b="b" t="t" l="l"/>
              <a:pathLst>
                <a:path h="1737360" w="4023360">
                  <a:moveTo>
                    <a:pt x="0" y="0"/>
                  </a:moveTo>
                  <a:lnTo>
                    <a:pt x="4023360" y="0"/>
                  </a:lnTo>
                  <a:lnTo>
                    <a:pt x="4023360" y="1737360"/>
                  </a:lnTo>
                  <a:lnTo>
                    <a:pt x="0" y="1737360"/>
                  </a:lnTo>
                  <a:close/>
                </a:path>
              </a:pathLst>
            </a:custGeom>
            <a:blipFill>
              <a:blip r:embed="rId3">
                <a:alphaModFix amt="0"/>
              </a:blip>
              <a:stretch>
                <a:fillRect l="-5403" t="0" r="-5403" b="0"/>
              </a:stretch>
            </a:blipFill>
          </p:spPr>
        </p:sp>
        <p:sp>
          <p:nvSpPr>
            <p:cNvPr name="TextBox 25" id="25"/>
            <p:cNvSpPr txBox="true"/>
            <p:nvPr/>
          </p:nvSpPr>
          <p:spPr>
            <a:xfrm>
              <a:off x="0" y="-57150"/>
              <a:ext cx="4023360" cy="1794510"/>
            </a:xfrm>
            <a:prstGeom prst="rect">
              <a:avLst/>
            </a:prstGeom>
          </p:spPr>
          <p:txBody>
            <a:bodyPr anchor="ctr" rtlCol="false" tIns="0" lIns="0" bIns="0" rIns="0"/>
            <a:lstStyle/>
            <a:p>
              <a:pPr algn="l">
                <a:lnSpc>
                  <a:spcPts val="3179"/>
                </a:lnSpc>
              </a:pPr>
              <a:r>
                <a:rPr lang="en-US" sz="2649" b="1">
                  <a:solidFill>
                    <a:srgbClr val="0B4F5C"/>
                  </a:solidFill>
                  <a:latin typeface="Calibri"/>
                  <a:ea typeface="Calibri"/>
                  <a:cs typeface="Calibri"/>
                  <a:sym typeface="Calibri"/>
                </a:rPr>
                <a:t>App &amp; API</a:t>
              </a:r>
            </a:p>
          </p:txBody>
        </p:sp>
      </p:grpSp>
      <p:grpSp>
        <p:nvGrpSpPr>
          <p:cNvPr name="Group 26" id="26"/>
          <p:cNvGrpSpPr/>
          <p:nvPr/>
        </p:nvGrpSpPr>
        <p:grpSpPr>
          <a:xfrm rot="0">
            <a:off x="4251960" y="5061204"/>
            <a:ext cx="6789420" cy="1303020"/>
            <a:chOff x="0" y="0"/>
            <a:chExt cx="9052560" cy="1737360"/>
          </a:xfrm>
        </p:grpSpPr>
        <p:sp>
          <p:nvSpPr>
            <p:cNvPr name="Freeform 27" id="27"/>
            <p:cNvSpPr/>
            <p:nvPr/>
          </p:nvSpPr>
          <p:spPr>
            <a:xfrm flipH="false" flipV="false" rot="0">
              <a:off x="0" y="0"/>
              <a:ext cx="9052560" cy="1737360"/>
            </a:xfrm>
            <a:custGeom>
              <a:avLst/>
              <a:gdLst/>
              <a:ahLst/>
              <a:cxnLst/>
              <a:rect r="r" b="b" t="t" l="l"/>
              <a:pathLst>
                <a:path h="1737360" w="9052560">
                  <a:moveTo>
                    <a:pt x="0" y="0"/>
                  </a:moveTo>
                  <a:lnTo>
                    <a:pt x="9052560" y="0"/>
                  </a:lnTo>
                  <a:lnTo>
                    <a:pt x="9052560" y="1737360"/>
                  </a:lnTo>
                  <a:lnTo>
                    <a:pt x="0" y="1737360"/>
                  </a:lnTo>
                  <a:close/>
                </a:path>
              </a:pathLst>
            </a:custGeom>
            <a:blipFill>
              <a:blip r:embed="rId3">
                <a:alphaModFix amt="0"/>
              </a:blip>
              <a:stretch>
                <a:fillRect l="0" t="-51527" r="0" b="-51527"/>
              </a:stretch>
            </a:blipFill>
          </p:spPr>
        </p:sp>
        <p:sp>
          <p:nvSpPr>
            <p:cNvPr name="TextBox 28" id="28"/>
            <p:cNvSpPr txBox="true"/>
            <p:nvPr/>
          </p:nvSpPr>
          <p:spPr>
            <a:xfrm>
              <a:off x="0" y="-57150"/>
              <a:ext cx="9052560" cy="1794510"/>
            </a:xfrm>
            <a:prstGeom prst="rect">
              <a:avLst/>
            </a:prstGeom>
          </p:spPr>
          <p:txBody>
            <a:bodyPr anchor="ctr" rtlCol="false" tIns="0" lIns="0" bIns="0" rIns="0"/>
            <a:lstStyle/>
            <a:p>
              <a:pPr algn="l">
                <a:lnSpc>
                  <a:spcPts val="2819"/>
                </a:lnSpc>
              </a:pPr>
              <a:r>
                <a:rPr lang="en-US" sz="2349">
                  <a:solidFill>
                    <a:srgbClr val="1B2B34"/>
                  </a:solidFill>
                  <a:latin typeface="Calibri"/>
                  <a:ea typeface="Calibri"/>
                  <a:cs typeface="Calibri"/>
                  <a:sym typeface="Calibri"/>
                </a:rPr>
                <a:t>Streamlit 1.65.0 (8 role-based pages) · FastAPI · Plotly · gTTS audio · rapidfuzz brand matching</a:t>
              </a:r>
            </a:p>
          </p:txBody>
        </p:sp>
      </p:grpSp>
      <p:grpSp>
        <p:nvGrpSpPr>
          <p:cNvPr name="Group 29" id="29"/>
          <p:cNvGrpSpPr/>
          <p:nvPr/>
        </p:nvGrpSpPr>
        <p:grpSpPr>
          <a:xfrm rot="0">
            <a:off x="813435" y="6587871"/>
            <a:ext cx="10443210" cy="1322070"/>
            <a:chOff x="0" y="0"/>
            <a:chExt cx="13924280" cy="1762760"/>
          </a:xfrm>
        </p:grpSpPr>
        <p:sp>
          <p:nvSpPr>
            <p:cNvPr name="Freeform 30" id="30"/>
            <p:cNvSpPr/>
            <p:nvPr/>
          </p:nvSpPr>
          <p:spPr>
            <a:xfrm flipH="false" flipV="false" rot="0">
              <a:off x="0" y="0"/>
              <a:ext cx="13924280" cy="1762760"/>
            </a:xfrm>
            <a:custGeom>
              <a:avLst/>
              <a:gdLst/>
              <a:ahLst/>
              <a:cxnLst/>
              <a:rect r="r" b="b" t="t" l="l"/>
              <a:pathLst>
                <a:path h="1762760" w="13924280">
                  <a:moveTo>
                    <a:pt x="0" y="148463"/>
                  </a:moveTo>
                  <a:cubicBezTo>
                    <a:pt x="0" y="66421"/>
                    <a:pt x="66421" y="0"/>
                    <a:pt x="148463" y="0"/>
                  </a:cubicBezTo>
                  <a:lnTo>
                    <a:pt x="13775817" y="0"/>
                  </a:lnTo>
                  <a:cubicBezTo>
                    <a:pt x="13857858" y="0"/>
                    <a:pt x="13924280" y="66421"/>
                    <a:pt x="13924280" y="148463"/>
                  </a:cubicBezTo>
                  <a:lnTo>
                    <a:pt x="13924280" y="1614297"/>
                  </a:lnTo>
                  <a:cubicBezTo>
                    <a:pt x="13924280" y="1696339"/>
                    <a:pt x="13857858" y="1762760"/>
                    <a:pt x="13775817" y="1762760"/>
                  </a:cubicBezTo>
                  <a:lnTo>
                    <a:pt x="148463" y="1762760"/>
                  </a:lnTo>
                  <a:cubicBezTo>
                    <a:pt x="66421" y="1762760"/>
                    <a:pt x="0" y="1696339"/>
                    <a:pt x="0" y="1614297"/>
                  </a:cubicBezTo>
                  <a:close/>
                </a:path>
              </a:pathLst>
            </a:custGeom>
            <a:solidFill>
              <a:srgbClr val="EEF5F5"/>
            </a:solidFill>
            <a:ln w="19050" cap="sq">
              <a:solidFill>
                <a:srgbClr val="EEF5F5"/>
              </a:solidFill>
              <a:prstDash val="solid"/>
              <a:miter/>
            </a:ln>
          </p:spPr>
        </p:sp>
      </p:grpSp>
      <p:grpSp>
        <p:nvGrpSpPr>
          <p:cNvPr name="Group 31" id="31"/>
          <p:cNvGrpSpPr/>
          <p:nvPr/>
        </p:nvGrpSpPr>
        <p:grpSpPr>
          <a:xfrm rot="0">
            <a:off x="1165860" y="6597396"/>
            <a:ext cx="3017520" cy="1303020"/>
            <a:chOff x="0" y="0"/>
            <a:chExt cx="4023360" cy="1737360"/>
          </a:xfrm>
        </p:grpSpPr>
        <p:sp>
          <p:nvSpPr>
            <p:cNvPr name="Freeform 32" id="32"/>
            <p:cNvSpPr/>
            <p:nvPr/>
          </p:nvSpPr>
          <p:spPr>
            <a:xfrm flipH="false" flipV="false" rot="0">
              <a:off x="0" y="0"/>
              <a:ext cx="4023360" cy="1737360"/>
            </a:xfrm>
            <a:custGeom>
              <a:avLst/>
              <a:gdLst/>
              <a:ahLst/>
              <a:cxnLst/>
              <a:rect r="r" b="b" t="t" l="l"/>
              <a:pathLst>
                <a:path h="1737360" w="4023360">
                  <a:moveTo>
                    <a:pt x="0" y="0"/>
                  </a:moveTo>
                  <a:lnTo>
                    <a:pt x="4023360" y="0"/>
                  </a:lnTo>
                  <a:lnTo>
                    <a:pt x="4023360" y="1737360"/>
                  </a:lnTo>
                  <a:lnTo>
                    <a:pt x="0" y="1737360"/>
                  </a:lnTo>
                  <a:close/>
                </a:path>
              </a:pathLst>
            </a:custGeom>
            <a:blipFill>
              <a:blip r:embed="rId3">
                <a:alphaModFix amt="0"/>
              </a:blip>
              <a:stretch>
                <a:fillRect l="-5403" t="0" r="-5403" b="0"/>
              </a:stretch>
            </a:blipFill>
          </p:spPr>
        </p:sp>
        <p:sp>
          <p:nvSpPr>
            <p:cNvPr name="TextBox 33" id="33"/>
            <p:cNvSpPr txBox="true"/>
            <p:nvPr/>
          </p:nvSpPr>
          <p:spPr>
            <a:xfrm>
              <a:off x="0" y="-57150"/>
              <a:ext cx="4023360" cy="1794510"/>
            </a:xfrm>
            <a:prstGeom prst="rect">
              <a:avLst/>
            </a:prstGeom>
          </p:spPr>
          <p:txBody>
            <a:bodyPr anchor="ctr" rtlCol="false" tIns="0" lIns="0" bIns="0" rIns="0"/>
            <a:lstStyle/>
            <a:p>
              <a:pPr algn="l">
                <a:lnSpc>
                  <a:spcPts val="3179"/>
                </a:lnSpc>
              </a:pPr>
              <a:r>
                <a:rPr lang="en-US" sz="2649" b="1">
                  <a:solidFill>
                    <a:srgbClr val="0B4F5C"/>
                  </a:solidFill>
                  <a:latin typeface="Calibri"/>
                  <a:ea typeface="Calibri"/>
                  <a:cs typeface="Calibri"/>
                  <a:sym typeface="Calibri"/>
                </a:rPr>
                <a:t>Security &amp; interop</a:t>
              </a:r>
            </a:p>
          </p:txBody>
        </p:sp>
      </p:grpSp>
      <p:grpSp>
        <p:nvGrpSpPr>
          <p:cNvPr name="Group 34" id="34"/>
          <p:cNvGrpSpPr/>
          <p:nvPr/>
        </p:nvGrpSpPr>
        <p:grpSpPr>
          <a:xfrm rot="0">
            <a:off x="4251960" y="6597396"/>
            <a:ext cx="6789420" cy="1303020"/>
            <a:chOff x="0" y="0"/>
            <a:chExt cx="9052560" cy="1737360"/>
          </a:xfrm>
        </p:grpSpPr>
        <p:sp>
          <p:nvSpPr>
            <p:cNvPr name="Freeform 35" id="35"/>
            <p:cNvSpPr/>
            <p:nvPr/>
          </p:nvSpPr>
          <p:spPr>
            <a:xfrm flipH="false" flipV="false" rot="0">
              <a:off x="0" y="0"/>
              <a:ext cx="9052560" cy="1737360"/>
            </a:xfrm>
            <a:custGeom>
              <a:avLst/>
              <a:gdLst/>
              <a:ahLst/>
              <a:cxnLst/>
              <a:rect r="r" b="b" t="t" l="l"/>
              <a:pathLst>
                <a:path h="1737360" w="9052560">
                  <a:moveTo>
                    <a:pt x="0" y="0"/>
                  </a:moveTo>
                  <a:lnTo>
                    <a:pt x="9052560" y="0"/>
                  </a:lnTo>
                  <a:lnTo>
                    <a:pt x="9052560" y="1737360"/>
                  </a:lnTo>
                  <a:lnTo>
                    <a:pt x="0" y="1737360"/>
                  </a:lnTo>
                  <a:close/>
                </a:path>
              </a:pathLst>
            </a:custGeom>
            <a:blipFill>
              <a:blip r:embed="rId3">
                <a:alphaModFix amt="0"/>
              </a:blip>
              <a:stretch>
                <a:fillRect l="0" t="-51527" r="0" b="-51527"/>
              </a:stretch>
            </a:blipFill>
          </p:spPr>
        </p:sp>
        <p:sp>
          <p:nvSpPr>
            <p:cNvPr name="TextBox 36" id="36"/>
            <p:cNvSpPr txBox="true"/>
            <p:nvPr/>
          </p:nvSpPr>
          <p:spPr>
            <a:xfrm>
              <a:off x="0" y="-57150"/>
              <a:ext cx="9052560" cy="1794510"/>
            </a:xfrm>
            <a:prstGeom prst="rect">
              <a:avLst/>
            </a:prstGeom>
          </p:spPr>
          <p:txBody>
            <a:bodyPr anchor="ctr" rtlCol="false" tIns="0" lIns="0" bIns="0" rIns="0"/>
            <a:lstStyle/>
            <a:p>
              <a:pPr algn="l">
                <a:lnSpc>
                  <a:spcPts val="2819"/>
                </a:lnSpc>
              </a:pPr>
              <a:r>
                <a:rPr lang="en-US" sz="2349">
                  <a:solidFill>
                    <a:srgbClr val="1B2B34"/>
                  </a:solidFill>
                  <a:latin typeface="Calibri"/>
                  <a:ea typeface="Calibri"/>
                  <a:cs typeface="Calibri"/>
                  <a:sym typeface="Calibri"/>
                </a:rPr>
                <a:t>cryptography (Ed25519, Fernet) · HMAC audit chain · JWT · FHIR R4 · DuckDB (MIMIC checks)</a:t>
              </a:r>
            </a:p>
          </p:txBody>
        </p:sp>
      </p:grpSp>
      <p:grpSp>
        <p:nvGrpSpPr>
          <p:cNvPr name="Group 37" id="37"/>
          <p:cNvGrpSpPr/>
          <p:nvPr/>
        </p:nvGrpSpPr>
        <p:grpSpPr>
          <a:xfrm rot="0">
            <a:off x="11717655" y="1979295"/>
            <a:ext cx="5711190" cy="5916930"/>
            <a:chOff x="0" y="0"/>
            <a:chExt cx="7614920" cy="7889240"/>
          </a:xfrm>
        </p:grpSpPr>
        <p:sp>
          <p:nvSpPr>
            <p:cNvPr name="Freeform 38" id="38"/>
            <p:cNvSpPr/>
            <p:nvPr/>
          </p:nvSpPr>
          <p:spPr>
            <a:xfrm flipH="false" flipV="false" rot="0">
              <a:off x="0" y="0"/>
              <a:ext cx="7614920" cy="7889240"/>
            </a:xfrm>
            <a:custGeom>
              <a:avLst/>
              <a:gdLst/>
              <a:ahLst/>
              <a:cxnLst/>
              <a:rect r="r" b="b" t="t" l="l"/>
              <a:pathLst>
                <a:path h="7889240" w="7614920">
                  <a:moveTo>
                    <a:pt x="0" y="146812"/>
                  </a:moveTo>
                  <a:cubicBezTo>
                    <a:pt x="0" y="65786"/>
                    <a:pt x="65786" y="0"/>
                    <a:pt x="146812" y="0"/>
                  </a:cubicBezTo>
                  <a:lnTo>
                    <a:pt x="7468108" y="0"/>
                  </a:lnTo>
                  <a:cubicBezTo>
                    <a:pt x="7549134" y="0"/>
                    <a:pt x="7614920" y="65786"/>
                    <a:pt x="7614920" y="146812"/>
                  </a:cubicBezTo>
                  <a:lnTo>
                    <a:pt x="7614920" y="7742428"/>
                  </a:lnTo>
                  <a:cubicBezTo>
                    <a:pt x="7614920" y="7823454"/>
                    <a:pt x="7549134" y="7889240"/>
                    <a:pt x="7468108" y="7889240"/>
                  </a:cubicBezTo>
                  <a:lnTo>
                    <a:pt x="146812" y="7889240"/>
                  </a:lnTo>
                  <a:cubicBezTo>
                    <a:pt x="65786" y="7889240"/>
                    <a:pt x="0" y="7823454"/>
                    <a:pt x="0" y="7742428"/>
                  </a:cubicBezTo>
                  <a:close/>
                </a:path>
              </a:pathLst>
            </a:custGeom>
            <a:solidFill>
              <a:srgbClr val="0B4F5C"/>
            </a:solidFill>
            <a:ln w="19050" cap="sq">
              <a:solidFill>
                <a:srgbClr val="0B4F5C"/>
              </a:solidFill>
              <a:prstDash val="solid"/>
              <a:miter/>
            </a:ln>
          </p:spPr>
        </p:sp>
      </p:grpSp>
      <p:sp>
        <p:nvSpPr>
          <p:cNvPr name="TextBox 39" id="39"/>
          <p:cNvSpPr txBox="true"/>
          <p:nvPr/>
        </p:nvSpPr>
        <p:spPr>
          <a:xfrm rot="0">
            <a:off x="12070080" y="2215515"/>
            <a:ext cx="5074920" cy="381000"/>
          </a:xfrm>
          <a:prstGeom prst="rect">
            <a:avLst/>
          </a:prstGeom>
        </p:spPr>
        <p:txBody>
          <a:bodyPr anchor="t" rtlCol="false" tIns="0" lIns="0" bIns="0" rIns="0">
            <a:spAutoFit/>
          </a:bodyPr>
          <a:lstStyle/>
          <a:p>
            <a:pPr algn="l">
              <a:lnSpc>
                <a:spcPts val="2639"/>
              </a:lnSpc>
            </a:pPr>
            <a:r>
              <a:rPr lang="en-US" sz="2199">
                <a:solidFill>
                  <a:srgbClr val="BFE3E5"/>
                </a:solidFill>
                <a:latin typeface="Calibri"/>
                <a:ea typeface="Calibri"/>
                <a:cs typeface="Calibri"/>
                <a:sym typeface="Calibri"/>
              </a:rPr>
              <a:t>Language</a:t>
            </a:r>
          </a:p>
        </p:txBody>
      </p:sp>
      <p:sp>
        <p:nvSpPr>
          <p:cNvPr name="TextBox 40" id="40"/>
          <p:cNvSpPr txBox="true"/>
          <p:nvPr/>
        </p:nvSpPr>
        <p:spPr>
          <a:xfrm rot="0">
            <a:off x="12070080" y="2626995"/>
            <a:ext cx="5074920" cy="419100"/>
          </a:xfrm>
          <a:prstGeom prst="rect">
            <a:avLst/>
          </a:prstGeom>
        </p:spPr>
        <p:txBody>
          <a:bodyPr anchor="t" rtlCol="false" tIns="0" lIns="0" bIns="0" rIns="0">
            <a:spAutoFit/>
          </a:bodyPr>
          <a:lstStyle/>
          <a:p>
            <a:pPr algn="l">
              <a:lnSpc>
                <a:spcPts val="2999"/>
              </a:lnSpc>
            </a:pPr>
            <a:r>
              <a:rPr lang="en-US" sz="2499" b="1">
                <a:solidFill>
                  <a:srgbClr val="FFFFFF"/>
                </a:solidFill>
                <a:latin typeface="Calibri"/>
                <a:ea typeface="Calibri"/>
                <a:cs typeface="Calibri"/>
                <a:sym typeface="Calibri"/>
              </a:rPr>
              <a:t>Python 3.12</a:t>
            </a:r>
          </a:p>
        </p:txBody>
      </p:sp>
      <p:sp>
        <p:nvSpPr>
          <p:cNvPr name="TextBox 41" id="41"/>
          <p:cNvSpPr txBox="true"/>
          <p:nvPr/>
        </p:nvSpPr>
        <p:spPr>
          <a:xfrm rot="0">
            <a:off x="12070080" y="3312795"/>
            <a:ext cx="5074920" cy="381000"/>
          </a:xfrm>
          <a:prstGeom prst="rect">
            <a:avLst/>
          </a:prstGeom>
        </p:spPr>
        <p:txBody>
          <a:bodyPr anchor="t" rtlCol="false" tIns="0" lIns="0" bIns="0" rIns="0">
            <a:spAutoFit/>
          </a:bodyPr>
          <a:lstStyle/>
          <a:p>
            <a:pPr algn="l">
              <a:lnSpc>
                <a:spcPts val="2639"/>
              </a:lnSpc>
            </a:pPr>
            <a:r>
              <a:rPr lang="en-US" sz="2199">
                <a:solidFill>
                  <a:srgbClr val="BFE3E5"/>
                </a:solidFill>
                <a:latin typeface="Calibri"/>
                <a:ea typeface="Calibri"/>
                <a:cs typeface="Calibri"/>
                <a:sym typeface="Calibri"/>
              </a:rPr>
              <a:t>Tests</a:t>
            </a:r>
          </a:p>
        </p:txBody>
      </p:sp>
      <p:sp>
        <p:nvSpPr>
          <p:cNvPr name="TextBox 42" id="42"/>
          <p:cNvSpPr txBox="true"/>
          <p:nvPr/>
        </p:nvSpPr>
        <p:spPr>
          <a:xfrm rot="0">
            <a:off x="12070080" y="3724275"/>
            <a:ext cx="5074920" cy="419100"/>
          </a:xfrm>
          <a:prstGeom prst="rect">
            <a:avLst/>
          </a:prstGeom>
        </p:spPr>
        <p:txBody>
          <a:bodyPr anchor="t" rtlCol="false" tIns="0" lIns="0" bIns="0" rIns="0">
            <a:spAutoFit/>
          </a:bodyPr>
          <a:lstStyle/>
          <a:p>
            <a:pPr algn="l">
              <a:lnSpc>
                <a:spcPts val="2999"/>
              </a:lnSpc>
            </a:pPr>
            <a:r>
              <a:rPr lang="en-US" sz="2499" b="1">
                <a:solidFill>
                  <a:srgbClr val="FFFFFF"/>
                </a:solidFill>
                <a:latin typeface="Calibri"/>
                <a:ea typeface="Calibri"/>
                <a:cs typeface="Calibri"/>
                <a:sym typeface="Calibri"/>
              </a:rPr>
              <a:t>218 passed (1 skipped)</a:t>
            </a:r>
          </a:p>
        </p:txBody>
      </p:sp>
      <p:sp>
        <p:nvSpPr>
          <p:cNvPr name="TextBox 43" id="43"/>
          <p:cNvSpPr txBox="true"/>
          <p:nvPr/>
        </p:nvSpPr>
        <p:spPr>
          <a:xfrm rot="0">
            <a:off x="12070080" y="4410075"/>
            <a:ext cx="5074920" cy="381000"/>
          </a:xfrm>
          <a:prstGeom prst="rect">
            <a:avLst/>
          </a:prstGeom>
        </p:spPr>
        <p:txBody>
          <a:bodyPr anchor="t" rtlCol="false" tIns="0" lIns="0" bIns="0" rIns="0">
            <a:spAutoFit/>
          </a:bodyPr>
          <a:lstStyle/>
          <a:p>
            <a:pPr algn="l">
              <a:lnSpc>
                <a:spcPts val="2639"/>
              </a:lnSpc>
            </a:pPr>
            <a:r>
              <a:rPr lang="en-US" sz="2199">
                <a:solidFill>
                  <a:srgbClr val="BFE3E5"/>
                </a:solidFill>
                <a:latin typeface="Calibri"/>
                <a:ea typeface="Calibri"/>
                <a:cs typeface="Calibri"/>
                <a:sym typeface="Calibri"/>
              </a:rPr>
              <a:t>Licence</a:t>
            </a:r>
          </a:p>
        </p:txBody>
      </p:sp>
      <p:sp>
        <p:nvSpPr>
          <p:cNvPr name="TextBox 44" id="44"/>
          <p:cNvSpPr txBox="true"/>
          <p:nvPr/>
        </p:nvSpPr>
        <p:spPr>
          <a:xfrm rot="0">
            <a:off x="12070080" y="4821555"/>
            <a:ext cx="5074920" cy="419100"/>
          </a:xfrm>
          <a:prstGeom prst="rect">
            <a:avLst/>
          </a:prstGeom>
        </p:spPr>
        <p:txBody>
          <a:bodyPr anchor="t" rtlCol="false" tIns="0" lIns="0" bIns="0" rIns="0">
            <a:spAutoFit/>
          </a:bodyPr>
          <a:lstStyle/>
          <a:p>
            <a:pPr algn="l">
              <a:lnSpc>
                <a:spcPts val="2999"/>
              </a:lnSpc>
            </a:pPr>
            <a:r>
              <a:rPr lang="en-US" sz="2499" b="1">
                <a:solidFill>
                  <a:srgbClr val="FFFFFF"/>
                </a:solidFill>
                <a:latin typeface="Calibri"/>
                <a:ea typeface="Calibri"/>
                <a:cs typeface="Calibri"/>
                <a:sym typeface="Calibri"/>
              </a:rPr>
              <a:t>MIT (code)</a:t>
            </a:r>
          </a:p>
        </p:txBody>
      </p:sp>
      <p:sp>
        <p:nvSpPr>
          <p:cNvPr name="TextBox 45" id="45"/>
          <p:cNvSpPr txBox="true"/>
          <p:nvPr/>
        </p:nvSpPr>
        <p:spPr>
          <a:xfrm rot="0">
            <a:off x="12070080" y="5507355"/>
            <a:ext cx="5074920" cy="381000"/>
          </a:xfrm>
          <a:prstGeom prst="rect">
            <a:avLst/>
          </a:prstGeom>
        </p:spPr>
        <p:txBody>
          <a:bodyPr anchor="t" rtlCol="false" tIns="0" lIns="0" bIns="0" rIns="0">
            <a:spAutoFit/>
          </a:bodyPr>
          <a:lstStyle/>
          <a:p>
            <a:pPr algn="l">
              <a:lnSpc>
                <a:spcPts val="2639"/>
              </a:lnSpc>
            </a:pPr>
            <a:r>
              <a:rPr lang="en-US" sz="2199">
                <a:solidFill>
                  <a:srgbClr val="BFE3E5"/>
                </a:solidFill>
                <a:latin typeface="Calibri"/>
                <a:ea typeface="Calibri"/>
                <a:cs typeface="Calibri"/>
                <a:sym typeface="Calibri"/>
              </a:rPr>
              <a:t>Folder</a:t>
            </a:r>
          </a:p>
        </p:txBody>
      </p:sp>
      <p:sp>
        <p:nvSpPr>
          <p:cNvPr name="TextBox 46" id="46"/>
          <p:cNvSpPr txBox="true"/>
          <p:nvPr/>
        </p:nvSpPr>
        <p:spPr>
          <a:xfrm rot="0">
            <a:off x="12070080" y="5918835"/>
            <a:ext cx="5074920" cy="790575"/>
          </a:xfrm>
          <a:prstGeom prst="rect">
            <a:avLst/>
          </a:prstGeom>
        </p:spPr>
        <p:txBody>
          <a:bodyPr anchor="t" rtlCol="false" tIns="0" lIns="0" bIns="0" rIns="0">
            <a:spAutoFit/>
          </a:bodyPr>
          <a:lstStyle/>
          <a:p>
            <a:pPr algn="l">
              <a:lnSpc>
                <a:spcPts val="2999"/>
              </a:lnSpc>
            </a:pPr>
            <a:r>
              <a:rPr lang="en-US" sz="2499" b="1">
                <a:solidFill>
                  <a:srgbClr val="FFFFFF"/>
                </a:solidFill>
                <a:latin typeface="Calibri"/>
                <a:ea typeface="Calibri"/>
                <a:cs typeface="Calibri"/>
                <a:sym typeface="Calibri"/>
              </a:rPr>
              <a:t>Monarch_Vellore-Institute-of-Technology</a:t>
            </a:r>
          </a:p>
        </p:txBody>
      </p:sp>
      <p:sp>
        <p:nvSpPr>
          <p:cNvPr name="TextBox 47" id="47"/>
          <p:cNvSpPr txBox="true"/>
          <p:nvPr/>
        </p:nvSpPr>
        <p:spPr>
          <a:xfrm rot="0">
            <a:off x="12070080" y="6604635"/>
            <a:ext cx="5074920" cy="381000"/>
          </a:xfrm>
          <a:prstGeom prst="rect">
            <a:avLst/>
          </a:prstGeom>
        </p:spPr>
        <p:txBody>
          <a:bodyPr anchor="t" rtlCol="false" tIns="0" lIns="0" bIns="0" rIns="0">
            <a:spAutoFit/>
          </a:bodyPr>
          <a:lstStyle/>
          <a:p>
            <a:pPr algn="l">
              <a:lnSpc>
                <a:spcPts val="2639"/>
              </a:lnSpc>
            </a:pPr>
            <a:r>
              <a:rPr lang="en-US" sz="2199">
                <a:solidFill>
                  <a:srgbClr val="BFE3E5"/>
                </a:solidFill>
                <a:latin typeface="Calibri"/>
                <a:ea typeface="Calibri"/>
                <a:cs typeface="Calibri"/>
                <a:sym typeface="Calibri"/>
              </a:rPr>
              <a:t>Repo</a:t>
            </a:r>
          </a:p>
        </p:txBody>
      </p:sp>
      <p:sp>
        <p:nvSpPr>
          <p:cNvPr name="TextBox 48" id="48"/>
          <p:cNvSpPr txBox="true"/>
          <p:nvPr/>
        </p:nvSpPr>
        <p:spPr>
          <a:xfrm rot="0">
            <a:off x="12070080" y="7016115"/>
            <a:ext cx="5074920" cy="790575"/>
          </a:xfrm>
          <a:prstGeom prst="rect">
            <a:avLst/>
          </a:prstGeom>
        </p:spPr>
        <p:txBody>
          <a:bodyPr anchor="t" rtlCol="false" tIns="0" lIns="0" bIns="0" rIns="0">
            <a:spAutoFit/>
          </a:bodyPr>
          <a:lstStyle/>
          <a:p>
            <a:pPr algn="l">
              <a:lnSpc>
                <a:spcPts val="2999"/>
              </a:lnSpc>
            </a:pPr>
            <a:r>
              <a:rPr lang="en-US" sz="2499" b="1">
                <a:solidFill>
                  <a:srgbClr val="FFFFFF"/>
                </a:solidFill>
                <a:latin typeface="Calibri"/>
                <a:ea typeface="Calibri"/>
                <a:cs typeface="Calibri"/>
                <a:sym typeface="Calibri"/>
              </a:rPr>
              <a:t>github.com/Eeshan842004/VrikkaTwin_Monarch</a:t>
            </a:r>
          </a:p>
        </p:txBody>
      </p:sp>
      <p:sp>
        <p:nvSpPr>
          <p:cNvPr name="TextBox 49" id="49"/>
          <p:cNvSpPr txBox="true"/>
          <p:nvPr/>
        </p:nvSpPr>
        <p:spPr>
          <a:xfrm rot="0">
            <a:off x="813435" y="8557641"/>
            <a:ext cx="16596360" cy="323850"/>
          </a:xfrm>
          <a:prstGeom prst="rect">
            <a:avLst/>
          </a:prstGeom>
        </p:spPr>
        <p:txBody>
          <a:bodyPr anchor="t" rtlCol="false" tIns="0" lIns="0" bIns="0" rIns="0">
            <a:spAutoFit/>
          </a:bodyPr>
          <a:lstStyle/>
          <a:p>
            <a:pPr algn="l">
              <a:lnSpc>
                <a:spcPts val="2279"/>
              </a:lnSpc>
            </a:pPr>
            <a:r>
              <a:rPr lang="en-US" sz="1899" i="1">
                <a:solidFill>
                  <a:srgbClr val="5B6C75"/>
                </a:solidFill>
                <a:latin typeface="Calibri"/>
                <a:ea typeface="Calibri"/>
                <a:cs typeface="Calibri"/>
                <a:sym typeface="Calibri"/>
              </a:rPr>
              <a:t>Data licences per source in data/README.md; restricted (ODbL) data is fetched by download scripts, never committed.</a:t>
            </a:r>
          </a:p>
        </p:txBody>
      </p:sp>
      <p:sp>
        <p:nvSpPr>
          <p:cNvPr name="TextBox 50" id="50"/>
          <p:cNvSpPr txBox="true"/>
          <p:nvPr/>
        </p:nvSpPr>
        <p:spPr>
          <a:xfrm rot="0">
            <a:off x="16962120" y="9540240"/>
            <a:ext cx="640080" cy="342900"/>
          </a:xfrm>
          <a:prstGeom prst="rect">
            <a:avLst/>
          </a:prstGeom>
        </p:spPr>
        <p:txBody>
          <a:bodyPr anchor="t" rtlCol="false" tIns="0" lIns="0" bIns="0" rIns="0">
            <a:spAutoFit/>
          </a:bodyPr>
          <a:lstStyle/>
          <a:p>
            <a:pPr algn="r">
              <a:lnSpc>
                <a:spcPts val="2459"/>
              </a:lnSpc>
            </a:pPr>
            <a:r>
              <a:rPr lang="en-US" sz="2049">
                <a:solidFill>
                  <a:srgbClr val="5B6C75"/>
                </a:solidFill>
                <a:latin typeface="Calibri"/>
                <a:ea typeface="Calibri"/>
                <a:cs typeface="Calibri"/>
                <a:sym typeface="Calibri"/>
              </a:rPr>
              <a:t>33</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0B4F5C"/>
        </a:solidFill>
      </p:bgPr>
    </p:bg>
    <p:spTree>
      <p:nvGrpSpPr>
        <p:cNvPr id="1" name=""/>
        <p:cNvGrpSpPr/>
        <p:nvPr/>
      </p:nvGrpSpPr>
      <p:grpSpPr>
        <a:xfrm>
          <a:off x="0" y="0"/>
          <a:ext cx="0" cy="0"/>
          <a:chOff x="0" y="0"/>
          <a:chExt cx="0" cy="0"/>
        </a:xfrm>
      </p:grpSpPr>
      <p:grpSp>
        <p:nvGrpSpPr>
          <p:cNvPr name="Group 2" id="2"/>
          <p:cNvGrpSpPr/>
          <p:nvPr/>
        </p:nvGrpSpPr>
        <p:grpSpPr>
          <a:xfrm rot="0">
            <a:off x="1028700" y="-690890"/>
            <a:ext cx="11247120" cy="5573673"/>
            <a:chOff x="0" y="0"/>
            <a:chExt cx="14996160" cy="7431564"/>
          </a:xfrm>
        </p:grpSpPr>
        <p:sp>
          <p:nvSpPr>
            <p:cNvPr name="Freeform 3" id="3"/>
            <p:cNvSpPr/>
            <p:nvPr/>
          </p:nvSpPr>
          <p:spPr>
            <a:xfrm flipH="false" flipV="false" rot="0">
              <a:off x="0" y="0"/>
              <a:ext cx="14996161" cy="7431564"/>
            </a:xfrm>
            <a:custGeom>
              <a:avLst/>
              <a:gdLst/>
              <a:ahLst/>
              <a:cxnLst/>
              <a:rect r="r" b="b" t="t" l="l"/>
              <a:pathLst>
                <a:path h="7431564" w="14996161">
                  <a:moveTo>
                    <a:pt x="0" y="0"/>
                  </a:moveTo>
                  <a:lnTo>
                    <a:pt x="14996161" y="0"/>
                  </a:lnTo>
                  <a:lnTo>
                    <a:pt x="14996161" y="7431564"/>
                  </a:lnTo>
                  <a:lnTo>
                    <a:pt x="0" y="7431564"/>
                  </a:lnTo>
                  <a:close/>
                </a:path>
              </a:pathLst>
            </a:custGeom>
            <a:blipFill>
              <a:blip r:embed="rId3">
                <a:alphaModFix amt="0"/>
              </a:blip>
              <a:stretch>
                <a:fillRect l="0" t="-15940" r="0" b="37303"/>
              </a:stretch>
            </a:blipFill>
          </p:spPr>
        </p:sp>
        <p:sp>
          <p:nvSpPr>
            <p:cNvPr name="TextBox 4" id="4"/>
            <p:cNvSpPr txBox="true"/>
            <p:nvPr/>
          </p:nvSpPr>
          <p:spPr>
            <a:xfrm>
              <a:off x="0" y="-9525"/>
              <a:ext cx="14996160" cy="7441089"/>
            </a:xfrm>
            <a:prstGeom prst="rect">
              <a:avLst/>
            </a:prstGeom>
          </p:spPr>
          <p:txBody>
            <a:bodyPr anchor="b" rtlCol="false" tIns="0" lIns="0" bIns="0" rIns="0"/>
            <a:lstStyle/>
            <a:p>
              <a:pPr algn="l">
                <a:lnSpc>
                  <a:spcPts val="9119"/>
                </a:lnSpc>
              </a:pPr>
              <a:r>
                <a:rPr lang="en-US" sz="7599" b="1">
                  <a:solidFill>
                    <a:srgbClr val="FFFFFF"/>
                  </a:solidFill>
                  <a:latin typeface="Cambria"/>
                  <a:ea typeface="Cambria"/>
                  <a:cs typeface="Cambria"/>
                  <a:sym typeface="Cambria"/>
                </a:rPr>
                <a:t>Thank you</a:t>
              </a:r>
            </a:p>
          </p:txBody>
        </p:sp>
      </p:grpSp>
      <p:sp>
        <p:nvSpPr>
          <p:cNvPr name="TextBox 5" id="5"/>
          <p:cNvSpPr txBox="true"/>
          <p:nvPr/>
        </p:nvSpPr>
        <p:spPr>
          <a:xfrm rot="0">
            <a:off x="789010" y="4979048"/>
            <a:ext cx="11247120" cy="2124075"/>
          </a:xfrm>
          <a:prstGeom prst="rect">
            <a:avLst/>
          </a:prstGeom>
        </p:spPr>
        <p:txBody>
          <a:bodyPr anchor="t" rtlCol="false" tIns="0" lIns="0" bIns="0" rIns="0">
            <a:spAutoFit/>
          </a:bodyPr>
          <a:lstStyle/>
          <a:p>
            <a:pPr algn="l">
              <a:lnSpc>
                <a:spcPts val="4079"/>
              </a:lnSpc>
            </a:pPr>
            <a:r>
              <a:rPr lang="en-US" sz="3399">
                <a:solidFill>
                  <a:srgbClr val="BFE3E5"/>
                </a:solidFill>
                <a:latin typeface="Calibri"/>
                <a:ea typeface="Calibri"/>
                <a:cs typeface="Calibri"/>
                <a:sym typeface="Calibri"/>
              </a:rPr>
              <a:t>VrikkaTwin protects the kidneys of people on BP pills, painkillers or with weak kidneys during Indian heatwaves and sick days, and tells the doctor which pill to review and when to test.</a:t>
            </a:r>
          </a:p>
        </p:txBody>
      </p:sp>
      <p:sp>
        <p:nvSpPr>
          <p:cNvPr name="TextBox 6" id="6"/>
          <p:cNvSpPr txBox="true"/>
          <p:nvPr/>
        </p:nvSpPr>
        <p:spPr>
          <a:xfrm rot="0">
            <a:off x="822960" y="7477125"/>
            <a:ext cx="11247120" cy="485775"/>
          </a:xfrm>
          <a:prstGeom prst="rect">
            <a:avLst/>
          </a:prstGeom>
        </p:spPr>
        <p:txBody>
          <a:bodyPr anchor="t" rtlCol="false" tIns="0" lIns="0" bIns="0" rIns="0">
            <a:spAutoFit/>
          </a:bodyPr>
          <a:lstStyle/>
          <a:p>
            <a:pPr algn="l">
              <a:lnSpc>
                <a:spcPts val="3359"/>
              </a:lnSpc>
            </a:pPr>
            <a:r>
              <a:rPr lang="en-US" sz="2799">
                <a:solidFill>
                  <a:srgbClr val="FFFFFF"/>
                </a:solidFill>
                <a:latin typeface="Calibri"/>
                <a:ea typeface="Calibri"/>
                <a:cs typeface="Calibri"/>
                <a:sym typeface="Calibri"/>
              </a:rPr>
              <a:t>Harshita Kumar · Eeshan Gupta · Team Monarch, VIT Vellore</a:t>
            </a:r>
          </a:p>
        </p:txBody>
      </p:sp>
      <p:sp>
        <p:nvSpPr>
          <p:cNvPr name="TextBox 7" id="7"/>
          <p:cNvSpPr txBox="true"/>
          <p:nvPr/>
        </p:nvSpPr>
        <p:spPr>
          <a:xfrm rot="0">
            <a:off x="822960" y="8113395"/>
            <a:ext cx="11247120" cy="419100"/>
          </a:xfrm>
          <a:prstGeom prst="rect">
            <a:avLst/>
          </a:prstGeom>
        </p:spPr>
        <p:txBody>
          <a:bodyPr anchor="t" rtlCol="false" tIns="0" lIns="0" bIns="0" rIns="0">
            <a:spAutoFit/>
          </a:bodyPr>
          <a:lstStyle/>
          <a:p>
            <a:pPr algn="l">
              <a:lnSpc>
                <a:spcPts val="2999"/>
              </a:lnSpc>
            </a:pPr>
            <a:r>
              <a:rPr lang="en-US" sz="2499" i="1">
                <a:solidFill>
                  <a:srgbClr val="BFE3E5"/>
                </a:solidFill>
                <a:latin typeface="Calibri"/>
                <a:ea typeface="Calibri"/>
                <a:cs typeface="Calibri"/>
                <a:sym typeface="Calibri"/>
              </a:rPr>
              <a:t>github.com/Eeshan842004/VrikkaTwin_Monarch</a:t>
            </a:r>
          </a:p>
        </p:txBody>
      </p:sp>
      <p:grpSp>
        <p:nvGrpSpPr>
          <p:cNvPr name="Group 8" id="8"/>
          <p:cNvGrpSpPr/>
          <p:nvPr/>
        </p:nvGrpSpPr>
        <p:grpSpPr>
          <a:xfrm rot="0">
            <a:off x="13089255" y="2116455"/>
            <a:ext cx="4408170" cy="4408170"/>
            <a:chOff x="0" y="0"/>
            <a:chExt cx="5877560" cy="5877560"/>
          </a:xfrm>
        </p:grpSpPr>
        <p:sp>
          <p:nvSpPr>
            <p:cNvPr name="Freeform 9" id="9"/>
            <p:cNvSpPr/>
            <p:nvPr/>
          </p:nvSpPr>
          <p:spPr>
            <a:xfrm flipH="false" flipV="false" rot="0">
              <a:off x="0" y="0"/>
              <a:ext cx="5877560" cy="5877560"/>
            </a:xfrm>
            <a:custGeom>
              <a:avLst/>
              <a:gdLst/>
              <a:ahLst/>
              <a:cxnLst/>
              <a:rect r="r" b="b" t="t" l="l"/>
              <a:pathLst>
                <a:path h="5877560" w="5877560">
                  <a:moveTo>
                    <a:pt x="0" y="2938780"/>
                  </a:moveTo>
                  <a:cubicBezTo>
                    <a:pt x="0" y="1315720"/>
                    <a:pt x="1315720" y="0"/>
                    <a:pt x="2938780" y="0"/>
                  </a:cubicBezTo>
                  <a:cubicBezTo>
                    <a:pt x="4561840" y="0"/>
                    <a:pt x="5877560" y="1315720"/>
                    <a:pt x="5877560" y="2938780"/>
                  </a:cubicBezTo>
                  <a:cubicBezTo>
                    <a:pt x="5877560" y="4561840"/>
                    <a:pt x="4561840" y="5877560"/>
                    <a:pt x="2938780" y="5877560"/>
                  </a:cubicBezTo>
                  <a:cubicBezTo>
                    <a:pt x="1315720" y="5877560"/>
                    <a:pt x="0" y="4561840"/>
                    <a:pt x="0" y="2938780"/>
                  </a:cubicBezTo>
                  <a:close/>
                </a:path>
              </a:pathLst>
            </a:custGeom>
            <a:solidFill>
              <a:srgbClr val="0E7C86"/>
            </a:solidFill>
            <a:ln w="19050" cap="sq">
              <a:solidFill>
                <a:srgbClr val="0E7C86"/>
              </a:solidFill>
              <a:prstDash val="solid"/>
              <a:miter/>
            </a:ln>
          </p:spPr>
        </p:sp>
      </p:grpSp>
      <p:grpSp>
        <p:nvGrpSpPr>
          <p:cNvPr name="Group 10" id="10"/>
          <p:cNvGrpSpPr/>
          <p:nvPr/>
        </p:nvGrpSpPr>
        <p:grpSpPr>
          <a:xfrm rot="0">
            <a:off x="14333220" y="3223260"/>
            <a:ext cx="1920240" cy="2194560"/>
            <a:chOff x="0" y="0"/>
            <a:chExt cx="2560320" cy="2926080"/>
          </a:xfrm>
        </p:grpSpPr>
        <p:sp>
          <p:nvSpPr>
            <p:cNvPr name="Freeform 11" id="11" descr="preencoded.png"/>
            <p:cNvSpPr/>
            <p:nvPr/>
          </p:nvSpPr>
          <p:spPr>
            <a:xfrm flipH="false" flipV="false" rot="0">
              <a:off x="0" y="0"/>
              <a:ext cx="2560320" cy="2926080"/>
            </a:xfrm>
            <a:custGeom>
              <a:avLst/>
              <a:gdLst/>
              <a:ahLst/>
              <a:cxnLst/>
              <a:rect r="r" b="b" t="t" l="l"/>
              <a:pathLst>
                <a:path h="2926080" w="2560320">
                  <a:moveTo>
                    <a:pt x="0" y="0"/>
                  </a:moveTo>
                  <a:lnTo>
                    <a:pt x="2560320" y="0"/>
                  </a:lnTo>
                  <a:lnTo>
                    <a:pt x="2560320" y="2926080"/>
                  </a:lnTo>
                  <a:lnTo>
                    <a:pt x="0" y="2926080"/>
                  </a:lnTo>
                  <a:lnTo>
                    <a:pt x="0" y="0"/>
                  </a:lnTo>
                  <a:close/>
                </a:path>
              </a:pathLst>
            </a:custGeom>
            <a:blipFill>
              <a:blip r:embed="rId4"/>
              <a:stretch>
                <a:fillRect l="-7142" t="0" r="-7142" b="0"/>
              </a:stretch>
            </a:blipFill>
          </p:spPr>
        </p:sp>
      </p:grpSp>
      <p:sp>
        <p:nvSpPr>
          <p:cNvPr name="TextBox 12" id="12"/>
          <p:cNvSpPr txBox="true"/>
          <p:nvPr/>
        </p:nvSpPr>
        <p:spPr>
          <a:xfrm rot="0">
            <a:off x="12207240" y="6947535"/>
            <a:ext cx="5760720" cy="714375"/>
          </a:xfrm>
          <a:prstGeom prst="rect">
            <a:avLst/>
          </a:prstGeom>
        </p:spPr>
        <p:txBody>
          <a:bodyPr anchor="t" rtlCol="false" tIns="0" lIns="0" bIns="0" rIns="0">
            <a:spAutoFit/>
          </a:bodyPr>
          <a:lstStyle/>
          <a:p>
            <a:pPr algn="ctr">
              <a:lnSpc>
                <a:spcPts val="2639"/>
              </a:lnSpc>
            </a:pPr>
            <a:r>
              <a:rPr lang="en-US" sz="2199" i="1">
                <a:solidFill>
                  <a:srgbClr val="BFE3E5"/>
                </a:solidFill>
                <a:latin typeface="Calibri"/>
                <a:ea typeface="Calibri"/>
                <a:cs typeface="Calibri"/>
                <a:sym typeface="Calibri"/>
              </a:rPr>
              <a:t>Research prototype · synthetic data and fictional personas · not a medical device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DAHYcleuA7w</dc:identifier>
  <dcterms:modified xsi:type="dcterms:W3CDTF">2011-08-01T06:04:30Z</dcterms:modified>
  <cp:revision>1</cp:revision>
  <dc:title>VrikkaTwin_Team_Monarch.pptx</dc:title>
</cp:coreProperties>
</file>