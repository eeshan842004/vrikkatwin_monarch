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6000" b="1">
                <a:solidFill>
                  <a:srgbClr val="184F95"/>
                </a:solidFill>
              </a:defRPr>
            </a:pPr>
            <a:r>
              <a:t>VrikkaTwin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0B0B0B"/>
                </a:solidFill>
              </a:defRPr>
            </a:pPr>
            <a:r>
              <a:t>A kidney digital twin that warns of heat- and sick-day kidney injury up to 72 hours ahead, for people with hypertension and CKD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</a:defRPr>
            </a:pPr>
            <a:r>
              <a:t>Team Monarch · Vellore Institute of Technology</a:t>
            </a:r>
          </a:p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</a:defRPr>
            </a:pPr>
            <a:r>
              <a:t>Happiest Health Digital Twin Challenge 2026</a:t>
            </a:r>
          </a:p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</a:defRPr>
            </a:pPr>
            <a:r>
              <a:t>Research prototype: synthetic data and fictional personas only;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0B0B"/>
                </a:solidFill>
              </a:defRPr>
            </a:pPr>
            <a:r>
              <a:t>The problem: silent kidney injury in heatwaves and sick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Usually mild, usually recovers, and invisible at home unless someone tests creatinine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0B0B0B"/>
                </a:solidFill>
              </a:defRPr>
            </a:pPr>
            <a:r>
              <a:t>• India's 2024 heat season: 67,637 suspected heatstroke cases and 374 deaths, 1 Mar - 27 Jul 2024 (NCDC surveillance; Lok Sabha reply)</a:t>
            </a:r>
          </a:p>
          <a:p>
            <a:pPr>
              <a:spcAft>
                <a:spcPts val="600"/>
              </a:spcAft>
              <a:defRPr sz="1900" b="0">
                <a:solidFill>
                  <a:srgbClr val="0B0B0B"/>
                </a:solidFill>
              </a:defRPr>
            </a:pPr>
            <a:r>
              <a:t>• The 'triple whammy' (ACE inhibitor / ARB + diuretic + NSAID): kidney-injury rate ratio 1.31 overall and 1.82 in the first 30 days (Lapi et al., BMJ 2013, 487,372 people)</a:t>
            </a:r>
          </a:p>
          <a:p>
            <a:pPr>
              <a:spcAft>
                <a:spcPts val="600"/>
              </a:spcAft>
              <a:defRPr sz="1900" b="0">
                <a:solidFill>
                  <a:srgbClr val="0B0B0B"/>
                </a:solidFill>
              </a:defRPr>
            </a:pPr>
            <a:r>
              <a:t>• Sweat on top of a diuretic, a fever, a Combiflam from the pharmacy: the injury builds over days, while the next creatinine test is weeks away</a:t>
            </a:r>
          </a:p>
          <a:p>
            <a:pPr>
              <a:spcAft>
                <a:spcPts val="600"/>
              </a:spcAft>
              <a:defRPr sz="1900" b="0">
                <a:solidFill>
                  <a:srgbClr val="0B0B0B"/>
                </a:solidFill>
              </a:defRPr>
            </a:pPr>
            <a:r>
              <a:t>• Who needs what: the doctor (whom to test today), the patient and family (what to do, in their language), the ASHA worker (when to escalate)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How VrikkaTwin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Observed data only -&gt; personal twin -&gt; 72-hour simulation -&gt; calibrated, explained risk -&gt; safe actions, through one trust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70692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The twin and the fast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Personal twin: an Unscented Kalman Filter over total and extracellular water deficit, creatinine, a personal sweat multiplier and dry weight, updated every morning from weight and resting heart rate (missing readings allowed)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Exposure: ISO 7933 heat-strain model on real Open-Meteo weather and the person's routine; drugs with their own effect half-lives; mass-conserving creatinine kinetics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Every morning the twin simulates the next 72 hours 200 times on a noisy forecast and applies the same KDIGO rule (08:00 creatinine) used for the labels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Hybrid model M: LightGBM on 25 monotone core features, isotonic calibration, top-3 reasons in English, Hindi, Kannada and Telugu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Alerts with budgets set in advance: red (doctor review + home kidney test) and amber (self-care), with hysteresis and 72-hour de-duplication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Riya (fictional), 68, Nagpur: the morning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ARB + chlorthalidone + Combiflam, fever from day 2. Red the morning before her simulated injury (lead 23 h); the naive heat-index rule fired on 12 of 12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pic>
        <p:nvPicPr>
          <p:cNvPr id="6" name="Picture 5" descr="riya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852160" cy="2926080"/>
          </a:xfrm>
          <a:prstGeom prst="rect">
            <a:avLst/>
          </a:prstGeom>
        </p:spPr>
      </p:pic>
      <p:pic>
        <p:nvPicPr>
          <p:cNvPr id="7" name="Picture 6" descr="riya_wha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267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</a:defRPr>
            </a:pPr>
            <a:r>
              <a:t>Levers in the agreed order: painkiller swap -&gt; ORS / work hours -&gt; medicine pauses last, badged 'individualised, weak evidence (Think Kidneys 2018), clinician decides'. Patient text never says 'stop your medicine'.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The slow clock: ranges, never a single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Bayesian eGFR slope with registry priors; each stable lab narrows the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pic>
        <p:nvPicPr>
          <p:cNvPr id="6" name="Picture 5" descr="riya_slow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5836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Riya, eGFR in 10 years: 10-76 (wide: no serial labs yet)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One stage-1 injury this season is associated with -7.8 to -2.9 mL/min/1.73 m² at 10 years (one Indian diabetic kidney disease cohort, n = 274; extrapolated without diabetes)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Penalty applied once for any injury and fading; SGLT2 inhibitor effect from EMPA-KIDNEY as an input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KFRE shown only where valid (eGFR 10-59 with a urine albumin result)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Safety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Red flags run before any model; guardrails sit on every piece of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Emergency (confusion, fainting, seizure, unresponsive, 40 °C or more): 'Call 108 / 112 now', no kidney score shown (NCDC heat-illness action plan)</a:t>
            </a:r>
          </a:p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Urgent (no urine 12 h, cola urine with muscle pain after heat or work, vomiting that keeps no fluid down 6 h): same-day doctor, level at least red</a:t>
            </a:r>
          </a:p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ORS withheld with heart failure, eGFR &lt; 30 or potassium &gt;= 5.5 (WHO ORS has 75 mmol/L sodium, 20 potassium)</a:t>
            </a:r>
          </a:p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Paracetamol total across brands vs the daily ceiling; potassium &gt;= 6.0 always means a same-day repeat; co-trimoxazole never cancels a kidney alert; beta-blockers, anticoagulants and insulin are never offered as pauses</a:t>
            </a:r>
          </a:p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Never '0 %' (shown as '&lt;1%' with its interval); eGFR tagged 'not reliable' while creatinine is changing; not designed for under-18s, pregnancy or eGFR &lt;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Trust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One services layer for the app and the API: role -&gt; consent -&gt;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ABDM-style consent artefact (purpose, requester, data types, expiry), Ed25519-signed and checked on every read; one-click revoke takes effect at once (test S11)</a:t>
            </a:r>
          </a:p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HMAC hash-chained audit log with Ed25519-signed checkpoints: an edit breaks the chain; a forger with the HMAC key still fails the signed checkpoint (live tamper demo)</a:t>
            </a:r>
          </a:p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Data-integrity gate: implausible values, weight jumps, stale time stamps, replayed nonces and unsigned device messages are rejected and audited (test S10)</a:t>
            </a:r>
          </a:p>
          <a:p>
            <a:pPr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• Each role sees only its fields (ASHA: level and red flags; lab: the test; admin: no clinical data); names encrypted at rest; FHIR R4 export; DPDP Act 2023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0B0B"/>
                </a:solidFill>
              </a:defRPr>
            </a:pPr>
            <a:r>
              <a:t>Results on the synthetic world (headline: mismatched simulator)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Positive-day prevalence 0.14 %; 2024 internal-test patients; held-out 2025 / 2026 seasons used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pic>
        <p:nvPicPr>
          <p:cNvPr id="6" name="Picture 5" descr="au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035040" cy="3268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Pre-registered rule: M leads (beats B0 / B1 / B2; paired CIs exclude 0)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Honest: a plain LightGBM (B3) beats M on this world (difference -0.0380, CI -0.0789 to -0.0047); M wins on the matched world and carries the what-if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Red alerts catch 43 / 29 / 26 % of injuries with 16.5 / 18.7 / 22.1 alerts per injury caught (2024 / 2025 / 2026)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Median lead 23 h: the pre-registered &gt;= 24 h target is missed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Reality checks on real data and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Held-out checks were never used for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• R1a labelling vs official mimic-code KDIGO (MIMIC-IV demo): 99.29 % agreement - pass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• R1b 24-h creatinine forecast (MIMIC + eICU): kinetic filter 0.556 vs carry-forward 0.532 mg/dL - carry-forward wins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• R3 slow clock on Tawam (491 patients): C-index 0.836 vs baseline eGFR alone 0.834 - as good, not better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• R4 healthy real people (PMData, 13 people, 1845 days): 0 red alerts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• L1 triple vs double therapy: RR 2.3 (1.69-3.03) in the band 1.1-2.5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• L4 heavy outdoor worker: cross-shift AKI 0 % vs ~50 % in cane cutters - stated limitation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• Heat share of injuries: 7-27 % depending on assumptions (central 10 %)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0B0B"/>
                </a:solidFill>
              </a:defRPr>
            </a:pPr>
            <a:r>
              <a:t>Robustness and sensitivity (frozen model, reported as they came 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pic>
        <p:nvPicPr>
          <p:cNvPr id="5" name="Picture 4" descr="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035040" cy="3268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8016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headline: AUPRC 0.0178, red sensitivity 28 %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perfect forecast: AUPRC 0.0169, red sensitivity 26 %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no wearable band: AUPRC 0.0231, red sensitivity 26 %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everyone Tier 0: AUPRC 0.0209, red sensitivity 24 %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50 % band days missing: AUPRC 0.0183, red sensitivity 28 %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sensor noise x2: AUPRC 0.0157, red sensitivity 28 %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Every variant's AUPRC confidence interval overlaps the headline's: no measurable change (a weekly weight carries the signal)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Re-generated cohort and features reproduce the reported held-out AUPRC: yes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• Drinking fraction ranks 3 of 81 screened assumptions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What we do 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Synthetic validation only: no dataset links wearables, heat, medicines and serial outpatient creatinine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Creatinine rises only after filtration has fallen; older people with low muscle mass may be under-detected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Lead-time target missed; a plain LightGBM beat the hybrid model on the mismatched world; R1b lost to carry-forward; heavy outdoor workers' transient rises are under-represented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Hindi, Kannada and Telugu text and two urgent messages await native-speaker and clinician review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Not a medical device: a prospective clinical study and CDSCO review would come 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B0B0B"/>
                </a:solidFill>
              </a:defRPr>
            </a:pPr>
            <a: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Everything runs locally from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514E"/>
                </a:solidFill>
              </a:defRPr>
            </a:pPr>
            <a:r>
              <a:t>VrikkaTwin · Team Monarch, Vellore Institute of Technology · synthetic data and fictional personas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python -m streamlit run app/Home.py  -&gt;  http://localhost:8501 (one-click demo logins per role)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python -m uvicorn vrikka.api.main:app  -&gt;  http://127.0.0.1:8000/docs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Pages: Doctor Triage · Patient Twin · Patient and Family · ASHA Field · Lab Tasks · Trust Center · Time Machine · Evaluation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• Every number in the app, README and these slides is read from reports/*.json; the evaluation plan was committed before any model was trained (reports/EVAL_PLAN.md)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2514E"/>
                </a:solidFill>
              </a:defRPr>
            </a:pPr>
            <a:r>
              <a:t>Triage demo: 2025-05-19, 65 of 4962 held-out test patients 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